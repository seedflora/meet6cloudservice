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abd4abce9e483d" /><Relationship Type="http://schemas.openxmlformats.org/officeDocument/2006/relationships/extended-properties" Target="/docProps/app.xml" Id="R8a461f56f8274ca1" /><Relationship Type="http://schemas.openxmlformats.org/officeDocument/2006/relationships/officeDocument" Target="/ppt/presentation.xml" Id="Rc6c66af8c64240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14400e4f324965"/>
  </p:sldMasterIdLst>
  <p:notesMasterIdLst>
    <p:notesMasterId xmlns:r="http://schemas.openxmlformats.org/officeDocument/2006/relationships" r:id="R5a702c627f514e89"/>
  </p:notesMasterIdLst>
  <p:sldIdLst>
    <p:sldId xmlns:r="http://schemas.openxmlformats.org/officeDocument/2006/relationships" id="256" r:id="R1801509520624597"/>
    <p:sldId xmlns:r="http://schemas.openxmlformats.org/officeDocument/2006/relationships" id="257" r:id="R8e9ca69430404bea"/>
    <p:sldId xmlns:r="http://schemas.openxmlformats.org/officeDocument/2006/relationships" id="258" r:id="R54188a4da9c04237"/>
    <p:sldId xmlns:r="http://schemas.openxmlformats.org/officeDocument/2006/relationships" id="259" r:id="R670879f888fa4b43"/>
    <p:sldId xmlns:r="http://schemas.openxmlformats.org/officeDocument/2006/relationships" id="260" r:id="Rcc4a5489f43a4691"/>
    <p:sldId xmlns:r="http://schemas.openxmlformats.org/officeDocument/2006/relationships" id="261" r:id="R9159fd4558a44dd7"/>
    <p:sldId xmlns:r="http://schemas.openxmlformats.org/officeDocument/2006/relationships" id="262" r:id="R74560227bdeb48ec"/>
    <p:sldId xmlns:r="http://schemas.openxmlformats.org/officeDocument/2006/relationships" id="263" r:id="R54e2d6471c1b439e"/>
    <p:sldId xmlns:r="http://schemas.openxmlformats.org/officeDocument/2006/relationships" id="264" r:id="Rfb2c49b1d570472d"/>
    <p:sldId xmlns:r="http://schemas.openxmlformats.org/officeDocument/2006/relationships" id="265" r:id="R21a40d9c89bc459e"/>
    <p:sldId xmlns:r="http://schemas.openxmlformats.org/officeDocument/2006/relationships" id="266" r:id="R7789c43c5920450a"/>
    <p:sldId xmlns:r="http://schemas.openxmlformats.org/officeDocument/2006/relationships" id="267" r:id="R095da304d8904781"/>
    <p:sldId xmlns:r="http://schemas.openxmlformats.org/officeDocument/2006/relationships" id="268" r:id="Rf11a2639df3e4e3d"/>
    <p:sldId xmlns:r="http://schemas.openxmlformats.org/officeDocument/2006/relationships" id="269" r:id="Rdf5cd273ebb941f2"/>
    <p:sldId xmlns:r="http://schemas.openxmlformats.org/officeDocument/2006/relationships" id="270" r:id="R06c22764f6c54f6f"/>
    <p:sldId xmlns:r="http://schemas.openxmlformats.org/officeDocument/2006/relationships" id="271" r:id="Ra362f14168774337"/>
    <p:sldId xmlns:r="http://schemas.openxmlformats.org/officeDocument/2006/relationships" id="272" r:id="R8c5f4a86eb93472d"/>
    <p:sldId xmlns:r="http://schemas.openxmlformats.org/officeDocument/2006/relationships" id="273" r:id="R3a0b87d8f71043eb"/>
    <p:sldId xmlns:r="http://schemas.openxmlformats.org/officeDocument/2006/relationships" id="274" r:id="R2c8c07b6f88d4249"/>
    <p:sldId xmlns:r="http://schemas.openxmlformats.org/officeDocument/2006/relationships" id="275" r:id="Red99dc808110471c"/>
    <p:sldId xmlns:r="http://schemas.openxmlformats.org/officeDocument/2006/relationships" id="276" r:id="R58de088c4ee94641"/>
    <p:sldId xmlns:r="http://schemas.openxmlformats.org/officeDocument/2006/relationships" id="277" r:id="R243d3ff90e9b4e25"/>
    <p:sldId xmlns:r="http://schemas.openxmlformats.org/officeDocument/2006/relationships" id="278" r:id="Rdd2fe70477ac4203"/>
    <p:sldId xmlns:r="http://schemas.openxmlformats.org/officeDocument/2006/relationships" id="279" r:id="R7ec92455a9214813"/>
    <p:sldId xmlns:r="http://schemas.openxmlformats.org/officeDocument/2006/relationships" id="280" r:id="R40b7d720cf984715"/>
    <p:sldId xmlns:r="http://schemas.openxmlformats.org/officeDocument/2006/relationships" id="281" r:id="R3144d2090ecd4d75"/>
    <p:sldId xmlns:r="http://schemas.openxmlformats.org/officeDocument/2006/relationships" id="282" r:id="R265254b2a58c43df"/>
    <p:sldId xmlns:r="http://schemas.openxmlformats.org/officeDocument/2006/relationships" id="283" r:id="R7fda89ef07cc46b5"/>
    <p:sldId xmlns:r="http://schemas.openxmlformats.org/officeDocument/2006/relationships" id="284" r:id="R17d62635bc35421b"/>
    <p:sldId xmlns:r="http://schemas.openxmlformats.org/officeDocument/2006/relationships" id="285" r:id="R9b2b12da28bb4713"/>
    <p:sldId xmlns:r="http://schemas.openxmlformats.org/officeDocument/2006/relationships" id="286" r:id="Rf007a50025664c36"/>
    <p:sldId xmlns:r="http://schemas.openxmlformats.org/officeDocument/2006/relationships" id="287" r:id="Rae40177940c54ef1"/>
    <p:sldId xmlns:r="http://schemas.openxmlformats.org/officeDocument/2006/relationships" id="288" r:id="Rb9ea4473a9d345f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64542988424b74" /><Relationship Type="http://schemas.openxmlformats.org/officeDocument/2006/relationships/slideMaster" Target="/ppt/slideMasters/slideMaster1.xml" Id="Rb214400e4f324965" /><Relationship Type="http://schemas.openxmlformats.org/officeDocument/2006/relationships/notesMaster" Target="/ppt/notesMasters/notesMaster1.xml" Id="R5a702c627f514e89" /><Relationship Type="http://schemas.openxmlformats.org/officeDocument/2006/relationships/presProps" Target="/ppt/presProps.xml" Id="R199f8262209f449d" /><Relationship Type="http://schemas.openxmlformats.org/officeDocument/2006/relationships/viewProps" Target="/ppt/viewProps.xml" Id="Ra8d99f6f784149ea" /><Relationship Type="http://schemas.openxmlformats.org/officeDocument/2006/relationships/tableStyles" Target="/ppt/tableStyles.xml" Id="R7fa888cb4ce0455f" /><Relationship Type="http://schemas.openxmlformats.org/officeDocument/2006/relationships/slide" Target="/ppt/slides/slide1.xml" Id="R1801509520624597" /><Relationship Type="http://schemas.openxmlformats.org/officeDocument/2006/relationships/slide" Target="/ppt/slides/slide2.xml" Id="R8e9ca69430404bea" /><Relationship Type="http://schemas.openxmlformats.org/officeDocument/2006/relationships/slide" Target="/ppt/slides/slide3.xml" Id="R54188a4da9c04237" /><Relationship Type="http://schemas.openxmlformats.org/officeDocument/2006/relationships/slide" Target="/ppt/slides/slide4.xml" Id="R670879f888fa4b43" /><Relationship Type="http://schemas.openxmlformats.org/officeDocument/2006/relationships/slide" Target="/ppt/slides/slide5.xml" Id="Rcc4a5489f43a4691" /><Relationship Type="http://schemas.openxmlformats.org/officeDocument/2006/relationships/slide" Target="/ppt/slides/slide6.xml" Id="R9159fd4558a44dd7" /><Relationship Type="http://schemas.openxmlformats.org/officeDocument/2006/relationships/slide" Target="/ppt/slides/slide7.xml" Id="R74560227bdeb48ec" /><Relationship Type="http://schemas.openxmlformats.org/officeDocument/2006/relationships/slide" Target="/ppt/slides/slide8.xml" Id="R54e2d6471c1b439e" /><Relationship Type="http://schemas.openxmlformats.org/officeDocument/2006/relationships/slide" Target="/ppt/slides/slide9.xml" Id="Rfb2c49b1d570472d" /><Relationship Type="http://schemas.openxmlformats.org/officeDocument/2006/relationships/slide" Target="/ppt/slides/slide10.xml" Id="R21a40d9c89bc459e" /><Relationship Type="http://schemas.openxmlformats.org/officeDocument/2006/relationships/slide" Target="/ppt/slides/slide11.xml" Id="R7789c43c5920450a" /><Relationship Type="http://schemas.openxmlformats.org/officeDocument/2006/relationships/slide" Target="/ppt/slides/slide12.xml" Id="R095da304d8904781" /><Relationship Type="http://schemas.openxmlformats.org/officeDocument/2006/relationships/slide" Target="/ppt/slides/slide13.xml" Id="Rf11a2639df3e4e3d" /><Relationship Type="http://schemas.openxmlformats.org/officeDocument/2006/relationships/slide" Target="/ppt/slides/slide14.xml" Id="Rdf5cd273ebb941f2" /><Relationship Type="http://schemas.openxmlformats.org/officeDocument/2006/relationships/slide" Target="/ppt/slides/slide15.xml" Id="R06c22764f6c54f6f" /><Relationship Type="http://schemas.openxmlformats.org/officeDocument/2006/relationships/slide" Target="/ppt/slides/slide16.xml" Id="Ra362f14168774337" /><Relationship Type="http://schemas.openxmlformats.org/officeDocument/2006/relationships/slide" Target="/ppt/slides/slide17.xml" Id="R8c5f4a86eb93472d" /><Relationship Type="http://schemas.openxmlformats.org/officeDocument/2006/relationships/slide" Target="/ppt/slides/slide18.xml" Id="R3a0b87d8f71043eb" /><Relationship Type="http://schemas.openxmlformats.org/officeDocument/2006/relationships/slide" Target="/ppt/slides/slide19.xml" Id="R2c8c07b6f88d4249" /><Relationship Type="http://schemas.openxmlformats.org/officeDocument/2006/relationships/slide" Target="/ppt/slides/slide20.xml" Id="Red99dc808110471c" /><Relationship Type="http://schemas.openxmlformats.org/officeDocument/2006/relationships/slide" Target="/ppt/slides/slide21.xml" Id="R58de088c4ee94641" /><Relationship Type="http://schemas.openxmlformats.org/officeDocument/2006/relationships/slide" Target="/ppt/slides/slide22.xml" Id="R243d3ff90e9b4e25" /><Relationship Type="http://schemas.openxmlformats.org/officeDocument/2006/relationships/slide" Target="/ppt/slides/slide23.xml" Id="Rdd2fe70477ac4203" /><Relationship Type="http://schemas.openxmlformats.org/officeDocument/2006/relationships/slide" Target="/ppt/slides/slide24.xml" Id="R7ec92455a9214813" /><Relationship Type="http://schemas.openxmlformats.org/officeDocument/2006/relationships/slide" Target="/ppt/slides/slide25.xml" Id="R40b7d720cf984715" /><Relationship Type="http://schemas.openxmlformats.org/officeDocument/2006/relationships/slide" Target="/ppt/slides/slide26.xml" Id="R3144d2090ecd4d75" /><Relationship Type="http://schemas.openxmlformats.org/officeDocument/2006/relationships/slide" Target="/ppt/slides/slide27.xml" Id="R265254b2a58c43df" /><Relationship Type="http://schemas.openxmlformats.org/officeDocument/2006/relationships/slide" Target="/ppt/slides/slide28.xml" Id="R7fda89ef07cc46b5" /><Relationship Type="http://schemas.openxmlformats.org/officeDocument/2006/relationships/slide" Target="/ppt/slides/slide29.xml" Id="R17d62635bc35421b" /><Relationship Type="http://schemas.openxmlformats.org/officeDocument/2006/relationships/slide" Target="/ppt/slides/slide30.xml" Id="R9b2b12da28bb4713" /><Relationship Type="http://schemas.openxmlformats.org/officeDocument/2006/relationships/slide" Target="/ppt/slides/slide31.xml" Id="Rf007a50025664c36" /><Relationship Type="http://schemas.openxmlformats.org/officeDocument/2006/relationships/slide" Target="/ppt/slides/slide32.xml" Id="Rae40177940c54ef1" /><Relationship Type="http://schemas.openxmlformats.org/officeDocument/2006/relationships/slide" Target="/ppt/slides/slide33.xml" Id="Rb9ea4473a9d345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a7f4036f8942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cfa00464be40d6" /><Relationship Type="http://schemas.openxmlformats.org/officeDocument/2006/relationships/notesMaster" Target="/ppt/notesMasters/notesMaster1.xml" Id="R1d23025208b746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3c7bd63d244360" /><Relationship Type="http://schemas.openxmlformats.org/officeDocument/2006/relationships/notesMaster" Target="/ppt/notesMasters/notesMaster1.xml" Id="Rabd0674294c54c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d2c900cc504a2d" /><Relationship Type="http://schemas.openxmlformats.org/officeDocument/2006/relationships/notesMaster" Target="/ppt/notesMasters/notesMaster1.xml" Id="R5c6cfe951f4d4a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d22c0f9f964e05" /><Relationship Type="http://schemas.openxmlformats.org/officeDocument/2006/relationships/notesMaster" Target="/ppt/notesMasters/notesMaster1.xml" Id="R17365a2914d247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7a6a90a8ff4d23" /><Relationship Type="http://schemas.openxmlformats.org/officeDocument/2006/relationships/notesMaster" Target="/ppt/notesMasters/notesMaster1.xml" Id="R4b69a582fa8742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cc9475e2404210" /><Relationship Type="http://schemas.openxmlformats.org/officeDocument/2006/relationships/notesMaster" Target="/ppt/notesMasters/notesMaster1.xml" Id="R72958efcaf3141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622b33a5904a5b" /><Relationship Type="http://schemas.openxmlformats.org/officeDocument/2006/relationships/notesMaster" Target="/ppt/notesMasters/notesMaster1.xml" Id="R31fb9e974f7d4f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f31d95d2c04cc2" /><Relationship Type="http://schemas.openxmlformats.org/officeDocument/2006/relationships/notesMaster" Target="/ppt/notesMasters/notesMaster1.xml" Id="R486e68340bea46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094d4905534ac5" /><Relationship Type="http://schemas.openxmlformats.org/officeDocument/2006/relationships/notesMaster" Target="/ppt/notesMasters/notesMaster1.xml" Id="R92db9c54463d4ff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4c60e58bb44460" /><Relationship Type="http://schemas.openxmlformats.org/officeDocument/2006/relationships/notesMaster" Target="/ppt/notesMasters/notesMaster1.xml" Id="Rb6f54078c05d46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60d90651774a99" /><Relationship Type="http://schemas.openxmlformats.org/officeDocument/2006/relationships/notesMaster" Target="/ppt/notesMasters/notesMaster1.xml" Id="Ra317535ba83444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6784980a844556" /><Relationship Type="http://schemas.openxmlformats.org/officeDocument/2006/relationships/notesMaster" Target="/ppt/notesMasters/notesMaster1.xml" Id="R5e612ff5ae6941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1dd7cc64846425f" /><Relationship Type="http://schemas.openxmlformats.org/officeDocument/2006/relationships/notesMaster" Target="/ppt/notesMasters/notesMaster1.xml" Id="Re79e4261f8ba4e1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2ae143781304b74" /><Relationship Type="http://schemas.openxmlformats.org/officeDocument/2006/relationships/notesMaster" Target="/ppt/notesMasters/notesMaster1.xml" Id="R8a36342290594e4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0e51817dd084c7d" /><Relationship Type="http://schemas.openxmlformats.org/officeDocument/2006/relationships/notesMaster" Target="/ppt/notesMasters/notesMaster1.xml" Id="R0c10ed15b3ed4f4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6e371333b60423a" /><Relationship Type="http://schemas.openxmlformats.org/officeDocument/2006/relationships/notesMaster" Target="/ppt/notesMasters/notesMaster1.xml" Id="R83c6d016c4de47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95c49254434b56" /><Relationship Type="http://schemas.openxmlformats.org/officeDocument/2006/relationships/notesMaster" Target="/ppt/notesMasters/notesMaster1.xml" Id="R454b6107d5fd4dc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dc6be3e088041ae" /><Relationship Type="http://schemas.openxmlformats.org/officeDocument/2006/relationships/notesMaster" Target="/ppt/notesMasters/notesMaster1.xml" Id="R641935d910cb47e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252b632c7e5410b" /><Relationship Type="http://schemas.openxmlformats.org/officeDocument/2006/relationships/notesMaster" Target="/ppt/notesMasters/notesMaster1.xml" Id="R57cbde4adf8d417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0ae2c9b58a240ca" /><Relationship Type="http://schemas.openxmlformats.org/officeDocument/2006/relationships/notesMaster" Target="/ppt/notesMasters/notesMaster1.xml" Id="Ra04a058cb9f3488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dd2b7e589414566" /><Relationship Type="http://schemas.openxmlformats.org/officeDocument/2006/relationships/notesMaster" Target="/ppt/notesMasters/notesMaster1.xml" Id="R9d4280cb6df544f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3d8072efbf942f4" /><Relationship Type="http://schemas.openxmlformats.org/officeDocument/2006/relationships/notesMaster" Target="/ppt/notesMasters/notesMaster1.xml" Id="R7ed559fa6960421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19336da12794360" /><Relationship Type="http://schemas.openxmlformats.org/officeDocument/2006/relationships/notesMaster" Target="/ppt/notesMasters/notesMaster1.xml" Id="R42a3e6fafbdb4ac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66a832220174432" /><Relationship Type="http://schemas.openxmlformats.org/officeDocument/2006/relationships/notesMaster" Target="/ppt/notesMasters/notesMaster1.xml" Id="R626c448479f1441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be88a8473224ed2" /><Relationship Type="http://schemas.openxmlformats.org/officeDocument/2006/relationships/notesMaster" Target="/ppt/notesMasters/notesMaster1.xml" Id="R34495083a45742b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3407ab8a3e34c7d" /><Relationship Type="http://schemas.openxmlformats.org/officeDocument/2006/relationships/notesMaster" Target="/ppt/notesMasters/notesMaster1.xml" Id="R4bf9f5599f8d4dd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a0e75386e6342d8" /><Relationship Type="http://schemas.openxmlformats.org/officeDocument/2006/relationships/notesMaster" Target="/ppt/notesMasters/notesMaster1.xml" Id="R1f9d78124698479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0a5ff1c4f09409a" /><Relationship Type="http://schemas.openxmlformats.org/officeDocument/2006/relationships/notesMaster" Target="/ppt/notesMasters/notesMaster1.xml" Id="R772e50c5291e4fd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aeed016203a434a" /><Relationship Type="http://schemas.openxmlformats.org/officeDocument/2006/relationships/notesMaster" Target="/ppt/notesMasters/notesMaster1.xml" Id="Ra88230f9bcc8488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af02f2eaaec4772" /><Relationship Type="http://schemas.openxmlformats.org/officeDocument/2006/relationships/notesMaster" Target="/ppt/notesMasters/notesMaster1.xml" Id="Rd39cb6f58c73410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582bff405c246c7" /><Relationship Type="http://schemas.openxmlformats.org/officeDocument/2006/relationships/notesMaster" Target="/ppt/notesMasters/notesMaster1.xml" Id="R405e28f770cc47d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a12ad0813aa4000" /><Relationship Type="http://schemas.openxmlformats.org/officeDocument/2006/relationships/notesMaster" Target="/ppt/notesMasters/notesMaster1.xml" Id="Rf021211c394c439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d0ef175f2384c6b" /><Relationship Type="http://schemas.openxmlformats.org/officeDocument/2006/relationships/notesMaster" Target="/ppt/notesMasters/notesMaster1.xml" Id="R95945298d9ee4f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Jembatan ke Lab 06. Repo: https://github.com/SeedFlora/meet6CloudService. RPS: COMP6991031. Periksa langkah praktik dan perintah pada README repo. Bacaan: https://docs.docker.com/compose/intro/compose-application-model/. Video: https://www.docker.com/resources/all-things-compose-on-demand-training/.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Pemantik 2 menit: Kasus kerja: Cloud Notes memerlukan database dan cache. Tim harus menyalakan tiga layanan dengan satu berkas Compose.</a:t>
            </a:r>
          </a:p>
          <a:p xmlns:a="http://schemas.openxmlformats.org/drawingml/2006/main">
            <a:r>
              <a:t>Tanya kelas: Prediksi: apakah catatan tetap ada setelah API direstart? Mengapa?</a:t>
            </a:r>
          </a:p>
          <a:p xmlns:a="http://schemas.openxmlformats.org/drawingml/2006/main">
            <a:r>
              <a:t>Bacaan resmi: https://docs.docker.com/compose/intro/compose-application-model/</a:t>
            </a:r>
          </a:p>
          <a:p xmlns:a="http://schemas.openxmlformats.org/drawingml/2006/main">
            <a:r>
              <a:t>Video resmi: https://www.docker.com/resources/all-things-compose-on-demand-training/</a:t>
            </a:r>
          </a:p>
          <a:p xmlns:a="http://schemas.openxmlformats.org/drawingml/2006/main">
            <a:r>
              <a:t>Praktik terhubung: https://github.com/SeedFlora/meet6CloudService</a:t>
            </a:r>
          </a:p>
          <a:p xmlns:a="http://schemas.openxmlformats.org/drawingml/2006/main">
            <a:r>
              <a:t>Ilustrasi: dibuat khusus untuk materi kelas dengan imagegen, bukan foto atau bukti hasil lab. Verifikasi tautan sumber dilakukan 8 Oktober 2026; pemutaran stream video tidak diuji. Lokasi dan harga layanan dapat berubah. Untuk P08, INP menggantikan FID sebagai Core Web Vital (https://web.dev/articles/inp).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52d5243b8c407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eb66071c204d9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f67e992d2f4cc3" /><Relationship Type="http://schemas.openxmlformats.org/officeDocument/2006/relationships/slideLayout" Target="/ppt/slideLayouts/slideLayout1.xml" Id="R5640d0cc5fdb469b" /><Relationship Type="http://schemas.openxmlformats.org/officeDocument/2006/relationships/slideLayout" Target="/ppt/slideLayouts/slideLayout2.xml" Id="R49116a156ca1452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40d0cc5fdb469b"/>
    <p:sldLayoutId xmlns:r="http://schemas.openxmlformats.org/officeDocument/2006/relationships" id="2147483650" r:id="R49116a156ca1452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7ce6306864678" /><Relationship Type="http://schemas.openxmlformats.org/officeDocument/2006/relationships/image" Target="/ppt/media/image.jpeg" Id="R86c6e822d6a142b8" /><Relationship Type="http://schemas.openxmlformats.org/officeDocument/2006/relationships/image" Target="/ppt/media/image.png" Id="R413c389a8bbc4e4e" /><Relationship Type="http://schemas.openxmlformats.org/officeDocument/2006/relationships/image" Target="/ppt/media/image2.png" Id="R8205bab5656b4721" /><Relationship Type="http://schemas.openxmlformats.org/officeDocument/2006/relationships/notesSlide" Target="/ppt/notesSlides/notesSlide1.xml" Id="Rb6afd206b54246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1784281dd41a5" /><Relationship Type="http://schemas.openxmlformats.org/officeDocument/2006/relationships/image" Target="/ppt/media/image.png" Id="Rbda592902f5c49a8" /><Relationship Type="http://schemas.openxmlformats.org/officeDocument/2006/relationships/image" Target="/ppt/media/image2.png" Id="R4719a554e5a64c31" /><Relationship Type="http://schemas.openxmlformats.org/officeDocument/2006/relationships/image" Target="/ppt/media/image3.png" Id="R0a77127c832b440d" /><Relationship Type="http://schemas.openxmlformats.org/officeDocument/2006/relationships/image" Target="/ppt/media/image4.png" Id="Rf8ac08be739445b6" /><Relationship Type="http://schemas.openxmlformats.org/officeDocument/2006/relationships/image" Target="/ppt/media/image5.png" Id="Rcfcfd462e9b74b1d" /><Relationship Type="http://schemas.openxmlformats.org/officeDocument/2006/relationships/image" Target="/ppt/media/image6.png" Id="R85f72471a91f43da" /><Relationship Type="http://schemas.openxmlformats.org/officeDocument/2006/relationships/image" Target="/ppt/media/image7.png" Id="R32f6f06974534cc7" /><Relationship Type="http://schemas.openxmlformats.org/officeDocument/2006/relationships/notesSlide" Target="/ppt/notesSlides/notesSlide2.xml" Id="Rad9750d6153a43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1a16d383d46a2" /><Relationship Type="http://schemas.openxmlformats.org/officeDocument/2006/relationships/image" Target="/ppt/media/image.png" Id="R294b93aaf0a2449f" /><Relationship Type="http://schemas.openxmlformats.org/officeDocument/2006/relationships/image" Target="/ppt/media/image2.png" Id="Rdffaf70734834acd" /><Relationship Type="http://schemas.openxmlformats.org/officeDocument/2006/relationships/image" Target="/ppt/media/image3.png" Id="R7a57d9113a1d42b4" /><Relationship Type="http://schemas.openxmlformats.org/officeDocument/2006/relationships/image" Target="/ppt/media/image8.png" Id="R457e2aa080664737" /><Relationship Type="http://schemas.openxmlformats.org/officeDocument/2006/relationships/image" Target="/ppt/media/image9.png" Id="Re77a2e9a0aac4be3" /><Relationship Type="http://schemas.openxmlformats.org/officeDocument/2006/relationships/image" Target="/ppt/media/image4.png" Id="R5b7b0e63731c4233" /><Relationship Type="http://schemas.openxmlformats.org/officeDocument/2006/relationships/notesSlide" Target="/ppt/notesSlides/notesSlide3.xml" Id="R95efe8c7c2cd46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0360d66f24a42" /><Relationship Type="http://schemas.openxmlformats.org/officeDocument/2006/relationships/image" Target="/ppt/media/image.png" Id="R988ecb1a3d424b32" /><Relationship Type="http://schemas.openxmlformats.org/officeDocument/2006/relationships/image" Target="/ppt/media/image2.png" Id="R2077dacd09c34669" /><Relationship Type="http://schemas.openxmlformats.org/officeDocument/2006/relationships/notesSlide" Target="/ppt/notesSlides/notesSlide4.xml" Id="Rcf3adc0fea9b40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ff563eaa54112" /><Relationship Type="http://schemas.openxmlformats.org/officeDocument/2006/relationships/image" Target="/ppt/media/image.png" Id="R6ee659f7771f41c0" /><Relationship Type="http://schemas.openxmlformats.org/officeDocument/2006/relationships/image" Target="/ppt/media/image2.png" Id="R6d24b080ff22434a" /><Relationship Type="http://schemas.openxmlformats.org/officeDocument/2006/relationships/image" Target="/ppt/media/image10.png" Id="R7485f3f89d024f0b" /><Relationship Type="http://schemas.openxmlformats.org/officeDocument/2006/relationships/image" Target="/ppt/media/image11.png" Id="R7b28f519c7dd4b15" /><Relationship Type="http://schemas.openxmlformats.org/officeDocument/2006/relationships/notesSlide" Target="/ppt/notesSlides/notesSlide5.xml" Id="Rdc48c085c1364b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49b671d484c4d" /><Relationship Type="http://schemas.openxmlformats.org/officeDocument/2006/relationships/image" Target="/ppt/media/image.png" Id="R33bcb47784d642b2" /><Relationship Type="http://schemas.openxmlformats.org/officeDocument/2006/relationships/image" Target="/ppt/media/image2.png" Id="R963974b0acbf4933" /><Relationship Type="http://schemas.openxmlformats.org/officeDocument/2006/relationships/image" Target="/ppt/media/image4.png" Id="Ra801cb0443084414" /><Relationship Type="http://schemas.openxmlformats.org/officeDocument/2006/relationships/image" Target="/ppt/media/image12.png" Id="R866a9fe8ea304fe4" /><Relationship Type="http://schemas.openxmlformats.org/officeDocument/2006/relationships/image" Target="/ppt/media/image8.png" Id="Rff3c0f15d2b74548" /><Relationship Type="http://schemas.openxmlformats.org/officeDocument/2006/relationships/image" Target="/ppt/media/image9.png" Id="R68dc8d2aeb6046fa" /><Relationship Type="http://schemas.openxmlformats.org/officeDocument/2006/relationships/image" Target="/ppt/media/image3.png" Id="Rd2246320b8724d47" /><Relationship Type="http://schemas.openxmlformats.org/officeDocument/2006/relationships/notesSlide" Target="/ppt/notesSlides/notesSlide6.xml" Id="R41311af7cf7b46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d81546e854ca9" /><Relationship Type="http://schemas.openxmlformats.org/officeDocument/2006/relationships/image" Target="/ppt/media/image.png" Id="Ra41e72d29c2646a0" /><Relationship Type="http://schemas.openxmlformats.org/officeDocument/2006/relationships/image" Target="/ppt/media/image2.png" Id="Rcfb8c6f51ea44388" /><Relationship Type="http://schemas.openxmlformats.org/officeDocument/2006/relationships/notesSlide" Target="/ppt/notesSlides/notesSlide7.xml" Id="R22fa7c578edc4f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5a28f6c3e40e7" /><Relationship Type="http://schemas.openxmlformats.org/officeDocument/2006/relationships/image" Target="/ppt/media/image.png" Id="R7990afa2fd8d404a" /><Relationship Type="http://schemas.openxmlformats.org/officeDocument/2006/relationships/image" Target="/ppt/media/image2.png" Id="R09ac28be87b848bc" /><Relationship Type="http://schemas.openxmlformats.org/officeDocument/2006/relationships/notesSlide" Target="/ppt/notesSlides/notesSlide8.xml" Id="Rd467f4ae215049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101b1f5c0402c" /><Relationship Type="http://schemas.openxmlformats.org/officeDocument/2006/relationships/image" Target="/ppt/media/image.png" Id="R895dff3f3a79477a" /><Relationship Type="http://schemas.openxmlformats.org/officeDocument/2006/relationships/image" Target="/ppt/media/image2.png" Id="R574953035bcb424a" /><Relationship Type="http://schemas.openxmlformats.org/officeDocument/2006/relationships/notesSlide" Target="/ppt/notesSlides/notesSlide9.xml" Id="R5e66180f488e44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543252e7b47dd" /><Relationship Type="http://schemas.openxmlformats.org/officeDocument/2006/relationships/image" Target="/ppt/media/image.png" Id="R5693a166c3a04dd2" /><Relationship Type="http://schemas.openxmlformats.org/officeDocument/2006/relationships/image" Target="/ppt/media/image2.png" Id="R947a46e44c324085" /><Relationship Type="http://schemas.openxmlformats.org/officeDocument/2006/relationships/notesSlide" Target="/ppt/notesSlides/notesSlide10.xml" Id="R5c8a16d42ef043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8edc1f954495e" /><Relationship Type="http://schemas.openxmlformats.org/officeDocument/2006/relationships/image" Target="/ppt/media/image.png" Id="Rde7e54de3ed84b60" /><Relationship Type="http://schemas.openxmlformats.org/officeDocument/2006/relationships/image" Target="/ppt/media/image2.png" Id="R1560a86f556349d4" /><Relationship Type="http://schemas.openxmlformats.org/officeDocument/2006/relationships/notesSlide" Target="/ppt/notesSlides/notesSlide11.xml" Id="R8db61af0fd4b4f1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8215b815f4724" /><Relationship Type="http://schemas.openxmlformats.org/officeDocument/2006/relationships/image" Target="/ppt/media/image.png" Id="Rc953d2311ba74c7b" /><Relationship Type="http://schemas.openxmlformats.org/officeDocument/2006/relationships/image" Target="/ppt/media/image2.png" Id="Rdf795a6696324b86" /><Relationship Type="http://schemas.openxmlformats.org/officeDocument/2006/relationships/notesSlide" Target="/ppt/notesSlides/notesSlide12.xml" Id="R55fd87260aa146e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02b8d53594543" /><Relationship Type="http://schemas.openxmlformats.org/officeDocument/2006/relationships/image" Target="/ppt/media/image.png" Id="R44b8a94cb3234a56" /><Relationship Type="http://schemas.openxmlformats.org/officeDocument/2006/relationships/image" Target="/ppt/media/image2.png" Id="R99b69776ac5d4d40" /><Relationship Type="http://schemas.openxmlformats.org/officeDocument/2006/relationships/notesSlide" Target="/ppt/notesSlides/notesSlide13.xml" Id="R26449c622dde4ae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185eb447a4409" /><Relationship Type="http://schemas.openxmlformats.org/officeDocument/2006/relationships/image" Target="/ppt/media/image.png" Id="Rf165ed5934c74afc" /><Relationship Type="http://schemas.openxmlformats.org/officeDocument/2006/relationships/image" Target="/ppt/media/image2.png" Id="R097b4b605dc54f1d" /><Relationship Type="http://schemas.openxmlformats.org/officeDocument/2006/relationships/notesSlide" Target="/ppt/notesSlides/notesSlide14.xml" Id="R485510bd29a64f7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f05f530464cf8" /><Relationship Type="http://schemas.openxmlformats.org/officeDocument/2006/relationships/image" Target="/ppt/media/image.png" Id="Rebe29bb3aef64709" /><Relationship Type="http://schemas.openxmlformats.org/officeDocument/2006/relationships/image" Target="/ppt/media/image2.png" Id="R278cb8cf92614753" /><Relationship Type="http://schemas.openxmlformats.org/officeDocument/2006/relationships/image" Target="/ppt/media/image13.png" Id="R8bc64e3e27974d0d" /><Relationship Type="http://schemas.openxmlformats.org/officeDocument/2006/relationships/image" Target="/ppt/media/image14.png" Id="R74966a859f7045e9" /><Relationship Type="http://schemas.openxmlformats.org/officeDocument/2006/relationships/image" Target="/ppt/media/image15.png" Id="Ra35197b72d684ba7" /><Relationship Type="http://schemas.openxmlformats.org/officeDocument/2006/relationships/image" Target="/ppt/media/image9.png" Id="Rc88e8263f17a4792" /><Relationship Type="http://schemas.openxmlformats.org/officeDocument/2006/relationships/image" Target="/ppt/media/image11.png" Id="R207c14ca41e945cf" /><Relationship Type="http://schemas.openxmlformats.org/officeDocument/2006/relationships/image" Target="/ppt/media/image7.png" Id="R7e2f91e95ea84244" /><Relationship Type="http://schemas.openxmlformats.org/officeDocument/2006/relationships/notesSlide" Target="/ppt/notesSlides/notesSlide15.xml" Id="Re1df84645c014b0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1ebd68fce4b9e" /><Relationship Type="http://schemas.openxmlformats.org/officeDocument/2006/relationships/image" Target="/ppt/media/image.png" Id="Rb65b8756c0df44c1" /><Relationship Type="http://schemas.openxmlformats.org/officeDocument/2006/relationships/image" Target="/ppt/media/image2.png" Id="Rcc5fadc33465497f" /><Relationship Type="http://schemas.openxmlformats.org/officeDocument/2006/relationships/notesSlide" Target="/ppt/notesSlides/notesSlide16.xml" Id="R5034f7b296ba47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84021eb444ada" /><Relationship Type="http://schemas.openxmlformats.org/officeDocument/2006/relationships/image" Target="/ppt/media/image.png" Id="Rffe570aa07c5488b" /><Relationship Type="http://schemas.openxmlformats.org/officeDocument/2006/relationships/image" Target="/ppt/media/image2.png" Id="R029ca3621e574762" /><Relationship Type="http://schemas.openxmlformats.org/officeDocument/2006/relationships/notesSlide" Target="/ppt/notesSlides/notesSlide17.xml" Id="Rc49ea65fdfd64f4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a261244d04729" /><Relationship Type="http://schemas.openxmlformats.org/officeDocument/2006/relationships/image" Target="/ppt/media/image.png" Id="Rae8eb3efd9ac452a" /><Relationship Type="http://schemas.openxmlformats.org/officeDocument/2006/relationships/image" Target="/ppt/media/image2.png" Id="Rf899a716f4de457e" /><Relationship Type="http://schemas.openxmlformats.org/officeDocument/2006/relationships/notesSlide" Target="/ppt/notesSlides/notesSlide18.xml" Id="R44058ad6f91c49f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e1d22928f49d3" /><Relationship Type="http://schemas.openxmlformats.org/officeDocument/2006/relationships/image" Target="/ppt/media/image.png" Id="Rbe992aa10edf4a23" /><Relationship Type="http://schemas.openxmlformats.org/officeDocument/2006/relationships/image" Target="/ppt/media/image2.png" Id="Rc23dfbf7d6474d7b" /><Relationship Type="http://schemas.openxmlformats.org/officeDocument/2006/relationships/notesSlide" Target="/ppt/notesSlides/notesSlide19.xml" Id="Re21841278fbd48f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b552c64324c96" /><Relationship Type="http://schemas.openxmlformats.org/officeDocument/2006/relationships/image" Target="/ppt/media/image.png" Id="Rc875593dbe4e46a5" /><Relationship Type="http://schemas.openxmlformats.org/officeDocument/2006/relationships/image" Target="/ppt/media/image2.png" Id="R4709e7529f504fda" /><Relationship Type="http://schemas.openxmlformats.org/officeDocument/2006/relationships/notesSlide" Target="/ppt/notesSlides/notesSlide20.xml" Id="R0c2aab3daacf406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59d0c190f4658" /><Relationship Type="http://schemas.openxmlformats.org/officeDocument/2006/relationships/image" Target="/ppt/media/image.png" Id="Rbb7cf3f9c94e4236" /><Relationship Type="http://schemas.openxmlformats.org/officeDocument/2006/relationships/image" Target="/ppt/media/image2.png" Id="R61799fc43f284914" /><Relationship Type="http://schemas.openxmlformats.org/officeDocument/2006/relationships/notesSlide" Target="/ppt/notesSlides/notesSlide21.xml" Id="R157bc03005644ab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fa8d9ba394115" /><Relationship Type="http://schemas.openxmlformats.org/officeDocument/2006/relationships/image" Target="/ppt/media/image.png" Id="R17b7897936424f55" /><Relationship Type="http://schemas.openxmlformats.org/officeDocument/2006/relationships/image" Target="/ppt/media/image2.png" Id="Reda10a9a8d7f4a22" /><Relationship Type="http://schemas.openxmlformats.org/officeDocument/2006/relationships/notesSlide" Target="/ppt/notesSlides/notesSlide22.xml" Id="R020537354a0e481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c922f1d25452d" /><Relationship Type="http://schemas.openxmlformats.org/officeDocument/2006/relationships/image" Target="/ppt/media/image.png" Id="R45f4903eb0fb47c1" /><Relationship Type="http://schemas.openxmlformats.org/officeDocument/2006/relationships/image" Target="/ppt/media/image2.png" Id="Rcb2f9376c83c4d69" /><Relationship Type="http://schemas.openxmlformats.org/officeDocument/2006/relationships/image" Target="/ppt/media/image16.png" Id="Rc292f6611ffd403e" /><Relationship Type="http://schemas.openxmlformats.org/officeDocument/2006/relationships/image" Target="/ppt/media/image10.png" Id="Rffbda30d63d94bf0" /><Relationship Type="http://schemas.openxmlformats.org/officeDocument/2006/relationships/notesSlide" Target="/ppt/notesSlides/notesSlide23.xml" Id="R3136a96e6f29484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01054fbee47e8" /><Relationship Type="http://schemas.openxmlformats.org/officeDocument/2006/relationships/image" Target="/ppt/media/image.png" Id="R1e1643273e7c4929" /><Relationship Type="http://schemas.openxmlformats.org/officeDocument/2006/relationships/image" Target="/ppt/media/image2.png" Id="Rd4fa81a897364099" /><Relationship Type="http://schemas.openxmlformats.org/officeDocument/2006/relationships/notesSlide" Target="/ppt/notesSlides/notesSlide24.xml" Id="R1def1b4bc622457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634b8cfd0d457a" /><Relationship Type="http://schemas.openxmlformats.org/officeDocument/2006/relationships/image" Target="/ppt/media/image.png" Id="Ree96a3875dfb4394" /><Relationship Type="http://schemas.openxmlformats.org/officeDocument/2006/relationships/image" Target="/ppt/media/image2.png" Id="R26ae9eb8c6024457" /><Relationship Type="http://schemas.openxmlformats.org/officeDocument/2006/relationships/notesSlide" Target="/ppt/notesSlides/notesSlide25.xml" Id="Rbad29fd5b8ae4bd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72ad640c34e84" /><Relationship Type="http://schemas.openxmlformats.org/officeDocument/2006/relationships/image" Target="/ppt/media/image.png" Id="R033a1252dcf4433e" /><Relationship Type="http://schemas.openxmlformats.org/officeDocument/2006/relationships/image" Target="/ppt/media/image2.png" Id="R5f91681f84e34811" /><Relationship Type="http://schemas.openxmlformats.org/officeDocument/2006/relationships/notesSlide" Target="/ppt/notesSlides/notesSlide26.xml" Id="R0ede8e227e7d4b7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4f3e4bc4d4f41" /><Relationship Type="http://schemas.openxmlformats.org/officeDocument/2006/relationships/image" Target="/ppt/media/image.png" Id="Ra6a9237192644b4d" /><Relationship Type="http://schemas.openxmlformats.org/officeDocument/2006/relationships/image" Target="/ppt/media/image2.png" Id="Rd0ddcbf448e54767" /><Relationship Type="http://schemas.openxmlformats.org/officeDocument/2006/relationships/notesSlide" Target="/ppt/notesSlides/notesSlide27.xml" Id="R809476963e4a4ae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1b70f7da4495a" /><Relationship Type="http://schemas.openxmlformats.org/officeDocument/2006/relationships/image" Target="/ppt/media/image.png" Id="Re14cb5abe75c44eb" /><Relationship Type="http://schemas.openxmlformats.org/officeDocument/2006/relationships/image" Target="/ppt/media/image2.png" Id="R0c48a86d1c22458a" /><Relationship Type="http://schemas.openxmlformats.org/officeDocument/2006/relationships/image" Target="/ppt/media/image10.png" Id="R7a1885ba21254b39" /><Relationship Type="http://schemas.openxmlformats.org/officeDocument/2006/relationships/notesSlide" Target="/ppt/notesSlides/notesSlide28.xml" Id="R877b30e0b60f439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e2defafd8457b" /><Relationship Type="http://schemas.openxmlformats.org/officeDocument/2006/relationships/image" Target="/ppt/media/image.png" Id="Re2845415aab74ba2" /><Relationship Type="http://schemas.openxmlformats.org/officeDocument/2006/relationships/image" Target="/ppt/media/image2.png" Id="Re1b8e16c7b0e4649" /><Relationship Type="http://schemas.openxmlformats.org/officeDocument/2006/relationships/notesSlide" Target="/ppt/notesSlides/notesSlide29.xml" Id="R28b2dff3645349e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d56e959c84633" /><Relationship Type="http://schemas.openxmlformats.org/officeDocument/2006/relationships/image" Target="/ppt/media/image.png" Id="Rbeb01ba974ec4e49" /><Relationship Type="http://schemas.openxmlformats.org/officeDocument/2006/relationships/image" Target="/ppt/media/image2.png" Id="Re41f9ef26dd445e1" /><Relationship Type="http://schemas.openxmlformats.org/officeDocument/2006/relationships/notesSlide" Target="/ppt/notesSlides/notesSlide30.xml" Id="R2534fb7f964a4bf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3dbd233644c44" /><Relationship Type="http://schemas.openxmlformats.org/officeDocument/2006/relationships/image" Target="/ppt/media/image.png" Id="R32643cfc08e04ace" /><Relationship Type="http://schemas.openxmlformats.org/officeDocument/2006/relationships/image" Target="/ppt/media/image2.png" Id="R99fee9c5eb33486c" /><Relationship Type="http://schemas.openxmlformats.org/officeDocument/2006/relationships/image" Target="/ppt/media/image17.png" Id="Rd3471f5e5b7647e7" /><Relationship Type="http://schemas.openxmlformats.org/officeDocument/2006/relationships/image" Target="/ppt/media/image18.png" Id="R4ff0026f62934447" /><Relationship Type="http://schemas.openxmlformats.org/officeDocument/2006/relationships/image" Target="/ppt/media/image19.png" Id="R40a215b8129346a3" /><Relationship Type="http://schemas.openxmlformats.org/officeDocument/2006/relationships/notesSlide" Target="/ppt/notesSlides/notesSlide31.xml" Id="R9ae5d0052567432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6a02c9fff049d6" /><Relationship Type="http://schemas.openxmlformats.org/officeDocument/2006/relationships/hyperlink" Target="https://github.com/SeedFlora/meet6CloudService" TargetMode="External" Id="Rf83f0f436dd04663" /><Relationship Type="http://schemas.openxmlformats.org/officeDocument/2006/relationships/hyperlink" Target="https://github.com/SeedFlora/meet6CloudService" TargetMode="External" Id="R420149085e5a471e" /><Relationship Type="http://schemas.openxmlformats.org/officeDocument/2006/relationships/notesSlide" Target="/ppt/notesSlides/notesSlide32.xml" Id="R5ae768e417c2493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fa4dcbfc94a8d" /><Relationship Type="http://schemas.openxmlformats.org/officeDocument/2006/relationships/hyperlink" Target="https://docs.docker.com/compose/intro/compose-application-model/" TargetMode="External" Id="Rd13ac162efdc4032" /><Relationship Type="http://schemas.openxmlformats.org/officeDocument/2006/relationships/hyperlink" Target="https://www.docker.com/resources/all-things-compose-on-demand-training/" TargetMode="External" Id="R00be6fcf0b444c09" /><Relationship Type="http://schemas.openxmlformats.org/officeDocument/2006/relationships/hyperlink" Target="https://github.com/SeedFlora/meet6CloudService" TargetMode="External" Id="R7ae3603fb48b48f1" /><Relationship Type="http://schemas.openxmlformats.org/officeDocument/2006/relationships/image" Target="/ppt/media/image20.png" Id="R96d6494bfdcf4a32" /><Relationship Type="http://schemas.openxmlformats.org/officeDocument/2006/relationships/notesSlide" Target="/ppt/notesSlides/notesSlide33.xml" Id="R123dc3f9acd34f54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6c6e822d6a142b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c389a8bbc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5bab5656b47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73665707-72AF-4A38-9622-2BB5245E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2 SKS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D6DCA21B-6960-4BE4-AB8C-CA25D66E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112471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COMPOSE</a:t>
            </a:r>
            <a:endParaRPr sz="52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9350D54D-27EB-46E3-B4FF-9D443848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11247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Multi-Container Apps, Networking, Service Discovery</a:t>
            </a:r>
            <a:endParaRPr sz="2000"/>
          </a:p>
        </p:txBody>
      </p:sp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0FF027B-D589-49D9-9547-62727FBA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720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CB45F68-C2C3-441F-B873-C404DCA4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6  |  100 MENIT</a:t>
            </a:r>
            <a:endParaRPr sz="1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CF58BC9-0C68-4EE5-8698-BF0A6321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26D96925-37E4-4ED6-9EA3-247350E5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8115167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6489722-2D37-4BFE-A100-A9D276CF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CA41D2B-FC0D-4586-9224-145BD8B0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8E840FD-B021-4846-A56A-8E4EDF3E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592902f5c49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9a554e5a64c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2EC2D8E-05F1-406F-9AA9-B7D0206E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0EABA1E-72FD-49E3-B72E-29AEB8DB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Recap Pertemuan 5 &amp; Agenda Hari Ini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04A7096-B5FE-416A-8EA9-E5F63D44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single image ke multi-container application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6E5A6A1-9BF7-410C-A7C1-4C8787C0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BCD8C49-7511-492D-9B90-021EB541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DI PERTEMUAN 5, KITA SUDAH: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 Core</a:t>
            </a:r>
            <a:endParaRPr sz="1100"/>
          </a:p>
        </p:txBody>
      </p:sp>
      <p:pic>
        <p:nvPicPr>
          <p:cNvPr id="4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77127c832b44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130AF3B3-7375-448A-9580-05388CA4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Dockerfile - 14 instruksi, blueprint image</a:t>
            </a:r>
            <a:endParaRPr sz="1200"/>
          </a:p>
        </p:txBody>
      </p:sp>
      <p:pic>
        <p:nvPicPr>
          <p:cNvPr id="4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ac08be739445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FFBEE6B-F4DA-4611-9ECE-0257EF0D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 (build) vs CMD (default) vs ENTRYPOINT</a:t>
            </a:r>
            <a:endParaRPr sz="1200"/>
          </a:p>
        </p:txBody>
      </p:sp>
      <p:pic>
        <p:nvPicPr>
          <p:cNvPr id="4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fd462e9b74b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897325A4-3EB8-4FA0-AA1B-EAE5574A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Layer caching - urutan instruksi penting</a:t>
            </a:r>
            <a:endParaRPr sz="1200"/>
          </a:p>
        </p:txBody>
      </p:sp>
      <p:pic>
        <p:nvPicPr>
          <p:cNvPr id="4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72471a91f43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8827FE46-AE24-4994-AC3B-1AD53F8B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Multi-stage build + alpine = image 150 MB</a:t>
            </a:r>
            <a:endParaRPr sz="1200"/>
          </a:p>
        </p:txBody>
      </p:sp>
      <p:pic>
        <p:nvPicPr>
          <p:cNvPr id="5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6f0697453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8ED51DFE-A0FC-42FE-8514-B89FE93D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Tagging semver + push ke ghcr.io / Docker Hub</a:t>
            </a:r>
            <a:endParaRPr sz="12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4E85ABBB-5731-4A1B-AACD-C9F44B0D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D0702DAD-3448-478A-9A30-6DF3ED89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HARI INI, KITA AKAN: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Compose</a:t>
            </a: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329FF4BD-C3ED-4F7A-BD6A-B6E8321F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3383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Kenapa butuh Compose (vs docker run manual)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compose.yml syntax (services, networks, volumes)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Multi-tier example: web + api + db + cache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Service discovery + custom networks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Persistent storage strategy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Production tips + override files</a:t>
            </a:r>
            <a:endParaRPr sz="1200"/>
          </a:p>
        </p:txBody>
      </p:sp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9FC91156-7F4D-4499-A5E9-441C15B5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Lab 06: nyalakan Cloud Notes API, PostgreSQL, dan Redis sebagai komponen proyek kelompok.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828130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E352B4E-FCDC-42DA-AE08-5F8F4B20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1B439-33AE-4807-AA98-54588DD8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CBAE3AE-E66E-4932-8BED-5DD159BC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b93aaf0a244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af70734834a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6405DB7-3E6E-458A-8E4F-4E994270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91CABE2-0EC1-4A07-9DF8-B8835968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Learning Outcomes - Pertemuan 6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F74E183-F13D-4A84-A2C1-A0418BFB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Capaian Sesi Hari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B2DE9D8-8A83-4053-AF21-FF314B5C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BF806F6-876B-4C89-8579-9E5B8AD6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F0C1EB2-05BD-4B17-81C0-4E6CAE2A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CFAD4A41-4620-4999-A2B4-42212DB9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pic>
        <p:nvPicPr>
          <p:cNvPr id="5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57d9113a1d42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86000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A9B89EB5-3153-426F-87E2-1B0EDEE1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Menulis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FD348E8-9B2D-40D7-B2A6-334F45B2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compose.yml untuk aplikasi multi-tier dengan service, network, volume yang terdefinisi.</a:t>
            </a:r>
            <a:endParaRPr sz="12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2B4D14D-A335-424E-ADCB-4DB176B9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1C3D7E0E-F1D3-4148-BE72-57600FF9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B3F49103-7B28-439A-B163-6814F6E7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571E642-652D-4F82-9065-DD6CF6AE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e2aa0806647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8072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934D9CD4-E659-4AC2-80DB-80B916FC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Memahami</a:t>
            </a:r>
            <a:endParaRPr sz="18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80C9670F-7556-4F7A-917F-247DFFD0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service discovery via DNS + bagaimana Compose isolasi network antar service.</a:t>
            </a:r>
            <a:endParaRPr sz="12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25EDFDCA-EA67-4DFF-A1E1-4424DC78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BD39F70A-8F82-4DDF-99FE-AB5BD35A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1DFC5E05-80CF-4B79-8E30-ADE71C2A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2C1024FC-A9AB-4350-8957-6E48B6A9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pic>
        <p:nvPicPr>
          <p:cNvPr id="7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a2e9a0aac4b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0144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9CD719A3-D75B-4569-9CED-FEC18ABA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Mengkonfigurasi</a:t>
            </a:r>
            <a:endParaRPr sz="18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3F4AA305-00BD-4989-A64D-1AA688A8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persistent storage untuk database + dev hot-reload via bind mount.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8FC3A5FB-D240-4926-8A65-7CF31680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7D9D130E-4A58-47E7-A2AB-1EA00D22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CE8A2120-3DA8-4536-9201-BADE40CC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D71AFAA8-9076-4C88-B21D-B1EC7AC7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pic>
        <p:nvPicPr>
          <p:cNvPr id="7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7b0e63731c42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72216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6FA7F830-E0AC-43D0-B893-0FC8354B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Mengoperasikan</a:t>
            </a:r>
            <a:endParaRPr sz="18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4521FE5C-82E5-42B8-BB2A-2ADA3F33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stack lewat docker compose up/down/logs/exec untuk debug + deploy.</a:t>
            </a:r>
            <a:endParaRPr sz="1200"/>
          </a:p>
        </p:txBody>
      </p:sp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1F8DD468-5FEE-4B0C-A629-0E29521A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350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LO2 (Apply – orchestrate multi-container apps)  +  LO1 (Analyze – pilih network topology &amp; storage strategy)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53298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10CBD41-1998-4A77-842C-9EAA0374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78D517B-8FC9-49AA-9B87-8981CD8F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9A557E8-1399-4C8D-8723-990CE01D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8551D9-3215-4083-BEB2-6FEE4D3F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35BDC3D-AA92-4402-855C-C4C36991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9504605-07D0-49A0-A302-40A98589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CD093D9-DC72-44CE-BFAF-FC8276F1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8ecb1a3d424b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7dacd09c3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34E2E05-062A-4B1E-B1EF-1B0E9D52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B56EEC6-91F7-46B1-9B9E-0E8F0FE0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Kenapa Butuh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Compose?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B317471-2E67-4BCB-9AAE-51066B73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BF5719A-51AC-47C9-8AD7-D3425590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Masalah saat punya banyak container yang harus jalan bareng.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7350976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25B9568-643A-4042-A6A9-A1ECC9BA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100F605-D948-450A-A1B7-BD16CD9D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C7F04BE-1CFA-4BD7-92B7-43E06E07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659f7771f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24b080ff2243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0468913-B2F1-4040-8D41-AF337AB6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B206F10-5CDB-4D86-84A8-7A933BB1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Masalah docker run untuk Multi-Container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BCD8EF8-FD1F-4E78-86E0-E8BB5DBE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Kenapa CLI manual tidak scalable saat punya banyak 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8979094-BD2F-43D6-AB0A-B8F9BC88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85f3f89d024f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002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642817E0-7577-4015-B51D-EE3B7EC9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508760"/>
            <a:ext cx="3840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 aplikasi web modern: </a:t>
            </a:r>
            <a:endParaRPr sz="13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13DD324C-EDF7-44A3-9C53-8777A814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50876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frontend + API + Postgres + Redis + Nginx. Semuanya harus jalan + saling terhubung.</a:t>
            </a:r>
            <a:endParaRPr sz="13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E8A33391-6FB7-424D-B12F-A987982F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8745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Manual lewat docker run = 5 perintah panjang + 1 docker network create + dokumentasi terpisah.</a:t>
            </a:r>
            <a:endParaRPr sz="11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6711FC3F-4FBD-4004-850B-9C8D2220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108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E06B8CAC-6FCE-4CD1-96D3-C0C40B65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8772DB43-6ED8-416F-8134-0F9A5E70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511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30A1A5D4-B4C9-4DC5-AB8F-96152C46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11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CAC0FEE7-8AF4-4C05-9F54-0844F4E9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511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33A330D-E1CF-4D20-BB1D-934C71C1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46888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BAD: 5 container manual via docker run - tidak scalable</a:t>
            </a:r>
            <a:endParaRPr sz="900"/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D7BEFE8B-9DC6-4F7B-818C-98AC82E3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34640"/>
            <a:ext cx="1097280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Buat network manual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network create app-net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Start tiap container manual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-d --name db --network app-net -e POSTGRES_PASSWORD=x postgres:15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-d --name cache --network app-net redis:7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-d --name api --network app-net -e DB_HOST=db myapp/api:1.0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-d --name web --network app-net -p 80:80 nginx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# Problem: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 Urutan start matter (db dulu sebelum api)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 Tidak ada definisi terpusat - dokumentasi tersebar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 Reproduce di laptop lain susah - paste 5 command panjang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 Update env / volume = stop + rm + run lagi semua</a:t>
            </a:r>
            <a:endParaRPr sz="1000"/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79CB604C-A332-4ED6-8DF2-C5F76FF9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1500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8f519c7dd4b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8521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CFF72FD0-213D-4B3B-B232-5863C814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715000"/>
            <a:ext cx="105156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Solusi: Docker Compose - definisikan stack sebagai 1 file YAML, jalankan dengan 'docker compose up'.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7713280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7BCF032-C109-438F-A37E-A0BC87A1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C79E6F-1B62-4D27-BBBC-8EAFCEB4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023E749-2B41-4B4C-8475-0E71EBC0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bcb47784d642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3974b0acbf49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FB050CE-D35B-4252-A687-636444CF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B1C1149-5F0A-4593-A0F3-F9E907DF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Apa itu Docker Compose?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FCFCC33-CCF7-4A3B-BCA3-1EF0111D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Tool untuk define + run multi-container app sebagai 1 stack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AC2A8A8-8D48-445E-97E0-05E8BED6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1cb04430844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9164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ACDABC4D-DC94-4C77-B9E2-0AAD23D1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554480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Compose = orchestrator container untuk single-host development.</a:t>
            </a:r>
            <a:endParaRPr sz="16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A6BF88B9-7B6B-4038-848C-F78CC5E5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965960"/>
            <a:ext cx="9601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Definisikan stack di 'compose.yml' (YAML). Jalankan semua container + network + volume dengan 1 perintah.</a:t>
            </a:r>
            <a:endParaRPr sz="12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C8B05BE4-4D44-4D8E-B3BE-AF83ABF9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di-Manage Compose Secara Otomatis</a:t>
            </a:r>
            <a:endParaRPr sz="14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22136767-E51B-4ED9-AD25-BC8EE4A5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27432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a9fe8ea304f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AA9D05E2-6F4B-4A6C-8D7E-F18B00A2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Container Lifecycle</a:t>
            </a:r>
            <a:endParaRPr sz="1200"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03677486-4D23-4AD0-86DE-6D8DC15F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931920"/>
            <a:ext cx="24688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Start, stop, restart semua container dengan urutan benar (depends_on).</a:t>
            </a:r>
            <a:endParaRPr sz="1050"/>
          </a:p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07ABDD64-4354-4A0F-86F2-E6FF81FD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200400"/>
            <a:ext cx="27432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3c0f15d2b7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7472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EA8F9E72-06E1-477A-8761-8C7B0D5D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Network Otomatis</a:t>
            </a:r>
            <a:endParaRPr sz="12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1B6B2903-60B6-46D5-8C2C-2653F8F6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931920"/>
            <a:ext cx="24688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Bikin custom network, service bisa saling kontak lewat DNS service name.</a:t>
            </a:r>
            <a:endParaRPr sz="105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12FCE246-2704-4B52-8489-E9B7694E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200400"/>
            <a:ext cx="27432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dc8d2aeb6046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508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74658C18-B310-4381-AF55-83BF00B1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Persistent Volume</a:t>
            </a:r>
            <a:endParaRPr sz="1200"/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C36C1115-CA27-4186-A3C3-852B4015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31920"/>
            <a:ext cx="24688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Definisi volume di file - data tetap ada walau container di-recreate.</a:t>
            </a:r>
            <a:endParaRPr sz="1050"/>
          </a:p>
        </p:txBody>
      </p:sp>
      <p:sp>
        <p:nvSpPr>
          <p:cNvPr id="27" name="Shape 19">
            <a:extLst xmlns:a="http://schemas.openxmlformats.org/drawingml/2006/main">
              <a:ext uri="{FF2B5EF4-FFF2-40B4-BE49-F238E27FC236}">
                <a16:creationId xmlns:a16="http://schemas.microsoft.com/office/drawing/2014/main" id="{5A8F6423-21EA-4518-A1B1-90FC6B18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3200400"/>
            <a:ext cx="27432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46320b8724d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0" y="33832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9" name="Text 20">
            <a:extLst xmlns:a="http://schemas.openxmlformats.org/drawingml/2006/main">
              <a:ext uri="{FF2B5EF4-FFF2-40B4-BE49-F238E27FC236}">
                <a16:creationId xmlns:a16="http://schemas.microsoft.com/office/drawing/2014/main" id="{FA7018AD-BF4E-4E86-AF98-3E2AF510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3375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Environment Config</a:t>
            </a:r>
            <a:endParaRPr sz="1200"/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5E8DCDCE-016E-49D8-8764-28C4D8B2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931920"/>
            <a:ext cx="24688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Set env variable per service - bisa pakai .env file untuk centralization.</a:t>
            </a:r>
            <a:endParaRPr sz="105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44188FFD-A8EE-47B8-A1AB-DA224203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AB9AE060-A44A-4832-966F-30FC3209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Compose v1 (python) vs v2 (Go plugin)</a:t>
            </a:r>
            <a:endParaRPr sz="1300"/>
          </a:p>
        </p:txBody>
      </p:sp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480AF611-B11F-430B-81E0-404FD567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v1 (legacy):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perintah </a:t>
            </a:r>
            <a:r>
              <a:rPr sz="110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docker-compose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(pakai dash, sudah deprecated 2023).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v2 (modern):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perintah </a:t>
            </a: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(pakai spasi, built-in plugin di Docker Desktop &amp; Engine). Pakai v2!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707531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94A1E98-CD61-4040-B126-910B6803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BFEC91-8631-4BFC-8E9A-03027431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C9D1167-4C7F-4DE2-804A-C6CCF6A7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72d29c2646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8c6f51ea443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3C8C633-DE7E-4182-8A95-D9489911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F61B2E8-E549-471A-91D5-AD8A877A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compose.yml Anatomy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F4F9D15-9EBF-41FD-9F28-2E126A79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 top-level keys yang akan paling sering Anda pakai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8AA5BD2-B4C0-4DB8-B58C-A6CDBE73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45720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0157D2D-BBF4-44D3-AE2E-37E0CA72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4206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Top-Level Keys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6463D5E-E87E-4C1A-B2EF-C6F4AAA8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42062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BA973F4-273F-4F2E-A57F-8B0660F2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1371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25D640C-D1A2-4EBD-A0FC-C08CE843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3840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services:</a:t>
            </a:r>
            <a:endParaRPr sz="13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DB0E40A-8FC7-40C1-B454-CF9A5EBA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Daftar container yang akan dijalankan (REQUIRED)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978179E-F2FE-48B0-98F3-4888FF67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88920"/>
            <a:ext cx="42062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DA59684-20C7-4B0D-A620-06C5C36A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88920"/>
            <a:ext cx="1371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59605F53-DF35-4A21-B3EC-214A693A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4640"/>
            <a:ext cx="3840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networks:</a:t>
            </a:r>
            <a:endParaRPr sz="13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6109D38-D49F-4E96-9F3C-CA3353FA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5468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Custom network (default: bikin auto)</a:t>
            </a:r>
            <a:endParaRPr sz="10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5C6FCF6F-00CE-4727-AADA-EE1773B2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66160"/>
            <a:ext cx="42062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07652DBE-63B5-4A5C-B9E0-5B55EC5B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66160"/>
            <a:ext cx="1371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9AC7EC5-0153-4131-B380-5F439CB7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880"/>
            <a:ext cx="3840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volumes:</a:t>
            </a:r>
            <a:endParaRPr sz="13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05FC7A43-651D-447D-9914-3F272886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3192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Named volume untuk persistent data</a:t>
            </a:r>
            <a:endParaRPr sz="10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ECA76678-0E32-430A-9EFE-F77AD912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42062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1478E7E2-512D-4CB8-85FE-AEC09D83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1371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DD2DA1C-6DBC-4575-BCB8-699021DB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9120"/>
            <a:ext cx="3840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configs:</a:t>
            </a:r>
            <a:endParaRPr sz="13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0191761F-CF3C-4C18-9B86-D7999E85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916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Config file yang di-mount ke service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C2B8C077-5EE1-47CA-9A30-F3301987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42062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1E2BD739-0F9B-44B7-9A17-B457DDAD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1371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9FF25AB-6DC0-47C0-A6DC-53BC7712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840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secrets:</a:t>
            </a:r>
            <a:endParaRPr sz="13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35D6AE3-B819-445E-B5C0-85DFC8E6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Sensitive data (password, key, dll)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B67FC9A1-0209-4F3A-9BC4-632C666C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1417320"/>
            <a:ext cx="64922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64D7E816-35B7-482A-8F05-CA418BB3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1417320"/>
            <a:ext cx="64922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C3D233CD-335E-49E8-A766-E86E9E4D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C61D5BAA-2948-48DC-ADA0-3D4D1F9D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8EAC1484-E19E-4390-82F9-C1946EEC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8093B94-386D-415A-A6BD-752DCBC6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760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compose.yml - struktur lengkap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302858D4-259A-49AC-9816-92FA50A8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783080"/>
            <a:ext cx="62179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web: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nginx:1.27-alpine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ports: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- "80:80"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build: ./api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DB_HOST: 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depends_on: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- 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volumes: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- db-data:/var/lib/postgresql/data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volumes: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db-data: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054481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BB983F-237F-497A-BB20-DE5EA6F0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3259B8C-03BE-4F2B-B6E7-E8D32BC7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B164B8D-2374-4275-A4BB-3620CB46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BD16666-1E6F-461F-8E9C-8E8F5DA3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5778F55-C3BB-406D-8434-56845146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825E69D-6AA3-4B55-99D6-29A29FB2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D722564-CCF4-43B0-80D3-321E0792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0afa2fd8d40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ac28be87b848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9396487-44E8-4292-B354-8886D688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D9DCAC3-2932-460E-A7E6-F31DC4A6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 File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Syntax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F791ECC-951C-4F49-8EA1-3B495372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2C7905BC-1DA4-475A-8DA1-97636607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Services, networks, volumes, environment, healthcheck - dibedah satu-satu.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418127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594F6BF-990D-4868-A1D2-A92BA1CC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C0C91EE-FD1D-47B7-A4AC-3F90D38D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3836C9-8E2F-470C-9AC4-96FB1AF7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dff3f3a7947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953035bcb42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6FDCEB6-65B0-4683-9231-32ECD9C0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5E6BD3A-DA03-4FAB-A20B-2271CAE1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Services - Building Block Utama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0DDAAB8-439C-4960-A19F-A3B25D06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Tiap service jadi 1 container (atau lebih kalau scale)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1FC8047-D28A-425F-8EA6-1AF11486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0292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04A3BEA-ECD4-4944-A857-38BDB670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Field di Service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EF0EAA9-5ED6-4517-B7A5-BB2864FD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2DADB2C-0F81-4910-AF28-11965797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166132D-FFA9-4C47-9BE1-39E91300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168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image: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097CE13-0125-4240-ABBC-DBDDF048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1168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image dari registry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3083BD70-08C8-4A3D-A6E1-E949B062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1460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FD7B781-7456-488D-AF91-BEB87A5A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1460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CEB3525C-F48C-4AD7-B815-2C0A44D8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build: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2DAB79F7-4037-4390-ABEB-A57B6AC8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1460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 dari Dockerfile lokal</a:t>
            </a:r>
            <a:endParaRPr sz="10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EE01378-748E-4CE7-BC62-E73F2514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850ADBA0-4FCF-4AFD-A2E6-66EACA38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FF24D1D-FDA6-477F-B849-3AD2DB74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752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ports: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E92CD84A-78AE-41A4-AB56-50B44CE6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1752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Port mapping host:container</a:t>
            </a:r>
            <a:endParaRPr sz="10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A997B8A7-5638-46AD-AC55-4A95532B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2044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C6254637-7E37-488E-AA6E-BC4A122C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2044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9D79502C-D87F-4770-B948-1BE8F8CF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044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environment:</a:t>
            </a:r>
            <a:endParaRPr sz="11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40EE6B0A-91A8-49E7-8B48-A30B6797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044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Env variable runtime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EC79BBE5-CFBB-4A69-8ED3-5032E418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2336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EFD4FCA9-ECD7-4971-81B4-19A1577F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2336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3A95A18F-E7B7-42C4-8047-24AC02D6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336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volumes: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4C1AACE2-12D3-4AF0-9AD3-4847D7BA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2336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Mount data persistent / bind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07114884-12E3-4F6B-8D3B-10D1A777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2628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254F958C-4608-4409-AB20-01C6F46B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2628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EAB9184C-B105-443C-A1A3-EDFC6FC7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628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depends_on:</a:t>
            </a:r>
            <a:endParaRPr sz="11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BC4A479D-0700-47BF-B431-28276E06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2628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Urutan start service</a:t>
            </a:r>
            <a:endParaRPr sz="10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6740AE7F-3194-4F1F-9951-3BC3D110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9982804D-F069-4C61-8206-7A953F4C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811D19ED-DA76-4A05-BAF0-3AD031D1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restart:</a:t>
            </a:r>
            <a:endParaRPr sz="11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F6A29CEE-FDE8-4F3B-A6A1-C7F85A3C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2920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Policy restart (no/always/unless-stopped)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C91F22A7-15B1-4FD2-B394-600E57DF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E93E5F7C-106A-4F33-9CE9-1C3A65D4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3DFCAF23-F3FC-4382-BD52-7EA52E56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212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command:</a:t>
            </a:r>
            <a:endParaRPr sz="11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C2F703C5-1A3C-4D9E-AD73-7E9574A8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53212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Override CMD dari image</a:t>
            </a:r>
            <a:endParaRPr sz="10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66862B8B-2B9C-4E3B-AE99-4F3F915F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26A81AAB-D874-455F-8D4E-95EDA609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218AF5B9-713F-4944-9FA8-D29B1F97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207809F3-D033-479E-BAC5-64E122D3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8F7F66D0-88AB-470F-A6E7-112C07D8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62616532-6DA5-4741-BABD-FB931368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service config lengkap</a:t>
            </a:r>
            <a:endParaRPr sz="9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DA34F52E-A9E8-480F-BD39-55DAE9A0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783080"/>
            <a:ext cx="5669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# Build dari Dockerfile lokal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build: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context: ./api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dockerfile: Dockerfile.prod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# Image tag setelah build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myapp/api:1.0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container_name: myapp-api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ports: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- "3000:3000"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NODE_ENV: production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DB_HOST: 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restart: unless-stopped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depends_on: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- db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766679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4CD2DEA-DAC1-4EFE-ADAA-7EA7FF47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1D9A050-1019-428B-AFF0-3AE120CC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487B8A-5DC1-4818-AB8F-21A2C095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93a166c3a0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7a46e44c3240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684A473-E7F4-408D-9AF6-F0CF6F28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31771D2-77AE-4923-9261-1D142DF8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Networks - Service Discovery via DNS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1D8E900-9201-4B6D-B2D3-1AB3D10A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Default network + custom network untuk isolasi tier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B7654DE-8A8A-495F-940E-300A7C70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DE8180A-58D3-4188-81DC-5FA2F8A3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Default behavior: </a:t>
            </a: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 otomatis bikin 1 network bridge untuk semua service.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Service kontak satu sama lain pakai nama service-nya (bukan IP). 'db', 'api', 'web' jadi DNS hostname.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451B67A-97BE-408B-8FCE-972F4CC1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F1DF42E-0E74-4519-8197-F069180D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0145A4CC-2365-4BA6-BAB8-A98C05E8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0979A14-70D6-450F-8605-D6E0287A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D16D84F4-FF9E-43AC-B08E-98D5F80B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B2116FA-C957-4F14-934F-CDA88FC0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51460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default network - auto-managed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7EDC928-EB64-4CE6-8399-DB764D77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53035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myapp/api:1.0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Akses db pakai service name!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DB_HOST: 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DB_PORT: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REDIS_URL: redis://cache:6379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cache: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redis:7-alpine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Network auto-dibuat: &lt;project&gt;_default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Semua service di network sama - bisa saling kontak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261F6C8A-BD8A-44C4-BDBC-BF0485EF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2C5F6EE3-18D4-4023-8A50-844475FB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02FDED3-87B9-44FE-B4FB-18C74FC8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4A050EEB-40A1-4DE8-83FA-ED7CB4AB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AFEBD11A-D287-4E56-89AE-F0266E20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5DB38F96-C765-4667-BE6C-C1DD98A8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1460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custom network - isolasi tier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60D88E0B-772A-4EA8-9213-3F93E0A0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80360"/>
            <a:ext cx="521208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web: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nginx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networks: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frontend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myapp/api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networks: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frontend    # bisa kontak web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backend     # bisa kontak 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networks: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backend     # ISOLATED dari web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networks: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frontend: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backend: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867487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D20682E-4513-43A0-B121-91A41704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EFC9B9-5C51-4993-BC62-D4CA81FC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0AB71B6-6A95-4762-A690-168CB070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e54de3ed84b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60a86f556349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E613F08-12B8-4BAF-8B17-18231C48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AB7EA8B-10A4-4457-99E7-039C5062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Volumes - Persistent Data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C5BEA45-D70E-4AD7-A01C-0064D8DE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Named volume untuk db, bind mount untuk dev hot-reload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77050CD-B63C-4D9D-A49B-8D06BB43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7F0878F-E8F2-48A9-8BEE-B54CD8BD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8C035B2-0369-49EC-A27D-3DE84182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Named Volume  -  Production DB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C3E0C92-D5ED-4586-8077-B253D526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manage volume - disimpan di /var/lib/docker/volumes/. Persist saat container di-recreate.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F20704B-7B37-4B78-8060-82FB9A93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88920"/>
            <a:ext cx="5212080" cy="3383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13FB089-7D4E-445C-840D-625F50D7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88920"/>
            <a:ext cx="52120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3D9CBE57-50B5-4166-952D-7175F5EA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71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4EAEAAA-1E6B-4F9A-AE42-4DA8AFE9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71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4D15886C-393A-4437-BB22-71295EA6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71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7BEE5D16-3570-4435-9135-EC9FC6B4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78892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named volume - postgres data</a:t>
            </a:r>
            <a:endParaRPr sz="9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BFD5D76D-FB3F-43AA-9E16-F10062DE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54680"/>
            <a:ext cx="493776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volumes: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db-data:/var/lib/postgresql/data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POSTGRES_PASSWORD: secret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Wajib declare di top-level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volumes: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db-data: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# driver: local (default)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Cek lokasi &amp; inspect: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volume ls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volume inspect myapp_db-data</a:t>
            </a:r>
            <a:endParaRPr sz="11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817DCBB3-F939-4F46-BC87-CBA33ED3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B0E62BA4-F9ED-4C36-92F7-6F7DB4F9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05A8C6C-E31A-4E11-8BCC-BD8C9B92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Bind Mount  -  Dev Hot-Reload</a:t>
            </a:r>
            <a:endParaRPr sz="14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11CA89E-76AF-4731-A42A-52C9D1C9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Mount folder host langsung ke container. Edit code di host = langsung effect di container.</a:t>
            </a:r>
            <a:endParaRPr sz="11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8E01F92E-E140-47DC-B8B0-74164834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5120640" cy="3383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536CE181-0655-4766-AE5B-AF175F87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51206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9903E787-C564-404D-971E-94DE249C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871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CB8F9CD0-7C4A-44AC-B3B7-8447D7D6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71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0623E8E4-8B9D-4ACB-A6F8-AB854230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871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A754F48-7F7F-43F2-9525-694199A4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788920"/>
            <a:ext cx="4389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bind mount - dev workflow</a:t>
            </a:r>
            <a:endParaRPr sz="9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F254D14E-158E-459E-9728-2D0510A7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54680"/>
            <a:ext cx="484632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build: ./api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volumes: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./api host -&gt; /app container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./api:/app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Anonymous vol cegah node_modules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/app/node_modules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command: npm run dev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Edit ./api/server.js di host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 nodemon di container auto-restart!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Format: HOST:CONTAINER[:MODE]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 ./src:/app/src     (rw, default)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 ./conf:/etc:ro     (read-only)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0241644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8968983-E84B-4CCC-83C7-55133488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B3F770E-F22D-45AC-9F91-8EE87827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AA26F7D-CBED-4295-86B6-CAFEFB21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53d2311ba74c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795a6696324b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AF4629A-C574-495C-833B-1A410547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ABD0C8B-2AEF-4E27-94E6-FFAD266E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Environment Variables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D13B480-731F-4B40-85C7-E0EF3B7C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 cara set env: inline, env_file, atau .env (di root project)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044977B-D7D4-4E16-9550-550823AB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490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5A694DB-4D27-4EC0-9DEA-D70A05EB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490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4388E7A-F7AE-4522-BF9B-351C173B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49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Inline environment: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94312C8-7C85-42F0-A450-7300274D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83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Hardcoded di compose.yml. Cepat tapi tidak fleksibel + secret terlihat.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BA80FCC-6B2E-4269-A9B8-9D4DD392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97480"/>
            <a:ext cx="3383280" cy="3383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E542F73E-D38D-446F-B43F-1805C252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97480"/>
            <a:ext cx="33832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42881154-70C7-4212-9839-99F2F1D1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CEF5125-32AD-470A-AB70-45452DEF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EE8EF2C-B014-425E-88E3-4B3BCF58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019E2CF-FF11-41A5-8E96-CAA171F7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697480"/>
            <a:ext cx="2651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compose.yml</a:t>
            </a:r>
            <a:endParaRPr sz="9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A60D37B0-C82E-4C49-93F5-AC6D20DB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310896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myapp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NODE_ENV: prod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DB_HOST: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LOG_LEVEL: info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      # JANGAN: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      # API_KEY: x</a:t>
            </a:r>
            <a:endParaRPr sz="10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1046E330-6DD8-4E19-BD24-4F4A99EA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490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BA2E16BB-44E2-46D7-9088-ED83602E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490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4718F98-3E01-4F93-9F0C-A3993C75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49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env_file:</a:t>
            </a:r>
            <a:endParaRPr sz="12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8FA7725-EB65-4C1F-8BB1-4747EC2C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83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Per-service env file. Bisa pakai banyak file. Cocok untuk dev/staging/prod split.</a:t>
            </a:r>
            <a:endParaRPr sz="105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009153C0-DA95-49B4-B369-B53454DE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697480"/>
            <a:ext cx="3383280" cy="3383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324E5771-7F85-45B1-8056-15D17323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697480"/>
            <a:ext cx="33832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D1140971-5E72-47A1-8990-2B1E883C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7B9886C3-2456-48DE-AF51-71F2CCD9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A75924CB-A6B6-4970-9923-074116F7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5604CE29-50EF-4571-A244-0B6B12F8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97480"/>
            <a:ext cx="2651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compose.yml + .env.api</a:t>
            </a:r>
            <a:endParaRPr sz="9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840482CF-A008-4ED2-81CA-4E4C6F8E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063240"/>
            <a:ext cx="310896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compose.yml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env_file: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.env.api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.env.common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.env.api file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NODE_ENV=production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DB_HOST=db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API_KEY=xxx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BCD2F822-CF09-423E-AFB6-92A5CA27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56616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EE381BAD-1D2A-4936-A6AB-54F06A44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566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31410F37-E163-40F8-99ED-1C50B5C0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566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.env (interpolation):</a:t>
            </a:r>
            <a:endParaRPr sz="12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4D7280A1-42A7-45B2-B609-BEF41F90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File .env di root project auto-loaded. Variabelnya bisa di-substitusi di compose.yml.</a:t>
            </a:r>
            <a:endParaRPr sz="105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77147BFA-A8C6-4DB0-9F6D-4412F7B1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697480"/>
            <a:ext cx="3291840" cy="3383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AEFFF7E2-6572-43B7-8993-DABCD99F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697480"/>
            <a:ext cx="3291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4B211E30-D91A-4A85-BD94-B3B4DF04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060831E0-F4E8-4BAE-AA0C-74A3178D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37E71C24-F815-4AC5-B29E-B4761FD7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C7483B70-9E80-4FAE-82FB-DE071B6E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697480"/>
            <a:ext cx="2560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.env + compose.yml</a:t>
            </a:r>
            <a:endParaRPr sz="9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616B56CA-C5FF-4D09-BEA5-9DB3AC5F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63240"/>
            <a:ext cx="301752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.env (di root)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PG_PASSWORD=secret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APP_PORT=3000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compose.yml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ports: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${APP_PORT}:3000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POSTGRES_PASSWORD: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  ${PG_PASSWORD}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364006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45A2F76-E3D0-4638-94A9-D0269AD3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2FD58C-989E-415C-9A53-EEEA8A94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573C282-9205-45AC-BDD6-15219BD3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b8a94cb3234a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69776ac5d4d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4E3F2F9-EBBA-4287-8CA9-6FDADCE9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9F3CF5C-C4C8-4A8A-BBFE-B6AE6F84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depends_on + healthcheck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4AEFDA5-F61D-41D8-AE4F-97BF8996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Pastikan urutan start benar - jangan asal 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70978B0-6219-4F3C-B4C6-C4A95DBA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CE106F4-D498-45D3-A782-B772843A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Pitfall: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depends_on cuma tunggu container 'started', BUKAN 'ready'. Postgres butuh 5-10 detik untuk siap accept connection.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C30B8AB-55BC-4381-8841-31752716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557784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9CAA5A8-AFA3-4FB6-A12C-277C650C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0BF54A1-D383-4ECF-B821-BA7630FD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DA20F98-09BA-4830-9311-991F1E62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21F57BEF-89FE-45FB-AC14-EF71FFB3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AB814055-D153-46BF-9ECD-EB49125B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7744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BAD - depends_on tanpa healthcheck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1DBA3D01-9AE4-4D50-B308-BF11A548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743200"/>
            <a:ext cx="5303520" cy="3429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myapp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depends_on: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      - 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Yang terjadi: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db container start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api start TANPA tunggu db ready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# 3. api kontak db -&gt; ECONNREFUSED!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# 4. api crash + auto-restart loop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269315C7-6767-492E-853B-40954C9C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54864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E093DEF3-D5C2-4C93-847F-1237D2A2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371002F-4B6D-4D63-BB2F-4C9C626B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5A6702AC-2595-4A65-91A7-0B7F73B7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E28C44E6-DD74-4E07-AB79-2B17AC21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F82F254-BFC5-43DC-83CF-4323F823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37744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GOOD - depends_on + healthcheck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BB389A6-8EE3-4491-A5E0-2A6BBD26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743200"/>
            <a:ext cx="5212080" cy="3429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healthcheck: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test: ["CMD", "pg_isready", "-U", "postgres"]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interval: 5s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retries: 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myapp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depends_on: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  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  condition: service_healthy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api TUNGGU pg_isready return OK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 baru start. No more race condition!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9783510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FBACFAC-4421-4C13-8742-8ED541F2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660EB1C-CFA4-4E79-93EF-BD3652D1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BE6A8D-751E-451D-A18E-765CF02D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0FA48ED-0A62-4312-876E-03A46F2B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FDC3CF4-CBBE-476C-8124-21E17F91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B0A7D4D-6BA5-4762-A823-1DD5E3F8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DD7AD7B-9D23-482C-9565-3447A084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5ed5934c74a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7b4b605dc54f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941BB79-1835-46B2-87AB-7EFD79C4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32725EF-9F12-4D6B-B9CB-FE20B723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Multi-Tier App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Example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7240B1-012E-4D41-8A7B-4417512B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BA79348-6C19-4505-840B-A60CF0F3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Web + API + DB + Cache - full stack dalam 1 compose file.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205612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7F16173-5A9C-4233-A1D7-F76C2192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3E8404B-8737-45A6-BC35-B7EF47F9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4BF953B-40BF-4071-A705-09A72052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e29bb3aef64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8cb8cf926147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1ACC34D-7EF8-44B9-95BD-E7E162AE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C8AFFE0-392B-4A76-80C7-5DE93110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Architecture - 4-Tier Web App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51FF1DF-5679-4FAE-B3C9-20D2DE4A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Frontend (Nginx) -&gt; API (FastAPI) -&gt; Database (Postgres) + Cache (Redis)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0BC85A3-3AE6-4F92-AD43-1D55DE19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79568E6-9D1B-4CB1-B3CA-C9379926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77440"/>
            <a:ext cx="1463040" cy="1280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7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c64e3e27974d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88720" y="260604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D480B42-82A5-4B44-9030-C5068891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46120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INTERNET</a:t>
            </a:r>
            <a:endParaRPr sz="11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45120F3A-832B-4EBD-99E7-2F4CB3BE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834640"/>
            <a:ext cx="4572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A3D72A7-0AAD-4807-B009-25A85F49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83464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:80</a:t>
            </a:r>
            <a:endParaRPr sz="9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DBAC0E02-A441-4AB9-950A-8C41CB59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194560"/>
            <a:ext cx="182880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7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966a859f7045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29000" y="233172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D8CACB5E-7B6D-47B8-9C9C-7A278B27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3108960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web</a:t>
            </a:r>
            <a:endParaRPr sz="13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EDC699A1-A9F3-49ED-9E95-8B687143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342900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Nginx</a:t>
            </a:r>
            <a:endParaRPr sz="10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0999875C-F050-4B2A-8FD0-07D7EDCE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34640"/>
            <a:ext cx="4572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9A211BF2-6BE3-4410-84DF-CE07AB62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834640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:3000</a:t>
            </a:r>
            <a:endParaRPr sz="900"/>
          </a:p>
        </p:txBody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7B07C38B-5DB1-4DAC-B630-5DBFC360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194560"/>
            <a:ext cx="182880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8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5197b72d684b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97880" y="233172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B5F87626-0F7C-467C-A9B0-0C668C85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108960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api</a:t>
            </a:r>
            <a:endParaRPr sz="1300"/>
          </a:p>
        </p:txBody>
      </p:sp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806CD542-7F74-4E3E-B0F4-7B05B32D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42900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FastAPI</a:t>
            </a:r>
            <a:endParaRPr sz="1000"/>
          </a:p>
        </p:txBody>
      </p:sp>
      <p:sp>
        <p:nvSpPr>
          <p:cNvPr id="26" name="Shape 19">
            <a:extLst xmlns:a="http://schemas.openxmlformats.org/drawingml/2006/main">
              <a:ext uri="{FF2B5EF4-FFF2-40B4-BE49-F238E27FC236}">
                <a16:creationId xmlns:a16="http://schemas.microsoft.com/office/drawing/2014/main" id="{13B3721F-F334-4AE4-AACB-6FAC23EF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286000"/>
            <a:ext cx="4572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D4FF763E-FD8D-4495-8FFF-DA52DC0B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286000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:5432</a:t>
            </a:r>
            <a:endParaRPr sz="900"/>
          </a:p>
        </p:txBody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19C0460E-BF9D-4403-B236-C1537610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337560"/>
            <a:ext cx="4572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481727EA-DCA3-4A79-B316-78F38A59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337560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:6379</a:t>
            </a:r>
            <a:endParaRPr sz="900"/>
          </a:p>
        </p:txBody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24964D95-BC87-4D74-86D0-7E527782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691640"/>
            <a:ext cx="182880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92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e8263f17a47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6760" y="182880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20925275-955F-40DF-8A93-D9BD0C95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246888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db</a:t>
            </a:r>
            <a:endParaRPr sz="13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99FEA702-DA30-4244-BA52-DC572B02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274320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Postgres 15</a:t>
            </a:r>
            <a:endParaRPr sz="1000"/>
          </a:p>
        </p:txBody>
      </p:sp>
      <p:sp>
        <p:nvSpPr>
          <p:cNvPr id="34" name="Shape 26">
            <a:extLst xmlns:a="http://schemas.openxmlformats.org/drawingml/2006/main">
              <a:ext uri="{FF2B5EF4-FFF2-40B4-BE49-F238E27FC236}">
                <a16:creationId xmlns:a16="http://schemas.microsoft.com/office/drawing/2014/main" id="{962CAD5C-F4A3-49A6-B721-B74E9235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108960"/>
            <a:ext cx="182880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c14ca41e945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6760" y="320040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36" name="Text 27">
            <a:extLst xmlns:a="http://schemas.openxmlformats.org/drawingml/2006/main">
              <a:ext uri="{FF2B5EF4-FFF2-40B4-BE49-F238E27FC236}">
                <a16:creationId xmlns:a16="http://schemas.microsoft.com/office/drawing/2014/main" id="{49E3F28F-A6AA-44E4-90DD-9269885C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84048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cache</a:t>
            </a:r>
            <a:endParaRPr sz="1300"/>
          </a:p>
        </p:txBody>
      </p:sp>
      <p:sp>
        <p:nvSpPr>
          <p:cNvPr id="37" name="Text 28">
            <a:extLst xmlns:a="http://schemas.openxmlformats.org/drawingml/2006/main">
              <a:ext uri="{FF2B5EF4-FFF2-40B4-BE49-F238E27FC236}">
                <a16:creationId xmlns:a16="http://schemas.microsoft.com/office/drawing/2014/main" id="{10C2AC56-8326-4C13-B3FA-CE804E2B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11480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Redis 7</a:t>
            </a:r>
            <a:endParaRPr sz="1000"/>
          </a:p>
        </p:txBody>
      </p:sp>
      <p:sp>
        <p:nvSpPr>
          <p:cNvPr id="38" name="Shape 29">
            <a:extLst xmlns:a="http://schemas.openxmlformats.org/drawingml/2006/main">
              <a:ext uri="{FF2B5EF4-FFF2-40B4-BE49-F238E27FC236}">
                <a16:creationId xmlns:a16="http://schemas.microsoft.com/office/drawing/2014/main" id="{186F82CA-EB1C-425D-A145-0E0E851A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2011680"/>
            <a:ext cx="16459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10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f91e95ea842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1268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40" name="Text 30">
            <a:extLst xmlns:a="http://schemas.openxmlformats.org/drawingml/2006/main">
              <a:ext uri="{FF2B5EF4-FFF2-40B4-BE49-F238E27FC236}">
                <a16:creationId xmlns:a16="http://schemas.microsoft.com/office/drawing/2014/main" id="{321A8CF4-5CC9-4E2A-973A-A615B310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011680"/>
            <a:ext cx="1005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db-data</a:t>
            </a:r>
            <a:endParaRPr sz="1100"/>
          </a:p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7BB390E1-74C7-4732-B5DE-F357D332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194560"/>
            <a:ext cx="274320" cy="27432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2" name="Text 32">
            <a:extLst xmlns:a="http://schemas.openxmlformats.org/drawingml/2006/main">
              <a:ext uri="{FF2B5EF4-FFF2-40B4-BE49-F238E27FC236}">
                <a16:creationId xmlns:a16="http://schemas.microsoft.com/office/drawing/2014/main" id="{BA7857FD-E6D1-46B4-8C23-C2D3BEB3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Karakteristik Stack</a:t>
            </a:r>
            <a:endParaRPr sz="1400"/>
          </a:p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107B1C4E-9FE1-422F-9DD1-07F9BF7F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2743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Text 34">
            <a:extLst xmlns:a="http://schemas.openxmlformats.org/drawingml/2006/main">
              <a:ext uri="{FF2B5EF4-FFF2-40B4-BE49-F238E27FC236}">
                <a16:creationId xmlns:a16="http://schemas.microsoft.com/office/drawing/2014/main" id="{9F50935B-A8DF-419D-A2FA-B11B9913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06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4 services</a:t>
            </a:r>
            <a:endParaRPr sz="1600"/>
          </a:p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183B2D17-8D59-4A94-8170-D169F16B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521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db, cache</a:t>
            </a:r>
            <a:endParaRPr sz="1000"/>
          </a:p>
        </p:txBody>
      </p:sp>
      <p:sp>
        <p:nvSpPr>
          <p:cNvPr id="46" name="Shape 36">
            <a:extLst xmlns:a="http://schemas.openxmlformats.org/drawingml/2006/main">
              <a:ext uri="{FF2B5EF4-FFF2-40B4-BE49-F238E27FC236}">
                <a16:creationId xmlns:a16="http://schemas.microsoft.com/office/drawing/2014/main" id="{5CAD67A0-9358-47D7-8AD0-9FC6B091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349240"/>
            <a:ext cx="2743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FC14230E-331C-4A10-85C5-8603B880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4406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 volume</a:t>
            </a:r>
            <a:endParaRPr sz="1600"/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2250A722-8DBB-400A-8D5E-24ACB61D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8521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db-data persistent</a:t>
            </a:r>
            <a:endParaRPr sz="1000"/>
          </a:p>
        </p:txBody>
      </p:sp>
      <p:sp>
        <p:nvSpPr>
          <p:cNvPr id="49" name="Shape 39">
            <a:extLst xmlns:a="http://schemas.openxmlformats.org/drawingml/2006/main">
              <a:ext uri="{FF2B5EF4-FFF2-40B4-BE49-F238E27FC236}">
                <a16:creationId xmlns:a16="http://schemas.microsoft.com/office/drawing/2014/main" id="{01A26F58-0FC4-4A2B-841A-5B33FD8E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349240"/>
            <a:ext cx="2743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46196FAD-1B49-4305-B528-C0A50B20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 networks</a:t>
            </a:r>
            <a:endParaRPr sz="16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041448C9-1D5D-40EA-9DB7-CC86468C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8521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frontend + backend</a:t>
            </a:r>
            <a:endParaRPr sz="1000"/>
          </a:p>
        </p:txBody>
      </p:sp>
      <p:sp>
        <p:nvSpPr>
          <p:cNvPr id="52" name="Shape 42">
            <a:extLst xmlns:a="http://schemas.openxmlformats.org/drawingml/2006/main">
              <a:ext uri="{FF2B5EF4-FFF2-40B4-BE49-F238E27FC236}">
                <a16:creationId xmlns:a16="http://schemas.microsoft.com/office/drawing/2014/main" id="{ADC605C9-BEE5-4F90-8356-7C9DD64E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349240"/>
            <a:ext cx="2743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3" name="Text 43">
            <a:extLst xmlns:a="http://schemas.openxmlformats.org/drawingml/2006/main">
              <a:ext uri="{FF2B5EF4-FFF2-40B4-BE49-F238E27FC236}">
                <a16:creationId xmlns:a16="http://schemas.microsoft.com/office/drawing/2014/main" id="{CCE335C0-7BE3-4CAD-9CAE-1FFB01F2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4406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~10 detik</a:t>
            </a:r>
            <a:endParaRPr sz="1600"/>
          </a:p>
        </p:txBody>
      </p:sp>
      <p:sp>
        <p:nvSpPr>
          <p:cNvPr id="54" name="Text 44">
            <a:extLst xmlns:a="http://schemas.openxmlformats.org/drawingml/2006/main">
              <a:ext uri="{FF2B5EF4-FFF2-40B4-BE49-F238E27FC236}">
                <a16:creationId xmlns:a16="http://schemas.microsoft.com/office/drawing/2014/main" id="{8BDCA6D9-5391-4986-80DB-AFFECAC7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8521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up dari kosong ke ready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374278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5868D4E-5B9B-4E4F-AB09-84C846A8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B410A26-6ECD-44E7-8B94-33128E31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1FBEDA4-D686-4E78-B100-0BF0EA52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b8756c0df44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fadc3346549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9875D34-8E3A-4E88-812A-1E7E704B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BD87483-F4CF-4CD8-9362-6D9EAABE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compose.yml - Stack Lengkap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DA26127-7575-4FD4-AEF6-EFFEE629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 konsep; ganti password literal dengan secrets sebelum praktik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4003123-9C77-42C6-A32F-4BC31938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937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EEC40B6-8475-456E-9228-04473F2E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2E0BF80-3D8B-4872-97C8-7EFA84BF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DEB24E2-84EF-4F9D-A87A-3CE19B1F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765562B-818D-46D6-851E-E3E49E8C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7C9E0E44-D32C-468F-AEB5-47FD17DE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compose.yml - 4-tier web app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725D082-BF77-4987-8E90-379FE87E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48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web: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nginx:1.27-alpine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ports: ["80:80"]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volumes: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- ./nginx.conf:/etc/nginx/nginx.conf:ro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depends_on: [api]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build: ./api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DATABASE_URL: postgresql://app:secret@db:5432/mydb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REDIS_URL: redis://cache:6379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depends_on: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db: { condition: service_healthy }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cache: { condition: service_started }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postgres:15-alpine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POSTGRES_USER: app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POSTGRES_PASSWORD: secret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POSTGRES_DB: mydb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volumes: ["db-data:/var/lib/postgresql/data"]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healthcheck: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test: ["CMD", "pg_isready", "-U", "app"]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interval: 5s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cache: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redis:7-alpine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volumes:</a:t>
            </a:r>
            <a:endParaRPr sz="8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8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db-data: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15796175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1EFEE3-4E39-42A6-B416-9B7346AC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D036A59-1738-49C6-91C9-313497FB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CC39159-FA95-4E0B-8EAF-D4962246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570aa07c548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9ca3621e5747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7889859-2BE0-4BA7-AD40-6D85CEF2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81E2F7A-0F3C-4F31-8286-93908022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compose - Commands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D419192-DA70-41D7-9212-705D90E7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 perintah yang Anda akan pakai sehari-hari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81CD6C4-7B09-42D7-A130-7872D5BC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B5258D4-341D-4F6A-83A4-137539E7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9182FC9-EEE5-4A00-B84A-1867567E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up -d</a:t>
            </a:r>
            <a:endParaRPr sz="105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D5D0687-F6A1-4F18-ADD1-E480328F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288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 + start semua service (detached)</a:t>
            </a:r>
            <a:endParaRPr sz="10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6F2745E-4B7F-41FE-AC98-C91ACF2C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06B4D20-F10B-496C-B2BF-8628E398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DDB1CB1-650B-46B1-A920-3758C7C4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down</a:t>
            </a:r>
            <a:endParaRPr sz="105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5087D61-FFF0-42B8-BA21-7FA89D14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288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Stop + remove semua container + network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38D8572-6DE6-48A0-B59F-56E10D17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34719BF9-5E65-4F9D-9C71-90D1D2FE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238D6FEF-61DC-4470-B28A-3FF49638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ps</a:t>
            </a:r>
            <a:endParaRPr sz="105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FC4F0C81-8D89-43B8-B032-41AAA96A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8288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List service yang lagi jalan + status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E3E83D0D-EBEE-41EA-BEE3-A4287D70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2BDDD0E7-D90E-4844-B6D4-1F289005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02C320A-F6CA-48F2-B436-789D432E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3774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logs -f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9163661-F13B-49A7-A937-4E54E877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7889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Follow log semua service (-f tail)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F1CB456E-3C48-44DD-B863-731440C8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37744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449D8ACF-255B-4BC2-A4D6-500B1764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37744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C0DE3097-C063-487C-A200-2F456809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3774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logs api</a:t>
            </a:r>
            <a:endParaRPr sz="105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15DD3008-37B0-4B89-B7CE-E6EC1CA9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7889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Follow log 1 service saja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BA9784E0-90B6-48EE-AB01-35C0D57A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7744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E3CCA593-B573-46B8-B622-8EFAA479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7744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3750EF3-DFD0-4312-9D80-C88F8E0A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37744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exec api bash</a:t>
            </a:r>
            <a:endParaRPr sz="10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D9976CF7-688B-4A8F-A3C9-99B8B613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7889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shell di service tertentu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F633070E-A1E5-4B2A-8C58-6FED1202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03117DA0-6A13-4D28-BF85-2DD96BB5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BA3008B9-55FD-45BB-8610-BF863E95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375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build</a:t>
            </a:r>
            <a:endParaRPr sz="10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737847AC-59A4-4011-9963-23F5AB40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4904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 image (kalau ada 'build:' di config)</a:t>
            </a:r>
            <a:endParaRPr sz="10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300F9BF1-E32C-4D7A-A9D7-A4715A0A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33756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B8BE2B23-241F-48EE-B36C-16BDF127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33756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42023826-C173-47F8-9FA5-34E1940D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3375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pull</a:t>
            </a:r>
            <a:endParaRPr sz="105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1FE3973D-85FF-4D18-96F1-38A97C99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4904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Pull image terbaru dari registry</a:t>
            </a:r>
            <a:endParaRPr sz="10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C06778D4-7042-4E6A-9FFB-52C8C60C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3756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B1C3E980-3038-4457-B0A9-D4BED6E9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3756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7FC6F610-632B-45A3-B416-2D90A0BD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3375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restart api</a:t>
            </a:r>
            <a:endParaRPr sz="105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767F68E3-11F3-463C-BDD4-0C7AA48F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4904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Restart 1 service</a:t>
            </a:r>
            <a:endParaRPr sz="100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2E869834-60B4-4A2B-A9A0-3429CDFA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37033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54BDED51-D2B8-4F5E-92F6-FE14C003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1B0C34DF-3E67-40C8-B158-7C8E93C7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9768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docker compose down -v</a:t>
            </a:r>
            <a:endParaRPr sz="105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70142D08-D36D-4C08-9B35-EEE6345E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7091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BAHAYA: hapus volumes juga (data hilang!)</a:t>
            </a:r>
            <a:endParaRPr sz="1000"/>
          </a:p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14F3711F-D05A-49DF-847F-B88B87F8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9788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A865BE48-C86D-4F4C-A4D0-513FF286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97880"/>
            <a:ext cx="11247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Workflow harian: </a:t>
            </a: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compose up -d</a:t>
            </a: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-&gt;  </a:t>
            </a: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compose logs -f api</a:t>
            </a: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-&gt;  edit code  -&gt;  </a:t>
            </a: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compose restart api</a:t>
            </a: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-&gt;  selesai: </a:t>
            </a: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compose down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761045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23F60A3-0467-4067-BDB9-305C98D7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A740630-EB1B-4CEA-B2B2-39ACA1FE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11A5530-9D0D-4B98-92E8-56F99D8C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D080981-8901-48C4-9C36-023677E9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19A75F2-DB83-4EF2-9871-FC492FC4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FD545D5-6C06-4F80-8C25-266F99B2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F7B431E-DE96-4322-B9CA-D95EFB14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eb3efd9ac45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9a716f4de45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6935A58-F564-42B6-B2B4-7256D197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210ED7B-99ED-45F0-A255-9B3C676E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Networking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 Compose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CA0D138-4693-4155-8E52-9FC36BB6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BE7A5D0A-FCBA-486C-A653-58BE8F27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Service discovery + custom network untuk isolasi tier.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11152890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55F7344-5782-47F7-884D-3FDA38B3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9E4725A-0EFF-4DDB-A448-E80CA670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E760472-2C4D-454D-BB4C-EBA98BD6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992aa10edf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dfbf7d6474d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49BF76E-9499-4884-9322-EA1CF6AA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FD6C335-FE75-43B5-8C8F-0A750D8E5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Service Discovery via DNS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B9E3C5E-6D17-4E5E-ACF3-9FBEC1C5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Service name jadi hostname - tidak perlu hardcode IP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8D9E0D2-4A5B-4B29-83C8-265B4FDF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3BD0D1E-FFD5-4BDB-A29E-25845105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Magic: </a:t>
            </a: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 punya embedded DNS server. Tiap service name auto-resolve ke IP container-nya.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Tidak perlu hardcode IP, tidak perlu /etc/hosts manual, IP berubah pun tidak masalah.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4C68B84-14BC-41A3-9E7B-F7D09AC6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92B7CFC-B7DE-43C4-9861-1B48BC81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A814553-107A-4E3D-B445-04716C28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BC0D5A54-6A83-43CD-97C8-99B447C9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DA186EEE-A97F-4C6D-BF14-F1493C39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FF16CC7E-DEB2-411C-B1EA-900F125D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51460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service name -&gt; hostname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F818F5C2-F051-4103-83C0-5150DE22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53035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compose.yml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myapp/api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Di code api - pakai 'db' bukan IP: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DATABASE_URL=postgresql://db:5432/mydb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                    ^^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service name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Verify di container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compose exec api ping 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PING db (172.18.0.2) 56(84) bytes...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64 bytes from db.app_default: ttl=64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833C9E-D9D8-4B0F-A91A-FF0B9CF9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36AFE15-3154-44A2-9579-0B9B61CC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9F7FB91-BAF1-470A-894B-AE14A958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F13BAD10-FAAE-459F-B9FD-AC9C4880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F0B743DF-735F-41FE-9423-5BA93018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A5BBE4A-CA78-4C0A-9277-61171278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1460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scale + load balancing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CE67BCBB-855A-4260-995A-58200220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80360"/>
            <a:ext cx="521208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Scale 1 service jadi 3 replica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compose up -d --scale api=3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myapp-api-1  ... Started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myapp-api-2  ... Started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myapp-api-3  ... Started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DNS round-robin auto-load-balance: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compose exec web nslookup api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Name: api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Address: 172.18.0.3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Address: 172.18.0.4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Address: 172.18.0.5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Nginx auto-distribute request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ke 3 api instance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7026478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79BD716-694E-4F70-80ED-5E3E622D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A328D08-BED7-4566-AF33-AE864455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50A2C06-A908-413C-8428-993E8CF1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5593dbe4e46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9e7529f504f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EDFC3E3-AFCB-4528-908C-BF692F6A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1A0BE0-F0DD-4CCA-A09C-BB3F4568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Custom Networks - Tier Isolation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B717B29-A989-4AB5-AC13-3F2DB3CD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Pisah frontend dari backend - db tidak ke-expose dari outside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6F377C9-7EE5-4BE5-8761-A15F3165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985E352-0181-4D12-AC87-964389DC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Pattern: </a:t>
            </a: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frontend network (web + api) + backend network (api + db + cache). API jadi bridge.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Hasil: web TIDAK bisa kontak db langsung. Defense in depth - layer security tambahan.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539D12E-94F6-4C6E-847C-D42451F6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2377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E639223-2B27-43A5-8CDE-75A39520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512064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 w="12700">
            <a:solidFill>
              <a:srgbClr val="1976D2"/>
            </a:solidFill>
            <a:prstDash val="dash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FED086B-6E73-46DC-9446-2C78FB4B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5120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 i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frontend network</a:t>
            </a:r>
            <a:endParaRPr sz="10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F8B2E042-6CD2-4967-93A1-BEE41A5E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46120"/>
            <a:ext cx="164592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2C05417-C2D5-4104-A00D-A32AF513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9184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web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EBBB6CB-60B3-4EF2-A3D2-F938B3E1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033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Nginx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A5869B5-84F6-4300-86C0-AB9735B7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02336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:80 public</a:t>
            </a:r>
            <a:endParaRPr sz="9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B8B18BC6-2F0E-44D1-A76B-E7DE3B8D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246120"/>
            <a:ext cx="164592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C064DB88-E9ED-4277-88AF-AD40E86C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29184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api</a:t>
            </a:r>
            <a:endParaRPr sz="12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3C8A3ADE-2BCB-4F1D-8201-ADEDC16F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7033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(bridge)</a:t>
            </a:r>
            <a:endParaRPr sz="9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E149D04-27CF-45B9-9C44-F2498548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02336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FastAPI</a:t>
            </a:r>
            <a:endParaRPr sz="9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64B740C-B4A6-42E5-A54F-BDE1D076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743200"/>
            <a:ext cx="54864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dash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37C788E6-C949-4219-9522-D3816408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743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 i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backend network (internal only)</a:t>
            </a:r>
            <a:endParaRPr sz="10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3CB10BA0-410A-4952-929A-089965B2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46120"/>
            <a:ext cx="164592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855876D3-1BF6-486D-B569-E6F838A0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9184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db</a:t>
            </a:r>
            <a:endParaRPr sz="12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1202D9B-CF2C-4066-8267-B412B358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033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Postgres</a:t>
            </a:r>
            <a:endParaRPr sz="9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0CC7014A-5FE2-47A4-A5C3-8273912F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2336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no public port</a:t>
            </a:r>
            <a:endParaRPr sz="9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65AA4F31-0DF9-4352-B1C7-3B610FC6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46120"/>
            <a:ext cx="164592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CFA69BDB-1373-4481-A29C-EF6EABAB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9184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cache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26FDB1C8-A8D7-4C9B-98FF-5421FDF9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7033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Redis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35F77C16-EA1F-4E8B-881F-6619AA92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2336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no public port</a:t>
            </a:r>
            <a:endParaRPr sz="9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20E1DFA4-5890-4307-B45A-63E565D9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74920"/>
            <a:ext cx="112471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A3D612A8-8612-46D9-9ED0-8EA99385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749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54390E77-2881-4702-B29A-962DDC5A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57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323F9675-13FA-42B1-8FDB-E67E976B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57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711C00B2-D5AD-4782-BC67-92AB4E21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572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9FFEE9EA-ECCF-4563-888A-084B6AEE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0749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isolation network config</a:t>
            </a:r>
            <a:endParaRPr sz="9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1D823BB7-6BB1-4FAA-AA7B-B086D703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40680"/>
            <a:ext cx="109728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web:  { networks: [frontend] }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api:  { networks: [frontend, backend] }   # bridge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db:   { networks: [backend] }             # tidak bisa diakses dari frontend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networks: { frontend: {}, backend: { internal: true } }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83748244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BB714B-B13C-48E4-839D-A3258EF5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9579F6-E5A6-466E-A456-EC20BD67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8ACAAC0-EF09-4B22-87B0-65E67059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7cf3f9c94e42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799fc43f2849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933BAD6-844C-4E85-AE45-7C10128B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BFD33AD-D45F-48FA-9041-84FA58B8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Port Exposure - Internal vs External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FD04131-F349-4CBD-B98E-8A004D80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ports: untuk publish ke host, expose: cuma untuk dokumentasi internal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7D085A1-F300-47E5-8333-176E8C1A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405950D-BA78-4D08-9F2D-DD5B435B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166DCAD-A0FF-4D6E-9B77-B9F799C6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ports:  -  PUBLIC ke host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002D692-131A-4C66-B2CA-3862E6BB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Port di-bind ke host - bisa diakses dari luar (browser, curl).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741BF75-28C8-4BF4-A3A2-E586B1F5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97480"/>
            <a:ext cx="521208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1A463F63-42FF-4884-9E9A-2402664F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97480"/>
            <a:ext cx="52120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A00D076-AF49-417F-920A-77FDA591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F18160A-CA43-491F-9339-D5BA5ACC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7F2309D-0363-4430-9A65-000376BF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58D48E8-A616-4029-B18C-52E5BDF0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69748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ports: - publish</a:t>
            </a:r>
            <a:endParaRPr sz="9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36E96856-2E38-42C1-ABA5-DE312987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4937760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web: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nginx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ports: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Format: HOST:CONTAINER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"80:80"          # browser akses :80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"443:443"        # HTTPS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"127.0.0.1:5432:5432"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^ cuma terima dari localhost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Sintaks long-form (kontrol lebih)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ports: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- target: 80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published: 8080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protocol: tcp</a:t>
            </a:r>
            <a:endParaRPr sz="11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E5A19C5A-5514-47C8-9300-D60081F0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7795DA35-DB06-4A1C-8B7A-5CBE70B7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FA1F454-A954-4CBE-B6A0-0C8AA36F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expose:  -  INTERNAL only</a:t>
            </a:r>
            <a:endParaRPr sz="14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EA5BEF7-4C3F-4459-939C-2F69C836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Cuma untuk dokumentasi inter-container. Tidak di-publish ke host.</a:t>
            </a:r>
            <a:endParaRPr sz="11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3E100CC6-CDA6-43E5-BB93-049E778C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512064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7171E658-E1B2-4ECA-B378-988308F6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51206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9AADA21A-C6A7-42AB-8E57-C34057A4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630C99EE-6442-4094-9831-8D104846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A60CC6FD-2A7F-47DB-8204-08554BF0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C81931F4-35DB-46CE-9FEF-66172994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697480"/>
            <a:ext cx="4389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expose: - internal</a:t>
            </a:r>
            <a:endParaRPr sz="9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27FE42E4-BB03-48B7-91B5-FAF42D1C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63240"/>
            <a:ext cx="4846320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expose: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"5432"          # cuma untuk doc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# TIDAK ada 'ports:'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# -&gt; 5432 tidak ke-publish ke host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# -&gt; tidak bisa di-akses dari browser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# -&gt; tetap bisa di-akses api lewat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#    network internal (db:5432)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Rule: db / cache / internal service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 JANGAN expose ke host. Pakai 'expose:'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 atau skip semua (default already internal)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87421545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F278F59-5C09-4B55-9EAE-D5F088F2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10668C0-042C-4BA5-9820-1B376EA5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4C403B6-80DC-457C-B62A-CC30CEAD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E685B8B-F5E3-4E36-83FB-772CA564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3AAA56E-469A-45E7-9C00-A4BA0D5D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0E06E2C-6AE3-465B-90AE-3C7DBE7D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9348BCD-8373-48AA-8352-45C7C4AC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b7897936424f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10a9a8d7f4a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4561502-9450-494A-938E-CBB943C5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7E5FF0C-8113-49D1-945A-48B3D2E3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Volumes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Data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06F4E61-AFB8-48E2-B1AD-30834770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15C4499-14CC-4861-BEA2-B794D831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Persistent storage strategy - production vs development.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8191425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3A5F1A-3F7B-46DC-869E-40E0AF18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583B41F-BE99-43C9-BF1B-AB483746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66DE1A8-0C60-4C73-BCC6-E1743321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4903eb0fb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2f9376c83c4d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AA79735-081A-476B-A674-3D1E3351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0CECB69-4BF8-4D2D-AAA4-BC614599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Named Volumes - Database Persistence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E76C7BF-97DA-4A54-A50D-4E662EFE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Pattern paling sering dipakai untuk Postgres, MySQL, MongoDB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0C0F855-E359-4653-B584-77362876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0292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1A26AD5-7934-4F99-A680-D3E96A91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Kenapa Named Volume untuk DB?</a:t>
            </a:r>
            <a:endParaRPr sz="1400"/>
          </a:p>
        </p:txBody>
      </p:sp>
      <p:pic>
        <p:nvPicPr>
          <p:cNvPr id="4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2f6611ffd40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CE1A18E-7A7C-4FD4-A09F-F1BF6C03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11680"/>
            <a:ext cx="4114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Data persist saat container di-recreate</a:t>
            </a:r>
            <a:endParaRPr sz="1100"/>
          </a:p>
        </p:txBody>
      </p:sp>
      <p:pic>
        <p:nvPicPr>
          <p:cNvPr id="5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2f6611ffd40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432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317EA05D-788C-43B9-84D2-6B583BDD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51760"/>
            <a:ext cx="4114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Performance bagus (storage driver native)</a:t>
            </a:r>
            <a:endParaRPr sz="1100"/>
          </a:p>
        </p:txBody>
      </p:sp>
      <p:pic>
        <p:nvPicPr>
          <p:cNvPr id="5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2f6611ffd40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83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7C3C3077-C782-4656-A433-A0A4EE90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91840"/>
            <a:ext cx="4114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Backup/restore mudah dengan docker volume</a:t>
            </a:r>
            <a:endParaRPr sz="1100"/>
          </a:p>
        </p:txBody>
      </p:sp>
      <p:pic>
        <p:nvPicPr>
          <p:cNvPr id="5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2f6611ffd40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023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F434A2E7-1A31-4C06-B690-52102097E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931920"/>
            <a:ext cx="4114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Tidak depend OS path (portable)</a:t>
            </a:r>
            <a:endParaRPr sz="1100"/>
          </a:p>
        </p:txBody>
      </p:sp>
      <p:pic>
        <p:nvPicPr>
          <p:cNvPr id="5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da30d63d94b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63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A64F2DC-F0B4-4356-8984-7AF43950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72000"/>
            <a:ext cx="4114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 rm: data TIDAK hilang otomatis</a:t>
            </a:r>
            <a:endParaRPr sz="1100"/>
          </a:p>
        </p:txBody>
      </p:sp>
      <p:pic>
        <p:nvPicPr>
          <p:cNvPr id="5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da30d63d94b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303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BEBF0C55-6106-4AC0-AAD2-963A9471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212080"/>
            <a:ext cx="4114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 down -v BARU hapus volume!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79EDA4A5-DF72-4891-B9BE-CBEB1D5D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F7E02A50-9A5D-4E9B-BE60-B3557B0F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58FB04B8-DCF3-42DA-B531-D08B4C2C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8DB9B6BB-C483-4031-B54F-CC0471F7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9D7F51CE-7E5F-4781-A87F-403DD518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9" name="Text 19">
            <a:extLst xmlns:a="http://schemas.openxmlformats.org/drawingml/2006/main">
              <a:ext uri="{FF2B5EF4-FFF2-40B4-BE49-F238E27FC236}">
                <a16:creationId xmlns:a16="http://schemas.microsoft.com/office/drawing/2014/main" id="{824BB542-9D3E-411D-957F-55B4DB69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production db setup</a:t>
            </a:r>
            <a:endParaRPr sz="900"/>
          </a:p>
        </p:txBody>
      </p:sp>
      <p:sp>
        <p:nvSpPr>
          <p:cNvPr id="30" name="Text 20">
            <a:extLst xmlns:a="http://schemas.openxmlformats.org/drawingml/2006/main">
              <a:ext uri="{FF2B5EF4-FFF2-40B4-BE49-F238E27FC236}">
                <a16:creationId xmlns:a16="http://schemas.microsoft.com/office/drawing/2014/main" id="{0966D265-669F-43C9-A3D8-DA78D160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783080"/>
            <a:ext cx="5669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volumes: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db-data:/var/lib/postgresql/data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restart: unless-stopped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volumes: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db-data: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name: myapp_postgres_data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Cek di host - lokasi fisik volume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volume inspect myapp_postgres_data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[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{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"Mountpoint":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"/var/lib/docker/volumes/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 myapp_postgres_data/_data"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}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]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088006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A232CAF-677B-4B6C-9D13-3D77FCBD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99249D4-EDE6-45A4-A4DE-D95220FC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AB62718-4D6A-4A62-B954-C1941DD9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643273e7c49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a81a8973640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A0E8060-FBD0-41DB-A240-3861CCE7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34A95FC-5B9A-4FF7-ABBD-FE8F5F22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Bind Mounts - Dev Hot-Reload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6C097EE-3221-448B-B366-A569BF3F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Edit code di host, container auto-reload - workflow paling efisien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F7A2938-BC4B-4B58-9BC7-7962BD87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5E02417-4916-4648-82FA-0DBFE7FB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Magic dev workflow: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mount ./src ke /app di container + tool dev (nodemon, vite, uvicorn --reload) auto-restart.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1618E45-D05B-44A4-BED9-FD824D6D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5577840" cy="3931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1BECA6C-AAD9-4B7D-A918-B5FE4807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1C133F9-A03D-437F-887B-702AE974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91FFE3C-1AB4-4575-82BF-C4671CD2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F06AFC3-BEFB-4A17-B153-102A6AD3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D27FF23C-DD6B-47D3-8EE5-88430A14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7744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Node.js dev workflow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F46D5010-EE2A-4597-A2FF-600036F3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743200"/>
            <a:ext cx="530352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build: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context: 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target: dev   # multi-stage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volumes: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Mount source code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./src:/app/src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Anonymous volume cegah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node_modules host overwrite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/app/node_modules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command: npm run dev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NODE_ENV: development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CHOKIDAR_USEPOLLING: "true"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^ untuk Windows/Mac host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A055716-BB2E-4DD3-8F21-E5A73CC9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5486400" cy="3931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CD02B20-105A-4724-AEDC-850D1C8B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049AB24B-621B-4EA4-BD8E-9FFE6BDD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CB1333CA-CC02-48EF-898E-6200A005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05EBF5D5-104F-4EA9-9FDD-62D78040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4597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ED2C649-0092-49FB-8A41-6E2A6EF1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37744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Python FastAPI dev workflow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991EEB7-F661-4455-8A54-05A3788D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743200"/>
            <a:ext cx="521208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build: ./api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volumes: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 ./api:/app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command: &gt;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uvicorn main:app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--host 0.0.0.0 --port 8000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--reload   # auto-reload!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ports: ["8000:8000"]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Edit main.py di VS Code host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-&gt; save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-&gt; uvicorn detect change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 -&gt; reload dalam &lt; 1 detik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 -&gt; browser refresh, perubahan terlihat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0589474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885D91A-3625-4F65-BC28-DE409F77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3F95ED-1B68-4A0D-A093-A0AA0E38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4C720A-0D4F-4247-BBF3-F8BFED46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6a3875dfb43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ae9eb8c60244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6C92B5B-0CB8-4957-BF16-0CF4A532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C36BEC8-3787-4DCA-ACAF-5DCBED74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Volume Backup Strategy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81B594A-6626-4C4E-81E4-C784152A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Backup data sebelum container di-recreate - lebih baik aman daripada menyesal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EA23B7B-65E6-43B1-9A78-DB183CA2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F96A0B8-B23D-445C-BD78-BD2EA382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441365B-1587-4FDD-93E0-C359E400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D94EF23-3251-46FF-ADF4-388B440C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7B6E74D-2FC0-4D59-AF02-52787E8B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641A132-EAE3-4D09-B9D2-4769E360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backup + restore named volume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263B041-8FD6-4573-8BC7-EDB1FE0E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=== BACKUP ===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Stop database supaya tidak corrupt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compose stop 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Run container sementara untuk tar volume jadi backup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--rm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-v myapp_db-data:/source:ro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-v $(pwd)/backups:/backup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alpine tar czf /backup/db-$(date +%Y%m%d).tar.gz -C /source 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Start lagi database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compose start db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=== RESTORE ===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Recreate volume + extract tar ke dalamnya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compose down -v   # hapus volume lama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volume create myapp_db-data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run --rm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-v myapp_db-data:/target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-v $(pwd)/backups:/backup:ro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alpine tar xzf /backup/db-20260515.tar.gz -C /target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docker compose up -d   # start dengan data restored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2505618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02D1EFD-3F2E-4F28-96D3-94CF498E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207180E-D0D0-4298-B074-F0C4B903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AEFF9E7-9FBF-4D28-A46D-A330FBC7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E6F1308-5656-45B7-836A-43ACDB64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52FF055-233B-449B-9140-0D76EB14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66AA1EE-99B6-4790-9B81-1EAAD7D9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68A05FF-0D6F-45A7-BD05-71639070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a1252dcf443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1681f84e348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ADA5749-D778-44BE-935B-2CAE2C5D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2C3ADDC-D517-46A7-9083-4BED5FE1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Tips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1D98A6B-1E90-4723-A400-DB0DD155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2FBD0BE-EB55-47F7-BBD9-EC5F1ACF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Override files, secrets, dan pitfalls yang sering bikin pusing.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57311180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62B11F2-701F-4A4B-9D5C-0316FFB1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D75666C-9ABF-4693-9282-C89DBAB5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4C191A1-DA99-43AA-8130-FD1CF59C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9237192644b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dcbf448e547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95C5677-48D8-4798-B336-560A9FB4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46B61D-FE91-4CCE-9904-543C1E1A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Multi-Environment - Override Files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B3A3464-AF1A-4668-AE59-9B90B1FB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compose.yml base + compose.override.yml dev + compose.prod.yml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0EF75F0-CC25-4C77-8544-8CB27030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25169AD-41CE-4551-A7D3-FB56414E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Auto-merge: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 otomatis merge compose.yml + compose.override.yml. Override file 'menimpa' setting base.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Pattern: base config di compose.yml, dev settings di compose.override.yml, prod di compose.prod.yml.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C8CD95A1-AF4E-4B23-ADE9-347B64F9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F746ACE-5B38-4A3C-9E04-32ADE845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0D53A6E-0913-4E9A-96E8-5E5112FF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D24C1DBD-AB55-47F4-9204-CED5943F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C43F51E-5230-4075-8727-50B35CD2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A9DD2399-5BBA-4987-87A6-B75EA94A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51460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compose.yml - base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3613F3BB-203A-4D3A-B517-8D7734BA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53035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compose.yml (shared base)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myapp/api:1.0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ports: ["3000:3000"]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depends_on: [db]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 compose.override.yml (DEV - auto-loaded)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build: ./api  # build local!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volumes: ["./api/src:/app/src"]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DEBUG: "true"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CA53A21A-1782-4DE3-B43B-F775A49B5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3E0F1E1-32A6-450F-9908-8F73FD69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BBA046E-337C-4EC2-8E39-1C7E69E0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DE7C6164-E6F0-451D-9ED3-222BCF3C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1AB5ED2-85C8-4E15-866F-B9281693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829B265E-F76D-477B-B1FD-5E7AB5FC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1460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compose.prod.yml + jalankan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BE005DF-4B43-4C5E-A80B-134C34F2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80360"/>
            <a:ext cx="521208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compose.prod.yml (PROD - explicit)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api: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myapp/api:1.0   # pakai registry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restart: unless-stopped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deploy: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replicas: 3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resources: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  limits: { memory: 512M }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Dev (default - auto merge override.yml):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compose up -d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Prod (explicit specify file):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compose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-f compose.yml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-f compose.prod.yml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up -d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4218601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B1A5D4C-6F89-45AF-BC9D-92C5CAFB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B7CF8E6-139F-4B2B-A000-DEB71BE5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44D9A03-B6F0-4FC0-809E-E204BED0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cb5abe75c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48a86d1c2245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9D15B12-A913-4A87-93D7-18BCA3BC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32FE9FB-2C38-4111-BBC2-3C0507E0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Secrets - Jangan Pakai environment untuk Password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CB5C464-74F4-48B4-9862-7A0F38D2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Pakai docker secrets atau external secrets manager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848ED0C-0869-4F72-B459-E7E30E21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4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885ba21254b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002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BECD806E-0CCF-4981-B961-216CFC9E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5087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BAHAYA: </a:t>
            </a:r>
            <a:endParaRPr sz="14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63BC832-D9E8-42E8-9E3B-D12CE0AA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08760"/>
            <a:ext cx="8778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password di environment: di-log saat docker inspect, visible di 'docker compose config'.</a:t>
            </a:r>
            <a:endParaRPr sz="13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1E91ADE1-244A-4C61-B9C3-A58E8448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8745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Untuk production: pakai docker secrets (Swarm) atau external manager (Vault, AWS Secrets Manager).</a:t>
            </a:r>
            <a:endParaRPr sz="11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8BBAB8AF-1C69-4659-91F4-2B395591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AB45DD8C-3848-4F04-898D-5D7ACB71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2A7D0C6-09D5-4A47-90E7-8C350756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61EF60AF-B4C3-4D49-B0EF-156D926D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3C61DE61-13AF-4113-A100-064BF43F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ECF2AD50-DA83-451B-B6C0-32456987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51460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BAD - password di env</a:t>
            </a:r>
            <a:endParaRPr sz="900"/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2DEC3498-D4AD-455D-8FCE-F24591C5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53035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      POSTGRES_PASSWORD: my-secret-pw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^ visible di: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- docker inspect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- docker compose config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- process listing /proc/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# - logs (kalau di-print)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# Worse: commit compose.yml ke git!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# Password jadi public selamanya.</a:t>
            </a:r>
            <a:endParaRPr sz="1100"/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77C33CC5-666C-43FC-B017-6D094EDC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1A86CD24-683B-43B7-B8DC-C0D14FC4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EA91EE80-205F-45A3-BC4C-37EB001E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0FE9380B-DD1B-451A-8596-2F8FF698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280CCC9F-8CE3-4682-8D5F-CA24554C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FFB62F0A-5B29-4909-9C04-AAD2FB1F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1460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GOOD - pakai secrets via file</a:t>
            </a:r>
            <a:endParaRPr sz="900"/>
          </a:p>
        </p:txBody>
      </p:sp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2BFE4448-6D76-4569-A653-49EED19A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80360"/>
            <a:ext cx="521208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services: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image: postgres:15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environment: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  POSTGRES_PASSWORD_FILE: /run/secrets/db_pw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secrets: [db_pw]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secrets: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db_pw: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file: ./secrets/db_password.txt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.gitignore harus include: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secrets/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*.env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Mount file ke /run/secrets/db_pw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Postgres baca dari file, no env leak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5323603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6F35EC-18EF-45FC-9261-06616553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936E11-1ECE-4E44-80E0-37388096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BF7E8BF-2A8B-423C-9112-C55EC46A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845415aab7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8e16c7b0e46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D3602EA-FE51-42B5-9916-5FC28C00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BF7D8B5-AFF6-4F6F-A094-89A5CB1F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Common Pitfalls + Troubleshooting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A2B5862-E7EE-464B-A10F-38884E0A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Masalah yang akan Anda temui - dan cara fix-nya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25D93C67-F01F-4060-98BA-E9308542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B9F6C99-8C3F-47F6-8563-A2B49E7C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F77FD3E-ACF1-474C-ACBB-3BBC939B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ECONNREFUSED to db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CB46A4C7-20FB-4B4B-9E81-F0635D5F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API start sebelum DB siap. Race condition.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1628CEC-40F1-497B-ACC7-3C26E44E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6F62BCC-2D72-4D07-9354-64719515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healthcheck + depends_on: condition: service_healthy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55724495-C1BF-41E6-A4C6-47DAF9C0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75994EA-9395-4C2E-B28E-C727A34C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D6AE0092-B8DF-435B-AD6D-0EC59258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Volume data hilang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FAB60830-0820-46BF-ACC0-83F68B7E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 down -v auto-hapus volume - intentional tapi sering kelolosan.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B94AE2B-4BB4-4233-98E4-D3A955A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3B66E65-6774-4440-B63B-01C4F91C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Backup dulu sebelum down -v, atau pakai 'docker compose rm -v' selective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A0BA232F-CDAD-4B4B-A086-BF40A4E0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E9981214-5304-4E60-9BEE-79AFFD0D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1832AFC-76BE-405B-867A-FBF327B4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Bind mount kosong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83F6E56-5FDD-4B52-A976-7E610466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Mount ./src ke /app overwrite isi /app dari image (node_modules hilang).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0A39033D-19D1-46E2-AD71-029645AD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7A8131E7-779C-4E1F-8DF5-D217FADE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Tambah anonymous volume: '- /app/node_modules'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69740837-9DC8-4957-831E-8A134677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968151C8-0D11-4603-8911-56420B1E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14D48334-6D96-4C5A-851E-F7367704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 already in use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CD996094-D7AC-433E-B628-0A941E67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 tidak release port saat container crash unexpected.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16863746-AB5D-407A-A09D-77DD415D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FA1BBEDE-423F-4DB7-9841-C1185D49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compose down dulu, atau pakai port host yang beda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CF15C694-97B0-4473-81CA-CD07AE8B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8F4AC350-327F-4A38-B74B-3FF5765C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74A74809-361D-4FD1-AB19-8CC80DE5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 resolve fail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787E3C1-0574-4E72-8C49-83D39E6D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Service di network yang beda - tidak bisa kontak satu sama lain.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E02DB47E-0575-47D0-8D4F-02323BF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11DF948E-8AFD-48FE-BA19-0E33A25C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0352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networks: section. Service harus di network yang sama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5CB68146-EEC4-4887-BB55-81AE4162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9F18FE36-4934-457B-ABE1-4599A50D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BC3CE06F-4D9B-4E53-8AFC-B7622451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cache stale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2E532FEC-27F1-4447-8741-7BB9746E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Edit Dockerfile tapi 'compose up' tetap pakai image lama.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319904D2-F046-4C19-8BD2-4E76BA22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8DBB2AF6-00A8-4477-B87E-479133C4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03520"/>
            <a:ext cx="3154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 build --no-cache, atau compose up --build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8294299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755134F-F766-426B-A14E-F3ADE144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0B3B781-4151-4470-87E2-8BFD7F03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E924183-E0EC-4E1E-8CF2-CABFBB75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01ba974ec4e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f9ef26dd445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B7D6130-FA6B-4EC8-8F1C-D33A5CFB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C3B0C8D-E496-4E5A-87DF-3065AF8B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- Docker Compose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076BCD9-50A5-4F26-824F-51F5CA4E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Print, tempel di samping laptop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6ED803D-D9B8-45E6-B083-D5424D1F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33582FA-1179-4536-9AF6-376DF21E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C3735DA-6C10-4729-82DF-3003B6D8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Lifecycle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BC6498AF-CF85-4D01-9DBF-5C773DC3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up -d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down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restart api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stop / start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ps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down -v (!)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C3C1F34-30E7-45FA-95E2-C140280B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B61644A-74B3-46F1-A8D8-97389729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B81824D-35EB-4CA5-8FF5-1F6FE752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Debug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44F1CE82-7C3E-4C1B-B74D-D995D8E6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logs -f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logs api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exec api bash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top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port api 3000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config</a:t>
            </a:r>
            <a:endParaRPr sz="1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5E1C8CA-669D-494A-9B88-371EF2BE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8CF79E7-0D9E-4C4C-8718-859E100F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1070178A-AA42-4124-A27B-956970F1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0B1139BE-C942-48B3-A085-803160B5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build: ./api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build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build --no-cache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up --build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pull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image: name:tag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2117BD45-34AD-421B-9230-37FCE9EE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3912017F-5B1D-49A4-98EC-A1169CF0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7CEB8603-75DB-4E92-88B2-DE96C567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Volumes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F282E79C-F973-4554-A3A0-D00C7560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db-data:/var/lib/...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./src:/app/src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./conf.yml:/cfg:ro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/app/node_modules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volume ls / inspect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down -v hapus volume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42DF7883-4B8D-4505-89A7-D14EF41D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EEA0EC78-2D61-45B6-A23A-69E3CA91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812924BC-885A-4389-89A6-43B37CE4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Networks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A4C0092C-E614-4F36-998A-F7B38A9B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service name = DNS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networks: [frontend]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internal: true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 network ls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Default = auto-bridge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Scale = round-robin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BDF67D82-7580-4FDD-AACF-EBC5116D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D6F7ACB0-EB69-495E-A506-CAF4C4A8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4531F66-278D-442F-A6E5-B1FD7CE6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Env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0544C1B8-8F4B-4277-97D7-9BA08F1A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environment: K: V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env_file: .env.api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.env auto-load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${VAR} interpolation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DEBUG=true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NODE_ENV=production</a:t>
            </a:r>
            <a:endParaRPr sz="1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650D0916-24DF-4BCD-B8E2-DEC7DE71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A3EE5C04-A0F3-4166-8D9C-66272912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7D1DD086-BC28-4D0B-9C57-F0EFB4FF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128F92CC-9A2C-4C7F-A8BE-97B9B42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healthcheck: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test: [CMD, ping]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interval: 5s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retries: 5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depends_on: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condition: service_healthy</a:t>
            </a:r>
            <a:endParaRPr sz="11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926C379-04C5-4ECD-9EA7-68ADCE39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CB378DCB-E6A7-4752-81E6-8B1DA68C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FB2A094B-7C29-4129-BA68-8F071C7D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Override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04A935EE-E329-405E-AAA8-C756C52A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compose.yml = base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compose.override.yml dev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compose.prod.yml prod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-f file -f file2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Auto-merge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Override &gt; base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1945410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22A5370-D3BC-4F1D-8843-69353F94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40940C-F826-4FBD-8D03-216C5F1C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CDF9864-7799-4036-ACD7-3021BB58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43cfc08e04a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ee9c5eb3348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F17CE82-64CC-4185-96EA-C5336C03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0A41689-0B03-46DE-B4DF-A0543C4D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Wrap-Up &amp; Persiapan Pertemuan 7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0201DA9-BE5C-421D-BD79-E6EE49FA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Supabase + BaaS minggu depan - Postgres as a Service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A857DDE0-A571-4E96-8A94-0EC8EF06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Key Takeaways Hari Ini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4B53A8E-DEDA-45A0-9BE2-EFF50514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A796368-308C-4742-B1DA-4BCD253B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D634ECF-9E98-472D-9E01-4AE805CB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745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compose.yml = 1 file untuk define + run multi-container stack.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7F61488-F038-4F7A-9153-AD136259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4B3655D-7A94-4CC3-90CB-98B76C80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1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EF33C12-44C8-415B-8C31-5769BD773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5 top-level keys: services, networks, volumes, configs, secrets.</a:t>
            </a:r>
            <a:endParaRPr sz="105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16FCE11-026C-4AE1-8CD4-D2570FD2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7A807267-ED3C-4956-A1EF-9CFBA729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EA9C999-715B-443B-A274-E2A4FBB8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889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Service name jadi DNS hostname - tidak perlu hardcode IP.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A49E341-F492-41BA-B2CF-384E552F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32909D1-7363-43E0-A1E8-E98B725F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768D1D3-D24F-4589-8E9E-64A41F1F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depends_on + healthcheck = pastikan urutan start benar.</a:t>
            </a:r>
            <a:endParaRPr sz="10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05653B7F-09D6-4058-ADD1-50EB2DD5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90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1C437D80-90E4-4586-9D3C-D4F4E2DA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90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6DB6FDA-D785-497A-8F5B-779E644B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033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Named volume untuk DB. Bind mount untuk dev hot-reload.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3E0F7CDD-489B-4C5B-BD8A-18C44345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EDDBDD87-A8F3-41A2-87DB-7E5FD3A2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1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0B100DD5-C1DF-4076-8B30-4902ED97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Override files: dev (override.yml) vs prod (-f compose.prod.yml).</a:t>
            </a:r>
            <a:endParaRPr sz="105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8578BB2D-7246-4E48-A544-35786663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8EB97047-3E10-49B6-B071-9E9216ED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3EE307BA-C581-4756-AEFD-C04AAE17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6177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Production: jangan password di env. Pakai secrets file.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ACABBD40-B187-4701-B7EB-B245BDE6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8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471f5e5b7647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4" name="Text 29">
            <a:extLst xmlns:a="http://schemas.openxmlformats.org/drawingml/2006/main">
              <a:ext uri="{FF2B5EF4-FFF2-40B4-BE49-F238E27FC236}">
                <a16:creationId xmlns:a16="http://schemas.microsoft.com/office/drawing/2014/main" id="{E625007C-E96A-461C-A079-304F8590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6 - LATIHAN SESI INI</a:t>
            </a:r>
            <a:endParaRPr sz="1100"/>
          </a:p>
        </p:txBody>
      </p:sp>
      <p:sp>
        <p:nvSpPr>
          <p:cNvPr id="35" name="Text 30">
            <a:extLst xmlns:a="http://schemas.openxmlformats.org/drawingml/2006/main">
              <a:ext uri="{FF2B5EF4-FFF2-40B4-BE49-F238E27FC236}">
                <a16:creationId xmlns:a16="http://schemas.microsoft.com/office/drawing/2014/main" id="{AF7FCC19-63A0-42FF-AE66-E3DFBBB8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Cloud Notes API, Postgres, dan Redis</a:t>
            </a:r>
            <a:endParaRPr sz="1300"/>
          </a:p>
        </p:txBody>
      </p:sp>
      <p:sp>
        <p:nvSpPr>
          <p:cNvPr id="36" name="Text 31">
            <a:extLst xmlns:a="http://schemas.openxmlformats.org/drawingml/2006/main">
              <a:ext uri="{FF2B5EF4-FFF2-40B4-BE49-F238E27FC236}">
                <a16:creationId xmlns:a16="http://schemas.microsoft.com/office/drawing/2014/main" id="{CB19151A-6D2B-41E8-8161-2E17CFBF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51206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API, Postgres, Redis lewat compose.yaml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Tunggu DB sehat dengan depends_on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DB di volume dan password di secrets file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X-Cache MISS/HIT dan restart API</a:t>
            </a:r>
            <a:endParaRPr sz="1050"/>
          </a:p>
        </p:txBody>
      </p:sp>
      <p:sp>
        <p:nvSpPr>
          <p:cNvPr id="37" name="Shape 32">
            <a:extLst xmlns:a="http://schemas.openxmlformats.org/drawingml/2006/main">
              <a:ext uri="{FF2B5EF4-FFF2-40B4-BE49-F238E27FC236}">
                <a16:creationId xmlns:a16="http://schemas.microsoft.com/office/drawing/2014/main" id="{79DC8220-8622-4EB4-9130-387146B7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548640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0026f629344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7947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9" name="Text 33">
            <a:extLst xmlns:a="http://schemas.openxmlformats.org/drawingml/2006/main">
              <a:ext uri="{FF2B5EF4-FFF2-40B4-BE49-F238E27FC236}">
                <a16:creationId xmlns:a16="http://schemas.microsoft.com/office/drawing/2014/main" id="{F8C06BF2-505B-423E-9F09-57F96A12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79476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PERTEMUAN 7</a:t>
            </a:r>
            <a:endParaRPr sz="1100"/>
          </a:p>
        </p:txBody>
      </p:sp>
      <p:sp>
        <p:nvSpPr>
          <p:cNvPr id="40" name="Text 34">
            <a:extLst xmlns:a="http://schemas.openxmlformats.org/drawingml/2006/main">
              <a:ext uri="{FF2B5EF4-FFF2-40B4-BE49-F238E27FC236}">
                <a16:creationId xmlns:a16="http://schemas.microsoft.com/office/drawing/2014/main" id="{89B6296F-9667-47E4-BAE0-D5C7B73F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5196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Supabase - BaaS &amp; Postgres</a:t>
            </a:r>
            <a:endParaRPr sz="1400"/>
          </a:p>
        </p:txBody>
      </p:sp>
      <p:sp>
        <p:nvSpPr>
          <p:cNvPr id="41" name="Text 35">
            <a:extLst xmlns:a="http://schemas.openxmlformats.org/drawingml/2006/main">
              <a:ext uri="{FF2B5EF4-FFF2-40B4-BE49-F238E27FC236}">
                <a16:creationId xmlns:a16="http://schemas.microsoft.com/office/drawing/2014/main" id="{F8EDC4C6-28AB-43D0-B122-7DE55699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Backend-as-a-Service: Postgres managed, auth, storage, realtime, edge functions.</a:t>
            </a:r>
            <a:endParaRPr sz="1100"/>
          </a:p>
        </p:txBody>
      </p:sp>
      <p:sp>
        <p:nvSpPr>
          <p:cNvPr id="42" name="Shape 36">
            <a:extLst xmlns:a="http://schemas.openxmlformats.org/drawingml/2006/main">
              <a:ext uri="{FF2B5EF4-FFF2-40B4-BE49-F238E27FC236}">
                <a16:creationId xmlns:a16="http://schemas.microsoft.com/office/drawing/2014/main" id="{BD063572-0E17-45E2-B129-D35FDA28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29200"/>
            <a:ext cx="5486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9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a215b8129346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25780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4" name="Text 37">
            <a:extLst xmlns:a="http://schemas.openxmlformats.org/drawingml/2006/main">
              <a:ext uri="{FF2B5EF4-FFF2-40B4-BE49-F238E27FC236}">
                <a16:creationId xmlns:a16="http://schemas.microsoft.com/office/drawing/2014/main" id="{A40201F8-100C-4168-8F40-96EF9BD8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Pertanyaan?</a:t>
            </a:r>
            <a:endParaRPr sz="2200"/>
          </a:p>
        </p:txBody>
      </p:sp>
      <p:sp>
        <p:nvSpPr>
          <p:cNvPr id="45" name="Text 38">
            <a:extLst xmlns:a="http://schemas.openxmlformats.org/drawingml/2006/main">
              <a:ext uri="{FF2B5EF4-FFF2-40B4-BE49-F238E27FC236}">
                <a16:creationId xmlns:a16="http://schemas.microsoft.com/office/drawing/2014/main" id="{E817C4A5-DEB0-47E9-8B49-53828C46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Diskusi sebelum praktikum</a:t>
            </a:r>
            <a:endParaRPr sz="1200"/>
          </a:p>
        </p:txBody>
      </p:sp>
      <p:sp>
        <p:nvSpPr>
          <p:cNvPr id="46" name="Shape 39">
            <a:extLst xmlns:a="http://schemas.openxmlformats.org/drawingml/2006/main">
              <a:ext uri="{FF2B5EF4-FFF2-40B4-BE49-F238E27FC236}">
                <a16:creationId xmlns:a16="http://schemas.microsoft.com/office/drawing/2014/main" id="{6258C445-BCB5-437F-860C-3A89E73E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7" name="Text 40">
            <a:extLst xmlns:a="http://schemas.openxmlformats.org/drawingml/2006/main">
              <a:ext uri="{FF2B5EF4-FFF2-40B4-BE49-F238E27FC236}">
                <a16:creationId xmlns:a16="http://schemas.microsoft.com/office/drawing/2014/main" id="{33007573-191F-4A6D-8B67-EF11364C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LO2 (Apply)</a:t>
            </a:r>
            <a:r>
              <a:rPr sz="1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  +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LO1 (Analyze)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28706308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1349B70-E435-1C07-271B-6C33BE45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800"/>
            <a:ext cx="8890000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BINUS UNIVERSITY  |  Cloud Services  |  Pertemuan 6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61D210-A00A-4896-F977-6193ECD7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73100"/>
            <a:ext cx="112776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004690"/>
                </a:solidFill>
                <a:latin typeface="Calibri"/>
                <a:ea typeface="Calibri"/>
                <a:cs typeface="Calibri"/>
              </a:rPr>
              <a:t>Compose untuk layanan bertingkat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6946FE9-AEDA-49C5-EF11-3061689E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277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500" i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Web, database, cache, penyimpanan, dan kesiapan service</a:t>
            </a:r>
            <a:endParaRPr sz="1500" i="1">
              <a:solidFill>
                <a:srgbClr val="60606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692D31-A935-4388-0135-4C833BD8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0447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Jalankan API, Postgres, dan Redis dalam satu compose.yaml.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6B71A7-E09A-1CAC-9785-CD5E91C2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8448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Uji DNS service, named volume, healthcheck, dan depends_on: service_healthy.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50BA188-9AD4-E5E6-8E48-A6C793C2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6449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Gunakan profile debug hanya saat diperlukan; lihat log tiap service.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634C795-650A-A52D-3D5F-0D26326A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450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Simpan password lewat secrets file lokal yang diabaikan Git.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2091D15-3383-6B63-AA74-1C7EF039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2451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Ikuti 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83f0f436dd04663"/>
              </a:rPr>
              <a:t>SeedFlora/meet6CloudService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 dan jalankan verifikasi endpoint.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FA0F571-CC94-9C6C-DCF7-A63D1768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3500"/>
            <a:ext cx="112776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Materi praktik: 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20149085e5a471e"/>
              </a:rPr>
              <a:t>SeedFlora/meet6CloudService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  |  Sumber: RPS COMP6991031</a:t>
            </a:r>
          </a:p>
        </p:txBody>
      </p:sp>
    </p:spTree>
    <p:extLst>
      <p:ext uri="{BB962C8B-B14F-4D97-AF65-F5344CB8AC3E}">
        <p14:creationId xmlns:p14="http://schemas.microsoft.com/office/powerpoint/2010/main" val="297644037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266E5B-7AA5-4B3C-972B-3C0B2B67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0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BINUS UNIVERSITY  |  Cloud Services  |  Pertemuan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C7A251-CF49-4260-8E83-0CBD44A3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64C8C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64C8C"/>
                </a:solidFill>
                <a:latin typeface="Arial"/>
                <a:ea typeface="Arial"/>
                <a:cs typeface="Arial"/>
              </a:rPr>
              <a:t>Dari satu container ke Lab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551A2-9482-4299-8E1E-AF45077F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57325"/>
            <a:ext cx="5810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Kasus kerja: Cloud Notes memerlukan database dan cache. Tim harus menyalakan tiga layanan dengan satu berkas Compose.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B9B717-1FE8-489B-98C3-0F2EF16F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55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36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3678"/>
                </a:solidFill>
                <a:latin typeface="Arial"/>
                <a:ea typeface="Arial"/>
                <a:cs typeface="Arial"/>
              </a:rPr>
              <a:t>Sebelum praktikum (10–15 menit)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B47814-3FB5-4EB3-AD6F-6940C808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58102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Prediksi: apakah catatan tetap ada setelah API direstart? Mengapa?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88CE7F-C349-43B1-92BD-B6C0E84D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69A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69AD"/>
                </a:solidFill>
                <a:latin typeface="Arial"/>
                <a:ea typeface="Arial"/>
                <a:cs typeface="Arial"/>
                <a:hlinkClick xmlns:r="http://schemas.openxmlformats.org/officeDocument/2006/relationships" r:id="Rd13ac162efdc4032"/>
              </a:rPr>
              <a:t>Bacaan: How Compose works (Docker Docs)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C25806-9BE3-4A56-B9A4-7E2A17DE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7680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69A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69AD"/>
                </a:solidFill>
                <a:latin typeface="Arial"/>
                <a:ea typeface="Arial"/>
                <a:cs typeface="Arial"/>
                <a:hlinkClick xmlns:r="http://schemas.openxmlformats.org/officeDocument/2006/relationships" r:id="R00be6fcf0b444c09"/>
              </a:rPr>
              <a:t>Video: All Things Compose, menit 8:18–16:38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4734A9-25E1-4098-88F7-0C9BE30F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81675"/>
            <a:ext cx="1114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69A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69AD"/>
                </a:solidFill>
                <a:latin typeface="Arial"/>
                <a:ea typeface="Arial"/>
                <a:cs typeface="Arial"/>
                <a:hlinkClick xmlns:r="http://schemas.openxmlformats.org/officeDocument/2006/relationships" r:id="R7ae3603fb48b48f1"/>
              </a:rPr>
              <a:t>Buka repo Lab 06: SeedFlora/meet6CloudService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C983DC-D632-4E7B-830A-6B9E813D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76975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62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66270"/>
                </a:solidFill>
                <a:latin typeface="Arial"/>
                <a:ea typeface="Arial"/>
                <a:cs typeface="Arial"/>
              </a:rPr>
              <a:t>Proyek kelompok 3 orang: presentasi UTS minggu 7 dan UAS minggu 14.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d6494bfdcf4a32"/>
          <a:stretch xmlns:a="http://schemas.openxmlformats.org/drawingml/2006/main"/>
        </p:blipFill>
        <p:spPr>
          <a:xfrm xmlns:a="http://schemas.openxmlformats.org/drawingml/2006/main">
            <a:off x="6534150" y="1700213"/>
            <a:ext cx="5200650" cy="3467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0823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2026-10-07T19:03:43.8260000Z</dcterms:created>
  <dcterms:modified xsi:type="dcterms:W3CDTF">2026-10-07T19:03:43.8260000Z</dcterms:modified>
</coreProperties>
</file>