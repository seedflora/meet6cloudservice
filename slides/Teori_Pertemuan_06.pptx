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b9efbc7c3d4241" /><Relationship Type="http://schemas.openxmlformats.org/officeDocument/2006/relationships/extended-properties" Target="/docProps/app.xml" Id="Rf4c983c2c2e54164" /><Relationship Type="http://schemas.openxmlformats.org/officeDocument/2006/relationships/officeDocument" Target="/ppt/presentation.xml" Id="Rb14b0317f5084106" /></Relationships>
</file>

<file path=ppt/presentation.xml><?xml version="1.0" encoding="utf-8"?>
<p:presentation xmlns:p="http://schemas.openxmlformats.org/presentationml/2006/main">
  <p:sldMasterIdLst>
    <p:sldMasterId xmlns:r="http://schemas.openxmlformats.org/officeDocument/2006/relationships" id="2147483648" r:id="Rdebaef7a3cfe46dc"/>
  </p:sldMasterIdLst>
  <p:notesMasterIdLst>
    <p:notesMasterId xmlns:r="http://schemas.openxmlformats.org/officeDocument/2006/relationships" r:id="R00ffbaa6adef4034"/>
  </p:notesMasterIdLst>
  <p:sldIdLst>
    <p:sldId xmlns:r="http://schemas.openxmlformats.org/officeDocument/2006/relationships" id="256" r:id="Rbfd4e80c235c49f5"/>
    <p:sldId xmlns:r="http://schemas.openxmlformats.org/officeDocument/2006/relationships" id="257" r:id="R590c27005ed842b1"/>
    <p:sldId xmlns:r="http://schemas.openxmlformats.org/officeDocument/2006/relationships" id="258" r:id="R286c1acb172346d4"/>
    <p:sldId xmlns:r="http://schemas.openxmlformats.org/officeDocument/2006/relationships" id="259" r:id="Rffa8587d0c2e4458"/>
    <p:sldId xmlns:r="http://schemas.openxmlformats.org/officeDocument/2006/relationships" id="260" r:id="R8e8bf416cc124ce8"/>
    <p:sldId xmlns:r="http://schemas.openxmlformats.org/officeDocument/2006/relationships" id="261" r:id="Rc9442fa962954b82"/>
    <p:sldId xmlns:r="http://schemas.openxmlformats.org/officeDocument/2006/relationships" id="262" r:id="Rd9cd8e47b5a84cca"/>
    <p:sldId xmlns:r="http://schemas.openxmlformats.org/officeDocument/2006/relationships" id="263" r:id="R13781993356f40cd"/>
    <p:sldId xmlns:r="http://schemas.openxmlformats.org/officeDocument/2006/relationships" id="264" r:id="Rd5cc7ab278514c04"/>
    <p:sldId xmlns:r="http://schemas.openxmlformats.org/officeDocument/2006/relationships" id="265" r:id="R401513811d954492"/>
    <p:sldId xmlns:r="http://schemas.openxmlformats.org/officeDocument/2006/relationships" id="266" r:id="Rcfb8a734a4934e50"/>
    <p:sldId xmlns:r="http://schemas.openxmlformats.org/officeDocument/2006/relationships" id="267" r:id="Rcb7290fd70fd4706"/>
    <p:sldId xmlns:r="http://schemas.openxmlformats.org/officeDocument/2006/relationships" id="268" r:id="Ra0eb451db6324aa4"/>
    <p:sldId xmlns:r="http://schemas.openxmlformats.org/officeDocument/2006/relationships" id="269" r:id="Rc535b3a167b34997"/>
    <p:sldId xmlns:r="http://schemas.openxmlformats.org/officeDocument/2006/relationships" id="270" r:id="Rfdba5d814e464cab"/>
    <p:sldId xmlns:r="http://schemas.openxmlformats.org/officeDocument/2006/relationships" id="271" r:id="Rd396fcdd64d54b04"/>
    <p:sldId xmlns:r="http://schemas.openxmlformats.org/officeDocument/2006/relationships" id="272" r:id="Rc6e452a891ef4535"/>
    <p:sldId xmlns:r="http://schemas.openxmlformats.org/officeDocument/2006/relationships" id="273" r:id="R8f80348c846a40d2"/>
    <p:sldId xmlns:r="http://schemas.openxmlformats.org/officeDocument/2006/relationships" id="274" r:id="R6deea2ffa74b4381"/>
    <p:sldId xmlns:r="http://schemas.openxmlformats.org/officeDocument/2006/relationships" id="275" r:id="R762647d46f264bb4"/>
    <p:sldId xmlns:r="http://schemas.openxmlformats.org/officeDocument/2006/relationships" id="276" r:id="Rda7d5d0bd73542d9"/>
    <p:sldId xmlns:r="http://schemas.openxmlformats.org/officeDocument/2006/relationships" id="277" r:id="Rda0bb24652d041b5"/>
    <p:sldId xmlns:r="http://schemas.openxmlformats.org/officeDocument/2006/relationships" id="278" r:id="Rbf270592480a425c"/>
    <p:sldId xmlns:r="http://schemas.openxmlformats.org/officeDocument/2006/relationships" id="279" r:id="Ra46d6e91457749e5"/>
    <p:sldId xmlns:r="http://schemas.openxmlformats.org/officeDocument/2006/relationships" id="280" r:id="Rc530c7e36e4146f9"/>
    <p:sldId xmlns:r="http://schemas.openxmlformats.org/officeDocument/2006/relationships" id="281" r:id="Rcd715b6f0bdd4821"/>
    <p:sldId xmlns:r="http://schemas.openxmlformats.org/officeDocument/2006/relationships" id="282" r:id="R9a91000a1aa2441b"/>
    <p:sldId xmlns:r="http://schemas.openxmlformats.org/officeDocument/2006/relationships" id="283" r:id="R88c9dff0a0544a74"/>
    <p:sldId xmlns:r="http://schemas.openxmlformats.org/officeDocument/2006/relationships" id="284" r:id="Ra209435e020344af"/>
    <p:sldId xmlns:r="http://schemas.openxmlformats.org/officeDocument/2006/relationships" id="285" r:id="Rbaf738f007a342e7"/>
    <p:sldId xmlns:r="http://schemas.openxmlformats.org/officeDocument/2006/relationships" id="286" r:id="Ra42dd095d3244c97"/>
    <p:sldId xmlns:r="http://schemas.openxmlformats.org/officeDocument/2006/relationships" id="287" r:id="R942e3b6e2d314199"/>
    <p:sldId xmlns:r="http://schemas.openxmlformats.org/officeDocument/2006/relationships" id="288" r:id="R4157c3776df44c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a10c0af70514588" /><Relationship Type="http://schemas.openxmlformats.org/officeDocument/2006/relationships/slideMaster" Target="/ppt/slideMasters/slideMaster1.xml" Id="Rdebaef7a3cfe46dc" /><Relationship Type="http://schemas.openxmlformats.org/officeDocument/2006/relationships/notesMaster" Target="/ppt/notesMasters/notesMaster1.xml" Id="R00ffbaa6adef4034" /><Relationship Type="http://schemas.openxmlformats.org/officeDocument/2006/relationships/presProps" Target="/ppt/presProps.xml" Id="R70e51e85ddaf4561" /><Relationship Type="http://schemas.openxmlformats.org/officeDocument/2006/relationships/viewProps" Target="/ppt/viewProps.xml" Id="Rf95eea7c4c724213" /><Relationship Type="http://schemas.openxmlformats.org/officeDocument/2006/relationships/tableStyles" Target="/ppt/tableStyles.xml" Id="R41e1b233910f4f56" /><Relationship Type="http://schemas.openxmlformats.org/officeDocument/2006/relationships/slide" Target="/ppt/slides/slide1.xml" Id="Rbfd4e80c235c49f5" /><Relationship Type="http://schemas.openxmlformats.org/officeDocument/2006/relationships/slide" Target="/ppt/slides/slide2.xml" Id="R590c27005ed842b1" /><Relationship Type="http://schemas.openxmlformats.org/officeDocument/2006/relationships/slide" Target="/ppt/slides/slide3.xml" Id="R286c1acb172346d4" /><Relationship Type="http://schemas.openxmlformats.org/officeDocument/2006/relationships/slide" Target="/ppt/slides/slide4.xml" Id="Rffa8587d0c2e4458" /><Relationship Type="http://schemas.openxmlformats.org/officeDocument/2006/relationships/slide" Target="/ppt/slides/slide5.xml" Id="R8e8bf416cc124ce8" /><Relationship Type="http://schemas.openxmlformats.org/officeDocument/2006/relationships/slide" Target="/ppt/slides/slide6.xml" Id="Rc9442fa962954b82" /><Relationship Type="http://schemas.openxmlformats.org/officeDocument/2006/relationships/slide" Target="/ppt/slides/slide7.xml" Id="Rd9cd8e47b5a84cca" /><Relationship Type="http://schemas.openxmlformats.org/officeDocument/2006/relationships/slide" Target="/ppt/slides/slide8.xml" Id="R13781993356f40cd" /><Relationship Type="http://schemas.openxmlformats.org/officeDocument/2006/relationships/slide" Target="/ppt/slides/slide9.xml" Id="Rd5cc7ab278514c04" /><Relationship Type="http://schemas.openxmlformats.org/officeDocument/2006/relationships/slide" Target="/ppt/slides/slide10.xml" Id="R401513811d954492" /><Relationship Type="http://schemas.openxmlformats.org/officeDocument/2006/relationships/slide" Target="/ppt/slides/slide11.xml" Id="Rcfb8a734a4934e50" /><Relationship Type="http://schemas.openxmlformats.org/officeDocument/2006/relationships/slide" Target="/ppt/slides/slide12.xml" Id="Rcb7290fd70fd4706" /><Relationship Type="http://schemas.openxmlformats.org/officeDocument/2006/relationships/slide" Target="/ppt/slides/slide13.xml" Id="Ra0eb451db6324aa4" /><Relationship Type="http://schemas.openxmlformats.org/officeDocument/2006/relationships/slide" Target="/ppt/slides/slide14.xml" Id="Rc535b3a167b34997" /><Relationship Type="http://schemas.openxmlformats.org/officeDocument/2006/relationships/slide" Target="/ppt/slides/slide15.xml" Id="Rfdba5d814e464cab" /><Relationship Type="http://schemas.openxmlformats.org/officeDocument/2006/relationships/slide" Target="/ppt/slides/slide16.xml" Id="Rd396fcdd64d54b04" /><Relationship Type="http://schemas.openxmlformats.org/officeDocument/2006/relationships/slide" Target="/ppt/slides/slide17.xml" Id="Rc6e452a891ef4535" /><Relationship Type="http://schemas.openxmlformats.org/officeDocument/2006/relationships/slide" Target="/ppt/slides/slide18.xml" Id="R8f80348c846a40d2" /><Relationship Type="http://schemas.openxmlformats.org/officeDocument/2006/relationships/slide" Target="/ppt/slides/slide19.xml" Id="R6deea2ffa74b4381" /><Relationship Type="http://schemas.openxmlformats.org/officeDocument/2006/relationships/slide" Target="/ppt/slides/slide20.xml" Id="R762647d46f264bb4" /><Relationship Type="http://schemas.openxmlformats.org/officeDocument/2006/relationships/slide" Target="/ppt/slides/slide21.xml" Id="Rda7d5d0bd73542d9" /><Relationship Type="http://schemas.openxmlformats.org/officeDocument/2006/relationships/slide" Target="/ppt/slides/slide22.xml" Id="Rda0bb24652d041b5" /><Relationship Type="http://schemas.openxmlformats.org/officeDocument/2006/relationships/slide" Target="/ppt/slides/slide23.xml" Id="Rbf270592480a425c" /><Relationship Type="http://schemas.openxmlformats.org/officeDocument/2006/relationships/slide" Target="/ppt/slides/slide24.xml" Id="Ra46d6e91457749e5" /><Relationship Type="http://schemas.openxmlformats.org/officeDocument/2006/relationships/slide" Target="/ppt/slides/slide25.xml" Id="Rc530c7e36e4146f9" /><Relationship Type="http://schemas.openxmlformats.org/officeDocument/2006/relationships/slide" Target="/ppt/slides/slide26.xml" Id="Rcd715b6f0bdd4821" /><Relationship Type="http://schemas.openxmlformats.org/officeDocument/2006/relationships/slide" Target="/ppt/slides/slide27.xml" Id="R9a91000a1aa2441b" /><Relationship Type="http://schemas.openxmlformats.org/officeDocument/2006/relationships/slide" Target="/ppt/slides/slide28.xml" Id="R88c9dff0a0544a74" /><Relationship Type="http://schemas.openxmlformats.org/officeDocument/2006/relationships/slide" Target="/ppt/slides/slide29.xml" Id="Ra209435e020344af" /><Relationship Type="http://schemas.openxmlformats.org/officeDocument/2006/relationships/slide" Target="/ppt/slides/slide30.xml" Id="Rbaf738f007a342e7" /><Relationship Type="http://schemas.openxmlformats.org/officeDocument/2006/relationships/slide" Target="/ppt/slides/slide31.xml" Id="Ra42dd095d3244c97" /><Relationship Type="http://schemas.openxmlformats.org/officeDocument/2006/relationships/slide" Target="/ppt/slides/slide32.xml" Id="R942e3b6e2d314199" /><Relationship Type="http://schemas.openxmlformats.org/officeDocument/2006/relationships/slide" Target="/ppt/slides/slide33.xml" Id="R4157c3776df44c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830afe439544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a75ef165cf40cf" /><Relationship Type="http://schemas.openxmlformats.org/officeDocument/2006/relationships/notesMaster" Target="/ppt/notesMasters/notesMaster1.xml" Id="R9b4f737022be47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733dfe22434c7c" /><Relationship Type="http://schemas.openxmlformats.org/officeDocument/2006/relationships/notesMaster" Target="/ppt/notesMasters/notesMaster1.xml" Id="R94823cb782c344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1a4645dc594051" /><Relationship Type="http://schemas.openxmlformats.org/officeDocument/2006/relationships/notesMaster" Target="/ppt/notesMasters/notesMaster1.xml" Id="R654a691a456140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364069b0f7465d" /><Relationship Type="http://schemas.openxmlformats.org/officeDocument/2006/relationships/notesMaster" Target="/ppt/notesMasters/notesMaster1.xml" Id="Rfda649fbe5824c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ea7eef77d24130" /><Relationship Type="http://schemas.openxmlformats.org/officeDocument/2006/relationships/notesMaster" Target="/ppt/notesMasters/notesMaster1.xml" Id="R73534e989b584b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5f953e595b4234" /><Relationship Type="http://schemas.openxmlformats.org/officeDocument/2006/relationships/notesMaster" Target="/ppt/notesMasters/notesMaster1.xml" Id="R5765167fc0344d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7d5e3b246a40d4" /><Relationship Type="http://schemas.openxmlformats.org/officeDocument/2006/relationships/notesMaster" Target="/ppt/notesMasters/notesMaster1.xml" Id="R4a3e25d2e66446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775d079bf84cee" /><Relationship Type="http://schemas.openxmlformats.org/officeDocument/2006/relationships/notesMaster" Target="/ppt/notesMasters/notesMaster1.xml" Id="Raecc6bcc564d45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2a0c506d8b4c62" /><Relationship Type="http://schemas.openxmlformats.org/officeDocument/2006/relationships/notesMaster" Target="/ppt/notesMasters/notesMaster1.xml" Id="R7d48f8ab1bd84c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3eea092e3c440a" /><Relationship Type="http://schemas.openxmlformats.org/officeDocument/2006/relationships/notesMaster" Target="/ppt/notesMasters/notesMaster1.xml" Id="Rb7ac68c3358f4d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5bce7db63d448a" /><Relationship Type="http://schemas.openxmlformats.org/officeDocument/2006/relationships/notesMaster" Target="/ppt/notesMasters/notesMaster1.xml" Id="R3680cc45fa0d48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3bf92c8e6d4110" /><Relationship Type="http://schemas.openxmlformats.org/officeDocument/2006/relationships/notesMaster" Target="/ppt/notesMasters/notesMaster1.xml" Id="R7160a66a5d5f40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d1587073cc4c01" /><Relationship Type="http://schemas.openxmlformats.org/officeDocument/2006/relationships/notesMaster" Target="/ppt/notesMasters/notesMaster1.xml" Id="Rad1bd9c7c4f249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bac40e6fe245e2" /><Relationship Type="http://schemas.openxmlformats.org/officeDocument/2006/relationships/notesMaster" Target="/ppt/notesMasters/notesMaster1.xml" Id="R7cd1bdb869094d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aa7673ffe9481b" /><Relationship Type="http://schemas.openxmlformats.org/officeDocument/2006/relationships/notesMaster" Target="/ppt/notesMasters/notesMaster1.xml" Id="Rc0b47e97d7af4e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03a10698e846a8" /><Relationship Type="http://schemas.openxmlformats.org/officeDocument/2006/relationships/notesMaster" Target="/ppt/notesMasters/notesMaster1.xml" Id="R6965bdc57db341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89b3f1f33b4c9e" /><Relationship Type="http://schemas.openxmlformats.org/officeDocument/2006/relationships/notesMaster" Target="/ppt/notesMasters/notesMaster1.xml" Id="Reb964e34b6ee45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ee852148e24f00" /><Relationship Type="http://schemas.openxmlformats.org/officeDocument/2006/relationships/notesMaster" Target="/ppt/notesMasters/notesMaster1.xml" Id="R6604be5933194b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0823a59c2a4fba" /><Relationship Type="http://schemas.openxmlformats.org/officeDocument/2006/relationships/notesMaster" Target="/ppt/notesMasters/notesMaster1.xml" Id="Rf47126e65fbd41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1d38fc126ed4d8c" /><Relationship Type="http://schemas.openxmlformats.org/officeDocument/2006/relationships/notesMaster" Target="/ppt/notesMasters/notesMaster1.xml" Id="R2cfb3f57c4804f7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3ae0a8f81f4091" /><Relationship Type="http://schemas.openxmlformats.org/officeDocument/2006/relationships/notesMaster" Target="/ppt/notesMasters/notesMaster1.xml" Id="R137786a32dd84bc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fb012cfeb0493c" /><Relationship Type="http://schemas.openxmlformats.org/officeDocument/2006/relationships/notesMaster" Target="/ppt/notesMasters/notesMaster1.xml" Id="R150f3e2d21e24bf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fab22ec97e0456d" /><Relationship Type="http://schemas.openxmlformats.org/officeDocument/2006/relationships/notesMaster" Target="/ppt/notesMasters/notesMaster1.xml" Id="R16cff2d416a645f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0378372a54944b1" /><Relationship Type="http://schemas.openxmlformats.org/officeDocument/2006/relationships/notesMaster" Target="/ppt/notesMasters/notesMaster1.xml" Id="Re6f3de9b1d84409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db91348a1214567" /><Relationship Type="http://schemas.openxmlformats.org/officeDocument/2006/relationships/notesMaster" Target="/ppt/notesMasters/notesMaster1.xml" Id="R2e96de99bbe04c5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572d6d97cdc4f1a" /><Relationship Type="http://schemas.openxmlformats.org/officeDocument/2006/relationships/notesMaster" Target="/ppt/notesMasters/notesMaster1.xml" Id="Rcf3cd0ad61a74b7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974ea669cf9455a" /><Relationship Type="http://schemas.openxmlformats.org/officeDocument/2006/relationships/notesMaster" Target="/ppt/notesMasters/notesMaster1.xml" Id="Rea690a5c9f334e8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33377a778174f06" /><Relationship Type="http://schemas.openxmlformats.org/officeDocument/2006/relationships/notesMaster" Target="/ppt/notesMasters/notesMaster1.xml" Id="Re9d467274aaa49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093b70d8c19450e" /><Relationship Type="http://schemas.openxmlformats.org/officeDocument/2006/relationships/notesMaster" Target="/ppt/notesMasters/notesMaster1.xml" Id="Ra1550da138d14f2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21925914e424087" /><Relationship Type="http://schemas.openxmlformats.org/officeDocument/2006/relationships/notesMaster" Target="/ppt/notesMasters/notesMaster1.xml" Id="R91341845acfe463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f5b23dce30b49f3" /><Relationship Type="http://schemas.openxmlformats.org/officeDocument/2006/relationships/notesMaster" Target="/ppt/notesMasters/notesMaster1.xml" Id="R3dab618e68e145e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4df427ce7244ea0" /><Relationship Type="http://schemas.openxmlformats.org/officeDocument/2006/relationships/notesMaster" Target="/ppt/notesMasters/notesMaster1.xml" Id="R03a1a06704e9441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46a6dba1e334d41" /><Relationship Type="http://schemas.openxmlformats.org/officeDocument/2006/relationships/notesMaster" Target="/ppt/notesMasters/notesMaster1.xml" Id="R3cdbaa7e835e4f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Ukuran image bergantung tag, arsitektur, dan dependency. Ukur image yang dipakai dengan docker images.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Healthcheck dan startup: https://docs.docker.com/reference/compose-file/services/ dan https://docs.docker.com/compose/how-tos/startup-order/. Healthcheck sukses tidak menjamin layanan tetap sehat setelah startup.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perintah docker compose lengkap. https://docs.docker.com/reference/cli/docker/compose/. docker compose up membuat/build image yang belum ada sesuai kebutuhan. --build meminta build sebelum startup. logs tanpa -f membaca jejak tersimpan. Shell sh tersedia pada image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https://docs.docker.com/reference/compose-file/services/ (container_name) dan https://docs.docker.com/compose/how-tos/networking/. Lab06 memakai 127.0.0.1:8000:8000 sehingga tidak dapat langsung menambah replica API. Load balancer memerlukan konfigurasi upstream dan mekanisme resolusi alamat yang sesuai. Nginx: https://nginx.org/en/docs/http/ngx_http_upstream_module.html. Contoh output IP di slide lama diganti command verifikasi aktual. https://docs.docker.com/reference/cli/docker/compose/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logis PostgreSQL16: https://www.postgresql.org/docs/16/app-pgdump.html, https://www.postgresql.org/docs/16/app-pgrestore.html. Jalankan dari root repo Lab06. pg_dump -Fc menulis arsip pada /tmp di container, lalu docker compose cp menyalin file biner tanpa redirection PowerShell. Restore ke database baru cloudnotes_restore_check pada DB lab yang sama, jangan timpa cloudnotes. Bila database tujuan sudah ada, pilih nama baru. Periksa exit code dan query data. mkdir -p adalah Bash. Bentuk PowerShell: New-Item -ItemType Directory -Force ./backups | Out-Null. Command Docker yang memakai backslash baris lanjutan harus disatukan menjadi satu baris pada PowerShell. Detail di TEORI_LANGKAH_DEMI_LANGKAH.md. Backup dapat mengandung data, jangan commit file dump.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port host dalam base example membatasi api menjadi satu replica. Hapus fixed host port dan siapkan proxy sebelum mencoba --scale. https://docs.docker.com/reference/compose-file/services/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Compose secrets dari file lokal memasang file ke container yang mendapat akses. Ini tidak mengenkripsi file host. Batasi hak akses host dan Docker, gunakan .gitignore, dan secret manager untuk kebutuhan operasional. https://docs.docker.com/compose/how-tos/use-secrets/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Jangan hapus volume untuk memperbaiki konflik port. Cari proses/container pemilik port, hentikan hanya lab terkait, atau ubah host mapping. Restart API tidak mengganti image hasil build.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&lt;v&gt; dan &lt;n&gt; adalah placeholder nama volume/network. docker compose config -q sama dengan --quiet. Network/volume CLI berasal dari docker, bukan subcommand compose. Sumber: https://docs.docker.com/reference/cli/docker/compose/. Panduan lengkap: https://github.com/SeedFlora/meet6CloudService/blob/main/TEORI_LANGKAH_DEMI_LANGKAH.md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Jembatan ke Lab 06. Repo: https://github.com/SeedFlora/meet6CloudService. RPS: COMP6991031. Periksa langkah praktik dan perintah pada README repo. Bacaan: https://docs.docker.com/compose/intro/compose-application-model/. Video: https://www.docker.com/resources/all-things-compose-on-demand-training/.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Pemantik 2 menit: Kasus kerja: Cloud Notes memerlukan database dan cache. Tim harus menyalakan tiga layanan dengan satu berkas Compose.</a:t>
            </a:r>
          </a:p>
          <a:p xmlns:a="http://schemas.openxmlformats.org/drawingml/2006/main">
            <a:r>
              <a:t>Tanya kelas: Prediksi: apakah catatan tetap ada setelah API direstart? Mengapa?</a:t>
            </a:r>
          </a:p>
          <a:p xmlns:a="http://schemas.openxmlformats.org/drawingml/2006/main">
            <a:r>
              <a:t>Bacaan resmi: https://docs.docker.com/compose/intro/compose-application-model/</a:t>
            </a:r>
          </a:p>
          <a:p xmlns:a="http://schemas.openxmlformats.org/drawingml/2006/main">
            <a:r>
              <a:t>Video resmi: https://www.docker.com/resources/all-things-compose-on-demand-training/</a:t>
            </a:r>
          </a:p>
          <a:p xmlns:a="http://schemas.openxmlformats.org/drawingml/2006/main">
            <a:r>
              <a:t>Praktik terhubung: https://github.com/SeedFlora/meet6CloudService</a:t>
            </a:r>
          </a:p>
          <a:p xmlns:a="http://schemas.openxmlformats.org/drawingml/2006/main">
            <a:r>
              <a:t>Ilustrasi: dibuat khusus untuk materi kelas dengan imagegen, bukan foto atau bukti hasil lab. Verifikasi tautan sumber dilakukan 8 Oktober 2026; pemutaran stream video tidak diuji. Lokasi dan harga layanan dapat berubah. Untuk P08, INP menggantikan FID sebagai Core Web Vital (https://web.dev/articles/inp).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cabd7b1d5e47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444e9e3b1647a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blank" preserve="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be0baa85314299" /><Relationship Type="http://schemas.openxmlformats.org/officeDocument/2006/relationships/slideLayout" Target="/ppt/slideLayouts/slideLayout1.xml" Id="Ra1914a28809146ef" /><Relationship Type="http://schemas.openxmlformats.org/officeDocument/2006/relationships/slideLayout" Target="/ppt/slideLayouts/slideLayout2.xml" Id="Rdcbe455343ba49c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914a28809146ef"/>
    <p:sldLayoutId xmlns:r="http://schemas.openxmlformats.org/officeDocument/2006/relationships" id="2147483650" r:id="Rdcbe455343ba49c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653dec222b4d3f" /><Relationship Type="http://schemas.openxmlformats.org/officeDocument/2006/relationships/image" Target="/ppt/media/image.jpeg" Id="Rc24811ba6af9460a" /><Relationship Type="http://schemas.openxmlformats.org/officeDocument/2006/relationships/image" Target="/ppt/media/image.png" Id="Rcc0fb90f70a04d10" /><Relationship Type="http://schemas.openxmlformats.org/officeDocument/2006/relationships/image" Target="/ppt/media/image2.png" Id="R1441c42617c54467" /><Relationship Type="http://schemas.openxmlformats.org/officeDocument/2006/relationships/notesSlide" Target="/ppt/notesSlides/notesSlide1.xml" Id="Rf05a225b27e14a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75fadfeadd4c6f" /><Relationship Type="http://schemas.openxmlformats.org/officeDocument/2006/relationships/image" Target="/ppt/media/image.png" Id="R370af1749ae340d4" /><Relationship Type="http://schemas.openxmlformats.org/officeDocument/2006/relationships/image" Target="/ppt/media/image2.png" Id="R806d8d1a1c96407c" /><Relationship Type="http://schemas.openxmlformats.org/officeDocument/2006/relationships/image" Target="/ppt/media/image3.png" Id="Rd8fd92e6cd51445c" /><Relationship Type="http://schemas.openxmlformats.org/officeDocument/2006/relationships/image" Target="/ppt/media/image4.png" Id="R7fd3e590e9424b47" /><Relationship Type="http://schemas.openxmlformats.org/officeDocument/2006/relationships/image" Target="/ppt/media/image5.png" Id="R0513111419f948e3" /><Relationship Type="http://schemas.openxmlformats.org/officeDocument/2006/relationships/image" Target="/ppt/media/image6.png" Id="R3ee4120429bc48d1" /><Relationship Type="http://schemas.openxmlformats.org/officeDocument/2006/relationships/image" Target="/ppt/media/image7.png" Id="R836597d77b9f4434" /><Relationship Type="http://schemas.openxmlformats.org/officeDocument/2006/relationships/notesSlide" Target="/ppt/notesSlides/notesSlide2.xml" Id="R6d71bb7532ec44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7b5db5347b46ef" /><Relationship Type="http://schemas.openxmlformats.org/officeDocument/2006/relationships/image" Target="/ppt/media/image.png" Id="Rfe6faf543a4d4de1" /><Relationship Type="http://schemas.openxmlformats.org/officeDocument/2006/relationships/image" Target="/ppt/media/image2.png" Id="R6779a801667a41b5" /><Relationship Type="http://schemas.openxmlformats.org/officeDocument/2006/relationships/image" Target="/ppt/media/image3.png" Id="Raaad1d3bb7e24e4d" /><Relationship Type="http://schemas.openxmlformats.org/officeDocument/2006/relationships/image" Target="/ppt/media/image8.png" Id="R8427d2f6bfa24713" /><Relationship Type="http://schemas.openxmlformats.org/officeDocument/2006/relationships/image" Target="/ppt/media/image9.png" Id="R97bf5e7468a24a3b" /><Relationship Type="http://schemas.openxmlformats.org/officeDocument/2006/relationships/image" Target="/ppt/media/image4.png" Id="Rf2a04e284c8a423b" /><Relationship Type="http://schemas.openxmlformats.org/officeDocument/2006/relationships/notesSlide" Target="/ppt/notesSlides/notesSlide3.xml" Id="Rd050565a6d714f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6d44b5750a4a9d" /><Relationship Type="http://schemas.openxmlformats.org/officeDocument/2006/relationships/image" Target="/ppt/media/image.png" Id="R302ceabbdf12409e" /><Relationship Type="http://schemas.openxmlformats.org/officeDocument/2006/relationships/image" Target="/ppt/media/image2.png" Id="R5d148f1aff4c495e" /><Relationship Type="http://schemas.openxmlformats.org/officeDocument/2006/relationships/notesSlide" Target="/ppt/notesSlides/notesSlide4.xml" Id="Rd44446e34f1c4f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d144bbed024f00" /><Relationship Type="http://schemas.openxmlformats.org/officeDocument/2006/relationships/image" Target="/ppt/media/image.png" Id="Rdfb69097053b4c95" /><Relationship Type="http://schemas.openxmlformats.org/officeDocument/2006/relationships/image" Target="/ppt/media/image2.png" Id="R5c5352703f9c48ca" /><Relationship Type="http://schemas.openxmlformats.org/officeDocument/2006/relationships/image" Target="/ppt/media/image10.png" Id="R5d9ff904333f49a2" /><Relationship Type="http://schemas.openxmlformats.org/officeDocument/2006/relationships/image" Target="/ppt/media/image11.png" Id="R3d692d4e3fb345b6" /><Relationship Type="http://schemas.openxmlformats.org/officeDocument/2006/relationships/notesSlide" Target="/ppt/notesSlides/notesSlide5.xml" Id="R54a6fe69471846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343687f3ef43d4" /><Relationship Type="http://schemas.openxmlformats.org/officeDocument/2006/relationships/image" Target="/ppt/media/image.png" Id="Rb067713eb7654637" /><Relationship Type="http://schemas.openxmlformats.org/officeDocument/2006/relationships/image" Target="/ppt/media/image2.png" Id="Rb09234ac267640b6" /><Relationship Type="http://schemas.openxmlformats.org/officeDocument/2006/relationships/image" Target="/ppt/media/image4.png" Id="R3ebc596b8b3f4806" /><Relationship Type="http://schemas.openxmlformats.org/officeDocument/2006/relationships/image" Target="/ppt/media/image12.png" Id="R38fd13c7983f4fa4" /><Relationship Type="http://schemas.openxmlformats.org/officeDocument/2006/relationships/image" Target="/ppt/media/image8.png" Id="R1fe609d5a981438f" /><Relationship Type="http://schemas.openxmlformats.org/officeDocument/2006/relationships/image" Target="/ppt/media/image9.png" Id="R0db60af22793403a" /><Relationship Type="http://schemas.openxmlformats.org/officeDocument/2006/relationships/image" Target="/ppt/media/image3.png" Id="R2516a6f198be4395" /><Relationship Type="http://schemas.openxmlformats.org/officeDocument/2006/relationships/notesSlide" Target="/ppt/notesSlides/notesSlide6.xml" Id="R3f3e89721bb145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c5c827f8974c02" /><Relationship Type="http://schemas.openxmlformats.org/officeDocument/2006/relationships/image" Target="/ppt/media/image.png" Id="R004ce4213c4446de" /><Relationship Type="http://schemas.openxmlformats.org/officeDocument/2006/relationships/image" Target="/ppt/media/image2.png" Id="Rc28951b2243c4c66" /><Relationship Type="http://schemas.openxmlformats.org/officeDocument/2006/relationships/notesSlide" Target="/ppt/notesSlides/notesSlide7.xml" Id="R705cb6adc6b746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5af28819fe4d8c" /><Relationship Type="http://schemas.openxmlformats.org/officeDocument/2006/relationships/image" Target="/ppt/media/image.png" Id="Rdb436852592c4669" /><Relationship Type="http://schemas.openxmlformats.org/officeDocument/2006/relationships/image" Target="/ppt/media/image2.png" Id="Rbd2440c22d8d45c1" /><Relationship Type="http://schemas.openxmlformats.org/officeDocument/2006/relationships/notesSlide" Target="/ppt/notesSlides/notesSlide8.xml" Id="R9669d35a91ba4c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64c839004e45f8" /><Relationship Type="http://schemas.openxmlformats.org/officeDocument/2006/relationships/image" Target="/ppt/media/image.png" Id="R75d30d24454b44cf" /><Relationship Type="http://schemas.openxmlformats.org/officeDocument/2006/relationships/image" Target="/ppt/media/image2.png" Id="R030f8a4de4864d3a" /><Relationship Type="http://schemas.openxmlformats.org/officeDocument/2006/relationships/notesSlide" Target="/ppt/notesSlides/notesSlide9.xml" Id="R4db78a221cde47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c8d7e0a7be4b45" /><Relationship Type="http://schemas.openxmlformats.org/officeDocument/2006/relationships/image" Target="/ppt/media/image.png" Id="R4584372f555b47d8" /><Relationship Type="http://schemas.openxmlformats.org/officeDocument/2006/relationships/image" Target="/ppt/media/image2.png" Id="R49d026d09857404e" /><Relationship Type="http://schemas.openxmlformats.org/officeDocument/2006/relationships/notesSlide" Target="/ppt/notesSlides/notesSlide10.xml" Id="Rb61bbe4597a848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18e75f7ad44055" /><Relationship Type="http://schemas.openxmlformats.org/officeDocument/2006/relationships/image" Target="/ppt/media/image.png" Id="Re8960bf41f3249e6" /><Relationship Type="http://schemas.openxmlformats.org/officeDocument/2006/relationships/image" Target="/ppt/media/image2.png" Id="R0dfc9f00fd0647f6" /><Relationship Type="http://schemas.openxmlformats.org/officeDocument/2006/relationships/notesSlide" Target="/ppt/notesSlides/notesSlide11.xml" Id="R443382b9d35744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b03cf45c61a4da1" /><Relationship Type="http://schemas.openxmlformats.org/officeDocument/2006/relationships/image" Target="/ppt/media/image.png" Id="Ra50c38b43c7e4471" /><Relationship Type="http://schemas.openxmlformats.org/officeDocument/2006/relationships/image" Target="/ppt/media/image2.png" Id="R895b99a25b034309" /><Relationship Type="http://schemas.openxmlformats.org/officeDocument/2006/relationships/notesSlide" Target="/ppt/notesSlides/notesSlide12.xml" Id="R00b1f64da33847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b6bba92611b4df7" /><Relationship Type="http://schemas.openxmlformats.org/officeDocument/2006/relationships/image" Target="/ppt/media/image.png" Id="Rce8124b91ee5419a" /><Relationship Type="http://schemas.openxmlformats.org/officeDocument/2006/relationships/image" Target="/ppt/media/image2.png" Id="R0ed981a3ab4f44fd" /><Relationship Type="http://schemas.openxmlformats.org/officeDocument/2006/relationships/notesSlide" Target="/ppt/notesSlides/notesSlide13.xml" Id="R9e91a9432f2c46e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c9a8fbfb50427f" /><Relationship Type="http://schemas.openxmlformats.org/officeDocument/2006/relationships/image" Target="/ppt/media/image.png" Id="Rc56f64906605484f" /><Relationship Type="http://schemas.openxmlformats.org/officeDocument/2006/relationships/image" Target="/ppt/media/image2.png" Id="Rd7fbeb5e6e1344d5" /><Relationship Type="http://schemas.openxmlformats.org/officeDocument/2006/relationships/notesSlide" Target="/ppt/notesSlides/notesSlide14.xml" Id="R8112aee166a54f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2cc85ab718c4d46" /><Relationship Type="http://schemas.openxmlformats.org/officeDocument/2006/relationships/image" Target="/ppt/media/image.png" Id="R00c6c050c5374249" /><Relationship Type="http://schemas.openxmlformats.org/officeDocument/2006/relationships/image" Target="/ppt/media/image2.png" Id="R809bb72dcebb4396" /><Relationship Type="http://schemas.openxmlformats.org/officeDocument/2006/relationships/image" Target="/ppt/media/image13.png" Id="Rc867b9e17ad24bf8" /><Relationship Type="http://schemas.openxmlformats.org/officeDocument/2006/relationships/image" Target="/ppt/media/image14.png" Id="Ra040668c9f394c5a" /><Relationship Type="http://schemas.openxmlformats.org/officeDocument/2006/relationships/image" Target="/ppt/media/image15.png" Id="R759ac6030e4a4a2a" /><Relationship Type="http://schemas.openxmlformats.org/officeDocument/2006/relationships/image" Target="/ppt/media/image9.png" Id="R813492f92cef4f8a" /><Relationship Type="http://schemas.openxmlformats.org/officeDocument/2006/relationships/image" Target="/ppt/media/image11.png" Id="Rfe5c54b0dfb74558" /><Relationship Type="http://schemas.openxmlformats.org/officeDocument/2006/relationships/image" Target="/ppt/media/image7.png" Id="Rc4636afb550b4799" /><Relationship Type="http://schemas.openxmlformats.org/officeDocument/2006/relationships/notesSlide" Target="/ppt/notesSlides/notesSlide15.xml" Id="Rf1811316313a40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37ede709e2841c8" /><Relationship Type="http://schemas.openxmlformats.org/officeDocument/2006/relationships/image" Target="/ppt/media/image.png" Id="R0e03cdf07b9241e7" /><Relationship Type="http://schemas.openxmlformats.org/officeDocument/2006/relationships/image" Target="/ppt/media/image2.png" Id="R8264d919e175478e" /><Relationship Type="http://schemas.openxmlformats.org/officeDocument/2006/relationships/notesSlide" Target="/ppt/notesSlides/notesSlide16.xml" Id="R4d96efda839044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32744226fd84f30" /><Relationship Type="http://schemas.openxmlformats.org/officeDocument/2006/relationships/image" Target="/ppt/media/image.png" Id="Ra9851f0bb12343bb" /><Relationship Type="http://schemas.openxmlformats.org/officeDocument/2006/relationships/image" Target="/ppt/media/image2.png" Id="Rfe47c6a89029489a" /><Relationship Type="http://schemas.openxmlformats.org/officeDocument/2006/relationships/notesSlide" Target="/ppt/notesSlides/notesSlide17.xml" Id="R2864f9885b7b49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20880fd339c466e" /><Relationship Type="http://schemas.openxmlformats.org/officeDocument/2006/relationships/image" Target="/ppt/media/image.png" Id="Rc5fad5f17f24426d" /><Relationship Type="http://schemas.openxmlformats.org/officeDocument/2006/relationships/image" Target="/ppt/media/image2.png" Id="Re4840aa50005475b" /><Relationship Type="http://schemas.openxmlformats.org/officeDocument/2006/relationships/notesSlide" Target="/ppt/notesSlides/notesSlide18.xml" Id="R64dc2b71a3c4479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4f30754ffe5446a" /><Relationship Type="http://schemas.openxmlformats.org/officeDocument/2006/relationships/image" Target="/ppt/media/image.png" Id="R6cd1d5654b804da1" /><Relationship Type="http://schemas.openxmlformats.org/officeDocument/2006/relationships/image" Target="/ppt/media/image2.png" Id="R5f5434bbbdbb4b74" /><Relationship Type="http://schemas.openxmlformats.org/officeDocument/2006/relationships/notesSlide" Target="/ppt/notesSlides/notesSlide19.xml" Id="R24cd830070654b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a18dbb6401942f7" /><Relationship Type="http://schemas.openxmlformats.org/officeDocument/2006/relationships/image" Target="/ppt/media/image.png" Id="R83a81cdbc9e5418c" /><Relationship Type="http://schemas.openxmlformats.org/officeDocument/2006/relationships/image" Target="/ppt/media/image2.png" Id="R719499f36f5246e9" /><Relationship Type="http://schemas.openxmlformats.org/officeDocument/2006/relationships/notesSlide" Target="/ppt/notesSlides/notesSlide20.xml" Id="R4af14bfb727c43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1d4d958310c4b75" /><Relationship Type="http://schemas.openxmlformats.org/officeDocument/2006/relationships/image" Target="/ppt/media/image.png" Id="R59101b979c3e4765" /><Relationship Type="http://schemas.openxmlformats.org/officeDocument/2006/relationships/image" Target="/ppt/media/image2.png" Id="Rd515492ed8a44867" /><Relationship Type="http://schemas.openxmlformats.org/officeDocument/2006/relationships/notesSlide" Target="/ppt/notesSlides/notesSlide21.xml" Id="Re8098d29be9242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5708999c27749ad" /><Relationship Type="http://schemas.openxmlformats.org/officeDocument/2006/relationships/image" Target="/ppt/media/image.png" Id="Rba1b1785828a450b" /><Relationship Type="http://schemas.openxmlformats.org/officeDocument/2006/relationships/image" Target="/ppt/media/image2.png" Id="R08eddf8f52584291" /><Relationship Type="http://schemas.openxmlformats.org/officeDocument/2006/relationships/notesSlide" Target="/ppt/notesSlides/notesSlide22.xml" Id="Rc164b1a4562648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3f7b66f473e4770" /><Relationship Type="http://schemas.openxmlformats.org/officeDocument/2006/relationships/image" Target="/ppt/media/image.png" Id="R95661b1547ca4279" /><Relationship Type="http://schemas.openxmlformats.org/officeDocument/2006/relationships/image" Target="/ppt/media/image2.png" Id="Rd5658cc7653447af" /><Relationship Type="http://schemas.openxmlformats.org/officeDocument/2006/relationships/image" Target="/ppt/media/image16.png" Id="Rf2cb171445f2443b" /><Relationship Type="http://schemas.openxmlformats.org/officeDocument/2006/relationships/image" Target="/ppt/media/image10.png" Id="Rcba6d6009e8b412f" /><Relationship Type="http://schemas.openxmlformats.org/officeDocument/2006/relationships/notesSlide" Target="/ppt/notesSlides/notesSlide23.xml" Id="R091c8d1f810840b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02b5e3eccf04bb7" /><Relationship Type="http://schemas.openxmlformats.org/officeDocument/2006/relationships/image" Target="/ppt/media/image.png" Id="Ra96d34f8e8254417" /><Relationship Type="http://schemas.openxmlformats.org/officeDocument/2006/relationships/image" Target="/ppt/media/image2.png" Id="R4def9a7825394e08" /><Relationship Type="http://schemas.openxmlformats.org/officeDocument/2006/relationships/notesSlide" Target="/ppt/notesSlides/notesSlide24.xml" Id="R1b454b01dc244d4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abcf98928e74be3" /><Relationship Type="http://schemas.openxmlformats.org/officeDocument/2006/relationships/image" Target="/ppt/media/image.png" Id="Re4bbf0d3bc754254" /><Relationship Type="http://schemas.openxmlformats.org/officeDocument/2006/relationships/image" Target="/ppt/media/image2.png" Id="Rac7dfa86fe3d4142" /><Relationship Type="http://schemas.openxmlformats.org/officeDocument/2006/relationships/notesSlide" Target="/ppt/notesSlides/notesSlide25.xml" Id="R8858dcb863294bb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24b0b97e48b4a48" /><Relationship Type="http://schemas.openxmlformats.org/officeDocument/2006/relationships/image" Target="/ppt/media/image.png" Id="R7b19160caa984091" /><Relationship Type="http://schemas.openxmlformats.org/officeDocument/2006/relationships/image" Target="/ppt/media/image2.png" Id="R111e6cc5743f42ea" /><Relationship Type="http://schemas.openxmlformats.org/officeDocument/2006/relationships/notesSlide" Target="/ppt/notesSlides/notesSlide26.xml" Id="R7c4d7207f3ac471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d7ca4d0eb66474a" /><Relationship Type="http://schemas.openxmlformats.org/officeDocument/2006/relationships/image" Target="/ppt/media/image.png" Id="Re540f253f9bb467a" /><Relationship Type="http://schemas.openxmlformats.org/officeDocument/2006/relationships/image" Target="/ppt/media/image2.png" Id="R03dd375649064925" /><Relationship Type="http://schemas.openxmlformats.org/officeDocument/2006/relationships/notesSlide" Target="/ppt/notesSlides/notesSlide27.xml" Id="R06ec63b70e73459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e3db28f4900437f" /><Relationship Type="http://schemas.openxmlformats.org/officeDocument/2006/relationships/image" Target="/ppt/media/image.png" Id="Rbbde7262bdb8461b" /><Relationship Type="http://schemas.openxmlformats.org/officeDocument/2006/relationships/image" Target="/ppt/media/image2.png" Id="Rafdb5601c84e4a25" /><Relationship Type="http://schemas.openxmlformats.org/officeDocument/2006/relationships/image" Target="/ppt/media/image10.png" Id="R9f6d277782ab4bc4" /><Relationship Type="http://schemas.openxmlformats.org/officeDocument/2006/relationships/notesSlide" Target="/ppt/notesSlides/notesSlide28.xml" Id="Rae31ed2bda65455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6ee24835c0a4e28" /><Relationship Type="http://schemas.openxmlformats.org/officeDocument/2006/relationships/image" Target="/ppt/media/image.png" Id="R3246c430318d4387" /><Relationship Type="http://schemas.openxmlformats.org/officeDocument/2006/relationships/image" Target="/ppt/media/image2.png" Id="R5ab55fafc7764d86" /><Relationship Type="http://schemas.openxmlformats.org/officeDocument/2006/relationships/notesSlide" Target="/ppt/notesSlides/notesSlide29.xml" Id="Rc2b5007e224341d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1f54abcaa634b0b" /><Relationship Type="http://schemas.openxmlformats.org/officeDocument/2006/relationships/image" Target="/ppt/media/image.png" Id="R3527f5b3c6b6474d" /><Relationship Type="http://schemas.openxmlformats.org/officeDocument/2006/relationships/image" Target="/ppt/media/image2.png" Id="Re2b556f5f3ac400c" /><Relationship Type="http://schemas.openxmlformats.org/officeDocument/2006/relationships/notesSlide" Target="/ppt/notesSlides/notesSlide30.xml" Id="R2ce96e69ce3e487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106eaf4c9fa4d6f" /><Relationship Type="http://schemas.openxmlformats.org/officeDocument/2006/relationships/image" Target="/ppt/media/image.png" Id="R63e20bf477b64537" /><Relationship Type="http://schemas.openxmlformats.org/officeDocument/2006/relationships/image" Target="/ppt/media/image2.png" Id="R171c7124920542c7" /><Relationship Type="http://schemas.openxmlformats.org/officeDocument/2006/relationships/image" Target="/ppt/media/image17.png" Id="R3e4dbd45865344f7" /><Relationship Type="http://schemas.openxmlformats.org/officeDocument/2006/relationships/image" Target="/ppt/media/image18.png" Id="R7234a4dabb0a464a" /><Relationship Type="http://schemas.openxmlformats.org/officeDocument/2006/relationships/image" Target="/ppt/media/image19.png" Id="Rbb1c67d66c4e4699" /><Relationship Type="http://schemas.openxmlformats.org/officeDocument/2006/relationships/notesSlide" Target="/ppt/notesSlides/notesSlide31.xml" Id="R912e6392f79940f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cf43cc9d79374943" /><Relationship Type="http://schemas.openxmlformats.org/officeDocument/2006/relationships/hyperlink" Target="https://github.com/SeedFlora/meet6CloudService" TargetMode="External" Id="Rdda3921cdc8b4d07" /><Relationship Type="http://schemas.openxmlformats.org/officeDocument/2006/relationships/hyperlink" Target="https://github.com/SeedFlora/meet6CloudService" TargetMode="External" Id="R9055a0e3759b461b" /><Relationship Type="http://schemas.openxmlformats.org/officeDocument/2006/relationships/notesSlide" Target="/ppt/notesSlides/notesSlide32.xml" Id="Rcfe63b42ff104d0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50ea6fff20545f7" /><Relationship Type="http://schemas.openxmlformats.org/officeDocument/2006/relationships/hyperlink" Target="https://docs.docker.com/compose/intro/compose-application-model/" TargetMode="External" Id="R077bac7ecb2e4a70" /><Relationship Type="http://schemas.openxmlformats.org/officeDocument/2006/relationships/hyperlink" Target="https://www.docker.com/resources/all-things-compose-on-demand-training/" TargetMode="External" Id="R89df1a8c79ac409a" /><Relationship Type="http://schemas.openxmlformats.org/officeDocument/2006/relationships/hyperlink" Target="https://github.com/SeedFlora/meet6CloudService" TargetMode="External" Id="R39480d02c245482e" /><Relationship Type="http://schemas.openxmlformats.org/officeDocument/2006/relationships/image" Target="/ppt/media/image20.png" Id="R507061b7686e4039" /><Relationship Type="http://schemas.openxmlformats.org/officeDocument/2006/relationships/notesSlide" Target="/ppt/notesSlides/notesSlide33.xml" Id="Re6cfc445c6cf46d3"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c24811ba6af9460a">
            <a:lum/>
          </a:blip>
          <a:srcRect l="0" t="0" r="0" b="0"/>
          <a:stretch>
            <a:fillRect l="0" t="0" r="0" b="0"/>
          </a:stretch>
        </a:blipFill>
      </p:bgPr>
    </p:bg>
    <p:spTree>
      <p:nvGrpSpPr>
        <p:cNvPr id="1" name=""/>
        <p:cNvGrpSpPr/>
        <p:nvPr/>
      </p:nvGrpSpPr>
      <p:grpSpPr>
        <a:xfrm xmlns:a="http://schemas.openxmlformats.org/drawingml/2006/main"/>
      </p:grpSpPr>
      <p:pic>
        <p:nvPicPr>
          <p:cNvPr id="13" name="Image 0">
            <a:extLst xmlns:a="http://schemas.openxmlformats.org/drawingml/2006/main">
              <a:ext uri="{FF2B5EF4-FFF2-40B4-BE49-F238E27FC236}">
                <a16:creationId xmlns:a16="http://schemas.microsoft.com/office/drawing/2014/main" id="{98B573AD-E34B-4D89-8F79-C445CE699F69}"/>
              </a:ext>
            </a:extLst>
          </p:cNvPr>
          <p:cNvPicPr>
            <a:picLocks xmlns:a="http://schemas.openxmlformats.org/drawingml/2006/main" noChangeAspect="1"/>
          </p:cNvPicPr>
          <p:nvPr/>
        </p:nvPicPr>
        <p:blipFill>
          <a:blip xmlns:r="http://schemas.openxmlformats.org/officeDocument/2006/relationships" xmlns:a="http://schemas.openxmlformats.org/drawingml/2006/main" r:embed="Rcc0fb90f70a04d10"/>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14" name="Image 1">
            <a:extLst xmlns:a="http://schemas.openxmlformats.org/drawingml/2006/main">
              <a:ext uri="{FF2B5EF4-FFF2-40B4-BE49-F238E27FC236}">
                <a16:creationId xmlns:a16="http://schemas.microsoft.com/office/drawing/2014/main" id="{BC71693F-B271-4B1A-8230-C0BD84D0215B}"/>
              </a:ext>
            </a:extLst>
          </p:cNvPr>
          <p:cNvPicPr>
            <a:picLocks xmlns:a="http://schemas.openxmlformats.org/drawingml/2006/main" noChangeAspect="1"/>
          </p:cNvPicPr>
          <p:nvPr/>
        </p:nvPicPr>
        <p:blipFill>
          <a:blip xmlns:r="http://schemas.openxmlformats.org/officeDocument/2006/relationships" xmlns:a="http://schemas.openxmlformats.org/drawingml/2006/main" r:embed="R1441c42617c54467"/>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73665707-72AF-4A38-9622-2BB5245E9AD9}"/>
              </a:ext>
            </a:extLst>
          </p:cNvPr>
          <p:cNvSpPr>
            <a:spLocks xmlns:a="http://schemas.openxmlformats.org/drawingml/2006/main" noGrp="1"/>
          </p:cNvSpPr>
          <p:nvPr/>
        </p:nvSpPr>
        <p:spPr>
          <a:xfrm xmlns:a="http://schemas.openxmlformats.org/drawingml/2006/main">
            <a:off x="457200" y="246888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spc="400">
                <a:solidFill>
                  <a:srgbClr val="FFE0B2"/>
                </a:solidFill>
                <a:latin typeface="Calibri"/>
                <a:ea typeface="Calibri"/>
                <a:cs typeface="Calibri"/>
              </a:rPr>
              <a:t>COMP6991031   |   2 SKS</a:t>
            </a:r>
            <a:endParaRPr sz="1400"/>
          </a:p>
        </p:txBody>
      </p:sp>
      <p:sp>
        <p:nvSpPr>
          <p:cNvPr id="5" name="Text 1">
            <a:extLst xmlns:a="http://schemas.openxmlformats.org/drawingml/2006/main">
              <a:ext uri="{FF2B5EF4-FFF2-40B4-BE49-F238E27FC236}">
                <a16:creationId xmlns:a16="http://schemas.microsoft.com/office/drawing/2014/main" id="{D6DCA21B-6960-4BE4-AB8C-CA25D66EE433}"/>
              </a:ext>
            </a:extLst>
          </p:cNvPr>
          <p:cNvSpPr>
            <a:spLocks xmlns:a="http://schemas.openxmlformats.org/drawingml/2006/main" noGrp="1"/>
          </p:cNvSpPr>
          <p:nvPr/>
        </p:nvSpPr>
        <p:spPr>
          <a:xfrm xmlns:a="http://schemas.openxmlformats.org/drawingml/2006/main">
            <a:off x="457200" y="2926080"/>
            <a:ext cx="112471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DOCKER COMPOSE</a:t>
            </a:r>
            <a:endParaRPr sz="5200"/>
          </a:p>
        </p:txBody>
      </p:sp>
      <p:sp>
        <p:nvSpPr>
          <p:cNvPr id="6" name="Text 2">
            <a:extLst xmlns:a="http://schemas.openxmlformats.org/drawingml/2006/main">
              <a:ext uri="{FF2B5EF4-FFF2-40B4-BE49-F238E27FC236}">
                <a16:creationId xmlns:a16="http://schemas.microsoft.com/office/drawing/2014/main" id="{9350D54D-27EB-46E3-B4FF-9D4438481EB6}"/>
              </a:ext>
            </a:extLst>
          </p:cNvPr>
          <p:cNvSpPr>
            <a:spLocks xmlns:a="http://schemas.openxmlformats.org/drawingml/2006/main" noGrp="1"/>
          </p:cNvSpPr>
          <p:nvPr/>
        </p:nvSpPr>
        <p:spPr>
          <a:xfrm xmlns:a="http://schemas.openxmlformats.org/drawingml/2006/main">
            <a:off x="457200" y="3886200"/>
            <a:ext cx="11247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FFFFFF"/>
                </a:solidFill>
                <a:latin typeface="Calibri"/>
                <a:ea typeface="Calibri"/>
                <a:cs typeface="Calibri"/>
              </a:rPr>
              <a:t>Multi-Container Apps, Networking, Service Discovery</a:t>
            </a:r>
            <a:endParaRPr sz="2000"/>
          </a:p>
        </p:txBody>
      </p:sp>
      <p:sp>
        <p:nvSpPr>
          <p:cNvPr id="7" name="Shape 3">
            <a:extLst xmlns:a="http://schemas.openxmlformats.org/drawingml/2006/main">
              <a:ext uri="{FF2B5EF4-FFF2-40B4-BE49-F238E27FC236}">
                <a16:creationId xmlns:a16="http://schemas.microsoft.com/office/drawing/2014/main" id="{E0FF027B-D589-49D9-9547-62727FBA7945}"/>
              </a:ext>
            </a:extLst>
          </p:cNvPr>
          <p:cNvSpPr>
            <a:spLocks xmlns:a="http://schemas.openxmlformats.org/drawingml/2006/main" noGrp="1"/>
          </p:cNvSpPr>
          <p:nvPr/>
        </p:nvSpPr>
        <p:spPr>
          <a:xfrm xmlns:a="http://schemas.openxmlformats.org/drawingml/2006/main">
            <a:off x="5715000" y="45720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8" name="Text 4">
            <a:extLst xmlns:a="http://schemas.openxmlformats.org/drawingml/2006/main">
              <a:ext uri="{FF2B5EF4-FFF2-40B4-BE49-F238E27FC236}">
                <a16:creationId xmlns:a16="http://schemas.microsoft.com/office/drawing/2014/main" id="{ACB45F68-C2C3-441F-B873-C404DCA42751}"/>
              </a:ext>
            </a:extLst>
          </p:cNvPr>
          <p:cNvSpPr>
            <a:spLocks xmlns:a="http://schemas.openxmlformats.org/drawingml/2006/main" noGrp="1"/>
          </p:cNvSpPr>
          <p:nvPr/>
        </p:nvSpPr>
        <p:spPr>
          <a:xfrm xmlns:a="http://schemas.openxmlformats.org/drawingml/2006/main">
            <a:off x="457200" y="4709160"/>
            <a:ext cx="112471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i="1" spc="300">
                <a:solidFill>
                  <a:srgbClr val="FFE0B2"/>
                </a:solidFill>
                <a:latin typeface="Calibri"/>
                <a:ea typeface="Calibri"/>
                <a:cs typeface="Calibri"/>
              </a:rPr>
              <a:t>PERTEMUAN 6  |  100 MENIT</a:t>
            </a:r>
            <a:endParaRPr sz="1200"/>
          </a:p>
        </p:txBody>
      </p:sp>
      <p:sp>
        <p:nvSpPr>
          <p:cNvPr id="9" name="Text 5">
            <a:extLst xmlns:a="http://schemas.openxmlformats.org/drawingml/2006/main">
              <a:ext uri="{FF2B5EF4-FFF2-40B4-BE49-F238E27FC236}">
                <a16:creationId xmlns:a16="http://schemas.microsoft.com/office/drawing/2014/main" id="{7CF58BC9-0C68-4EE5-8698-BF0A6321FA2E}"/>
              </a:ext>
            </a:extLst>
          </p:cNvPr>
          <p:cNvSpPr>
            <a:spLocks xmlns:a="http://schemas.openxmlformats.org/drawingml/2006/main" noGrp="1"/>
          </p:cNvSpPr>
          <p:nvPr/>
        </p:nvSpPr>
        <p:spPr>
          <a:xfrm xmlns:a="http://schemas.openxmlformats.org/drawingml/2006/main">
            <a:off x="457200" y="594360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Budi Juarto, S.T., M.Kom.</a:t>
            </a:r>
            <a:endParaRPr sz="1300"/>
          </a:p>
        </p:txBody>
      </p:sp>
      <p:sp>
        <p:nvSpPr>
          <p:cNvPr id="10" name="Text 6">
            <a:extLst xmlns:a="http://schemas.openxmlformats.org/drawingml/2006/main">
              <a:ext uri="{FF2B5EF4-FFF2-40B4-BE49-F238E27FC236}">
                <a16:creationId xmlns:a16="http://schemas.microsoft.com/office/drawing/2014/main" id="{26D96925-37E4-4ED6-9EA3-247350E5C56B}"/>
              </a:ext>
            </a:extLst>
          </p:cNvPr>
          <p:cNvSpPr>
            <a:spLocks xmlns:a="http://schemas.openxmlformats.org/drawingml/2006/main" noGrp="1"/>
          </p:cNvSpPr>
          <p:nvPr/>
        </p:nvSpPr>
        <p:spPr>
          <a:xfrm xmlns:a="http://schemas.openxmlformats.org/drawingml/2006/main">
            <a:off x="457200" y="621792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FFE0B2"/>
                </a:solidFill>
                <a:latin typeface="Calibri"/>
                <a:ea typeface="Calibri"/>
                <a:cs typeface="Calibri"/>
              </a:rPr>
              <a:t>Departemen Informatika  -  BINUS @Bandung</a:t>
            </a:r>
            <a:endParaRPr sz="1100"/>
          </a:p>
        </p:txBody>
      </p:sp>
    </p:spTree>
    <p:extLst>
      <p:ext uri="{BB962C8B-B14F-4D97-AF65-F5344CB8AC3E}">
        <p14:creationId xmlns:p14="http://schemas.microsoft.com/office/powerpoint/2010/main" val="8115167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6489722-2D37-4BFE-A100-A9D276CF92B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6CA41D2B-FC0D-4586-9224-145BD8B020B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a:t>
            </a:r>
            <a:endParaRPr sz="900"/>
          </a:p>
        </p:txBody>
      </p:sp>
      <p:sp>
        <p:nvSpPr>
          <p:cNvPr id="4" name="Shape 2">
            <a:extLst xmlns:a="http://schemas.openxmlformats.org/drawingml/2006/main">
              <a:ext uri="{FF2B5EF4-FFF2-40B4-BE49-F238E27FC236}">
                <a16:creationId xmlns:a16="http://schemas.microsoft.com/office/drawing/2014/main" id="{28E840FD-B021-4846-A56A-8E4EDF3E7B8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6" name="Image 0">
            <a:extLst xmlns:a="http://schemas.openxmlformats.org/drawingml/2006/main">
              <a:ext uri="{FF2B5EF4-FFF2-40B4-BE49-F238E27FC236}">
                <a16:creationId xmlns:a16="http://schemas.microsoft.com/office/drawing/2014/main" id="{3AA58387-EB6A-46BF-94CD-5C52CC495E6F}"/>
              </a:ext>
            </a:extLst>
          </p:cNvPr>
          <p:cNvPicPr>
            <a:picLocks xmlns:a="http://schemas.openxmlformats.org/drawingml/2006/main" noChangeAspect="1"/>
          </p:cNvPicPr>
          <p:nvPr/>
        </p:nvPicPr>
        <p:blipFill>
          <a:blip xmlns:r="http://schemas.openxmlformats.org/officeDocument/2006/relationships" xmlns:a="http://schemas.openxmlformats.org/drawingml/2006/main" r:embed="R370af1749ae340d4"/>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7" name="Image 1">
            <a:extLst xmlns:a="http://schemas.openxmlformats.org/drawingml/2006/main">
              <a:ext uri="{FF2B5EF4-FFF2-40B4-BE49-F238E27FC236}">
                <a16:creationId xmlns:a16="http://schemas.microsoft.com/office/drawing/2014/main" id="{428452EF-1E39-48A5-B0C5-494A7EBDF75D}"/>
              </a:ext>
            </a:extLst>
          </p:cNvPr>
          <p:cNvPicPr>
            <a:picLocks xmlns:a="http://schemas.openxmlformats.org/drawingml/2006/main" noChangeAspect="1"/>
          </p:cNvPicPr>
          <p:nvPr/>
        </p:nvPicPr>
        <p:blipFill>
          <a:blip xmlns:r="http://schemas.openxmlformats.org/officeDocument/2006/relationships" xmlns:a="http://schemas.openxmlformats.org/drawingml/2006/main" r:embed="R806d8d1a1c96407c"/>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2EC2D8E-05F1-406F-9AA9-B7D0206E9C48}"/>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70EABA1E-72FD-49E3-B72E-29AEB8DB09A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Recap Pertemuan 5 &amp; Agenda Hari Ini</a:t>
            </a:r>
            <a:endParaRPr sz="2200"/>
          </a:p>
        </p:txBody>
      </p:sp>
      <p:sp>
        <p:nvSpPr>
          <p:cNvPr id="9" name="Text 5">
            <a:extLst xmlns:a="http://schemas.openxmlformats.org/drawingml/2006/main">
              <a:ext uri="{FF2B5EF4-FFF2-40B4-BE49-F238E27FC236}">
                <a16:creationId xmlns:a16="http://schemas.microsoft.com/office/drawing/2014/main" id="{D04A7096-B5FE-416A-8EA9-E5F63D44AA07}"/>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Dari single image ke multi-container application</a:t>
            </a:r>
            <a:endParaRPr sz="1200"/>
          </a:p>
        </p:txBody>
      </p:sp>
      <p:sp>
        <p:nvSpPr>
          <p:cNvPr id="10" name="Shape 6">
            <a:extLst xmlns:a="http://schemas.openxmlformats.org/drawingml/2006/main">
              <a:ext uri="{FF2B5EF4-FFF2-40B4-BE49-F238E27FC236}">
                <a16:creationId xmlns:a16="http://schemas.microsoft.com/office/drawing/2014/main" id="{B6E5A6A1-9BF7-410C-A7C1-4C8787C099E6}"/>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EBCD8C49-7511-492D-9B90-021EB5416FD9}"/>
              </a:ext>
            </a:extLst>
          </p:cNvPr>
          <p:cNvSpPr>
            <a:spLocks xmlns:a="http://schemas.openxmlformats.org/drawingml/2006/main" noGrp="1"/>
          </p:cNvSpPr>
          <p:nvPr/>
        </p:nvSpPr>
        <p:spPr>
          <a:xfrm xmlns:a="http://schemas.openxmlformats.org/drawingml/2006/main">
            <a:off x="685800" y="1600200"/>
            <a:ext cx="5120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DI PERTEMUAN 5, KITA SUDAH:</a:t>
            </a:r>
            <a:endParaRPr sz="1100"/>
          </a:p>
          <a:p xmlns:a="http://schemas.openxmlformats.org/drawingml/2006/main">
            <a:pPr marL="0" indent="0">
              <a:buNone/>
            </a:pPr>
            <a:r>
              <a:rPr sz="600">
                <a:solidFill>
                  <a:srgbClr val="000000"/>
                </a:solidFill>
                <a:latin typeface="Calibri"/>
                <a:ea typeface="Calibri"/>
                <a:cs typeface="Calibri"/>
              </a:rPr>
              <a:t> </a:t>
            </a:r>
            <a:endParaRPr sz="1100"/>
          </a:p>
          <a:p xmlns:a="http://schemas.openxmlformats.org/drawingml/2006/main">
            <a:pPr marL="0" indent="0">
              <a:buNone/>
            </a:pPr>
            <a:r>
              <a:rPr sz="2200" b="1">
                <a:solidFill>
                  <a:srgbClr val="002677"/>
                </a:solidFill>
                <a:latin typeface="Calibri"/>
                <a:ea typeface="Calibri"/>
                <a:cs typeface="Calibri"/>
              </a:rPr>
              <a:t>Docker Core</a:t>
            </a:r>
            <a:endParaRPr sz="1100"/>
          </a:p>
        </p:txBody>
      </p:sp>
      <p:pic>
        <p:nvPicPr>
          <p:cNvPr id="43" name="Image 2">
            <a:extLst xmlns:a="http://schemas.openxmlformats.org/drawingml/2006/main">
              <a:ext uri="{FF2B5EF4-FFF2-40B4-BE49-F238E27FC236}">
                <a16:creationId xmlns:a16="http://schemas.microsoft.com/office/drawing/2014/main" id="{C3F82C41-F0E4-4370-8312-F2F7B869112D}"/>
              </a:ext>
            </a:extLst>
          </p:cNvPr>
          <p:cNvPicPr>
            <a:picLocks xmlns:a="http://schemas.openxmlformats.org/drawingml/2006/main" noChangeAspect="1"/>
          </p:cNvPicPr>
          <p:nvPr/>
        </p:nvPicPr>
        <p:blipFill>
          <a:blip xmlns:r="http://schemas.openxmlformats.org/officeDocument/2006/relationships" xmlns:a="http://schemas.openxmlformats.org/drawingml/2006/main" r:embed="Rd8fd92e6cd51445c"/>
          <a:stretch xmlns:a="http://schemas.openxmlformats.org/drawingml/2006/main">
            <a:fillRect l="0" t="0" r="0" b="0"/>
          </a:stretch>
        </p:blipFill>
        <p:spPr>
          <a:xfrm xmlns:a="http://schemas.openxmlformats.org/drawingml/2006/main">
            <a:off x="777240" y="2697480"/>
            <a:ext cx="320040" cy="32004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130AF3B3-7375-448A-9580-05388CA4D259}"/>
              </a:ext>
            </a:extLst>
          </p:cNvPr>
          <p:cNvSpPr>
            <a:spLocks xmlns:a="http://schemas.openxmlformats.org/drawingml/2006/main" noGrp="1"/>
          </p:cNvSpPr>
          <p:nvPr/>
        </p:nvSpPr>
        <p:spPr>
          <a:xfrm xmlns:a="http://schemas.openxmlformats.org/drawingml/2006/main">
            <a:off x="1234440" y="260604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Dockerfile - 14 instruksi, blueprint image</a:t>
            </a:r>
            <a:endParaRPr sz="1200"/>
          </a:p>
        </p:txBody>
      </p:sp>
      <p:pic>
        <p:nvPicPr>
          <p:cNvPr id="45" name="Image 3">
            <a:extLst xmlns:a="http://schemas.openxmlformats.org/drawingml/2006/main">
              <a:ext uri="{FF2B5EF4-FFF2-40B4-BE49-F238E27FC236}">
                <a16:creationId xmlns:a16="http://schemas.microsoft.com/office/drawing/2014/main" id="{CBA03A6C-82CC-4F77-882F-A460D7BF7210}"/>
              </a:ext>
            </a:extLst>
          </p:cNvPr>
          <p:cNvPicPr>
            <a:picLocks xmlns:a="http://schemas.openxmlformats.org/drawingml/2006/main" noChangeAspect="1"/>
          </p:cNvPicPr>
          <p:nvPr/>
        </p:nvPicPr>
        <p:blipFill>
          <a:blip xmlns:r="http://schemas.openxmlformats.org/officeDocument/2006/relationships" xmlns:a="http://schemas.openxmlformats.org/drawingml/2006/main" r:embed="R7fd3e590e9424b47"/>
          <a:stretch xmlns:a="http://schemas.openxmlformats.org/drawingml/2006/main">
            <a:fillRect l="0" t="0" r="0" b="0"/>
          </a:stretch>
        </p:blipFill>
        <p:spPr>
          <a:xfrm xmlns:a="http://schemas.openxmlformats.org/drawingml/2006/main">
            <a:off x="777240" y="3337560"/>
            <a:ext cx="320040" cy="320040"/>
          </a:xfrm>
          <a:prstGeom xmlns:a="http://schemas.openxmlformats.org/drawingml/2006/main" prst="rect">
            <a:avLst/>
          </a:prstGeom>
        </p:spPr>
      </p:pic>
      <p:sp>
        <p:nvSpPr>
          <p:cNvPr id="15" name="Text 9">
            <a:extLst xmlns:a="http://schemas.openxmlformats.org/drawingml/2006/main">
              <a:ext uri="{FF2B5EF4-FFF2-40B4-BE49-F238E27FC236}">
                <a16:creationId xmlns:a16="http://schemas.microsoft.com/office/drawing/2014/main" id="{EFFBEE6B-F4DA-4611-9ECE-0257EF0DA04B}"/>
              </a:ext>
            </a:extLst>
          </p:cNvPr>
          <p:cNvSpPr>
            <a:spLocks xmlns:a="http://schemas.openxmlformats.org/drawingml/2006/main" noGrp="1"/>
          </p:cNvSpPr>
          <p:nvPr/>
        </p:nvSpPr>
        <p:spPr>
          <a:xfrm xmlns:a="http://schemas.openxmlformats.org/drawingml/2006/main">
            <a:off x="1234440" y="324612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RUN (build) vs CMD (default) vs ENTRYPOINT</a:t>
            </a:r>
            <a:endParaRPr sz="1200"/>
          </a:p>
        </p:txBody>
      </p:sp>
      <p:pic>
        <p:nvPicPr>
          <p:cNvPr id="47" name="Image 4">
            <a:extLst xmlns:a="http://schemas.openxmlformats.org/drawingml/2006/main">
              <a:ext uri="{FF2B5EF4-FFF2-40B4-BE49-F238E27FC236}">
                <a16:creationId xmlns:a16="http://schemas.microsoft.com/office/drawing/2014/main" id="{CD73F00C-76C3-4DC3-967A-99F38D1B99AE}"/>
              </a:ext>
            </a:extLst>
          </p:cNvPr>
          <p:cNvPicPr>
            <a:picLocks xmlns:a="http://schemas.openxmlformats.org/drawingml/2006/main" noChangeAspect="1"/>
          </p:cNvPicPr>
          <p:nvPr/>
        </p:nvPicPr>
        <p:blipFill>
          <a:blip xmlns:r="http://schemas.openxmlformats.org/officeDocument/2006/relationships" xmlns:a="http://schemas.openxmlformats.org/drawingml/2006/main" r:embed="R0513111419f948e3"/>
          <a:stretch xmlns:a="http://schemas.openxmlformats.org/drawingml/2006/main">
            <a:fillRect l="0" t="0" r="0" b="0"/>
          </a:stretch>
        </p:blipFill>
        <p:spPr>
          <a:xfrm xmlns:a="http://schemas.openxmlformats.org/drawingml/2006/main">
            <a:off x="777240" y="3977640"/>
            <a:ext cx="320040" cy="320040"/>
          </a:xfrm>
          <a:prstGeom xmlns:a="http://schemas.openxmlformats.org/drawingml/2006/main" prst="rect">
            <a:avLst/>
          </a:prstGeom>
        </p:spPr>
      </p:pic>
      <p:sp>
        <p:nvSpPr>
          <p:cNvPr id="17" name="Text 10">
            <a:extLst xmlns:a="http://schemas.openxmlformats.org/drawingml/2006/main">
              <a:ext uri="{FF2B5EF4-FFF2-40B4-BE49-F238E27FC236}">
                <a16:creationId xmlns:a16="http://schemas.microsoft.com/office/drawing/2014/main" id="{897325A4-3EB8-4FA0-AA1B-EAE5574A0736}"/>
              </a:ext>
            </a:extLst>
          </p:cNvPr>
          <p:cNvSpPr>
            <a:spLocks xmlns:a="http://schemas.openxmlformats.org/drawingml/2006/main" noGrp="1"/>
          </p:cNvSpPr>
          <p:nvPr/>
        </p:nvSpPr>
        <p:spPr>
          <a:xfrm xmlns:a="http://schemas.openxmlformats.org/drawingml/2006/main">
            <a:off x="1234440" y="388620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Layer caching - urutan instruksi penting</a:t>
            </a:r>
            <a:endParaRPr sz="1200"/>
          </a:p>
        </p:txBody>
      </p:sp>
      <p:pic>
        <p:nvPicPr>
          <p:cNvPr id="49" name="Image 5">
            <a:extLst xmlns:a="http://schemas.openxmlformats.org/drawingml/2006/main">
              <a:ext uri="{FF2B5EF4-FFF2-40B4-BE49-F238E27FC236}">
                <a16:creationId xmlns:a16="http://schemas.microsoft.com/office/drawing/2014/main" id="{A31ADBF2-A443-401D-BEB6-8B1B89959958}"/>
              </a:ext>
            </a:extLst>
          </p:cNvPr>
          <p:cNvPicPr>
            <a:picLocks xmlns:a="http://schemas.openxmlformats.org/drawingml/2006/main" noChangeAspect="1"/>
          </p:cNvPicPr>
          <p:nvPr/>
        </p:nvPicPr>
        <p:blipFill>
          <a:blip xmlns:r="http://schemas.openxmlformats.org/officeDocument/2006/relationships" xmlns:a="http://schemas.openxmlformats.org/drawingml/2006/main" r:embed="R3ee4120429bc48d1"/>
          <a:stretch xmlns:a="http://schemas.openxmlformats.org/drawingml/2006/main">
            <a:fillRect l="0" t="0" r="0" b="0"/>
          </a:stretch>
        </p:blipFill>
        <p:spPr>
          <a:xfrm xmlns:a="http://schemas.openxmlformats.org/drawingml/2006/main">
            <a:off x="777240" y="4617720"/>
            <a:ext cx="320040" cy="320040"/>
          </a:xfrm>
          <a:prstGeom xmlns:a="http://schemas.openxmlformats.org/drawingml/2006/main" prst="rect">
            <a:avLst/>
          </a:prstGeom>
        </p:spPr>
      </p:pic>
      <p:sp>
        <p:nvSpPr>
          <p:cNvPr id="19" name="Text 11">
            <a:extLst xmlns:a="http://schemas.openxmlformats.org/drawingml/2006/main">
              <a:ext uri="{FF2B5EF4-FFF2-40B4-BE49-F238E27FC236}">
                <a16:creationId xmlns:a16="http://schemas.microsoft.com/office/drawing/2014/main" id="{8827FE46-AE24-4994-AC3B-1AD53F8B626D}"/>
              </a:ext>
            </a:extLst>
          </p:cNvPr>
          <p:cNvSpPr>
            <a:spLocks xmlns:a="http://schemas.openxmlformats.org/drawingml/2006/main" noGrp="1"/>
          </p:cNvSpPr>
          <p:nvPr/>
        </p:nvSpPr>
        <p:spPr>
          <a:xfrm xmlns:a="http://schemas.openxmlformats.org/drawingml/2006/main">
            <a:off x="1234440" y="452628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Multi-stage: ukur ukuran image hasil build</a:t>
            </a:r>
            <a:endParaRPr sz="1200"/>
          </a:p>
        </p:txBody>
      </p:sp>
      <p:pic>
        <p:nvPicPr>
          <p:cNvPr id="51" name="Image 6">
            <a:extLst xmlns:a="http://schemas.openxmlformats.org/drawingml/2006/main">
              <a:ext uri="{FF2B5EF4-FFF2-40B4-BE49-F238E27FC236}">
                <a16:creationId xmlns:a16="http://schemas.microsoft.com/office/drawing/2014/main" id="{F1A2C80B-8696-4164-99B2-9ACA4558800E}"/>
              </a:ext>
            </a:extLst>
          </p:cNvPr>
          <p:cNvPicPr>
            <a:picLocks xmlns:a="http://schemas.openxmlformats.org/drawingml/2006/main" noChangeAspect="1"/>
          </p:cNvPicPr>
          <p:nvPr/>
        </p:nvPicPr>
        <p:blipFill>
          <a:blip xmlns:r="http://schemas.openxmlformats.org/officeDocument/2006/relationships" xmlns:a="http://schemas.openxmlformats.org/drawingml/2006/main" r:embed="R836597d77b9f4434"/>
          <a:stretch xmlns:a="http://schemas.openxmlformats.org/drawingml/2006/main">
            <a:fillRect l="0" t="0" r="0" b="0"/>
          </a:stretch>
        </p:blipFill>
        <p:spPr>
          <a:xfrm xmlns:a="http://schemas.openxmlformats.org/drawingml/2006/main">
            <a:off x="777240" y="5257800"/>
            <a:ext cx="320040" cy="320040"/>
          </a:xfrm>
          <a:prstGeom xmlns:a="http://schemas.openxmlformats.org/drawingml/2006/main" prst="rect">
            <a:avLst/>
          </a:prstGeom>
        </p:spPr>
      </p:pic>
      <p:sp>
        <p:nvSpPr>
          <p:cNvPr id="21" name="Text 12">
            <a:extLst xmlns:a="http://schemas.openxmlformats.org/drawingml/2006/main">
              <a:ext uri="{FF2B5EF4-FFF2-40B4-BE49-F238E27FC236}">
                <a16:creationId xmlns:a16="http://schemas.microsoft.com/office/drawing/2014/main" id="{8ED51DFE-A0FC-42FE-8514-B89FE93D189E}"/>
              </a:ext>
            </a:extLst>
          </p:cNvPr>
          <p:cNvSpPr>
            <a:spLocks xmlns:a="http://schemas.openxmlformats.org/drawingml/2006/main" noGrp="1"/>
          </p:cNvSpPr>
          <p:nvPr/>
        </p:nvSpPr>
        <p:spPr>
          <a:xfrm xmlns:a="http://schemas.openxmlformats.org/drawingml/2006/main">
            <a:off x="1234440" y="516636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93B"/>
                </a:solidFill>
                <a:latin typeface="Calibri"/>
                <a:ea typeface="Calibri"/>
                <a:cs typeface="Calibri"/>
              </a:rPr>
              <a:t>Tagging semver + push ke ghcr.io / Docker Hub</a:t>
            </a:r>
            <a:endParaRPr sz="1200"/>
          </a:p>
        </p:txBody>
      </p:sp>
      <p:sp>
        <p:nvSpPr>
          <p:cNvPr id="22" name="Shape 13">
            <a:extLst xmlns:a="http://schemas.openxmlformats.org/drawingml/2006/main">
              <a:ext uri="{FF2B5EF4-FFF2-40B4-BE49-F238E27FC236}">
                <a16:creationId xmlns:a16="http://schemas.microsoft.com/office/drawing/2014/main" id="{4E85ABBB-5731-4A1B-AACD-C9F44B0DC342}"/>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23" name="Text 14">
            <a:extLst xmlns:a="http://schemas.openxmlformats.org/drawingml/2006/main">
              <a:ext uri="{FF2B5EF4-FFF2-40B4-BE49-F238E27FC236}">
                <a16:creationId xmlns:a16="http://schemas.microsoft.com/office/drawing/2014/main" id="{D0702DAD-3448-478A-9A30-6DF3ED890299}"/>
              </a:ext>
            </a:extLst>
          </p:cNvPr>
          <p:cNvSpPr>
            <a:spLocks xmlns:a="http://schemas.openxmlformats.org/drawingml/2006/main" noGrp="1"/>
          </p:cNvSpPr>
          <p:nvPr/>
        </p:nvSpPr>
        <p:spPr>
          <a:xfrm xmlns:a="http://schemas.openxmlformats.org/drawingml/2006/main">
            <a:off x="6446520" y="1600200"/>
            <a:ext cx="5120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HARI INI, KITA AKAN:</a:t>
            </a:r>
            <a:endParaRPr sz="1100"/>
          </a:p>
          <a:p xmlns:a="http://schemas.openxmlformats.org/drawingml/2006/main">
            <a:pPr marL="0" indent="0">
              <a:buNone/>
            </a:pPr>
            <a:r>
              <a:rPr sz="600">
                <a:solidFill>
                  <a:srgbClr val="000000"/>
                </a:solidFill>
                <a:latin typeface="Calibri"/>
                <a:ea typeface="Calibri"/>
                <a:cs typeface="Calibri"/>
              </a:rPr>
              <a:t> </a:t>
            </a:r>
            <a:endParaRPr sz="1100"/>
          </a:p>
          <a:p xmlns:a="http://schemas.openxmlformats.org/drawingml/2006/main">
            <a:pPr marL="0" indent="0">
              <a:buNone/>
            </a:pPr>
            <a:r>
              <a:rPr sz="2200" b="1">
                <a:solidFill>
                  <a:srgbClr val="FFFFFF"/>
                </a:solidFill>
                <a:latin typeface="Calibri"/>
                <a:ea typeface="Calibri"/>
                <a:cs typeface="Calibri"/>
              </a:rPr>
              <a:t>Docker Compose</a:t>
            </a:r>
            <a:endParaRPr sz="1100"/>
          </a:p>
        </p:txBody>
      </p:sp>
      <p:sp>
        <p:nvSpPr>
          <p:cNvPr id="24" name="Text 15">
            <a:extLst xmlns:a="http://schemas.openxmlformats.org/drawingml/2006/main">
              <a:ext uri="{FF2B5EF4-FFF2-40B4-BE49-F238E27FC236}">
                <a16:creationId xmlns:a16="http://schemas.microsoft.com/office/drawing/2014/main" id="{329FF4BD-C3ED-4F7A-BD6A-B6E8321F70EC}"/>
              </a:ext>
            </a:extLst>
          </p:cNvPr>
          <p:cNvSpPr>
            <a:spLocks xmlns:a="http://schemas.openxmlformats.org/drawingml/2006/main" noGrp="1"/>
          </p:cNvSpPr>
          <p:nvPr/>
        </p:nvSpPr>
        <p:spPr>
          <a:xfrm xmlns:a="http://schemas.openxmlformats.org/drawingml/2006/main">
            <a:off x="6446520" y="2606040"/>
            <a:ext cx="5029200" cy="3383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spcAft>
                <a:spcPts val="600"/>
              </a:spcAft>
              <a:buNone/>
            </a:pPr>
            <a:r>
              <a:rPr sz="1200">
                <a:solidFill>
                  <a:srgbClr val="FFFFFF"/>
                </a:solidFill>
                <a:latin typeface="Calibri"/>
                <a:ea typeface="Calibri"/>
                <a:cs typeface="Calibri"/>
              </a:rPr>
              <a:t>1. Kenapa butuh Compose (vs docker run manual)</a:t>
            </a:r>
            <a:endParaRPr sz="1200"/>
          </a:p>
          <a:p xmlns:a="http://schemas.openxmlformats.org/drawingml/2006/main">
            <a:pPr marL="0" indent="0">
              <a:spcAft>
                <a:spcPts val="600"/>
              </a:spcAft>
              <a:buNone/>
            </a:pPr>
            <a:r>
              <a:rPr sz="1200">
                <a:solidFill>
                  <a:srgbClr val="FFFFFF"/>
                </a:solidFill>
                <a:latin typeface="Calibri"/>
                <a:ea typeface="Calibri"/>
                <a:cs typeface="Calibri"/>
              </a:rPr>
              <a:t>2. compose.yml syntax (services, networks, volumes)</a:t>
            </a:r>
            <a:endParaRPr sz="1200"/>
          </a:p>
          <a:p xmlns:a="http://schemas.openxmlformats.org/drawingml/2006/main">
            <a:pPr marL="0" indent="0">
              <a:spcAft>
                <a:spcPts val="600"/>
              </a:spcAft>
              <a:buNone/>
            </a:pPr>
            <a:r>
              <a:rPr sz="1200">
                <a:solidFill>
                  <a:srgbClr val="FFFFFF"/>
                </a:solidFill>
                <a:latin typeface="Calibri"/>
                <a:ea typeface="Calibri"/>
                <a:cs typeface="Calibri"/>
              </a:rPr>
              <a:t>3. Multi-tier example: web + api + db + cache</a:t>
            </a:r>
            <a:endParaRPr sz="1200"/>
          </a:p>
          <a:p xmlns:a="http://schemas.openxmlformats.org/drawingml/2006/main">
            <a:pPr marL="0" indent="0">
              <a:spcAft>
                <a:spcPts val="600"/>
              </a:spcAft>
              <a:buNone/>
            </a:pPr>
            <a:r>
              <a:rPr sz="1200">
                <a:solidFill>
                  <a:srgbClr val="FFFFFF"/>
                </a:solidFill>
                <a:latin typeface="Calibri"/>
                <a:ea typeface="Calibri"/>
                <a:cs typeface="Calibri"/>
              </a:rPr>
              <a:t>4. Service discovery + custom networks</a:t>
            </a:r>
            <a:endParaRPr sz="1200"/>
          </a:p>
          <a:p xmlns:a="http://schemas.openxmlformats.org/drawingml/2006/main">
            <a:pPr marL="0" indent="0">
              <a:spcAft>
                <a:spcPts val="600"/>
              </a:spcAft>
              <a:buNone/>
            </a:pPr>
            <a:r>
              <a:rPr sz="1200">
                <a:solidFill>
                  <a:srgbClr val="FFFFFF"/>
                </a:solidFill>
                <a:latin typeface="Calibri"/>
                <a:ea typeface="Calibri"/>
                <a:cs typeface="Calibri"/>
              </a:rPr>
              <a:t>5. Persistent storage strategy</a:t>
            </a:r>
            <a:endParaRPr sz="1200"/>
          </a:p>
          <a:p xmlns:a="http://schemas.openxmlformats.org/drawingml/2006/main">
            <a:pPr marL="0" indent="0">
              <a:spcAft>
                <a:spcPts val="600"/>
              </a:spcAft>
              <a:buNone/>
            </a:pPr>
            <a:r>
              <a:rPr sz="1200">
                <a:solidFill>
                  <a:srgbClr val="FFFFFF"/>
                </a:solidFill>
                <a:latin typeface="Calibri"/>
                <a:ea typeface="Calibri"/>
                <a:cs typeface="Calibri"/>
              </a:rPr>
              <a:t>6. Production tips + override files</a:t>
            </a:r>
            <a:endParaRPr sz="1200"/>
          </a:p>
        </p:txBody>
      </p:sp>
      <p:sp>
        <p:nvSpPr>
          <p:cNvPr id="25" name="Text 16">
            <a:extLst xmlns:a="http://schemas.openxmlformats.org/drawingml/2006/main">
              <a:ext uri="{FF2B5EF4-FFF2-40B4-BE49-F238E27FC236}">
                <a16:creationId xmlns:a16="http://schemas.microsoft.com/office/drawing/2014/main" id="{9FC91156-7F4D-4499-A5E9-441C15B52D21}"/>
              </a:ext>
            </a:extLst>
          </p:cNvPr>
          <p:cNvSpPr>
            <a:spLocks xmlns:a="http://schemas.openxmlformats.org/drawingml/2006/main" noGrp="1"/>
          </p:cNvSpPr>
          <p:nvPr/>
        </p:nvSpPr>
        <p:spPr>
          <a:xfrm xmlns:a="http://schemas.openxmlformats.org/drawingml/2006/main">
            <a:off x="457200" y="62636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Lab 06: nyalakan Cloud Notes API, PostgreSQL, dan Redis sebagai komponen proyek kelompok.</a:t>
            </a:r>
            <a:endParaRPr sz="1100"/>
          </a:p>
        </p:txBody>
      </p:sp>
    </p:spTree>
    <p:extLst>
      <p:ext uri="{BB962C8B-B14F-4D97-AF65-F5344CB8AC3E}">
        <p14:creationId xmlns:p14="http://schemas.microsoft.com/office/powerpoint/2010/main" val="1482813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352B4E-FCDC-42DA-AE08-5F8F4B20274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E7C1B439-33AE-4807-AA98-54588DD8426B}"/>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a:t>
            </a:r>
            <a:endParaRPr sz="900"/>
          </a:p>
        </p:txBody>
      </p:sp>
      <p:sp>
        <p:nvSpPr>
          <p:cNvPr id="4" name="Shape 2">
            <a:extLst xmlns:a="http://schemas.openxmlformats.org/drawingml/2006/main">
              <a:ext uri="{FF2B5EF4-FFF2-40B4-BE49-F238E27FC236}">
                <a16:creationId xmlns:a16="http://schemas.microsoft.com/office/drawing/2014/main" id="{4CBAE3AE-E66E-4932-8BED-5DD159BC2408}"/>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8" name="Image 0">
            <a:extLst xmlns:a="http://schemas.openxmlformats.org/drawingml/2006/main">
              <a:ext uri="{FF2B5EF4-FFF2-40B4-BE49-F238E27FC236}">
                <a16:creationId xmlns:a16="http://schemas.microsoft.com/office/drawing/2014/main" id="{7E467FE0-D431-45A0-8FBA-C6F9240DA697}"/>
              </a:ext>
            </a:extLst>
          </p:cNvPr>
          <p:cNvPicPr>
            <a:picLocks xmlns:a="http://schemas.openxmlformats.org/drawingml/2006/main" noChangeAspect="1"/>
          </p:cNvPicPr>
          <p:nvPr/>
        </p:nvPicPr>
        <p:blipFill>
          <a:blip xmlns:r="http://schemas.openxmlformats.org/officeDocument/2006/relationships" xmlns:a="http://schemas.openxmlformats.org/drawingml/2006/main" r:embed="Rfe6faf543a4d4de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9" name="Image 1">
            <a:extLst xmlns:a="http://schemas.openxmlformats.org/drawingml/2006/main">
              <a:ext uri="{FF2B5EF4-FFF2-40B4-BE49-F238E27FC236}">
                <a16:creationId xmlns:a16="http://schemas.microsoft.com/office/drawing/2014/main" id="{467B0118-3A1F-4430-A134-24D2CBD52EAD}"/>
              </a:ext>
            </a:extLst>
          </p:cNvPr>
          <p:cNvPicPr>
            <a:picLocks xmlns:a="http://schemas.openxmlformats.org/drawingml/2006/main" noChangeAspect="1"/>
          </p:cNvPicPr>
          <p:nvPr/>
        </p:nvPicPr>
        <p:blipFill>
          <a:blip xmlns:r="http://schemas.openxmlformats.org/officeDocument/2006/relationships" xmlns:a="http://schemas.openxmlformats.org/drawingml/2006/main" r:embed="R6779a801667a41b5"/>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C6405DB7-3E6E-458A-8E4F-4E994270F70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591CABE2-0EC1-4A07-9DF8-B8835968F0E0}"/>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Learning Outcomes - Pertemuan 6</a:t>
            </a:r>
            <a:endParaRPr sz="2200"/>
          </a:p>
        </p:txBody>
      </p:sp>
      <p:sp>
        <p:nvSpPr>
          <p:cNvPr id="9" name="Text 5">
            <a:extLst xmlns:a="http://schemas.openxmlformats.org/drawingml/2006/main">
              <a:ext uri="{FF2B5EF4-FFF2-40B4-BE49-F238E27FC236}">
                <a16:creationId xmlns:a16="http://schemas.microsoft.com/office/drawing/2014/main" id="{6F74E183-F13D-4A84-A2C1-A0418BFB014B}"/>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Capaian Sesi Hari Ini</a:t>
            </a:r>
            <a:endParaRPr sz="1200"/>
          </a:p>
        </p:txBody>
      </p:sp>
      <p:sp>
        <p:nvSpPr>
          <p:cNvPr id="10" name="Shape 6">
            <a:extLst xmlns:a="http://schemas.openxmlformats.org/drawingml/2006/main">
              <a:ext uri="{FF2B5EF4-FFF2-40B4-BE49-F238E27FC236}">
                <a16:creationId xmlns:a16="http://schemas.microsoft.com/office/drawing/2014/main" id="{6B2DE9D8-8A83-4053-AF21-FF314B5CACBF}"/>
              </a:ext>
            </a:extLst>
          </p:cNvPr>
          <p:cNvSpPr>
            <a:spLocks xmlns:a="http://schemas.openxmlformats.org/drawingml/2006/main" noGrp="1"/>
          </p:cNvSpPr>
          <p:nvPr/>
        </p:nvSpPr>
        <p:spPr>
          <a:xfrm xmlns:a="http://schemas.openxmlformats.org/drawingml/2006/main">
            <a:off x="457200"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3BF806F6-876B-4C89-8579-9E5B8AD6306D}"/>
              </a:ext>
            </a:extLst>
          </p:cNvPr>
          <p:cNvSpPr>
            <a:spLocks xmlns:a="http://schemas.openxmlformats.org/drawingml/2006/main" noGrp="1"/>
          </p:cNvSpPr>
          <p:nvPr/>
        </p:nvSpPr>
        <p:spPr>
          <a:xfrm xmlns:a="http://schemas.openxmlformats.org/drawingml/2006/main">
            <a:off x="457200"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Shape 8">
            <a:extLst xmlns:a="http://schemas.openxmlformats.org/drawingml/2006/main">
              <a:ext uri="{FF2B5EF4-FFF2-40B4-BE49-F238E27FC236}">
                <a16:creationId xmlns:a16="http://schemas.microsoft.com/office/drawing/2014/main" id="{2F0C1EB2-05BD-4B17-81C0-4E6CAE2AD58F}"/>
              </a:ext>
            </a:extLst>
          </p:cNvPr>
          <p:cNvSpPr>
            <a:spLocks xmlns:a="http://schemas.openxmlformats.org/drawingml/2006/main" noGrp="1"/>
          </p:cNvSpPr>
          <p:nvPr/>
        </p:nvSpPr>
        <p:spPr>
          <a:xfrm xmlns:a="http://schemas.openxmlformats.org/drawingml/2006/main">
            <a:off x="731520"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13" name="Text 9">
            <a:extLst xmlns:a="http://schemas.openxmlformats.org/drawingml/2006/main">
              <a:ext uri="{FF2B5EF4-FFF2-40B4-BE49-F238E27FC236}">
                <a16:creationId xmlns:a16="http://schemas.microsoft.com/office/drawing/2014/main" id="{CFAD4A41-4620-4999-A2B4-42212DB9DB5D}"/>
              </a:ext>
            </a:extLst>
          </p:cNvPr>
          <p:cNvSpPr>
            <a:spLocks xmlns:a="http://schemas.openxmlformats.org/drawingml/2006/main" noGrp="1"/>
          </p:cNvSpPr>
          <p:nvPr/>
        </p:nvSpPr>
        <p:spPr>
          <a:xfrm xmlns:a="http://schemas.openxmlformats.org/drawingml/2006/main">
            <a:off x="731520"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1</a:t>
            </a:r>
            <a:endParaRPr sz="2200"/>
          </a:p>
        </p:txBody>
      </p:sp>
      <p:pic>
        <p:nvPicPr>
          <p:cNvPr id="57" name="Image 2">
            <a:extLst xmlns:a="http://schemas.openxmlformats.org/drawingml/2006/main">
              <a:ext uri="{FF2B5EF4-FFF2-40B4-BE49-F238E27FC236}">
                <a16:creationId xmlns:a16="http://schemas.microsoft.com/office/drawing/2014/main" id="{282A5EC3-2985-4FB0-88EC-A8EF784007D9}"/>
              </a:ext>
            </a:extLst>
          </p:cNvPr>
          <p:cNvPicPr>
            <a:picLocks xmlns:a="http://schemas.openxmlformats.org/drawingml/2006/main" noChangeAspect="1"/>
          </p:cNvPicPr>
          <p:nvPr/>
        </p:nvPicPr>
        <p:blipFill>
          <a:blip xmlns:r="http://schemas.openxmlformats.org/officeDocument/2006/relationships" xmlns:a="http://schemas.openxmlformats.org/drawingml/2006/main" r:embed="Raaad1d3bb7e24e4d"/>
          <a:stretch xmlns:a="http://schemas.openxmlformats.org/drawingml/2006/main">
            <a:fillRect l="0" t="0" r="0" b="0"/>
          </a:stretch>
        </p:blipFill>
        <p:spPr>
          <a:xfrm xmlns:a="http://schemas.openxmlformats.org/drawingml/2006/main">
            <a:off x="2286000" y="1828800"/>
            <a:ext cx="548640" cy="548640"/>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A9B89EB5-3153-426F-87E2-1B0EDEE14CD0}"/>
              </a:ext>
            </a:extLst>
          </p:cNvPr>
          <p:cNvSpPr>
            <a:spLocks xmlns:a="http://schemas.openxmlformats.org/drawingml/2006/main" noGrp="1"/>
          </p:cNvSpPr>
          <p:nvPr/>
        </p:nvSpPr>
        <p:spPr>
          <a:xfrm xmlns:a="http://schemas.openxmlformats.org/drawingml/2006/main">
            <a:off x="640080"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Menulis</a:t>
            </a:r>
            <a:endParaRPr sz="1800"/>
          </a:p>
        </p:txBody>
      </p:sp>
      <p:sp>
        <p:nvSpPr>
          <p:cNvPr id="16" name="Text 11">
            <a:extLst xmlns:a="http://schemas.openxmlformats.org/drawingml/2006/main">
              <a:ext uri="{FF2B5EF4-FFF2-40B4-BE49-F238E27FC236}">
                <a16:creationId xmlns:a16="http://schemas.microsoft.com/office/drawing/2014/main" id="{CFD348E8-9B2D-40D7-B2A6-334F45B2AD75}"/>
              </a:ext>
            </a:extLst>
          </p:cNvPr>
          <p:cNvSpPr>
            <a:spLocks xmlns:a="http://schemas.openxmlformats.org/drawingml/2006/main" noGrp="1"/>
          </p:cNvSpPr>
          <p:nvPr/>
        </p:nvSpPr>
        <p:spPr>
          <a:xfrm xmlns:a="http://schemas.openxmlformats.org/drawingml/2006/main">
            <a:off x="640080"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compose.yml untuk aplikasi multi-tier dengan service, network, volume yang terdefinisi.</a:t>
            </a:r>
            <a:endParaRPr sz="1200"/>
          </a:p>
        </p:txBody>
      </p:sp>
      <p:sp>
        <p:nvSpPr>
          <p:cNvPr id="17" name="Shape 12">
            <a:extLst xmlns:a="http://schemas.openxmlformats.org/drawingml/2006/main">
              <a:ext uri="{FF2B5EF4-FFF2-40B4-BE49-F238E27FC236}">
                <a16:creationId xmlns:a16="http://schemas.microsoft.com/office/drawing/2014/main" id="{D2B4D14D-A335-424E-ADCB-4DB176B9812E}"/>
              </a:ext>
            </a:extLst>
          </p:cNvPr>
          <p:cNvSpPr>
            <a:spLocks xmlns:a="http://schemas.openxmlformats.org/drawingml/2006/main" noGrp="1"/>
          </p:cNvSpPr>
          <p:nvPr/>
        </p:nvSpPr>
        <p:spPr>
          <a:xfrm xmlns:a="http://schemas.openxmlformats.org/drawingml/2006/main">
            <a:off x="3319272"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8" name="Shape 13">
            <a:extLst xmlns:a="http://schemas.openxmlformats.org/drawingml/2006/main">
              <a:ext uri="{FF2B5EF4-FFF2-40B4-BE49-F238E27FC236}">
                <a16:creationId xmlns:a16="http://schemas.microsoft.com/office/drawing/2014/main" id="{1C3D7E0E-F1D3-4148-BE72-57600FF944DB}"/>
              </a:ext>
            </a:extLst>
          </p:cNvPr>
          <p:cNvSpPr>
            <a:spLocks xmlns:a="http://schemas.openxmlformats.org/drawingml/2006/main" noGrp="1"/>
          </p:cNvSpPr>
          <p:nvPr/>
        </p:nvSpPr>
        <p:spPr>
          <a:xfrm xmlns:a="http://schemas.openxmlformats.org/drawingml/2006/main">
            <a:off x="3319272"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9" name="Shape 14">
            <a:extLst xmlns:a="http://schemas.openxmlformats.org/drawingml/2006/main">
              <a:ext uri="{FF2B5EF4-FFF2-40B4-BE49-F238E27FC236}">
                <a16:creationId xmlns:a16="http://schemas.microsoft.com/office/drawing/2014/main" id="{B3F49103-7B28-439A-B163-6814F6E7081E}"/>
              </a:ext>
            </a:extLst>
          </p:cNvPr>
          <p:cNvSpPr>
            <a:spLocks xmlns:a="http://schemas.openxmlformats.org/drawingml/2006/main" noGrp="1"/>
          </p:cNvSpPr>
          <p:nvPr/>
        </p:nvSpPr>
        <p:spPr>
          <a:xfrm xmlns:a="http://schemas.openxmlformats.org/drawingml/2006/main">
            <a:off x="3593592"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20" name="Text 15">
            <a:extLst xmlns:a="http://schemas.openxmlformats.org/drawingml/2006/main">
              <a:ext uri="{FF2B5EF4-FFF2-40B4-BE49-F238E27FC236}">
                <a16:creationId xmlns:a16="http://schemas.microsoft.com/office/drawing/2014/main" id="{9571E642-652D-4F82-9065-DD6CF6AE0C0E}"/>
              </a:ext>
            </a:extLst>
          </p:cNvPr>
          <p:cNvSpPr>
            <a:spLocks xmlns:a="http://schemas.openxmlformats.org/drawingml/2006/main" noGrp="1"/>
          </p:cNvSpPr>
          <p:nvPr/>
        </p:nvSpPr>
        <p:spPr>
          <a:xfrm xmlns:a="http://schemas.openxmlformats.org/drawingml/2006/main">
            <a:off x="3593592"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2</a:t>
            </a:r>
            <a:endParaRPr sz="2200"/>
          </a:p>
        </p:txBody>
      </p:sp>
      <p:pic>
        <p:nvPicPr>
          <p:cNvPr id="64" name="Image 3">
            <a:extLst xmlns:a="http://schemas.openxmlformats.org/drawingml/2006/main">
              <a:ext uri="{FF2B5EF4-FFF2-40B4-BE49-F238E27FC236}">
                <a16:creationId xmlns:a16="http://schemas.microsoft.com/office/drawing/2014/main" id="{090F50AF-5591-426D-BAA7-C7B0E84AB585}"/>
              </a:ext>
            </a:extLst>
          </p:cNvPr>
          <p:cNvPicPr>
            <a:picLocks xmlns:a="http://schemas.openxmlformats.org/drawingml/2006/main" noChangeAspect="1"/>
          </p:cNvPicPr>
          <p:nvPr/>
        </p:nvPicPr>
        <p:blipFill>
          <a:blip xmlns:r="http://schemas.openxmlformats.org/officeDocument/2006/relationships" xmlns:a="http://schemas.openxmlformats.org/drawingml/2006/main" r:embed="R8427d2f6bfa24713"/>
          <a:stretch xmlns:a="http://schemas.openxmlformats.org/drawingml/2006/main">
            <a:fillRect l="0" t="0" r="0" b="0"/>
          </a:stretch>
        </p:blipFill>
        <p:spPr>
          <a:xfrm xmlns:a="http://schemas.openxmlformats.org/drawingml/2006/main">
            <a:off x="5148072" y="1828800"/>
            <a:ext cx="548640" cy="548640"/>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934D9CD4-E659-4AC2-80DB-80B916FC59DE}"/>
              </a:ext>
            </a:extLst>
          </p:cNvPr>
          <p:cNvSpPr>
            <a:spLocks xmlns:a="http://schemas.openxmlformats.org/drawingml/2006/main" noGrp="1"/>
          </p:cNvSpPr>
          <p:nvPr/>
        </p:nvSpPr>
        <p:spPr>
          <a:xfrm xmlns:a="http://schemas.openxmlformats.org/drawingml/2006/main">
            <a:off x="3502152"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Memahami</a:t>
            </a:r>
            <a:endParaRPr sz="1800"/>
          </a:p>
        </p:txBody>
      </p:sp>
      <p:sp>
        <p:nvSpPr>
          <p:cNvPr id="23" name="Text 17">
            <a:extLst xmlns:a="http://schemas.openxmlformats.org/drawingml/2006/main">
              <a:ext uri="{FF2B5EF4-FFF2-40B4-BE49-F238E27FC236}">
                <a16:creationId xmlns:a16="http://schemas.microsoft.com/office/drawing/2014/main" id="{80C9670F-7556-4F7A-917F-247DFFD0F8A1}"/>
              </a:ext>
            </a:extLst>
          </p:cNvPr>
          <p:cNvSpPr>
            <a:spLocks xmlns:a="http://schemas.openxmlformats.org/drawingml/2006/main" noGrp="1"/>
          </p:cNvSpPr>
          <p:nvPr/>
        </p:nvSpPr>
        <p:spPr>
          <a:xfrm xmlns:a="http://schemas.openxmlformats.org/drawingml/2006/main">
            <a:off x="3502152"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service discovery via DNS + bagaimana Compose isolasi network antar service.</a:t>
            </a:r>
            <a:endParaRPr sz="1200"/>
          </a:p>
        </p:txBody>
      </p:sp>
      <p:sp>
        <p:nvSpPr>
          <p:cNvPr id="24" name="Shape 18">
            <a:extLst xmlns:a="http://schemas.openxmlformats.org/drawingml/2006/main">
              <a:ext uri="{FF2B5EF4-FFF2-40B4-BE49-F238E27FC236}">
                <a16:creationId xmlns:a16="http://schemas.microsoft.com/office/drawing/2014/main" id="{25EDFDCA-EA67-4DFF-A1E1-4424DC78B0ED}"/>
              </a:ext>
            </a:extLst>
          </p:cNvPr>
          <p:cNvSpPr>
            <a:spLocks xmlns:a="http://schemas.openxmlformats.org/drawingml/2006/main" noGrp="1"/>
          </p:cNvSpPr>
          <p:nvPr/>
        </p:nvSpPr>
        <p:spPr>
          <a:xfrm xmlns:a="http://schemas.openxmlformats.org/drawingml/2006/main">
            <a:off x="6181344"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5" name="Shape 19">
            <a:extLst xmlns:a="http://schemas.openxmlformats.org/drawingml/2006/main">
              <a:ext uri="{FF2B5EF4-FFF2-40B4-BE49-F238E27FC236}">
                <a16:creationId xmlns:a16="http://schemas.microsoft.com/office/drawing/2014/main" id="{BD39F70A-8F82-4DDF-99FE-AB5BD35A8E4D}"/>
              </a:ext>
            </a:extLst>
          </p:cNvPr>
          <p:cNvSpPr>
            <a:spLocks xmlns:a="http://schemas.openxmlformats.org/drawingml/2006/main" noGrp="1"/>
          </p:cNvSpPr>
          <p:nvPr/>
        </p:nvSpPr>
        <p:spPr>
          <a:xfrm xmlns:a="http://schemas.openxmlformats.org/drawingml/2006/main">
            <a:off x="6181344"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6" name="Shape 20">
            <a:extLst xmlns:a="http://schemas.openxmlformats.org/drawingml/2006/main">
              <a:ext uri="{FF2B5EF4-FFF2-40B4-BE49-F238E27FC236}">
                <a16:creationId xmlns:a16="http://schemas.microsoft.com/office/drawing/2014/main" id="{1DFC5E05-80CF-4B79-8E30-ADE71C2A57C4}"/>
              </a:ext>
            </a:extLst>
          </p:cNvPr>
          <p:cNvSpPr>
            <a:spLocks xmlns:a="http://schemas.openxmlformats.org/drawingml/2006/main" noGrp="1"/>
          </p:cNvSpPr>
          <p:nvPr/>
        </p:nvSpPr>
        <p:spPr>
          <a:xfrm xmlns:a="http://schemas.openxmlformats.org/drawingml/2006/main">
            <a:off x="6455664"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27" name="Text 21">
            <a:extLst xmlns:a="http://schemas.openxmlformats.org/drawingml/2006/main">
              <a:ext uri="{FF2B5EF4-FFF2-40B4-BE49-F238E27FC236}">
                <a16:creationId xmlns:a16="http://schemas.microsoft.com/office/drawing/2014/main" id="{2C1024FC-A9AB-4350-8957-6E48B6A9F1B5}"/>
              </a:ext>
            </a:extLst>
          </p:cNvPr>
          <p:cNvSpPr>
            <a:spLocks xmlns:a="http://schemas.openxmlformats.org/drawingml/2006/main" noGrp="1"/>
          </p:cNvSpPr>
          <p:nvPr/>
        </p:nvSpPr>
        <p:spPr>
          <a:xfrm xmlns:a="http://schemas.openxmlformats.org/drawingml/2006/main">
            <a:off x="6455664"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3</a:t>
            </a:r>
            <a:endParaRPr sz="2200"/>
          </a:p>
        </p:txBody>
      </p:sp>
      <p:pic>
        <p:nvPicPr>
          <p:cNvPr id="71" name="Image 4">
            <a:extLst xmlns:a="http://schemas.openxmlformats.org/drawingml/2006/main">
              <a:ext uri="{FF2B5EF4-FFF2-40B4-BE49-F238E27FC236}">
                <a16:creationId xmlns:a16="http://schemas.microsoft.com/office/drawing/2014/main" id="{63ABCB39-F7F9-4A93-A392-CBB1CD7568F1}"/>
              </a:ext>
            </a:extLst>
          </p:cNvPr>
          <p:cNvPicPr>
            <a:picLocks xmlns:a="http://schemas.openxmlformats.org/drawingml/2006/main" noChangeAspect="1"/>
          </p:cNvPicPr>
          <p:nvPr/>
        </p:nvPicPr>
        <p:blipFill>
          <a:blip xmlns:r="http://schemas.openxmlformats.org/officeDocument/2006/relationships" xmlns:a="http://schemas.openxmlformats.org/drawingml/2006/main" r:embed="R97bf5e7468a24a3b"/>
          <a:stretch xmlns:a="http://schemas.openxmlformats.org/drawingml/2006/main">
            <a:fillRect l="0" t="0" r="0" b="0"/>
          </a:stretch>
        </p:blipFill>
        <p:spPr>
          <a:xfrm xmlns:a="http://schemas.openxmlformats.org/drawingml/2006/main">
            <a:off x="8010144" y="1828800"/>
            <a:ext cx="548640" cy="548640"/>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9CD719A3-D75B-4569-9CED-FEC18ABA06F9}"/>
              </a:ext>
            </a:extLst>
          </p:cNvPr>
          <p:cNvSpPr>
            <a:spLocks xmlns:a="http://schemas.openxmlformats.org/drawingml/2006/main" noGrp="1"/>
          </p:cNvSpPr>
          <p:nvPr/>
        </p:nvSpPr>
        <p:spPr>
          <a:xfrm xmlns:a="http://schemas.openxmlformats.org/drawingml/2006/main">
            <a:off x="6364224"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Mengkonfigurasi</a:t>
            </a:r>
            <a:endParaRPr sz="1800"/>
          </a:p>
        </p:txBody>
      </p:sp>
      <p:sp>
        <p:nvSpPr>
          <p:cNvPr id="30" name="Text 23">
            <a:extLst xmlns:a="http://schemas.openxmlformats.org/drawingml/2006/main">
              <a:ext uri="{FF2B5EF4-FFF2-40B4-BE49-F238E27FC236}">
                <a16:creationId xmlns:a16="http://schemas.microsoft.com/office/drawing/2014/main" id="{3F4AA305-00BD-4989-A64D-1AA688A80B38}"/>
              </a:ext>
            </a:extLst>
          </p:cNvPr>
          <p:cNvSpPr>
            <a:spLocks xmlns:a="http://schemas.openxmlformats.org/drawingml/2006/main" noGrp="1"/>
          </p:cNvSpPr>
          <p:nvPr/>
        </p:nvSpPr>
        <p:spPr>
          <a:xfrm xmlns:a="http://schemas.openxmlformats.org/drawingml/2006/main">
            <a:off x="6364224"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persistent storage untuk database + dev hot-reload via bind mount.</a:t>
            </a:r>
            <a:endParaRPr sz="1200"/>
          </a:p>
        </p:txBody>
      </p:sp>
      <p:sp>
        <p:nvSpPr>
          <p:cNvPr id="31" name="Shape 24">
            <a:extLst xmlns:a="http://schemas.openxmlformats.org/drawingml/2006/main">
              <a:ext uri="{FF2B5EF4-FFF2-40B4-BE49-F238E27FC236}">
                <a16:creationId xmlns:a16="http://schemas.microsoft.com/office/drawing/2014/main" id="{8FC3A5FB-D240-4926-8A65-7CF31680F91F}"/>
              </a:ext>
            </a:extLst>
          </p:cNvPr>
          <p:cNvSpPr>
            <a:spLocks xmlns:a="http://schemas.openxmlformats.org/drawingml/2006/main" noGrp="1"/>
          </p:cNvSpPr>
          <p:nvPr/>
        </p:nvSpPr>
        <p:spPr>
          <a:xfrm xmlns:a="http://schemas.openxmlformats.org/drawingml/2006/main">
            <a:off x="9043416" y="1417320"/>
            <a:ext cx="2697480" cy="448056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Shape 25">
            <a:extLst xmlns:a="http://schemas.openxmlformats.org/drawingml/2006/main">
              <a:ext uri="{FF2B5EF4-FFF2-40B4-BE49-F238E27FC236}">
                <a16:creationId xmlns:a16="http://schemas.microsoft.com/office/drawing/2014/main" id="{7D9D130E-4A58-47E7-A2AB-1EA00D2297EC}"/>
              </a:ext>
            </a:extLst>
          </p:cNvPr>
          <p:cNvSpPr>
            <a:spLocks xmlns:a="http://schemas.openxmlformats.org/drawingml/2006/main" noGrp="1"/>
          </p:cNvSpPr>
          <p:nvPr/>
        </p:nvSpPr>
        <p:spPr>
          <a:xfrm xmlns:a="http://schemas.openxmlformats.org/drawingml/2006/main">
            <a:off x="9043416" y="1417320"/>
            <a:ext cx="2697480" cy="109728"/>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3" name="Shape 26">
            <a:extLst xmlns:a="http://schemas.openxmlformats.org/drawingml/2006/main">
              <a:ext uri="{FF2B5EF4-FFF2-40B4-BE49-F238E27FC236}">
                <a16:creationId xmlns:a16="http://schemas.microsoft.com/office/drawing/2014/main" id="{CE8A2120-3DA8-4536-9201-BADE40CCF578}"/>
              </a:ext>
            </a:extLst>
          </p:cNvPr>
          <p:cNvSpPr>
            <a:spLocks xmlns:a="http://schemas.openxmlformats.org/drawingml/2006/main" noGrp="1"/>
          </p:cNvSpPr>
          <p:nvPr/>
        </p:nvSpPr>
        <p:spPr>
          <a:xfrm xmlns:a="http://schemas.openxmlformats.org/drawingml/2006/main">
            <a:off x="9317736" y="1783080"/>
            <a:ext cx="640080" cy="640080"/>
          </a:xfrm>
          <a:prstGeom xmlns:a="http://schemas.openxmlformats.org/drawingml/2006/main" prst="ellipse">
            <a:avLst/>
          </a:prstGeom>
          <a:solidFill xmlns:a="http://schemas.openxmlformats.org/drawingml/2006/main">
            <a:srgbClr val="002677"/>
          </a:solidFill>
          <a:ln xmlns:a="http://schemas.openxmlformats.org/drawingml/2006/main" w="12700">
            <a:solidFill>
              <a:srgbClr val="002677"/>
            </a:solidFill>
            <a:prstDash val="solid"/>
          </a:ln>
        </p:spPr>
      </p:sp>
      <p:sp>
        <p:nvSpPr>
          <p:cNvPr id="34" name="Text 27">
            <a:extLst xmlns:a="http://schemas.openxmlformats.org/drawingml/2006/main">
              <a:ext uri="{FF2B5EF4-FFF2-40B4-BE49-F238E27FC236}">
                <a16:creationId xmlns:a16="http://schemas.microsoft.com/office/drawing/2014/main" id="{D71AFAA8-9076-4C88-B21D-B1EC7AC788C3}"/>
              </a:ext>
            </a:extLst>
          </p:cNvPr>
          <p:cNvSpPr>
            <a:spLocks xmlns:a="http://schemas.openxmlformats.org/drawingml/2006/main" noGrp="1"/>
          </p:cNvSpPr>
          <p:nvPr/>
        </p:nvSpPr>
        <p:spPr>
          <a:xfrm xmlns:a="http://schemas.openxmlformats.org/drawingml/2006/main">
            <a:off x="9317736" y="1783080"/>
            <a:ext cx="6400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libri"/>
                <a:ea typeface="Calibri"/>
                <a:cs typeface="Calibri"/>
              </a:rPr>
              <a:t>4</a:t>
            </a:r>
            <a:endParaRPr sz="2200"/>
          </a:p>
        </p:txBody>
      </p:sp>
      <p:pic>
        <p:nvPicPr>
          <p:cNvPr id="78" name="Image 5">
            <a:extLst xmlns:a="http://schemas.openxmlformats.org/drawingml/2006/main">
              <a:ext uri="{FF2B5EF4-FFF2-40B4-BE49-F238E27FC236}">
                <a16:creationId xmlns:a16="http://schemas.microsoft.com/office/drawing/2014/main" id="{EEC24CFB-9490-4604-8AB6-BD652E1D5F9B}"/>
              </a:ext>
            </a:extLst>
          </p:cNvPr>
          <p:cNvPicPr>
            <a:picLocks xmlns:a="http://schemas.openxmlformats.org/drawingml/2006/main" noChangeAspect="1"/>
          </p:cNvPicPr>
          <p:nvPr/>
        </p:nvPicPr>
        <p:blipFill>
          <a:blip xmlns:r="http://schemas.openxmlformats.org/officeDocument/2006/relationships" xmlns:a="http://schemas.openxmlformats.org/drawingml/2006/main" r:embed="Rf2a04e284c8a423b"/>
          <a:stretch xmlns:a="http://schemas.openxmlformats.org/drawingml/2006/main">
            <a:fillRect l="0" t="0" r="0" b="0"/>
          </a:stretch>
        </p:blipFill>
        <p:spPr>
          <a:xfrm xmlns:a="http://schemas.openxmlformats.org/drawingml/2006/main">
            <a:off x="10872216" y="1828800"/>
            <a:ext cx="548640" cy="548640"/>
          </a:xfrm>
          <a:prstGeom xmlns:a="http://schemas.openxmlformats.org/drawingml/2006/main" prst="rect">
            <a:avLst/>
          </a:prstGeom>
        </p:spPr>
      </p:pic>
      <p:sp>
        <p:nvSpPr>
          <p:cNvPr id="36" name="Text 28">
            <a:extLst xmlns:a="http://schemas.openxmlformats.org/drawingml/2006/main">
              <a:ext uri="{FF2B5EF4-FFF2-40B4-BE49-F238E27FC236}">
                <a16:creationId xmlns:a16="http://schemas.microsoft.com/office/drawing/2014/main" id="{6FA7F830-E0AC-43D0-B893-0FC8354B1049}"/>
              </a:ext>
            </a:extLst>
          </p:cNvPr>
          <p:cNvSpPr>
            <a:spLocks xmlns:a="http://schemas.openxmlformats.org/drawingml/2006/main" noGrp="1"/>
          </p:cNvSpPr>
          <p:nvPr/>
        </p:nvSpPr>
        <p:spPr>
          <a:xfrm xmlns:a="http://schemas.openxmlformats.org/drawingml/2006/main">
            <a:off x="9226296" y="2606040"/>
            <a:ext cx="2331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677"/>
                </a:solidFill>
                <a:latin typeface="Calibri"/>
                <a:ea typeface="Calibri"/>
                <a:cs typeface="Calibri"/>
              </a:rPr>
              <a:t>Mengoperasikan</a:t>
            </a:r>
            <a:endParaRPr sz="1800"/>
          </a:p>
        </p:txBody>
      </p:sp>
      <p:sp>
        <p:nvSpPr>
          <p:cNvPr id="37" name="Text 29">
            <a:extLst xmlns:a="http://schemas.openxmlformats.org/drawingml/2006/main">
              <a:ext uri="{FF2B5EF4-FFF2-40B4-BE49-F238E27FC236}">
                <a16:creationId xmlns:a16="http://schemas.microsoft.com/office/drawing/2014/main" id="{4521FE5C-82E5-42B8-BB2A-2ADA3F338914}"/>
              </a:ext>
            </a:extLst>
          </p:cNvPr>
          <p:cNvSpPr>
            <a:spLocks xmlns:a="http://schemas.openxmlformats.org/drawingml/2006/main" noGrp="1"/>
          </p:cNvSpPr>
          <p:nvPr/>
        </p:nvSpPr>
        <p:spPr>
          <a:xfrm xmlns:a="http://schemas.openxmlformats.org/drawingml/2006/main">
            <a:off x="9226296" y="3154680"/>
            <a:ext cx="2331720" cy="25603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00">
                <a:solidFill>
                  <a:srgbClr val="1E293B"/>
                </a:solidFill>
                <a:latin typeface="Calibri"/>
                <a:ea typeface="Calibri"/>
                <a:cs typeface="Calibri"/>
              </a:rPr>
              <a:t>stack lewat docker compose up/down/logs/exec untuk debug + deploy.</a:t>
            </a:r>
            <a:endParaRPr sz="1200"/>
          </a:p>
        </p:txBody>
      </p:sp>
      <p:sp>
        <p:nvSpPr>
          <p:cNvPr id="38" name="Text 30">
            <a:extLst xmlns:a="http://schemas.openxmlformats.org/drawingml/2006/main">
              <a:ext uri="{FF2B5EF4-FFF2-40B4-BE49-F238E27FC236}">
                <a16:creationId xmlns:a16="http://schemas.microsoft.com/office/drawing/2014/main" id="{1F8DD468-5FEE-4B0C-A629-0E29521ACDA5}"/>
              </a:ext>
            </a:extLst>
          </p:cNvPr>
          <p:cNvSpPr>
            <a:spLocks xmlns:a="http://schemas.openxmlformats.org/drawingml/2006/main" noGrp="1"/>
          </p:cNvSpPr>
          <p:nvPr/>
        </p:nvSpPr>
        <p:spPr>
          <a:xfrm xmlns:a="http://schemas.openxmlformats.org/drawingml/2006/main">
            <a:off x="457200" y="603504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64748B"/>
                </a:solidFill>
                <a:latin typeface="Calibri"/>
                <a:ea typeface="Calibri"/>
                <a:cs typeface="Calibri"/>
              </a:rPr>
              <a:t>Sesi ini mendukung:  </a:t>
            </a:r>
            <a:r>
              <a:rPr sz="1100" b="1" i="1">
                <a:solidFill>
                  <a:srgbClr val="002677"/>
                </a:solidFill>
                <a:latin typeface="Calibri"/>
                <a:ea typeface="Calibri"/>
                <a:cs typeface="Calibri"/>
              </a:rPr>
              <a:t>LO2 (Apply – orchestrate multi-container apps)  +  LO1 (Analyze – pilih network topology &amp; storage strategy)</a:t>
            </a:r>
            <a:endParaRPr sz="1100"/>
          </a:p>
        </p:txBody>
      </p:sp>
    </p:spTree>
    <p:extLst>
      <p:ext uri="{BB962C8B-B14F-4D97-AF65-F5344CB8AC3E}">
        <p14:creationId xmlns:p14="http://schemas.microsoft.com/office/powerpoint/2010/main" val="553298577"/>
      </p:ext>
    </p:extLst>
  </p:cSld>
</p:sld>
</file>

<file path=ppt/slides/slide4.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0CBD41-1998-4A77-842C-9EAA037470B5}"/>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078D517B-8FC9-49AA-9B87-8981CD8F589F}"/>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79A557E8-1399-4C8D-8723-990CE01DE86C}"/>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AE8551D9-3215-4083-BEB2-6FEE4D3FE343}"/>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435BDC3D-AA92-4402-855C-C4C36991CA11}"/>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79504605-07D0-49A0-A302-40A98589E67C}"/>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FCD093D9-DC72-44CE-BFAF-FC8276F1D57B}"/>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7C0DE271-3934-46CB-997C-7C5042D46154}"/>
              </a:ext>
            </a:extLst>
          </p:cNvPr>
          <p:cNvPicPr>
            <a:picLocks xmlns:a="http://schemas.openxmlformats.org/drawingml/2006/main" noChangeAspect="1"/>
          </p:cNvPicPr>
          <p:nvPr/>
        </p:nvPicPr>
        <p:blipFill>
          <a:blip xmlns:r="http://schemas.openxmlformats.org/officeDocument/2006/relationships" xmlns:a="http://schemas.openxmlformats.org/drawingml/2006/main" r:embed="R302ceabbdf12409e"/>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2D692682-BB0A-4155-B762-ADC3D4442369}"/>
              </a:ext>
            </a:extLst>
          </p:cNvPr>
          <p:cNvPicPr>
            <a:picLocks xmlns:a="http://schemas.openxmlformats.org/drawingml/2006/main" noChangeAspect="1"/>
          </p:cNvPicPr>
          <p:nvPr/>
        </p:nvPicPr>
        <p:blipFill>
          <a:blip xmlns:r="http://schemas.openxmlformats.org/officeDocument/2006/relationships" xmlns:a="http://schemas.openxmlformats.org/drawingml/2006/main" r:embed="R5d148f1aff4c495e"/>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F34E2E05-062A-4B1E-B1EF-1B0E9D52BB46}"/>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01</a:t>
            </a:r>
            <a:endParaRPr sz="1600"/>
          </a:p>
        </p:txBody>
      </p:sp>
      <p:sp>
        <p:nvSpPr>
          <p:cNvPr id="12" name="Text 8">
            <a:extLst xmlns:a="http://schemas.openxmlformats.org/drawingml/2006/main">
              <a:ext uri="{FF2B5EF4-FFF2-40B4-BE49-F238E27FC236}">
                <a16:creationId xmlns:a16="http://schemas.microsoft.com/office/drawing/2014/main" id="{BB56EEC6-91F7-46B1-9B9E-0E8F0FE0D6A8}"/>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Kenapa Butuh</a:t>
            </a:r>
            <a:endParaRPr sz="5200"/>
          </a:p>
          <a:p xmlns:a="http://schemas.openxmlformats.org/drawingml/2006/main">
            <a:pPr marL="0" indent="0" algn="ctr">
              <a:buNone/>
            </a:pPr>
            <a:r>
              <a:rPr sz="5200" b="1">
                <a:solidFill>
                  <a:srgbClr val="FFFFFF"/>
                </a:solidFill>
                <a:latin typeface="Calibri"/>
                <a:ea typeface="Calibri"/>
                <a:cs typeface="Calibri"/>
              </a:rPr>
              <a:t>Compose?</a:t>
            </a:r>
            <a:endParaRPr sz="5200"/>
          </a:p>
        </p:txBody>
      </p:sp>
      <p:sp>
        <p:nvSpPr>
          <p:cNvPr id="13" name="Shape 9">
            <a:extLst xmlns:a="http://schemas.openxmlformats.org/drawingml/2006/main">
              <a:ext uri="{FF2B5EF4-FFF2-40B4-BE49-F238E27FC236}">
                <a16:creationId xmlns:a16="http://schemas.microsoft.com/office/drawing/2014/main" id="{2B317471-2E67-4BCB-9AAE-51066B735BF3}"/>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DBF5719A-51AC-47C9-8AD7-D3425590795F}"/>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Masalah saat punya banyak container yang harus jalan bareng.</a:t>
            </a:r>
            <a:endParaRPr sz="1400"/>
          </a:p>
        </p:txBody>
      </p:sp>
    </p:spTree>
    <p:extLst>
      <p:ext uri="{BB962C8B-B14F-4D97-AF65-F5344CB8AC3E}">
        <p14:creationId xmlns:p14="http://schemas.microsoft.com/office/powerpoint/2010/main" val="17350976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5B9568-643A-4042-A6A9-A1ECC9BAC19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5100F605-D948-450A-A1B7-BD16CD9D86E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5</a:t>
            </a:r>
            <a:endParaRPr sz="900"/>
          </a:p>
        </p:txBody>
      </p:sp>
      <p:sp>
        <p:nvSpPr>
          <p:cNvPr id="4" name="Shape 2">
            <a:extLst xmlns:a="http://schemas.openxmlformats.org/drawingml/2006/main">
              <a:ext uri="{FF2B5EF4-FFF2-40B4-BE49-F238E27FC236}">
                <a16:creationId xmlns:a16="http://schemas.microsoft.com/office/drawing/2014/main" id="{6C7F04BE-1CFA-4BD7-92B7-43E06E070084}"/>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2" name="Image 0">
            <a:extLst xmlns:a="http://schemas.openxmlformats.org/drawingml/2006/main">
              <a:ext uri="{FF2B5EF4-FFF2-40B4-BE49-F238E27FC236}">
                <a16:creationId xmlns:a16="http://schemas.microsoft.com/office/drawing/2014/main" id="{F6EC8AED-798E-4CD2-95B9-E8006D3FD5FB}"/>
              </a:ext>
            </a:extLst>
          </p:cNvPr>
          <p:cNvPicPr>
            <a:picLocks xmlns:a="http://schemas.openxmlformats.org/drawingml/2006/main" noChangeAspect="1"/>
          </p:cNvPicPr>
          <p:nvPr/>
        </p:nvPicPr>
        <p:blipFill>
          <a:blip xmlns:r="http://schemas.openxmlformats.org/officeDocument/2006/relationships" xmlns:a="http://schemas.openxmlformats.org/drawingml/2006/main" r:embed="Rdfb69097053b4c95"/>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3" name="Image 1">
            <a:extLst xmlns:a="http://schemas.openxmlformats.org/drawingml/2006/main">
              <a:ext uri="{FF2B5EF4-FFF2-40B4-BE49-F238E27FC236}">
                <a16:creationId xmlns:a16="http://schemas.microsoft.com/office/drawing/2014/main" id="{5D402F57-14EC-436F-8A1B-ADD1759573A0}"/>
              </a:ext>
            </a:extLst>
          </p:cNvPr>
          <p:cNvPicPr>
            <a:picLocks xmlns:a="http://schemas.openxmlformats.org/drawingml/2006/main" noChangeAspect="1"/>
          </p:cNvPicPr>
          <p:nvPr/>
        </p:nvPicPr>
        <p:blipFill>
          <a:blip xmlns:r="http://schemas.openxmlformats.org/officeDocument/2006/relationships" xmlns:a="http://schemas.openxmlformats.org/drawingml/2006/main" r:embed="R5c5352703f9c48ca"/>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0468913-B2F1-4040-8D41-AF337AB63DAC}"/>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B206F10-5CDB-4D86-84A8-7A933BB152D0}"/>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Masalah docker run untuk Multi-Container</a:t>
            </a:r>
            <a:endParaRPr sz="2200"/>
          </a:p>
        </p:txBody>
      </p:sp>
      <p:sp>
        <p:nvSpPr>
          <p:cNvPr id="9" name="Text 5">
            <a:extLst xmlns:a="http://schemas.openxmlformats.org/drawingml/2006/main">
              <a:ext uri="{FF2B5EF4-FFF2-40B4-BE49-F238E27FC236}">
                <a16:creationId xmlns:a16="http://schemas.microsoft.com/office/drawing/2014/main" id="{DBCD8EF8-FD1F-4E78-86E0-E8BB5DBEE2B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Kenapa CLI manual tidak scalable saat punya banyak service</a:t>
            </a:r>
            <a:endParaRPr sz="1200"/>
          </a:p>
        </p:txBody>
      </p:sp>
      <p:sp>
        <p:nvSpPr>
          <p:cNvPr id="10" name="Shape 6">
            <a:extLst xmlns:a="http://schemas.openxmlformats.org/drawingml/2006/main">
              <a:ext uri="{FF2B5EF4-FFF2-40B4-BE49-F238E27FC236}">
                <a16:creationId xmlns:a16="http://schemas.microsoft.com/office/drawing/2014/main" id="{D8979094-BD2F-43D6-AB0A-B8F9BC884866}"/>
              </a:ext>
            </a:extLst>
          </p:cNvPr>
          <p:cNvSpPr>
            <a:spLocks xmlns:a="http://schemas.openxmlformats.org/drawingml/2006/main" noGrp="1"/>
          </p:cNvSpPr>
          <p:nvPr/>
        </p:nvSpPr>
        <p:spPr>
          <a:xfrm xmlns:a="http://schemas.openxmlformats.org/drawingml/2006/main">
            <a:off x="457200" y="1417320"/>
            <a:ext cx="1124712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38" name="Image 2">
            <a:extLst xmlns:a="http://schemas.openxmlformats.org/drawingml/2006/main">
              <a:ext uri="{FF2B5EF4-FFF2-40B4-BE49-F238E27FC236}">
                <a16:creationId xmlns:a16="http://schemas.microsoft.com/office/drawing/2014/main" id="{743510AE-1B1C-4C88-9090-57CE9D33E5A7}"/>
              </a:ext>
            </a:extLst>
          </p:cNvPr>
          <p:cNvPicPr>
            <a:picLocks xmlns:a="http://schemas.openxmlformats.org/drawingml/2006/main" noChangeAspect="1"/>
          </p:cNvPicPr>
          <p:nvPr/>
        </p:nvPicPr>
        <p:blipFill>
          <a:blip xmlns:r="http://schemas.openxmlformats.org/officeDocument/2006/relationships" xmlns:a="http://schemas.openxmlformats.org/drawingml/2006/main" r:embed="R5d9ff904333f49a2"/>
          <a:stretch xmlns:a="http://schemas.openxmlformats.org/drawingml/2006/main">
            <a:fillRect l="0" t="0" r="0" b="0"/>
          </a:stretch>
        </p:blipFill>
        <p:spPr>
          <a:xfrm xmlns:a="http://schemas.openxmlformats.org/drawingml/2006/main">
            <a:off x="777240" y="160020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642817E0-7577-4015-B51D-EE3B7EC95F24}"/>
              </a:ext>
            </a:extLst>
          </p:cNvPr>
          <p:cNvSpPr>
            <a:spLocks xmlns:a="http://schemas.openxmlformats.org/drawingml/2006/main" noGrp="1"/>
          </p:cNvSpPr>
          <p:nvPr/>
        </p:nvSpPr>
        <p:spPr>
          <a:xfrm xmlns:a="http://schemas.openxmlformats.org/drawingml/2006/main">
            <a:off x="1508760" y="1508760"/>
            <a:ext cx="3840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Contoh aplikasi web modern: </a:t>
            </a:r>
            <a:endParaRPr sz="1300"/>
          </a:p>
        </p:txBody>
      </p:sp>
      <p:sp>
        <p:nvSpPr>
          <p:cNvPr id="13" name="Text 8">
            <a:extLst xmlns:a="http://schemas.openxmlformats.org/drawingml/2006/main">
              <a:ext uri="{FF2B5EF4-FFF2-40B4-BE49-F238E27FC236}">
                <a16:creationId xmlns:a16="http://schemas.microsoft.com/office/drawing/2014/main" id="{13DD324C-EDF7-44A3-9C53-8777A814A434}"/>
              </a:ext>
            </a:extLst>
          </p:cNvPr>
          <p:cNvSpPr>
            <a:spLocks xmlns:a="http://schemas.openxmlformats.org/drawingml/2006/main" noGrp="1"/>
          </p:cNvSpPr>
          <p:nvPr/>
        </p:nvSpPr>
        <p:spPr>
          <a:xfrm xmlns:a="http://schemas.openxmlformats.org/drawingml/2006/main">
            <a:off x="5349240" y="1508760"/>
            <a:ext cx="6400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frontend + API + Postgres + Redis + Nginx. Semuanya harus jalan + saling terhubung.</a:t>
            </a:r>
            <a:endParaRPr sz="1300"/>
          </a:p>
        </p:txBody>
      </p:sp>
      <p:sp>
        <p:nvSpPr>
          <p:cNvPr id="14" name="Text 9">
            <a:extLst xmlns:a="http://schemas.openxmlformats.org/drawingml/2006/main">
              <a:ext uri="{FF2B5EF4-FFF2-40B4-BE49-F238E27FC236}">
                <a16:creationId xmlns:a16="http://schemas.microsoft.com/office/drawing/2014/main" id="{E8A33391-6FB7-424D-B12F-A987982F6C6F}"/>
              </a:ext>
            </a:extLst>
          </p:cNvPr>
          <p:cNvSpPr>
            <a:spLocks xmlns:a="http://schemas.openxmlformats.org/drawingml/2006/main" noGrp="1"/>
          </p:cNvSpPr>
          <p:nvPr/>
        </p:nvSpPr>
        <p:spPr>
          <a:xfrm xmlns:a="http://schemas.openxmlformats.org/drawingml/2006/main">
            <a:off x="1508760" y="18745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FFE0B2"/>
                </a:solidFill>
                <a:latin typeface="Calibri"/>
                <a:ea typeface="Calibri"/>
                <a:cs typeface="Calibri"/>
              </a:rPr>
              <a:t>Manual lewat docker run = 5 perintah panjang + 1 docker network create + dokumentasi terpisah.</a:t>
            </a:r>
            <a:endParaRPr sz="1100"/>
          </a:p>
        </p:txBody>
      </p:sp>
      <p:sp>
        <p:nvSpPr>
          <p:cNvPr id="15" name="Shape 10">
            <a:extLst xmlns:a="http://schemas.openxmlformats.org/drawingml/2006/main">
              <a:ext uri="{FF2B5EF4-FFF2-40B4-BE49-F238E27FC236}">
                <a16:creationId xmlns:a16="http://schemas.microsoft.com/office/drawing/2014/main" id="{6711FC3F-4FBD-4004-850B-9C8D22208306}"/>
              </a:ext>
            </a:extLst>
          </p:cNvPr>
          <p:cNvSpPr>
            <a:spLocks xmlns:a="http://schemas.openxmlformats.org/drawingml/2006/main" noGrp="1"/>
          </p:cNvSpPr>
          <p:nvPr/>
        </p:nvSpPr>
        <p:spPr>
          <a:xfrm xmlns:a="http://schemas.openxmlformats.org/drawingml/2006/main">
            <a:off x="457200" y="2468880"/>
            <a:ext cx="11247120" cy="310896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6" name="Shape 11">
            <a:extLst xmlns:a="http://schemas.openxmlformats.org/drawingml/2006/main">
              <a:ext uri="{FF2B5EF4-FFF2-40B4-BE49-F238E27FC236}">
                <a16:creationId xmlns:a16="http://schemas.microsoft.com/office/drawing/2014/main" id="{E06B8CAC-6FCE-4CD1-96D3-C0C40B6580B5}"/>
              </a:ext>
            </a:extLst>
          </p:cNvPr>
          <p:cNvSpPr>
            <a:spLocks xmlns:a="http://schemas.openxmlformats.org/drawingml/2006/main" noGrp="1"/>
          </p:cNvSpPr>
          <p:nvPr/>
        </p:nvSpPr>
        <p:spPr>
          <a:xfrm xmlns:a="http://schemas.openxmlformats.org/drawingml/2006/main">
            <a:off x="457200" y="2468880"/>
            <a:ext cx="1124712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7" name="Shape 12">
            <a:extLst xmlns:a="http://schemas.openxmlformats.org/drawingml/2006/main">
              <a:ext uri="{FF2B5EF4-FFF2-40B4-BE49-F238E27FC236}">
                <a16:creationId xmlns:a16="http://schemas.microsoft.com/office/drawing/2014/main" id="{8772DB43-6ED8-416F-8134-0F9A5E7038BC}"/>
              </a:ext>
            </a:extLst>
          </p:cNvPr>
          <p:cNvSpPr>
            <a:spLocks xmlns:a="http://schemas.openxmlformats.org/drawingml/2006/main" noGrp="1"/>
          </p:cNvSpPr>
          <p:nvPr/>
        </p:nvSpPr>
        <p:spPr>
          <a:xfrm xmlns:a="http://schemas.openxmlformats.org/drawingml/2006/main">
            <a:off x="548640" y="255117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8" name="Shape 13">
            <a:extLst xmlns:a="http://schemas.openxmlformats.org/drawingml/2006/main">
              <a:ext uri="{FF2B5EF4-FFF2-40B4-BE49-F238E27FC236}">
                <a16:creationId xmlns:a16="http://schemas.microsoft.com/office/drawing/2014/main" id="{30A1A5D4-B4C9-4DC5-AB8F-96152C464B72}"/>
              </a:ext>
            </a:extLst>
          </p:cNvPr>
          <p:cNvSpPr>
            <a:spLocks xmlns:a="http://schemas.openxmlformats.org/drawingml/2006/main" noGrp="1"/>
          </p:cNvSpPr>
          <p:nvPr/>
        </p:nvSpPr>
        <p:spPr>
          <a:xfrm xmlns:a="http://schemas.openxmlformats.org/drawingml/2006/main">
            <a:off x="685800" y="255117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9" name="Shape 14">
            <a:extLst xmlns:a="http://schemas.openxmlformats.org/drawingml/2006/main">
              <a:ext uri="{FF2B5EF4-FFF2-40B4-BE49-F238E27FC236}">
                <a16:creationId xmlns:a16="http://schemas.microsoft.com/office/drawing/2014/main" id="{CAC0FEE7-8AF4-4C05-9F54-0844F4E931DB}"/>
              </a:ext>
            </a:extLst>
          </p:cNvPr>
          <p:cNvSpPr>
            <a:spLocks xmlns:a="http://schemas.openxmlformats.org/drawingml/2006/main" noGrp="1"/>
          </p:cNvSpPr>
          <p:nvPr/>
        </p:nvSpPr>
        <p:spPr>
          <a:xfrm xmlns:a="http://schemas.openxmlformats.org/drawingml/2006/main">
            <a:off x="822960" y="255117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0" name="Text 15">
            <a:extLst xmlns:a="http://schemas.openxmlformats.org/drawingml/2006/main">
              <a:ext uri="{FF2B5EF4-FFF2-40B4-BE49-F238E27FC236}">
                <a16:creationId xmlns:a16="http://schemas.microsoft.com/office/drawing/2014/main" id="{933A330D-E1CF-4D20-BB1D-934C71C1473C}"/>
              </a:ext>
            </a:extLst>
          </p:cNvPr>
          <p:cNvSpPr>
            <a:spLocks xmlns:a="http://schemas.openxmlformats.org/drawingml/2006/main" noGrp="1"/>
          </p:cNvSpPr>
          <p:nvPr/>
        </p:nvSpPr>
        <p:spPr>
          <a:xfrm xmlns:a="http://schemas.openxmlformats.org/drawingml/2006/main">
            <a:off x="1005840" y="246888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BAD: 5 container manual via docker run - tidak scalable</a:t>
            </a:r>
            <a:endParaRPr sz="900"/>
          </a:p>
        </p:txBody>
      </p:sp>
      <p:sp>
        <p:nvSpPr>
          <p:cNvPr id="21" name="Text 16">
            <a:extLst xmlns:a="http://schemas.openxmlformats.org/drawingml/2006/main">
              <a:ext uri="{FF2B5EF4-FFF2-40B4-BE49-F238E27FC236}">
                <a16:creationId xmlns:a16="http://schemas.microsoft.com/office/drawing/2014/main" id="{D7BEFE8B-9DC6-4F7B-818C-98AC82E323B5}"/>
              </a:ext>
            </a:extLst>
          </p:cNvPr>
          <p:cNvSpPr>
            <a:spLocks xmlns:a="http://schemas.openxmlformats.org/drawingml/2006/main" noGrp="1"/>
          </p:cNvSpPr>
          <p:nvPr/>
        </p:nvSpPr>
        <p:spPr>
          <a:xfrm xmlns:a="http://schemas.openxmlformats.org/drawingml/2006/main">
            <a:off x="594360" y="2834640"/>
            <a:ext cx="10972800"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a:solidFill>
                  <a:srgbClr val="94A3B8"/>
                </a:solidFill>
                <a:latin typeface="Consolas"/>
                <a:ea typeface="Consolas"/>
                <a:cs typeface="Consolas"/>
              </a:rPr>
              <a:t># 1. Buat network manual</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network create app-net</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2. Start tiap container manual</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run -d --name db --network app-net -e POSTGRES_PASSWORD=x postgres:15</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run -d --name cache --network app-net redis:7</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run -d --name api --network app-net -e DB_HOST=db myapp/api:1.0</a:t>
            </a:r>
            <a:endParaRPr sz="1000"/>
          </a:p>
          <a:p xmlns:a="http://schemas.openxmlformats.org/drawingml/2006/main">
            <a:pPr marL="0" indent="0">
              <a:spcAft>
                <a:spcPts val="200"/>
              </a:spcAft>
              <a:buNone/>
            </a:pPr>
            <a:r>
              <a:rPr sz="1000">
                <a:solidFill>
                  <a:srgbClr val="10B981"/>
                </a:solidFill>
                <a:latin typeface="Consolas"/>
                <a:ea typeface="Consolas"/>
                <a:cs typeface="Consolas"/>
              </a:rPr>
              <a:t>$ </a:t>
            </a:r>
            <a:r>
              <a:rPr sz="1000">
                <a:solidFill>
                  <a:srgbClr val="E2E8F0"/>
                </a:solidFill>
                <a:latin typeface="Consolas"/>
                <a:ea typeface="Consolas"/>
                <a:cs typeface="Consolas"/>
              </a:rPr>
              <a:t>docker run -d --name web --network app-net -p 80:80 nginx</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EF4444"/>
                </a:solidFill>
                <a:latin typeface="Consolas"/>
                <a:ea typeface="Consolas"/>
                <a:cs typeface="Consolas"/>
              </a:rPr>
              <a:t># Problem:</a:t>
            </a:r>
            <a:endParaRPr sz="1000"/>
          </a:p>
          <a:p xmlns:a="http://schemas.openxmlformats.org/drawingml/2006/main">
            <a:pPr marL="0" indent="0">
              <a:spcAft>
                <a:spcPts val="200"/>
              </a:spcAft>
              <a:buNone/>
            </a:pPr>
            <a:r>
              <a:rPr sz="1000">
                <a:solidFill>
                  <a:srgbClr val="94A3B8"/>
                </a:solidFill>
                <a:latin typeface="Consolas"/>
                <a:ea typeface="Consolas"/>
                <a:cs typeface="Consolas"/>
              </a:rPr>
              <a:t># - Urutan start matter (db dulu sebelum api)</a:t>
            </a:r>
            <a:endParaRPr sz="1000"/>
          </a:p>
          <a:p xmlns:a="http://schemas.openxmlformats.org/drawingml/2006/main">
            <a:pPr marL="0" indent="0">
              <a:spcAft>
                <a:spcPts val="200"/>
              </a:spcAft>
              <a:buNone/>
            </a:pPr>
            <a:r>
              <a:rPr sz="1000">
                <a:solidFill>
                  <a:srgbClr val="94A3B8"/>
                </a:solidFill>
                <a:latin typeface="Consolas"/>
                <a:ea typeface="Consolas"/>
                <a:cs typeface="Consolas"/>
              </a:rPr>
              <a:t># - Tidak ada definisi terpusat - dokumentasi tersebar</a:t>
            </a:r>
            <a:endParaRPr sz="1000"/>
          </a:p>
          <a:p xmlns:a="http://schemas.openxmlformats.org/drawingml/2006/main">
            <a:pPr marL="0" indent="0">
              <a:spcAft>
                <a:spcPts val="200"/>
              </a:spcAft>
              <a:buNone/>
            </a:pPr>
            <a:r>
              <a:rPr sz="1000">
                <a:solidFill>
                  <a:srgbClr val="94A3B8"/>
                </a:solidFill>
                <a:latin typeface="Consolas"/>
                <a:ea typeface="Consolas"/>
                <a:cs typeface="Consolas"/>
              </a:rPr>
              <a:t># - Reproduce di laptop lain susah - paste 5 command panjang</a:t>
            </a:r>
            <a:endParaRPr sz="1000"/>
          </a:p>
          <a:p xmlns:a="http://schemas.openxmlformats.org/drawingml/2006/main">
            <a:pPr marL="0" indent="0">
              <a:spcAft>
                <a:spcPts val="200"/>
              </a:spcAft>
              <a:buNone/>
            </a:pPr>
            <a:r>
              <a:rPr sz="1000">
                <a:solidFill>
                  <a:srgbClr val="94A3B8"/>
                </a:solidFill>
                <a:latin typeface="Consolas"/>
                <a:ea typeface="Consolas"/>
                <a:cs typeface="Consolas"/>
              </a:rPr>
              <a:t># - Update env / volume = stop + rm + run lagi semua</a:t>
            </a:r>
            <a:endParaRPr sz="1000"/>
          </a:p>
        </p:txBody>
      </p:sp>
      <p:sp>
        <p:nvSpPr>
          <p:cNvPr id="22" name="Shape 17">
            <a:extLst xmlns:a="http://schemas.openxmlformats.org/drawingml/2006/main">
              <a:ext uri="{FF2B5EF4-FFF2-40B4-BE49-F238E27FC236}">
                <a16:creationId xmlns:a16="http://schemas.microsoft.com/office/drawing/2014/main" id="{79CB604C-A332-4ED6-8DF2-C5F76FF98DD7}"/>
              </a:ext>
            </a:extLst>
          </p:cNvPr>
          <p:cNvSpPr>
            <a:spLocks xmlns:a="http://schemas.openxmlformats.org/drawingml/2006/main" noGrp="1"/>
          </p:cNvSpPr>
          <p:nvPr/>
        </p:nvSpPr>
        <p:spPr>
          <a:xfrm xmlns:a="http://schemas.openxmlformats.org/drawingml/2006/main">
            <a:off x="457200" y="5715000"/>
            <a:ext cx="11247120" cy="5943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0" name="Image 3">
            <a:extLst xmlns:a="http://schemas.openxmlformats.org/drawingml/2006/main">
              <a:ext uri="{FF2B5EF4-FFF2-40B4-BE49-F238E27FC236}">
                <a16:creationId xmlns:a16="http://schemas.microsoft.com/office/drawing/2014/main" id="{AEA40530-ABB7-4834-BE5F-3E961555F409}"/>
              </a:ext>
            </a:extLst>
          </p:cNvPr>
          <p:cNvPicPr>
            <a:picLocks xmlns:a="http://schemas.openxmlformats.org/drawingml/2006/main" noChangeAspect="1"/>
          </p:cNvPicPr>
          <p:nvPr/>
        </p:nvPicPr>
        <p:blipFill>
          <a:blip xmlns:r="http://schemas.openxmlformats.org/officeDocument/2006/relationships" xmlns:a="http://schemas.openxmlformats.org/drawingml/2006/main" r:embed="R3d692d4e3fb345b6"/>
          <a:stretch xmlns:a="http://schemas.openxmlformats.org/drawingml/2006/main">
            <a:fillRect l="0" t="0" r="0" b="0"/>
          </a:stretch>
        </p:blipFill>
        <p:spPr>
          <a:xfrm xmlns:a="http://schemas.openxmlformats.org/drawingml/2006/main">
            <a:off x="640080" y="5852160"/>
            <a:ext cx="320040" cy="320040"/>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CFF72FD0-213D-4B3B-B232-5863C814DD61}"/>
              </a:ext>
            </a:extLst>
          </p:cNvPr>
          <p:cNvSpPr>
            <a:spLocks xmlns:a="http://schemas.openxmlformats.org/drawingml/2006/main" noGrp="1"/>
          </p:cNvSpPr>
          <p:nvPr/>
        </p:nvSpPr>
        <p:spPr>
          <a:xfrm xmlns:a="http://schemas.openxmlformats.org/drawingml/2006/main">
            <a:off x="1051560" y="5715000"/>
            <a:ext cx="105156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Solusi: Docker Compose - definisikan stack sebagai 1 file YAML, jalankan dengan 'docker compose up'.</a:t>
            </a:r>
            <a:endParaRPr sz="1200"/>
          </a:p>
        </p:txBody>
      </p:sp>
    </p:spTree>
    <p:extLst>
      <p:ext uri="{BB962C8B-B14F-4D97-AF65-F5344CB8AC3E}">
        <p14:creationId xmlns:p14="http://schemas.microsoft.com/office/powerpoint/2010/main" val="17713280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BCF032-C109-438F-A37E-A0BC87A1472B}"/>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33C79E6F-1B62-4D27-BBBC-8EAFCEB49AD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6</a:t>
            </a:r>
            <a:endParaRPr sz="900"/>
          </a:p>
        </p:txBody>
      </p:sp>
      <p:sp>
        <p:nvSpPr>
          <p:cNvPr id="4" name="Shape 2">
            <a:extLst xmlns:a="http://schemas.openxmlformats.org/drawingml/2006/main">
              <a:ext uri="{FF2B5EF4-FFF2-40B4-BE49-F238E27FC236}">
                <a16:creationId xmlns:a16="http://schemas.microsoft.com/office/drawing/2014/main" id="{B023E749-2B41-4B4C-8475-0E71EBC04D76}"/>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4" name="Image 0">
            <a:extLst xmlns:a="http://schemas.openxmlformats.org/drawingml/2006/main">
              <a:ext uri="{FF2B5EF4-FFF2-40B4-BE49-F238E27FC236}">
                <a16:creationId xmlns:a16="http://schemas.microsoft.com/office/drawing/2014/main" id="{CD41134E-BD11-4FF8-A451-50448950D4AE}"/>
              </a:ext>
            </a:extLst>
          </p:cNvPr>
          <p:cNvPicPr>
            <a:picLocks xmlns:a="http://schemas.openxmlformats.org/drawingml/2006/main" noChangeAspect="1"/>
          </p:cNvPicPr>
          <p:nvPr/>
        </p:nvPicPr>
        <p:blipFill>
          <a:blip xmlns:r="http://schemas.openxmlformats.org/officeDocument/2006/relationships" xmlns:a="http://schemas.openxmlformats.org/drawingml/2006/main" r:embed="Rb067713eb7654637"/>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5" name="Image 1">
            <a:extLst xmlns:a="http://schemas.openxmlformats.org/drawingml/2006/main">
              <a:ext uri="{FF2B5EF4-FFF2-40B4-BE49-F238E27FC236}">
                <a16:creationId xmlns:a16="http://schemas.microsoft.com/office/drawing/2014/main" id="{D27C8843-2729-497D-B25B-850FA8956CA5}"/>
              </a:ext>
            </a:extLst>
          </p:cNvPr>
          <p:cNvPicPr>
            <a:picLocks xmlns:a="http://schemas.openxmlformats.org/drawingml/2006/main" noChangeAspect="1"/>
          </p:cNvPicPr>
          <p:nvPr/>
        </p:nvPicPr>
        <p:blipFill>
          <a:blip xmlns:r="http://schemas.openxmlformats.org/officeDocument/2006/relationships" xmlns:a="http://schemas.openxmlformats.org/drawingml/2006/main" r:embed="Rb09234ac267640b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FB050CE-D35B-4252-A687-636444CF0942}"/>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3B1C1149-5F0A-4593-A0F3-F9E907DF712E}"/>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Apa itu Docker Compose?</a:t>
            </a:r>
            <a:endParaRPr sz="2200"/>
          </a:p>
        </p:txBody>
      </p:sp>
      <p:sp>
        <p:nvSpPr>
          <p:cNvPr id="9" name="Text 5">
            <a:extLst xmlns:a="http://schemas.openxmlformats.org/drawingml/2006/main">
              <a:ext uri="{FF2B5EF4-FFF2-40B4-BE49-F238E27FC236}">
                <a16:creationId xmlns:a16="http://schemas.microsoft.com/office/drawing/2014/main" id="{AFCFCC33-CCF7-4A3B-BCA3-1EF0111DF3F3}"/>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Tool untuk define + run multi-container app sebagai 1 stack</a:t>
            </a:r>
            <a:endParaRPr sz="1200"/>
          </a:p>
        </p:txBody>
      </p:sp>
      <p:sp>
        <p:nvSpPr>
          <p:cNvPr id="10" name="Shape 6">
            <a:extLst xmlns:a="http://schemas.openxmlformats.org/drawingml/2006/main">
              <a:ext uri="{FF2B5EF4-FFF2-40B4-BE49-F238E27FC236}">
                <a16:creationId xmlns:a16="http://schemas.microsoft.com/office/drawing/2014/main" id="{AAC2A8A8-8D48-445E-97E0-05E8BED64D26}"/>
              </a:ext>
            </a:extLst>
          </p:cNvPr>
          <p:cNvSpPr>
            <a:spLocks xmlns:a="http://schemas.openxmlformats.org/drawingml/2006/main" noGrp="1"/>
          </p:cNvSpPr>
          <p:nvPr/>
        </p:nvSpPr>
        <p:spPr>
          <a:xfrm xmlns:a="http://schemas.openxmlformats.org/drawingml/2006/main">
            <a:off x="457200" y="1417320"/>
            <a:ext cx="11247120" cy="11887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50" name="Image 2">
            <a:extLst xmlns:a="http://schemas.openxmlformats.org/drawingml/2006/main">
              <a:ext uri="{FF2B5EF4-FFF2-40B4-BE49-F238E27FC236}">
                <a16:creationId xmlns:a16="http://schemas.microsoft.com/office/drawing/2014/main" id="{5537E099-DF37-4EA7-9127-43C86556A23E}"/>
              </a:ext>
            </a:extLst>
          </p:cNvPr>
          <p:cNvPicPr>
            <a:picLocks xmlns:a="http://schemas.openxmlformats.org/drawingml/2006/main" noChangeAspect="1"/>
          </p:cNvPicPr>
          <p:nvPr/>
        </p:nvPicPr>
        <p:blipFill>
          <a:blip xmlns:r="http://schemas.openxmlformats.org/officeDocument/2006/relationships" xmlns:a="http://schemas.openxmlformats.org/drawingml/2006/main" r:embed="R3ebc596b8b3f4806"/>
          <a:stretch xmlns:a="http://schemas.openxmlformats.org/drawingml/2006/main">
            <a:fillRect l="0" t="0" r="0" b="0"/>
          </a:stretch>
        </p:blipFill>
        <p:spPr>
          <a:xfrm xmlns:a="http://schemas.openxmlformats.org/drawingml/2006/main">
            <a:off x="777240" y="1691640"/>
            <a:ext cx="685800" cy="6858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ACDABC4D-DC94-4C77-B9E2-0AAD23D1412E}"/>
              </a:ext>
            </a:extLst>
          </p:cNvPr>
          <p:cNvSpPr>
            <a:spLocks xmlns:a="http://schemas.openxmlformats.org/drawingml/2006/main" noGrp="1"/>
          </p:cNvSpPr>
          <p:nvPr/>
        </p:nvSpPr>
        <p:spPr>
          <a:xfrm xmlns:a="http://schemas.openxmlformats.org/drawingml/2006/main">
            <a:off x="1691640" y="1554480"/>
            <a:ext cx="9601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37021"/>
                </a:solidFill>
                <a:latin typeface="Calibri"/>
                <a:ea typeface="Calibri"/>
                <a:cs typeface="Calibri"/>
              </a:rPr>
              <a:t>Compose = orchestrator container untuk single-host development.</a:t>
            </a:r>
            <a:endParaRPr sz="1600"/>
          </a:p>
        </p:txBody>
      </p:sp>
      <p:sp>
        <p:nvSpPr>
          <p:cNvPr id="13" name="Text 8">
            <a:extLst xmlns:a="http://schemas.openxmlformats.org/drawingml/2006/main">
              <a:ext uri="{FF2B5EF4-FFF2-40B4-BE49-F238E27FC236}">
                <a16:creationId xmlns:a16="http://schemas.microsoft.com/office/drawing/2014/main" id="{A6BF88B9-7B6B-4038-848C-F78CC5E55D57}"/>
              </a:ext>
            </a:extLst>
          </p:cNvPr>
          <p:cNvSpPr>
            <a:spLocks xmlns:a="http://schemas.openxmlformats.org/drawingml/2006/main" noGrp="1"/>
          </p:cNvSpPr>
          <p:nvPr/>
        </p:nvSpPr>
        <p:spPr>
          <a:xfrm xmlns:a="http://schemas.openxmlformats.org/drawingml/2006/main">
            <a:off x="1691640" y="1965960"/>
            <a:ext cx="9601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FFFFFF"/>
                </a:solidFill>
                <a:latin typeface="Calibri"/>
                <a:ea typeface="Calibri"/>
                <a:cs typeface="Calibri"/>
              </a:rPr>
              <a:t>Definisikan stack di 'compose.yml' (YAML). Jalankan semua container + network + volume dengan 1 perintah.</a:t>
            </a:r>
            <a:endParaRPr sz="1200"/>
          </a:p>
        </p:txBody>
      </p:sp>
      <p:sp>
        <p:nvSpPr>
          <p:cNvPr id="14" name="Text 9">
            <a:extLst xmlns:a="http://schemas.openxmlformats.org/drawingml/2006/main">
              <a:ext uri="{FF2B5EF4-FFF2-40B4-BE49-F238E27FC236}">
                <a16:creationId xmlns:a16="http://schemas.microsoft.com/office/drawing/2014/main" id="{C8B05BE4-4D44-4D8E-B3BE-AF83ABF937BA}"/>
              </a:ext>
            </a:extLst>
          </p:cNvPr>
          <p:cNvSpPr>
            <a:spLocks xmlns:a="http://schemas.openxmlformats.org/drawingml/2006/main" noGrp="1"/>
          </p:cNvSpPr>
          <p:nvPr/>
        </p:nvSpPr>
        <p:spPr>
          <a:xfrm xmlns:a="http://schemas.openxmlformats.org/drawingml/2006/main">
            <a:off x="457200" y="278892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Yang di-Manage Compose Secara Otomatis</a:t>
            </a:r>
            <a:endParaRPr sz="1400"/>
          </a:p>
        </p:txBody>
      </p:sp>
      <p:sp>
        <p:nvSpPr>
          <p:cNvPr id="15" name="Shape 10">
            <a:extLst xmlns:a="http://schemas.openxmlformats.org/drawingml/2006/main">
              <a:ext uri="{FF2B5EF4-FFF2-40B4-BE49-F238E27FC236}">
                <a16:creationId xmlns:a16="http://schemas.microsoft.com/office/drawing/2014/main" id="{22136767-E51B-4ED9-AD25-BC8EE4A527E2}"/>
              </a:ext>
            </a:extLst>
          </p:cNvPr>
          <p:cNvSpPr>
            <a:spLocks xmlns:a="http://schemas.openxmlformats.org/drawingml/2006/main" noGrp="1"/>
          </p:cNvSpPr>
          <p:nvPr/>
        </p:nvSpPr>
        <p:spPr>
          <a:xfrm xmlns:a="http://schemas.openxmlformats.org/drawingml/2006/main">
            <a:off x="457200" y="3200400"/>
            <a:ext cx="2743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55" name="Image 3">
            <a:extLst xmlns:a="http://schemas.openxmlformats.org/drawingml/2006/main">
              <a:ext uri="{FF2B5EF4-FFF2-40B4-BE49-F238E27FC236}">
                <a16:creationId xmlns:a16="http://schemas.microsoft.com/office/drawing/2014/main" id="{F4728C64-7CB0-4CC6-B7EC-81C5E33E51B5}"/>
              </a:ext>
            </a:extLst>
          </p:cNvPr>
          <p:cNvPicPr>
            <a:picLocks xmlns:a="http://schemas.openxmlformats.org/drawingml/2006/main" noChangeAspect="1"/>
          </p:cNvPicPr>
          <p:nvPr/>
        </p:nvPicPr>
        <p:blipFill>
          <a:blip xmlns:r="http://schemas.openxmlformats.org/officeDocument/2006/relationships" xmlns:a="http://schemas.openxmlformats.org/drawingml/2006/main" r:embed="R38fd13c7983f4fa4"/>
          <a:stretch xmlns:a="http://schemas.openxmlformats.org/drawingml/2006/main">
            <a:fillRect l="0" t="0" r="0" b="0"/>
          </a:stretch>
        </p:blipFill>
        <p:spPr>
          <a:xfrm xmlns:a="http://schemas.openxmlformats.org/drawingml/2006/main">
            <a:off x="594360" y="3383280"/>
            <a:ext cx="457200" cy="457200"/>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AA9D05E2-6F4B-4A6C-8D7E-F18B00A28547}"/>
              </a:ext>
            </a:extLst>
          </p:cNvPr>
          <p:cNvSpPr>
            <a:spLocks xmlns:a="http://schemas.openxmlformats.org/drawingml/2006/main" noGrp="1"/>
          </p:cNvSpPr>
          <p:nvPr/>
        </p:nvSpPr>
        <p:spPr>
          <a:xfrm xmlns:a="http://schemas.openxmlformats.org/drawingml/2006/main">
            <a:off x="114300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Container Lifecycle</a:t>
            </a:r>
            <a:endParaRPr sz="1200"/>
          </a:p>
        </p:txBody>
      </p:sp>
      <p:sp>
        <p:nvSpPr>
          <p:cNvPr id="18" name="Text 12">
            <a:extLst xmlns:a="http://schemas.openxmlformats.org/drawingml/2006/main">
              <a:ext uri="{FF2B5EF4-FFF2-40B4-BE49-F238E27FC236}">
                <a16:creationId xmlns:a16="http://schemas.microsoft.com/office/drawing/2014/main" id="{03677486-4D23-4AD0-86DE-6D8DC15F2AD2}"/>
              </a:ext>
            </a:extLst>
          </p:cNvPr>
          <p:cNvSpPr>
            <a:spLocks xmlns:a="http://schemas.openxmlformats.org/drawingml/2006/main" noGrp="1"/>
          </p:cNvSpPr>
          <p:nvPr/>
        </p:nvSpPr>
        <p:spPr>
          <a:xfrm xmlns:a="http://schemas.openxmlformats.org/drawingml/2006/main">
            <a:off x="594360" y="3931920"/>
            <a:ext cx="24688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Compose mengatur urutan startup. service_healthy menunggu healthcheck.</a:t>
            </a:r>
            <a:endParaRPr sz="1050"/>
          </a:p>
        </p:txBody>
      </p:sp>
      <p:sp>
        <p:nvSpPr>
          <p:cNvPr id="19" name="Shape 13">
            <a:extLst xmlns:a="http://schemas.openxmlformats.org/drawingml/2006/main">
              <a:ext uri="{FF2B5EF4-FFF2-40B4-BE49-F238E27FC236}">
                <a16:creationId xmlns:a16="http://schemas.microsoft.com/office/drawing/2014/main" id="{07ABDD64-4354-4A0F-86F2-E6FF81FDD225}"/>
              </a:ext>
            </a:extLst>
          </p:cNvPr>
          <p:cNvSpPr>
            <a:spLocks xmlns:a="http://schemas.openxmlformats.org/drawingml/2006/main" noGrp="1"/>
          </p:cNvSpPr>
          <p:nvPr/>
        </p:nvSpPr>
        <p:spPr>
          <a:xfrm xmlns:a="http://schemas.openxmlformats.org/drawingml/2006/main">
            <a:off x="3337560" y="3200400"/>
            <a:ext cx="2743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59" name="Image 4">
            <a:extLst xmlns:a="http://schemas.openxmlformats.org/drawingml/2006/main">
              <a:ext uri="{FF2B5EF4-FFF2-40B4-BE49-F238E27FC236}">
                <a16:creationId xmlns:a16="http://schemas.microsoft.com/office/drawing/2014/main" id="{26C8EF1A-2EA4-485F-A4AF-AB06C42DCB71}"/>
              </a:ext>
            </a:extLst>
          </p:cNvPr>
          <p:cNvPicPr>
            <a:picLocks xmlns:a="http://schemas.openxmlformats.org/drawingml/2006/main" noChangeAspect="1"/>
          </p:cNvPicPr>
          <p:nvPr/>
        </p:nvPicPr>
        <p:blipFill>
          <a:blip xmlns:r="http://schemas.openxmlformats.org/officeDocument/2006/relationships" xmlns:a="http://schemas.openxmlformats.org/drawingml/2006/main" r:embed="R1fe609d5a981438f"/>
          <a:stretch xmlns:a="http://schemas.openxmlformats.org/drawingml/2006/main">
            <a:fillRect l="0" t="0" r="0" b="0"/>
          </a:stretch>
        </p:blipFill>
        <p:spPr>
          <a:xfrm xmlns:a="http://schemas.openxmlformats.org/drawingml/2006/main">
            <a:off x="3474720" y="3383280"/>
            <a:ext cx="457200" cy="457200"/>
          </a:xfrm>
          <a:prstGeom xmlns:a="http://schemas.openxmlformats.org/drawingml/2006/main" prst="rect">
            <a:avLst/>
          </a:prstGeom>
        </p:spPr>
      </p:pic>
      <p:sp>
        <p:nvSpPr>
          <p:cNvPr id="21" name="Text 14">
            <a:extLst xmlns:a="http://schemas.openxmlformats.org/drawingml/2006/main">
              <a:ext uri="{FF2B5EF4-FFF2-40B4-BE49-F238E27FC236}">
                <a16:creationId xmlns:a16="http://schemas.microsoft.com/office/drawing/2014/main" id="{EA8F9E72-06E1-477A-8761-8C7B0D5D749D}"/>
              </a:ext>
            </a:extLst>
          </p:cNvPr>
          <p:cNvSpPr>
            <a:spLocks xmlns:a="http://schemas.openxmlformats.org/drawingml/2006/main" noGrp="1"/>
          </p:cNvSpPr>
          <p:nvPr/>
        </p:nvSpPr>
        <p:spPr>
          <a:xfrm xmlns:a="http://schemas.openxmlformats.org/drawingml/2006/main">
            <a:off x="402336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Network Otomatis</a:t>
            </a:r>
            <a:endParaRPr sz="1200"/>
          </a:p>
        </p:txBody>
      </p:sp>
      <p:sp>
        <p:nvSpPr>
          <p:cNvPr id="22" name="Text 15">
            <a:extLst xmlns:a="http://schemas.openxmlformats.org/drawingml/2006/main">
              <a:ext uri="{FF2B5EF4-FFF2-40B4-BE49-F238E27FC236}">
                <a16:creationId xmlns:a16="http://schemas.microsoft.com/office/drawing/2014/main" id="{1B6B2903-60B6-46D5-8C2C-2653F8F6A29C}"/>
              </a:ext>
            </a:extLst>
          </p:cNvPr>
          <p:cNvSpPr>
            <a:spLocks xmlns:a="http://schemas.openxmlformats.org/drawingml/2006/main" noGrp="1"/>
          </p:cNvSpPr>
          <p:nvPr/>
        </p:nvSpPr>
        <p:spPr>
          <a:xfrm xmlns:a="http://schemas.openxmlformats.org/drawingml/2006/main">
            <a:off x="3474720" y="3931920"/>
            <a:ext cx="24688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Bikin custom network, service bisa saling kontak lewat DNS service name.</a:t>
            </a:r>
            <a:endParaRPr sz="1050"/>
          </a:p>
        </p:txBody>
      </p:sp>
      <p:sp>
        <p:nvSpPr>
          <p:cNvPr id="23" name="Shape 16">
            <a:extLst xmlns:a="http://schemas.openxmlformats.org/drawingml/2006/main">
              <a:ext uri="{FF2B5EF4-FFF2-40B4-BE49-F238E27FC236}">
                <a16:creationId xmlns:a16="http://schemas.microsoft.com/office/drawing/2014/main" id="{12FCE246-2704-4B52-8489-E9B7694E13CF}"/>
              </a:ext>
            </a:extLst>
          </p:cNvPr>
          <p:cNvSpPr>
            <a:spLocks xmlns:a="http://schemas.openxmlformats.org/drawingml/2006/main" noGrp="1"/>
          </p:cNvSpPr>
          <p:nvPr/>
        </p:nvSpPr>
        <p:spPr>
          <a:xfrm xmlns:a="http://schemas.openxmlformats.org/drawingml/2006/main">
            <a:off x="6217920" y="3200400"/>
            <a:ext cx="2743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63" name="Image 5">
            <a:extLst xmlns:a="http://schemas.openxmlformats.org/drawingml/2006/main">
              <a:ext uri="{FF2B5EF4-FFF2-40B4-BE49-F238E27FC236}">
                <a16:creationId xmlns:a16="http://schemas.microsoft.com/office/drawing/2014/main" id="{11451180-8D7C-472D-A409-8B904DE74AD5}"/>
              </a:ext>
            </a:extLst>
          </p:cNvPr>
          <p:cNvPicPr>
            <a:picLocks xmlns:a="http://schemas.openxmlformats.org/drawingml/2006/main" noChangeAspect="1"/>
          </p:cNvPicPr>
          <p:nvPr/>
        </p:nvPicPr>
        <p:blipFill>
          <a:blip xmlns:r="http://schemas.openxmlformats.org/officeDocument/2006/relationships" xmlns:a="http://schemas.openxmlformats.org/drawingml/2006/main" r:embed="R0db60af22793403a"/>
          <a:stretch xmlns:a="http://schemas.openxmlformats.org/drawingml/2006/main">
            <a:fillRect l="0" t="0" r="0" b="0"/>
          </a:stretch>
        </p:blipFill>
        <p:spPr>
          <a:xfrm xmlns:a="http://schemas.openxmlformats.org/drawingml/2006/main">
            <a:off x="6355080" y="3383280"/>
            <a:ext cx="457200" cy="457200"/>
          </a:xfrm>
          <a:prstGeom xmlns:a="http://schemas.openxmlformats.org/drawingml/2006/main" prst="rect">
            <a:avLst/>
          </a:prstGeom>
        </p:spPr>
      </p:pic>
      <p:sp>
        <p:nvSpPr>
          <p:cNvPr id="25" name="Text 17">
            <a:extLst xmlns:a="http://schemas.openxmlformats.org/drawingml/2006/main">
              <a:ext uri="{FF2B5EF4-FFF2-40B4-BE49-F238E27FC236}">
                <a16:creationId xmlns:a16="http://schemas.microsoft.com/office/drawing/2014/main" id="{74658C18-B310-4381-AF55-83BF00B14818}"/>
              </a:ext>
            </a:extLst>
          </p:cNvPr>
          <p:cNvSpPr>
            <a:spLocks xmlns:a="http://schemas.openxmlformats.org/drawingml/2006/main" noGrp="1"/>
          </p:cNvSpPr>
          <p:nvPr/>
        </p:nvSpPr>
        <p:spPr>
          <a:xfrm xmlns:a="http://schemas.openxmlformats.org/drawingml/2006/main">
            <a:off x="690372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Persistent Volume</a:t>
            </a:r>
            <a:endParaRPr sz="1200"/>
          </a:p>
        </p:txBody>
      </p:sp>
      <p:sp>
        <p:nvSpPr>
          <p:cNvPr id="26" name="Text 18">
            <a:extLst xmlns:a="http://schemas.openxmlformats.org/drawingml/2006/main">
              <a:ext uri="{FF2B5EF4-FFF2-40B4-BE49-F238E27FC236}">
                <a16:creationId xmlns:a16="http://schemas.microsoft.com/office/drawing/2014/main" id="{C36C1115-CA27-4186-A3C3-852B4015BF10}"/>
              </a:ext>
            </a:extLst>
          </p:cNvPr>
          <p:cNvSpPr>
            <a:spLocks xmlns:a="http://schemas.openxmlformats.org/drawingml/2006/main" noGrp="1"/>
          </p:cNvSpPr>
          <p:nvPr/>
        </p:nvSpPr>
        <p:spPr>
          <a:xfrm xmlns:a="http://schemas.openxmlformats.org/drawingml/2006/main">
            <a:off x="6355080" y="3931920"/>
            <a:ext cx="24688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Definisi volume di file - data tetap ada walau container di-recreate.</a:t>
            </a:r>
            <a:endParaRPr sz="1050"/>
          </a:p>
        </p:txBody>
      </p:sp>
      <p:sp>
        <p:nvSpPr>
          <p:cNvPr id="27" name="Shape 19">
            <a:extLst xmlns:a="http://schemas.openxmlformats.org/drawingml/2006/main">
              <a:ext uri="{FF2B5EF4-FFF2-40B4-BE49-F238E27FC236}">
                <a16:creationId xmlns:a16="http://schemas.microsoft.com/office/drawing/2014/main" id="{5A8F6423-21EA-4518-A1B1-90FC6B184B2C}"/>
              </a:ext>
            </a:extLst>
          </p:cNvPr>
          <p:cNvSpPr>
            <a:spLocks xmlns:a="http://schemas.openxmlformats.org/drawingml/2006/main" noGrp="1"/>
          </p:cNvSpPr>
          <p:nvPr/>
        </p:nvSpPr>
        <p:spPr>
          <a:xfrm xmlns:a="http://schemas.openxmlformats.org/drawingml/2006/main">
            <a:off x="9098280" y="3200400"/>
            <a:ext cx="2743200" cy="15544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67" name="Image 6">
            <a:extLst xmlns:a="http://schemas.openxmlformats.org/drawingml/2006/main">
              <a:ext uri="{FF2B5EF4-FFF2-40B4-BE49-F238E27FC236}">
                <a16:creationId xmlns:a16="http://schemas.microsoft.com/office/drawing/2014/main" id="{43F1FD8D-177B-403F-A75D-6767E073050F}"/>
              </a:ext>
            </a:extLst>
          </p:cNvPr>
          <p:cNvPicPr>
            <a:picLocks xmlns:a="http://schemas.openxmlformats.org/drawingml/2006/main" noChangeAspect="1"/>
          </p:cNvPicPr>
          <p:nvPr/>
        </p:nvPicPr>
        <p:blipFill>
          <a:blip xmlns:r="http://schemas.openxmlformats.org/officeDocument/2006/relationships" xmlns:a="http://schemas.openxmlformats.org/drawingml/2006/main" r:embed="R2516a6f198be4395"/>
          <a:stretch xmlns:a="http://schemas.openxmlformats.org/drawingml/2006/main">
            <a:fillRect l="0" t="0" r="0" b="0"/>
          </a:stretch>
        </p:blipFill>
        <p:spPr>
          <a:xfrm xmlns:a="http://schemas.openxmlformats.org/drawingml/2006/main">
            <a:off x="9235440" y="3383280"/>
            <a:ext cx="457200" cy="457200"/>
          </a:xfrm>
          <a:prstGeom xmlns:a="http://schemas.openxmlformats.org/drawingml/2006/main" prst="rect">
            <a:avLst/>
          </a:prstGeom>
        </p:spPr>
      </p:pic>
      <p:sp>
        <p:nvSpPr>
          <p:cNvPr id="29" name="Text 20">
            <a:extLst xmlns:a="http://schemas.openxmlformats.org/drawingml/2006/main">
              <a:ext uri="{FF2B5EF4-FFF2-40B4-BE49-F238E27FC236}">
                <a16:creationId xmlns:a16="http://schemas.microsoft.com/office/drawing/2014/main" id="{FA7018AD-BF4E-4E86-AF98-3E2AF51028EE}"/>
              </a:ext>
            </a:extLst>
          </p:cNvPr>
          <p:cNvSpPr>
            <a:spLocks xmlns:a="http://schemas.openxmlformats.org/drawingml/2006/main" noGrp="1"/>
          </p:cNvSpPr>
          <p:nvPr/>
        </p:nvSpPr>
        <p:spPr>
          <a:xfrm xmlns:a="http://schemas.openxmlformats.org/drawingml/2006/main">
            <a:off x="9784080" y="3337560"/>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677"/>
                </a:solidFill>
                <a:latin typeface="Calibri"/>
                <a:ea typeface="Calibri"/>
                <a:cs typeface="Calibri"/>
              </a:rPr>
              <a:t>Environment Config</a:t>
            </a:r>
            <a:endParaRPr sz="1200"/>
          </a:p>
        </p:txBody>
      </p:sp>
      <p:sp>
        <p:nvSpPr>
          <p:cNvPr id="30" name="Text 21">
            <a:extLst xmlns:a="http://schemas.openxmlformats.org/drawingml/2006/main">
              <a:ext uri="{FF2B5EF4-FFF2-40B4-BE49-F238E27FC236}">
                <a16:creationId xmlns:a16="http://schemas.microsoft.com/office/drawing/2014/main" id="{5E8DCDCE-016E-49D8-8764-28C4D8B2584F}"/>
              </a:ext>
            </a:extLst>
          </p:cNvPr>
          <p:cNvSpPr>
            <a:spLocks xmlns:a="http://schemas.openxmlformats.org/drawingml/2006/main" noGrp="1"/>
          </p:cNvSpPr>
          <p:nvPr/>
        </p:nvSpPr>
        <p:spPr>
          <a:xfrm xmlns:a="http://schemas.openxmlformats.org/drawingml/2006/main">
            <a:off x="9235440" y="3931920"/>
            <a:ext cx="246888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Set env variable per service - bisa pakai .env file untuk centralization.</a:t>
            </a:r>
            <a:endParaRPr sz="1050"/>
          </a:p>
        </p:txBody>
      </p:sp>
      <p:sp>
        <p:nvSpPr>
          <p:cNvPr id="31" name="Shape 22">
            <a:extLst xmlns:a="http://schemas.openxmlformats.org/drawingml/2006/main">
              <a:ext uri="{FF2B5EF4-FFF2-40B4-BE49-F238E27FC236}">
                <a16:creationId xmlns:a16="http://schemas.microsoft.com/office/drawing/2014/main" id="{44188FFD-A8EE-47B8-A1AB-DA22420311C5}"/>
              </a:ext>
            </a:extLst>
          </p:cNvPr>
          <p:cNvSpPr>
            <a:spLocks xmlns:a="http://schemas.openxmlformats.org/drawingml/2006/main" noGrp="1"/>
          </p:cNvSpPr>
          <p:nvPr/>
        </p:nvSpPr>
        <p:spPr>
          <a:xfrm xmlns:a="http://schemas.openxmlformats.org/drawingml/2006/main">
            <a:off x="457200" y="4937760"/>
            <a:ext cx="11247120" cy="1325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2" name="Text 23">
            <a:extLst xmlns:a="http://schemas.openxmlformats.org/drawingml/2006/main">
              <a:ext uri="{FF2B5EF4-FFF2-40B4-BE49-F238E27FC236}">
                <a16:creationId xmlns:a16="http://schemas.microsoft.com/office/drawing/2014/main" id="{AB9AE060-A44A-4832-966F-30FC32098B73}"/>
              </a:ext>
            </a:extLst>
          </p:cNvPr>
          <p:cNvSpPr>
            <a:spLocks xmlns:a="http://schemas.openxmlformats.org/drawingml/2006/main" noGrp="1"/>
          </p:cNvSpPr>
          <p:nvPr/>
        </p:nvSpPr>
        <p:spPr>
          <a:xfrm xmlns:a="http://schemas.openxmlformats.org/drawingml/2006/main">
            <a:off x="640080" y="5029200"/>
            <a:ext cx="10972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002677"/>
                </a:solidFill>
                <a:latin typeface="Calibri"/>
                <a:ea typeface="Calibri"/>
                <a:cs typeface="Calibri"/>
              </a:rPr>
              <a:t>Compose v1 (python) vs v2 (Go plugin)</a:t>
            </a:r>
            <a:endParaRPr sz="1300"/>
          </a:p>
        </p:txBody>
      </p:sp>
      <p:sp>
        <p:nvSpPr>
          <p:cNvPr id="33" name="Text 24">
            <a:extLst xmlns:a="http://schemas.openxmlformats.org/drawingml/2006/main">
              <a:ext uri="{FF2B5EF4-FFF2-40B4-BE49-F238E27FC236}">
                <a16:creationId xmlns:a16="http://schemas.microsoft.com/office/drawing/2014/main" id="{480AF611-B11F-430B-81E0-404FD5674455}"/>
              </a:ext>
            </a:extLst>
          </p:cNvPr>
          <p:cNvSpPr>
            <a:spLocks xmlns:a="http://schemas.openxmlformats.org/drawingml/2006/main" noGrp="1"/>
          </p:cNvSpPr>
          <p:nvPr/>
        </p:nvSpPr>
        <p:spPr>
          <a:xfrm xmlns:a="http://schemas.openxmlformats.org/drawingml/2006/main">
            <a:off x="640080" y="5394960"/>
            <a:ext cx="109728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b="1">
                <a:solidFill>
                  <a:srgbClr val="DC2626"/>
                </a:solidFill>
                <a:latin typeface="Calibri"/>
                <a:ea typeface="Calibri"/>
                <a:cs typeface="Calibri"/>
              </a:rPr>
              <a:t>v1 (legacy): </a:t>
            </a:r>
            <a:r>
              <a:rPr sz="1100">
                <a:solidFill>
                  <a:srgbClr val="1E293B"/>
                </a:solidFill>
                <a:latin typeface="Calibri"/>
                <a:ea typeface="Calibri"/>
                <a:cs typeface="Calibri"/>
              </a:rPr>
              <a:t>perintah </a:t>
            </a:r>
            <a:r>
              <a:rPr sz="1100" b="1">
                <a:solidFill>
                  <a:srgbClr val="DC2626"/>
                </a:solidFill>
                <a:latin typeface="Consolas"/>
                <a:ea typeface="Consolas"/>
                <a:cs typeface="Consolas"/>
              </a:rPr>
              <a:t>docker-compose </a:t>
            </a:r>
            <a:r>
              <a:rPr sz="1100">
                <a:solidFill>
                  <a:srgbClr val="1E293B"/>
                </a:solidFill>
                <a:latin typeface="Calibri"/>
                <a:ea typeface="Calibri"/>
                <a:cs typeface="Calibri"/>
              </a:rPr>
              <a:t>(pakai dash, sudah deprecated 2023).</a:t>
            </a:r>
            <a:endParaRPr sz="1100"/>
          </a:p>
          <a:p xmlns:a="http://schemas.openxmlformats.org/drawingml/2006/main">
            <a:pPr marL="0" indent="0">
              <a:spcAft>
                <a:spcPts val="300"/>
              </a:spcAft>
              <a:buNone/>
            </a:pPr>
            <a:r>
              <a:rPr sz="1100" b="1">
                <a:solidFill>
                  <a:srgbClr val="059669"/>
                </a:solidFill>
                <a:latin typeface="Calibri"/>
                <a:ea typeface="Calibri"/>
                <a:cs typeface="Calibri"/>
              </a:rPr>
              <a:t>v2 (modern): </a:t>
            </a:r>
            <a:r>
              <a:rPr sz="1100">
                <a:solidFill>
                  <a:srgbClr val="1E293B"/>
                </a:solidFill>
                <a:latin typeface="Calibri"/>
                <a:ea typeface="Calibri"/>
                <a:cs typeface="Calibri"/>
              </a:rPr>
              <a:t>perintah </a:t>
            </a:r>
            <a:r>
              <a:rPr sz="1100" b="1">
                <a:solidFill>
                  <a:srgbClr val="059669"/>
                </a:solidFill>
                <a:latin typeface="Consolas"/>
                <a:ea typeface="Consolas"/>
                <a:cs typeface="Consolas"/>
              </a:rPr>
              <a:t>docker compose </a:t>
            </a:r>
            <a:r>
              <a:rPr sz="1100">
                <a:solidFill>
                  <a:srgbClr val="1E293B"/>
                </a:solidFill>
                <a:latin typeface="Calibri"/>
                <a:ea typeface="Calibri"/>
                <a:cs typeface="Calibri"/>
              </a:rPr>
              <a:t>(pakai spasi, built-in plugin di Docker Desktop &amp; Engine). Pakai v2!</a:t>
            </a:r>
            <a:endParaRPr sz="1100"/>
          </a:p>
        </p:txBody>
      </p:sp>
    </p:spTree>
    <p:extLst>
      <p:ext uri="{BB962C8B-B14F-4D97-AF65-F5344CB8AC3E}">
        <p14:creationId xmlns:p14="http://schemas.microsoft.com/office/powerpoint/2010/main" val="5707531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94A1E98-CD61-4040-B126-910B6803339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8CBFEC91-8631-4BFC-8E9A-030274318F2A}"/>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7</a:t>
            </a:r>
            <a:endParaRPr sz="900"/>
          </a:p>
        </p:txBody>
      </p:sp>
      <p:sp>
        <p:nvSpPr>
          <p:cNvPr id="4" name="Shape 2">
            <a:extLst xmlns:a="http://schemas.openxmlformats.org/drawingml/2006/main">
              <a:ext uri="{FF2B5EF4-FFF2-40B4-BE49-F238E27FC236}">
                <a16:creationId xmlns:a16="http://schemas.microsoft.com/office/drawing/2014/main" id="{4C9D1167-4C7F-4DE2-804A-C6CCF6A7EF9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4" name="Image 0">
            <a:extLst xmlns:a="http://schemas.openxmlformats.org/drawingml/2006/main">
              <a:ext uri="{FF2B5EF4-FFF2-40B4-BE49-F238E27FC236}">
                <a16:creationId xmlns:a16="http://schemas.microsoft.com/office/drawing/2014/main" id="{7BC7F778-6AD6-4469-A39B-520BAFC86B62}"/>
              </a:ext>
            </a:extLst>
          </p:cNvPr>
          <p:cNvPicPr>
            <a:picLocks xmlns:a="http://schemas.openxmlformats.org/drawingml/2006/main" noChangeAspect="1"/>
          </p:cNvPicPr>
          <p:nvPr/>
        </p:nvPicPr>
        <p:blipFill>
          <a:blip xmlns:r="http://schemas.openxmlformats.org/officeDocument/2006/relationships" xmlns:a="http://schemas.openxmlformats.org/drawingml/2006/main" r:embed="R004ce4213c4446de"/>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5" name="Image 1">
            <a:extLst xmlns:a="http://schemas.openxmlformats.org/drawingml/2006/main">
              <a:ext uri="{FF2B5EF4-FFF2-40B4-BE49-F238E27FC236}">
                <a16:creationId xmlns:a16="http://schemas.microsoft.com/office/drawing/2014/main" id="{89958CED-C960-48B2-9CB4-28A63450923E}"/>
              </a:ext>
            </a:extLst>
          </p:cNvPr>
          <p:cNvPicPr>
            <a:picLocks xmlns:a="http://schemas.openxmlformats.org/drawingml/2006/main" noChangeAspect="1"/>
          </p:cNvPicPr>
          <p:nvPr/>
        </p:nvPicPr>
        <p:blipFill>
          <a:blip xmlns:r="http://schemas.openxmlformats.org/officeDocument/2006/relationships" xmlns:a="http://schemas.openxmlformats.org/drawingml/2006/main" r:embed="Rc28951b2243c4c6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43C8C633-DE7E-4182-8A95-D94899111C4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CF61B2E8-E549-471A-91D5-AD8A877ADE92}"/>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compose.yml Anatomy</a:t>
            </a:r>
            <a:endParaRPr sz="2200"/>
          </a:p>
        </p:txBody>
      </p:sp>
      <p:sp>
        <p:nvSpPr>
          <p:cNvPr id="9" name="Text 5">
            <a:extLst xmlns:a="http://schemas.openxmlformats.org/drawingml/2006/main">
              <a:ext uri="{FF2B5EF4-FFF2-40B4-BE49-F238E27FC236}">
                <a16:creationId xmlns:a16="http://schemas.microsoft.com/office/drawing/2014/main" id="{DF4F9D15-9EBF-41FD-9F28-2E126A791797}"/>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5 top-level keys yang akan paling sering Anda pakai</a:t>
            </a:r>
            <a:endParaRPr sz="1200"/>
          </a:p>
        </p:txBody>
      </p:sp>
      <p:sp>
        <p:nvSpPr>
          <p:cNvPr id="10" name="Shape 6">
            <a:extLst xmlns:a="http://schemas.openxmlformats.org/drawingml/2006/main">
              <a:ext uri="{FF2B5EF4-FFF2-40B4-BE49-F238E27FC236}">
                <a16:creationId xmlns:a16="http://schemas.microsoft.com/office/drawing/2014/main" id="{18AA5BD2-B4C0-4DB8-B58C-A6CDBE731C56}"/>
              </a:ext>
            </a:extLst>
          </p:cNvPr>
          <p:cNvSpPr>
            <a:spLocks xmlns:a="http://schemas.openxmlformats.org/drawingml/2006/main" noGrp="1"/>
          </p:cNvSpPr>
          <p:nvPr/>
        </p:nvSpPr>
        <p:spPr>
          <a:xfrm xmlns:a="http://schemas.openxmlformats.org/drawingml/2006/main">
            <a:off x="457200" y="1417320"/>
            <a:ext cx="45720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00157D2D-BBF4-44D3-AE2E-37E0CA72DE33}"/>
              </a:ext>
            </a:extLst>
          </p:cNvPr>
          <p:cNvSpPr>
            <a:spLocks xmlns:a="http://schemas.openxmlformats.org/drawingml/2006/main" noGrp="1"/>
          </p:cNvSpPr>
          <p:nvPr/>
        </p:nvSpPr>
        <p:spPr>
          <a:xfrm xmlns:a="http://schemas.openxmlformats.org/drawingml/2006/main">
            <a:off x="640080" y="1554480"/>
            <a:ext cx="42062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Top-Level Keys</a:t>
            </a:r>
            <a:endParaRPr sz="1400"/>
          </a:p>
        </p:txBody>
      </p:sp>
      <p:sp>
        <p:nvSpPr>
          <p:cNvPr id="12" name="Shape 8">
            <a:extLst xmlns:a="http://schemas.openxmlformats.org/drawingml/2006/main">
              <a:ext uri="{FF2B5EF4-FFF2-40B4-BE49-F238E27FC236}">
                <a16:creationId xmlns:a16="http://schemas.microsoft.com/office/drawing/2014/main" id="{36463D5E-E87E-4C1A-B2EF-C6F4AAA8B3AA}"/>
              </a:ext>
            </a:extLst>
          </p:cNvPr>
          <p:cNvSpPr>
            <a:spLocks xmlns:a="http://schemas.openxmlformats.org/drawingml/2006/main" noGrp="1"/>
          </p:cNvSpPr>
          <p:nvPr/>
        </p:nvSpPr>
        <p:spPr>
          <a:xfrm xmlns:a="http://schemas.openxmlformats.org/drawingml/2006/main">
            <a:off x="640080" y="2011680"/>
            <a:ext cx="42062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3" name="Shape 9">
            <a:extLst xmlns:a="http://schemas.openxmlformats.org/drawingml/2006/main">
              <a:ext uri="{FF2B5EF4-FFF2-40B4-BE49-F238E27FC236}">
                <a16:creationId xmlns:a16="http://schemas.microsoft.com/office/drawing/2014/main" id="{7BA973F4-273F-4F2E-A57F-8B0660F2B15E}"/>
              </a:ext>
            </a:extLst>
          </p:cNvPr>
          <p:cNvSpPr>
            <a:spLocks xmlns:a="http://schemas.openxmlformats.org/drawingml/2006/main" noGrp="1"/>
          </p:cNvSpPr>
          <p:nvPr/>
        </p:nvSpPr>
        <p:spPr>
          <a:xfrm xmlns:a="http://schemas.openxmlformats.org/drawingml/2006/main">
            <a:off x="640080" y="2011680"/>
            <a:ext cx="137160" cy="68580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A25D640C-D1A2-4EBD-A0FC-C08CE843EE92}"/>
              </a:ext>
            </a:extLst>
          </p:cNvPr>
          <p:cNvSpPr>
            <a:spLocks xmlns:a="http://schemas.openxmlformats.org/drawingml/2006/main" noGrp="1"/>
          </p:cNvSpPr>
          <p:nvPr/>
        </p:nvSpPr>
        <p:spPr>
          <a:xfrm xmlns:a="http://schemas.openxmlformats.org/drawingml/2006/main">
            <a:off x="914400" y="205740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services:</a:t>
            </a:r>
            <a:endParaRPr sz="1300"/>
          </a:p>
        </p:txBody>
      </p:sp>
      <p:sp>
        <p:nvSpPr>
          <p:cNvPr id="15" name="Text 11">
            <a:extLst xmlns:a="http://schemas.openxmlformats.org/drawingml/2006/main">
              <a:ext uri="{FF2B5EF4-FFF2-40B4-BE49-F238E27FC236}">
                <a16:creationId xmlns:a16="http://schemas.microsoft.com/office/drawing/2014/main" id="{EDB0E40A-8FC7-40C1-B454-CF9A5EBAAA17}"/>
              </a:ext>
            </a:extLst>
          </p:cNvPr>
          <p:cNvSpPr>
            <a:spLocks xmlns:a="http://schemas.openxmlformats.org/drawingml/2006/main" noGrp="1"/>
          </p:cNvSpPr>
          <p:nvPr/>
        </p:nvSpPr>
        <p:spPr>
          <a:xfrm xmlns:a="http://schemas.openxmlformats.org/drawingml/2006/main">
            <a:off x="914400" y="2377440"/>
            <a:ext cx="3840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Daftar container yang akan dijalankan (REQUIRED)</a:t>
            </a:r>
            <a:endParaRPr sz="1000"/>
          </a:p>
        </p:txBody>
      </p:sp>
      <p:sp>
        <p:nvSpPr>
          <p:cNvPr id="16" name="Shape 12">
            <a:extLst xmlns:a="http://schemas.openxmlformats.org/drawingml/2006/main">
              <a:ext uri="{FF2B5EF4-FFF2-40B4-BE49-F238E27FC236}">
                <a16:creationId xmlns:a16="http://schemas.microsoft.com/office/drawing/2014/main" id="{A978179E-F2FE-48B0-98F3-4888FF672A12}"/>
              </a:ext>
            </a:extLst>
          </p:cNvPr>
          <p:cNvSpPr>
            <a:spLocks xmlns:a="http://schemas.openxmlformats.org/drawingml/2006/main" noGrp="1"/>
          </p:cNvSpPr>
          <p:nvPr/>
        </p:nvSpPr>
        <p:spPr>
          <a:xfrm xmlns:a="http://schemas.openxmlformats.org/drawingml/2006/main">
            <a:off x="640080" y="2788920"/>
            <a:ext cx="42062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7" name="Shape 13">
            <a:extLst xmlns:a="http://schemas.openxmlformats.org/drawingml/2006/main">
              <a:ext uri="{FF2B5EF4-FFF2-40B4-BE49-F238E27FC236}">
                <a16:creationId xmlns:a16="http://schemas.microsoft.com/office/drawing/2014/main" id="{FDA59684-20C7-4B0D-A620-06C5C36A1E15}"/>
              </a:ext>
            </a:extLst>
          </p:cNvPr>
          <p:cNvSpPr>
            <a:spLocks xmlns:a="http://schemas.openxmlformats.org/drawingml/2006/main" noGrp="1"/>
          </p:cNvSpPr>
          <p:nvPr/>
        </p:nvSpPr>
        <p:spPr>
          <a:xfrm xmlns:a="http://schemas.openxmlformats.org/drawingml/2006/main">
            <a:off x="640080" y="2788920"/>
            <a:ext cx="137160" cy="68580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18" name="Text 14">
            <a:extLst xmlns:a="http://schemas.openxmlformats.org/drawingml/2006/main">
              <a:ext uri="{FF2B5EF4-FFF2-40B4-BE49-F238E27FC236}">
                <a16:creationId xmlns:a16="http://schemas.microsoft.com/office/drawing/2014/main" id="{59605F53-DF35-4A21-B3EC-214A693A57A2}"/>
              </a:ext>
            </a:extLst>
          </p:cNvPr>
          <p:cNvSpPr>
            <a:spLocks xmlns:a="http://schemas.openxmlformats.org/drawingml/2006/main" noGrp="1"/>
          </p:cNvSpPr>
          <p:nvPr/>
        </p:nvSpPr>
        <p:spPr>
          <a:xfrm xmlns:a="http://schemas.openxmlformats.org/drawingml/2006/main">
            <a:off x="914400" y="283464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networks:</a:t>
            </a:r>
            <a:endParaRPr sz="1300"/>
          </a:p>
        </p:txBody>
      </p:sp>
      <p:sp>
        <p:nvSpPr>
          <p:cNvPr id="19" name="Text 15">
            <a:extLst xmlns:a="http://schemas.openxmlformats.org/drawingml/2006/main">
              <a:ext uri="{FF2B5EF4-FFF2-40B4-BE49-F238E27FC236}">
                <a16:creationId xmlns:a16="http://schemas.microsoft.com/office/drawing/2014/main" id="{C6109D38-D49F-4E96-9F3C-CA3353FA4D27}"/>
              </a:ext>
            </a:extLst>
          </p:cNvPr>
          <p:cNvSpPr>
            <a:spLocks xmlns:a="http://schemas.openxmlformats.org/drawingml/2006/main" noGrp="1"/>
          </p:cNvSpPr>
          <p:nvPr/>
        </p:nvSpPr>
        <p:spPr>
          <a:xfrm xmlns:a="http://schemas.openxmlformats.org/drawingml/2006/main">
            <a:off x="914400" y="3154680"/>
            <a:ext cx="3840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Custom network (default: bikin auto)</a:t>
            </a:r>
            <a:endParaRPr sz="1000"/>
          </a:p>
        </p:txBody>
      </p:sp>
      <p:sp>
        <p:nvSpPr>
          <p:cNvPr id="20" name="Shape 16">
            <a:extLst xmlns:a="http://schemas.openxmlformats.org/drawingml/2006/main">
              <a:ext uri="{FF2B5EF4-FFF2-40B4-BE49-F238E27FC236}">
                <a16:creationId xmlns:a16="http://schemas.microsoft.com/office/drawing/2014/main" id="{5C6FCF6F-00CE-4727-AADA-EE1773B27535}"/>
              </a:ext>
            </a:extLst>
          </p:cNvPr>
          <p:cNvSpPr>
            <a:spLocks xmlns:a="http://schemas.openxmlformats.org/drawingml/2006/main" noGrp="1"/>
          </p:cNvSpPr>
          <p:nvPr/>
        </p:nvSpPr>
        <p:spPr>
          <a:xfrm xmlns:a="http://schemas.openxmlformats.org/drawingml/2006/main">
            <a:off x="640080" y="3566160"/>
            <a:ext cx="42062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1" name="Shape 17">
            <a:extLst xmlns:a="http://schemas.openxmlformats.org/drawingml/2006/main">
              <a:ext uri="{FF2B5EF4-FFF2-40B4-BE49-F238E27FC236}">
                <a16:creationId xmlns:a16="http://schemas.microsoft.com/office/drawing/2014/main" id="{07652DBE-63B5-4A5C-B9E0-5B55EC5B53E5}"/>
              </a:ext>
            </a:extLst>
          </p:cNvPr>
          <p:cNvSpPr>
            <a:spLocks xmlns:a="http://schemas.openxmlformats.org/drawingml/2006/main" noGrp="1"/>
          </p:cNvSpPr>
          <p:nvPr/>
        </p:nvSpPr>
        <p:spPr>
          <a:xfrm xmlns:a="http://schemas.openxmlformats.org/drawingml/2006/main">
            <a:off x="640080" y="3566160"/>
            <a:ext cx="137160" cy="68580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2" name="Text 18">
            <a:extLst xmlns:a="http://schemas.openxmlformats.org/drawingml/2006/main">
              <a:ext uri="{FF2B5EF4-FFF2-40B4-BE49-F238E27FC236}">
                <a16:creationId xmlns:a16="http://schemas.microsoft.com/office/drawing/2014/main" id="{39AC7EC5-0153-4131-B380-5F439CB7F0B7}"/>
              </a:ext>
            </a:extLst>
          </p:cNvPr>
          <p:cNvSpPr>
            <a:spLocks xmlns:a="http://schemas.openxmlformats.org/drawingml/2006/main" noGrp="1"/>
          </p:cNvSpPr>
          <p:nvPr/>
        </p:nvSpPr>
        <p:spPr>
          <a:xfrm xmlns:a="http://schemas.openxmlformats.org/drawingml/2006/main">
            <a:off x="914400" y="361188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volumes:</a:t>
            </a:r>
            <a:endParaRPr sz="1300"/>
          </a:p>
        </p:txBody>
      </p:sp>
      <p:sp>
        <p:nvSpPr>
          <p:cNvPr id="23" name="Text 19">
            <a:extLst xmlns:a="http://schemas.openxmlformats.org/drawingml/2006/main">
              <a:ext uri="{FF2B5EF4-FFF2-40B4-BE49-F238E27FC236}">
                <a16:creationId xmlns:a16="http://schemas.microsoft.com/office/drawing/2014/main" id="{05FC7A43-651D-447D-9914-3F272886270F}"/>
              </a:ext>
            </a:extLst>
          </p:cNvPr>
          <p:cNvSpPr>
            <a:spLocks xmlns:a="http://schemas.openxmlformats.org/drawingml/2006/main" noGrp="1"/>
          </p:cNvSpPr>
          <p:nvPr/>
        </p:nvSpPr>
        <p:spPr>
          <a:xfrm xmlns:a="http://schemas.openxmlformats.org/drawingml/2006/main">
            <a:off x="914400" y="3931920"/>
            <a:ext cx="3840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Named volume untuk persistent data</a:t>
            </a:r>
            <a:endParaRPr sz="1000"/>
          </a:p>
        </p:txBody>
      </p:sp>
      <p:sp>
        <p:nvSpPr>
          <p:cNvPr id="24" name="Shape 20">
            <a:extLst xmlns:a="http://schemas.openxmlformats.org/drawingml/2006/main">
              <a:ext uri="{FF2B5EF4-FFF2-40B4-BE49-F238E27FC236}">
                <a16:creationId xmlns:a16="http://schemas.microsoft.com/office/drawing/2014/main" id="{ECA76678-0E32-430A-9EFE-F77AD912FC85}"/>
              </a:ext>
            </a:extLst>
          </p:cNvPr>
          <p:cNvSpPr>
            <a:spLocks xmlns:a="http://schemas.openxmlformats.org/drawingml/2006/main" noGrp="1"/>
          </p:cNvSpPr>
          <p:nvPr/>
        </p:nvSpPr>
        <p:spPr>
          <a:xfrm xmlns:a="http://schemas.openxmlformats.org/drawingml/2006/main">
            <a:off x="640080" y="4343400"/>
            <a:ext cx="42062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5" name="Shape 21">
            <a:extLst xmlns:a="http://schemas.openxmlformats.org/drawingml/2006/main">
              <a:ext uri="{FF2B5EF4-FFF2-40B4-BE49-F238E27FC236}">
                <a16:creationId xmlns:a16="http://schemas.microsoft.com/office/drawing/2014/main" id="{1478E7E2-512D-4CB8-85FE-AEC09D83D095}"/>
              </a:ext>
            </a:extLst>
          </p:cNvPr>
          <p:cNvSpPr>
            <a:spLocks xmlns:a="http://schemas.openxmlformats.org/drawingml/2006/main" noGrp="1"/>
          </p:cNvSpPr>
          <p:nvPr/>
        </p:nvSpPr>
        <p:spPr>
          <a:xfrm xmlns:a="http://schemas.openxmlformats.org/drawingml/2006/main">
            <a:off x="640080" y="4343400"/>
            <a:ext cx="137160" cy="685800"/>
          </a:xfrm>
          <a:prstGeom xmlns:a="http://schemas.openxmlformats.org/drawingml/2006/main" prst="rect">
            <a:avLst/>
          </a:prstGeom>
          <a:solidFill xmlns:a="http://schemas.openxmlformats.org/drawingml/2006/main">
            <a:srgbClr val="7C3AED"/>
          </a:solidFill>
          <a:ln xmlns:a="http://schemas.openxmlformats.org/drawingml/2006/main" w="12700">
            <a:solidFill>
              <a:srgbClr val="7C3AED"/>
            </a:solidFill>
            <a:prstDash val="solid"/>
          </a:ln>
        </p:spPr>
      </p:sp>
      <p:sp>
        <p:nvSpPr>
          <p:cNvPr id="26" name="Text 22">
            <a:extLst xmlns:a="http://schemas.openxmlformats.org/drawingml/2006/main">
              <a:ext uri="{FF2B5EF4-FFF2-40B4-BE49-F238E27FC236}">
                <a16:creationId xmlns:a16="http://schemas.microsoft.com/office/drawing/2014/main" id="{2DD2DA1C-6DBC-4575-BCB8-699021DBB0BD}"/>
              </a:ext>
            </a:extLst>
          </p:cNvPr>
          <p:cNvSpPr>
            <a:spLocks xmlns:a="http://schemas.openxmlformats.org/drawingml/2006/main" noGrp="1"/>
          </p:cNvSpPr>
          <p:nvPr/>
        </p:nvSpPr>
        <p:spPr>
          <a:xfrm xmlns:a="http://schemas.openxmlformats.org/drawingml/2006/main">
            <a:off x="914400" y="438912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configs:</a:t>
            </a:r>
            <a:endParaRPr sz="1300"/>
          </a:p>
        </p:txBody>
      </p:sp>
      <p:sp>
        <p:nvSpPr>
          <p:cNvPr id="27" name="Text 23">
            <a:extLst xmlns:a="http://schemas.openxmlformats.org/drawingml/2006/main">
              <a:ext uri="{FF2B5EF4-FFF2-40B4-BE49-F238E27FC236}">
                <a16:creationId xmlns:a16="http://schemas.microsoft.com/office/drawing/2014/main" id="{0191761F-CF3C-4C18-9B86-D7999E859239}"/>
              </a:ext>
            </a:extLst>
          </p:cNvPr>
          <p:cNvSpPr>
            <a:spLocks xmlns:a="http://schemas.openxmlformats.org/drawingml/2006/main" noGrp="1"/>
          </p:cNvSpPr>
          <p:nvPr/>
        </p:nvSpPr>
        <p:spPr>
          <a:xfrm xmlns:a="http://schemas.openxmlformats.org/drawingml/2006/main">
            <a:off x="914400" y="4709160"/>
            <a:ext cx="3840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Config file yang di-mount ke service</a:t>
            </a:r>
            <a:endParaRPr sz="1000"/>
          </a:p>
        </p:txBody>
      </p:sp>
      <p:sp>
        <p:nvSpPr>
          <p:cNvPr id="28" name="Shape 24">
            <a:extLst xmlns:a="http://schemas.openxmlformats.org/drawingml/2006/main">
              <a:ext uri="{FF2B5EF4-FFF2-40B4-BE49-F238E27FC236}">
                <a16:creationId xmlns:a16="http://schemas.microsoft.com/office/drawing/2014/main" id="{C2B8C077-5EE1-47CA-9A30-F33019870A9B}"/>
              </a:ext>
            </a:extLst>
          </p:cNvPr>
          <p:cNvSpPr>
            <a:spLocks xmlns:a="http://schemas.openxmlformats.org/drawingml/2006/main" noGrp="1"/>
          </p:cNvSpPr>
          <p:nvPr/>
        </p:nvSpPr>
        <p:spPr>
          <a:xfrm xmlns:a="http://schemas.openxmlformats.org/drawingml/2006/main">
            <a:off x="640080" y="5120640"/>
            <a:ext cx="4206240" cy="68580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9" name="Shape 25">
            <a:extLst xmlns:a="http://schemas.openxmlformats.org/drawingml/2006/main">
              <a:ext uri="{FF2B5EF4-FFF2-40B4-BE49-F238E27FC236}">
                <a16:creationId xmlns:a16="http://schemas.microsoft.com/office/drawing/2014/main" id="{1E2BD739-0F9B-44B7-9A17-B457DDAD1043}"/>
              </a:ext>
            </a:extLst>
          </p:cNvPr>
          <p:cNvSpPr>
            <a:spLocks xmlns:a="http://schemas.openxmlformats.org/drawingml/2006/main" noGrp="1"/>
          </p:cNvSpPr>
          <p:nvPr/>
        </p:nvSpPr>
        <p:spPr>
          <a:xfrm xmlns:a="http://schemas.openxmlformats.org/drawingml/2006/main">
            <a:off x="640080" y="5120640"/>
            <a:ext cx="137160" cy="68580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30" name="Text 26">
            <a:extLst xmlns:a="http://schemas.openxmlformats.org/drawingml/2006/main">
              <a:ext uri="{FF2B5EF4-FFF2-40B4-BE49-F238E27FC236}">
                <a16:creationId xmlns:a16="http://schemas.microsoft.com/office/drawing/2014/main" id="{D9FF25AB-6DC0-47C0-A6DC-53BC771210F6}"/>
              </a:ext>
            </a:extLst>
          </p:cNvPr>
          <p:cNvSpPr>
            <a:spLocks xmlns:a="http://schemas.openxmlformats.org/drawingml/2006/main" noGrp="1"/>
          </p:cNvSpPr>
          <p:nvPr/>
        </p:nvSpPr>
        <p:spPr>
          <a:xfrm xmlns:a="http://schemas.openxmlformats.org/drawingml/2006/main">
            <a:off x="914400" y="5166360"/>
            <a:ext cx="3840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677"/>
                </a:solidFill>
                <a:latin typeface="Consolas"/>
                <a:ea typeface="Consolas"/>
                <a:cs typeface="Consolas"/>
              </a:rPr>
              <a:t>secrets:</a:t>
            </a:r>
            <a:endParaRPr sz="1300"/>
          </a:p>
        </p:txBody>
      </p:sp>
      <p:sp>
        <p:nvSpPr>
          <p:cNvPr id="31" name="Text 27">
            <a:extLst xmlns:a="http://schemas.openxmlformats.org/drawingml/2006/main">
              <a:ext uri="{FF2B5EF4-FFF2-40B4-BE49-F238E27FC236}">
                <a16:creationId xmlns:a16="http://schemas.microsoft.com/office/drawing/2014/main" id="{035D6AE3-B819-445E-B5C0-85DFC8E628C6}"/>
              </a:ext>
            </a:extLst>
          </p:cNvPr>
          <p:cNvSpPr>
            <a:spLocks xmlns:a="http://schemas.openxmlformats.org/drawingml/2006/main" noGrp="1"/>
          </p:cNvSpPr>
          <p:nvPr/>
        </p:nvSpPr>
        <p:spPr>
          <a:xfrm xmlns:a="http://schemas.openxmlformats.org/drawingml/2006/main">
            <a:off x="914400" y="5486400"/>
            <a:ext cx="3840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1E293B"/>
                </a:solidFill>
                <a:latin typeface="Calibri"/>
                <a:ea typeface="Calibri"/>
                <a:cs typeface="Calibri"/>
              </a:rPr>
              <a:t>Sensitive data (password, key, dll)</a:t>
            </a:r>
            <a:endParaRPr sz="1000"/>
          </a:p>
        </p:txBody>
      </p:sp>
      <p:sp>
        <p:nvSpPr>
          <p:cNvPr id="32" name="Shape 28">
            <a:extLst xmlns:a="http://schemas.openxmlformats.org/drawingml/2006/main">
              <a:ext uri="{FF2B5EF4-FFF2-40B4-BE49-F238E27FC236}">
                <a16:creationId xmlns:a16="http://schemas.microsoft.com/office/drawing/2014/main" id="{B67FC9A1-0209-4F3A-9BC4-632C666CC83B}"/>
              </a:ext>
            </a:extLst>
          </p:cNvPr>
          <p:cNvSpPr>
            <a:spLocks xmlns:a="http://schemas.openxmlformats.org/drawingml/2006/main" noGrp="1"/>
          </p:cNvSpPr>
          <p:nvPr/>
        </p:nvSpPr>
        <p:spPr>
          <a:xfrm xmlns:a="http://schemas.openxmlformats.org/drawingml/2006/main">
            <a:off x="5212080" y="1417320"/>
            <a:ext cx="6492240" cy="47548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33" name="Shape 29">
            <a:extLst xmlns:a="http://schemas.openxmlformats.org/drawingml/2006/main">
              <a:ext uri="{FF2B5EF4-FFF2-40B4-BE49-F238E27FC236}">
                <a16:creationId xmlns:a16="http://schemas.microsoft.com/office/drawing/2014/main" id="{64D7E816-35B7-482A-8F05-CA418BB3FD3C}"/>
              </a:ext>
            </a:extLst>
          </p:cNvPr>
          <p:cNvSpPr>
            <a:spLocks xmlns:a="http://schemas.openxmlformats.org/drawingml/2006/main" noGrp="1"/>
          </p:cNvSpPr>
          <p:nvPr/>
        </p:nvSpPr>
        <p:spPr>
          <a:xfrm xmlns:a="http://schemas.openxmlformats.org/drawingml/2006/main">
            <a:off x="5212080" y="1417320"/>
            <a:ext cx="64922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34" name="Shape 30">
            <a:extLst xmlns:a="http://schemas.openxmlformats.org/drawingml/2006/main">
              <a:ext uri="{FF2B5EF4-FFF2-40B4-BE49-F238E27FC236}">
                <a16:creationId xmlns:a16="http://schemas.microsoft.com/office/drawing/2014/main" id="{C3D233CD-335E-49E8-A766-E86E9E4D3C86}"/>
              </a:ext>
            </a:extLst>
          </p:cNvPr>
          <p:cNvSpPr>
            <a:spLocks xmlns:a="http://schemas.openxmlformats.org/drawingml/2006/main" noGrp="1"/>
          </p:cNvSpPr>
          <p:nvPr/>
        </p:nvSpPr>
        <p:spPr>
          <a:xfrm xmlns:a="http://schemas.openxmlformats.org/drawingml/2006/main">
            <a:off x="5303520" y="14996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35" name="Shape 31">
            <a:extLst xmlns:a="http://schemas.openxmlformats.org/drawingml/2006/main">
              <a:ext uri="{FF2B5EF4-FFF2-40B4-BE49-F238E27FC236}">
                <a16:creationId xmlns:a16="http://schemas.microsoft.com/office/drawing/2014/main" id="{C61D5BAA-2948-48DC-ADA0-3D4D1F9D135E}"/>
              </a:ext>
            </a:extLst>
          </p:cNvPr>
          <p:cNvSpPr>
            <a:spLocks xmlns:a="http://schemas.openxmlformats.org/drawingml/2006/main" noGrp="1"/>
          </p:cNvSpPr>
          <p:nvPr/>
        </p:nvSpPr>
        <p:spPr>
          <a:xfrm xmlns:a="http://schemas.openxmlformats.org/drawingml/2006/main">
            <a:off x="5440680" y="14996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36" name="Shape 32">
            <a:extLst xmlns:a="http://schemas.openxmlformats.org/drawingml/2006/main">
              <a:ext uri="{FF2B5EF4-FFF2-40B4-BE49-F238E27FC236}">
                <a16:creationId xmlns:a16="http://schemas.microsoft.com/office/drawing/2014/main" id="{8EAC1484-E19E-4390-82F9-C1946EEC7437}"/>
              </a:ext>
            </a:extLst>
          </p:cNvPr>
          <p:cNvSpPr>
            <a:spLocks xmlns:a="http://schemas.openxmlformats.org/drawingml/2006/main" noGrp="1"/>
          </p:cNvSpPr>
          <p:nvPr/>
        </p:nvSpPr>
        <p:spPr>
          <a:xfrm xmlns:a="http://schemas.openxmlformats.org/drawingml/2006/main">
            <a:off x="5577840" y="14996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7" name="Text 33">
            <a:extLst xmlns:a="http://schemas.openxmlformats.org/drawingml/2006/main">
              <a:ext uri="{FF2B5EF4-FFF2-40B4-BE49-F238E27FC236}">
                <a16:creationId xmlns:a16="http://schemas.microsoft.com/office/drawing/2014/main" id="{98093B94-386D-415A-A6BD-752DCBC611CB}"/>
              </a:ext>
            </a:extLst>
          </p:cNvPr>
          <p:cNvSpPr>
            <a:spLocks xmlns:a="http://schemas.openxmlformats.org/drawingml/2006/main" noGrp="1"/>
          </p:cNvSpPr>
          <p:nvPr/>
        </p:nvSpPr>
        <p:spPr>
          <a:xfrm xmlns:a="http://schemas.openxmlformats.org/drawingml/2006/main">
            <a:off x="5760720" y="1417320"/>
            <a:ext cx="5760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compose.yml - struktur lengkap</a:t>
            </a:r>
            <a:endParaRPr sz="900"/>
          </a:p>
        </p:txBody>
      </p:sp>
      <p:sp>
        <p:nvSpPr>
          <p:cNvPr id="38" name="Text 34">
            <a:extLst xmlns:a="http://schemas.openxmlformats.org/drawingml/2006/main">
              <a:ext uri="{FF2B5EF4-FFF2-40B4-BE49-F238E27FC236}">
                <a16:creationId xmlns:a16="http://schemas.microsoft.com/office/drawing/2014/main" id="{302858D4-259A-49AC-9816-92FA50A8349E}"/>
              </a:ext>
            </a:extLst>
          </p:cNvPr>
          <p:cNvSpPr>
            <a:spLocks xmlns:a="http://schemas.openxmlformats.org/drawingml/2006/main" noGrp="1"/>
          </p:cNvSpPr>
          <p:nvPr/>
        </p:nvSpPr>
        <p:spPr>
          <a:xfrm xmlns:a="http://schemas.openxmlformats.org/drawingml/2006/main">
            <a:off x="5349240" y="1783080"/>
            <a:ext cx="6217920" cy="4297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web: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nginx:1.27-alpine</a:t>
            </a:r>
            <a:endParaRPr sz="1100"/>
          </a:p>
          <a:p xmlns:a="http://schemas.openxmlformats.org/drawingml/2006/main">
            <a:pPr marL="0" indent="0">
              <a:spcAft>
                <a:spcPts val="200"/>
              </a:spcAft>
              <a:buNone/>
            </a:pPr>
            <a:r>
              <a:rPr sz="1100">
                <a:solidFill>
                  <a:srgbClr val="E2E8F0"/>
                </a:solidFill>
                <a:latin typeface="Consolas"/>
                <a:ea typeface="Consolas"/>
                <a:cs typeface="Consolas"/>
              </a:rPr>
              <a:t>    ports:</a:t>
            </a:r>
            <a:endParaRPr sz="1100"/>
          </a:p>
          <a:p xmlns:a="http://schemas.openxmlformats.org/drawingml/2006/main">
            <a:pPr marL="0" indent="0">
              <a:spcAft>
                <a:spcPts val="200"/>
              </a:spcAft>
              <a:buNone/>
            </a:pPr>
            <a:r>
              <a:rPr sz="1100">
                <a:solidFill>
                  <a:srgbClr val="E2E8F0"/>
                </a:solidFill>
                <a:latin typeface="Consolas"/>
                <a:ea typeface="Consolas"/>
                <a:cs typeface="Consolas"/>
              </a:rPr>
              <a:t>      - "80:80"</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build: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environment:</a:t>
            </a:r>
            <a:endParaRPr sz="1100"/>
          </a:p>
          <a:p xmlns:a="http://schemas.openxmlformats.org/drawingml/2006/main">
            <a:pPr marL="0" indent="0">
              <a:spcAft>
                <a:spcPts val="200"/>
              </a:spcAft>
              <a:buNone/>
            </a:pPr>
            <a:r>
              <a:rPr sz="1100">
                <a:solidFill>
                  <a:srgbClr val="E2E8F0"/>
                </a:solidFill>
                <a:latin typeface="Consolas"/>
                <a:ea typeface="Consolas"/>
                <a:cs typeface="Consolas"/>
              </a:rPr>
              <a:t>      DB_HOST: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depends_on:</a:t>
            </a:r>
            <a:endParaRPr sz="1100"/>
          </a:p>
          <a:p xmlns:a="http://schemas.openxmlformats.org/drawingml/2006/main">
            <a:pPr marL="0" indent="0">
              <a:spcAft>
                <a:spcPts val="200"/>
              </a:spcAft>
              <a:buNone/>
            </a:pPr>
            <a:r>
              <a:rPr sz="1100">
                <a:solidFill>
                  <a:srgbClr val="E2E8F0"/>
                </a:solidFill>
                <a:latin typeface="Consolas"/>
                <a:ea typeface="Consolas"/>
                <a:cs typeface="Consolas"/>
              </a:rPr>
              <a:t>      - db</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60A5FA"/>
                </a:solidFill>
                <a:latin typeface="Consolas"/>
                <a:ea typeface="Consolas"/>
                <a:cs typeface="Consolas"/>
              </a:rPr>
              <a: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postgres:15-alpine</a:t>
            </a:r>
            <a:endParaRPr sz="1100"/>
          </a:p>
          <a:p xmlns:a="http://schemas.openxmlformats.org/drawingml/2006/main">
            <a:pPr marL="0" indent="0">
              <a:spcAft>
                <a:spcPts val="200"/>
              </a:spcAft>
              <a:buNone/>
            </a:pPr>
            <a:r>
              <a:rPr sz="1100">
                <a:solidFill>
                  <a:srgbClr val="E2E8F0"/>
                </a:solidFill>
                <a:latin typeface="Consolas"/>
                <a:ea typeface="Consolas"/>
                <a:cs typeface="Consolas"/>
              </a:rPr>
              <a:t>    volumes:</a:t>
            </a:r>
            <a:endParaRPr sz="1100"/>
          </a:p>
          <a:p xmlns:a="http://schemas.openxmlformats.org/drawingml/2006/main">
            <a:pPr marL="0" indent="0">
              <a:spcAft>
                <a:spcPts val="200"/>
              </a:spcAft>
              <a:buNone/>
            </a:pPr>
            <a:r>
              <a:rPr sz="1100">
                <a:solidFill>
                  <a:srgbClr val="E2E8F0"/>
                </a:solidFill>
                <a:latin typeface="Consolas"/>
                <a:ea typeface="Consolas"/>
                <a:cs typeface="Consolas"/>
              </a:rPr>
              <a:t>      - db-data:/var/lib/postgresql/data</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F37021"/>
                </a:solidFill>
                <a:latin typeface="Consolas"/>
                <a:ea typeface="Consolas"/>
                <a:cs typeface="Consolas"/>
              </a:rPr>
              <a:t>volumes: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db-data:</a:t>
            </a:r>
            <a:endParaRPr sz="1100"/>
          </a:p>
        </p:txBody>
      </p:sp>
    </p:spTree>
    <p:extLst>
      <p:ext uri="{BB962C8B-B14F-4D97-AF65-F5344CB8AC3E}">
        <p14:creationId xmlns:p14="http://schemas.microsoft.com/office/powerpoint/2010/main" val="705448130"/>
      </p:ext>
    </p:extLst>
  </p:cSld>
</p:sld>
</file>

<file path=ppt/slides/slide8.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5BB983F-237F-497A-BB20-DE5EA6F0B646}"/>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C3259B8C-03BE-4F2B-B6E7-E8D32BC71BC2}"/>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FB164B8D-2374-4275-A4BB-3620CB460184}"/>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7BD16666-1E6F-461F-8E9C-8E8F5DA3F2BD}"/>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45778F55-C3BB-406D-8434-56845146B733}"/>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1825E69D-6AA3-4B55-99D6-29A29FB266B0}"/>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0D722564-CCF4-43B0-80D3-321E07921E92}"/>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03E017D0-4A80-443F-9EB9-27ACFC972ED3}"/>
              </a:ext>
            </a:extLst>
          </p:cNvPr>
          <p:cNvPicPr>
            <a:picLocks xmlns:a="http://schemas.openxmlformats.org/drawingml/2006/main" noChangeAspect="1"/>
          </p:cNvPicPr>
          <p:nvPr/>
        </p:nvPicPr>
        <p:blipFill>
          <a:blip xmlns:r="http://schemas.openxmlformats.org/officeDocument/2006/relationships" xmlns:a="http://schemas.openxmlformats.org/drawingml/2006/main" r:embed="Rdb436852592c4669"/>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EECE0D1B-0464-4F32-8893-BDABCADBA802}"/>
              </a:ext>
            </a:extLst>
          </p:cNvPr>
          <p:cNvPicPr>
            <a:picLocks xmlns:a="http://schemas.openxmlformats.org/drawingml/2006/main" noChangeAspect="1"/>
          </p:cNvPicPr>
          <p:nvPr/>
        </p:nvPicPr>
        <p:blipFill>
          <a:blip xmlns:r="http://schemas.openxmlformats.org/officeDocument/2006/relationships" xmlns:a="http://schemas.openxmlformats.org/drawingml/2006/main" r:embed="Rbd2440c22d8d45c1"/>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9396487-44E8-4292-B354-8886D688C89B}"/>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02</a:t>
            </a:r>
            <a:endParaRPr sz="1600"/>
          </a:p>
        </p:txBody>
      </p:sp>
      <p:sp>
        <p:nvSpPr>
          <p:cNvPr id="12" name="Text 8">
            <a:extLst xmlns:a="http://schemas.openxmlformats.org/drawingml/2006/main">
              <a:ext uri="{FF2B5EF4-FFF2-40B4-BE49-F238E27FC236}">
                <a16:creationId xmlns:a16="http://schemas.microsoft.com/office/drawing/2014/main" id="{AD9DCAC3-2932-460E-A7E6-F31DC4A63B70}"/>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Compose File</a:t>
            </a:r>
            <a:endParaRPr sz="5200"/>
          </a:p>
          <a:p xmlns:a="http://schemas.openxmlformats.org/drawingml/2006/main">
            <a:pPr marL="0" indent="0" algn="ctr">
              <a:buNone/>
            </a:pPr>
            <a:r>
              <a:rPr sz="5200" b="1">
                <a:solidFill>
                  <a:srgbClr val="FFFFFF"/>
                </a:solidFill>
                <a:latin typeface="Calibri"/>
                <a:ea typeface="Calibri"/>
                <a:cs typeface="Calibri"/>
              </a:rPr>
              <a:t>Syntax</a:t>
            </a:r>
            <a:endParaRPr sz="5200"/>
          </a:p>
        </p:txBody>
      </p:sp>
      <p:sp>
        <p:nvSpPr>
          <p:cNvPr id="13" name="Shape 9">
            <a:extLst xmlns:a="http://schemas.openxmlformats.org/drawingml/2006/main">
              <a:ext uri="{FF2B5EF4-FFF2-40B4-BE49-F238E27FC236}">
                <a16:creationId xmlns:a16="http://schemas.microsoft.com/office/drawing/2014/main" id="{0F791ECC-951C-4F49-8EA1-3B4953723161}"/>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2C7905BC-1DA4-475A-8DA1-97636607ADF5}"/>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Services, networks, volumes, environment, healthcheck - dibedah satu-satu.</a:t>
            </a:r>
            <a:endParaRPr sz="1400"/>
          </a:p>
        </p:txBody>
      </p:sp>
    </p:spTree>
    <p:extLst>
      <p:ext uri="{BB962C8B-B14F-4D97-AF65-F5344CB8AC3E}">
        <p14:creationId xmlns:p14="http://schemas.microsoft.com/office/powerpoint/2010/main" val="21418127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94F6BF-990D-4868-A1D2-A92BA1CC8786}"/>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CC0C91EE-FD1D-47B7-A4AC-3F90D38D0C98}"/>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9</a:t>
            </a:r>
            <a:endParaRPr sz="900"/>
          </a:p>
        </p:txBody>
      </p:sp>
      <p:sp>
        <p:nvSpPr>
          <p:cNvPr id="4" name="Shape 2">
            <a:extLst xmlns:a="http://schemas.openxmlformats.org/drawingml/2006/main">
              <a:ext uri="{FF2B5EF4-FFF2-40B4-BE49-F238E27FC236}">
                <a16:creationId xmlns:a16="http://schemas.microsoft.com/office/drawing/2014/main" id="{893836C9-8E2F-470C-9AC4-96FB1AF76EC6}"/>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6" name="Image 0">
            <a:extLst xmlns:a="http://schemas.openxmlformats.org/drawingml/2006/main">
              <a:ext uri="{FF2B5EF4-FFF2-40B4-BE49-F238E27FC236}">
                <a16:creationId xmlns:a16="http://schemas.microsoft.com/office/drawing/2014/main" id="{8DFA5624-60B0-4F2E-8AA5-5B14D5CA0395}"/>
              </a:ext>
            </a:extLst>
          </p:cNvPr>
          <p:cNvPicPr>
            <a:picLocks xmlns:a="http://schemas.openxmlformats.org/drawingml/2006/main" noChangeAspect="1"/>
          </p:cNvPicPr>
          <p:nvPr/>
        </p:nvPicPr>
        <p:blipFill>
          <a:blip xmlns:r="http://schemas.openxmlformats.org/officeDocument/2006/relationships" xmlns:a="http://schemas.openxmlformats.org/drawingml/2006/main" r:embed="R75d30d24454b44cf"/>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7" name="Image 1">
            <a:extLst xmlns:a="http://schemas.openxmlformats.org/drawingml/2006/main">
              <a:ext uri="{FF2B5EF4-FFF2-40B4-BE49-F238E27FC236}">
                <a16:creationId xmlns:a16="http://schemas.microsoft.com/office/drawing/2014/main" id="{7C0C196B-1AB2-4877-885A-FC3BC5CF41CA}"/>
              </a:ext>
            </a:extLst>
          </p:cNvPr>
          <p:cNvPicPr>
            <a:picLocks xmlns:a="http://schemas.openxmlformats.org/drawingml/2006/main" noChangeAspect="1"/>
          </p:cNvPicPr>
          <p:nvPr/>
        </p:nvPicPr>
        <p:blipFill>
          <a:blip xmlns:r="http://schemas.openxmlformats.org/officeDocument/2006/relationships" xmlns:a="http://schemas.openxmlformats.org/drawingml/2006/main" r:embed="R030f8a4de4864d3a"/>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A6FDCEB6-65B0-4683-9231-32ECD9C0E8FD}"/>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E5E6BD3A-DA03-4FAB-A20B-2271CAE1729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Services - Building Block Utama</a:t>
            </a:r>
            <a:endParaRPr sz="2200"/>
          </a:p>
        </p:txBody>
      </p:sp>
      <p:sp>
        <p:nvSpPr>
          <p:cNvPr id="9" name="Text 5">
            <a:extLst xmlns:a="http://schemas.openxmlformats.org/drawingml/2006/main">
              <a:ext uri="{FF2B5EF4-FFF2-40B4-BE49-F238E27FC236}">
                <a16:creationId xmlns:a16="http://schemas.microsoft.com/office/drawing/2014/main" id="{20DDAAB8-439C-4960-A19F-A3B25D06FD38}"/>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Tiap service jadi 1 container (atau lebih kalau scale)</a:t>
            </a:r>
            <a:endParaRPr sz="1200"/>
          </a:p>
        </p:txBody>
      </p:sp>
      <p:sp>
        <p:nvSpPr>
          <p:cNvPr id="10" name="Shape 6">
            <a:extLst xmlns:a="http://schemas.openxmlformats.org/drawingml/2006/main">
              <a:ext uri="{FF2B5EF4-FFF2-40B4-BE49-F238E27FC236}">
                <a16:creationId xmlns:a16="http://schemas.microsoft.com/office/drawing/2014/main" id="{01FC8047-D28A-425F-8EA6-1AF114865EEC}"/>
              </a:ext>
            </a:extLst>
          </p:cNvPr>
          <p:cNvSpPr>
            <a:spLocks xmlns:a="http://schemas.openxmlformats.org/drawingml/2006/main" noGrp="1"/>
          </p:cNvSpPr>
          <p:nvPr/>
        </p:nvSpPr>
        <p:spPr>
          <a:xfrm xmlns:a="http://schemas.openxmlformats.org/drawingml/2006/main">
            <a:off x="457200" y="1417320"/>
            <a:ext cx="50292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E04A3BEA-ECD4-4944-A857-38BDB6700F7D}"/>
              </a:ext>
            </a:extLst>
          </p:cNvPr>
          <p:cNvSpPr>
            <a:spLocks xmlns:a="http://schemas.openxmlformats.org/drawingml/2006/main" noGrp="1"/>
          </p:cNvSpPr>
          <p:nvPr/>
        </p:nvSpPr>
        <p:spPr>
          <a:xfrm xmlns:a="http://schemas.openxmlformats.org/drawingml/2006/main">
            <a:off x="640080" y="1554480"/>
            <a:ext cx="46634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Field di Service</a:t>
            </a:r>
            <a:endParaRPr sz="1400"/>
          </a:p>
        </p:txBody>
      </p:sp>
      <p:sp>
        <p:nvSpPr>
          <p:cNvPr id="12" name="Shape 8">
            <a:extLst xmlns:a="http://schemas.openxmlformats.org/drawingml/2006/main">
              <a:ext uri="{FF2B5EF4-FFF2-40B4-BE49-F238E27FC236}">
                <a16:creationId xmlns:a16="http://schemas.microsoft.com/office/drawing/2014/main" id="{8EF0EAA9-5ED6-4517-B7A5-BB2864FDC16E}"/>
              </a:ext>
            </a:extLst>
          </p:cNvPr>
          <p:cNvSpPr>
            <a:spLocks xmlns:a="http://schemas.openxmlformats.org/drawingml/2006/main" noGrp="1"/>
          </p:cNvSpPr>
          <p:nvPr/>
        </p:nvSpPr>
        <p:spPr>
          <a:xfrm xmlns:a="http://schemas.openxmlformats.org/drawingml/2006/main">
            <a:off x="640080" y="2011680"/>
            <a:ext cx="4663440" cy="4114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3" name="Shape 9">
            <a:extLst xmlns:a="http://schemas.openxmlformats.org/drawingml/2006/main">
              <a:ext uri="{FF2B5EF4-FFF2-40B4-BE49-F238E27FC236}">
                <a16:creationId xmlns:a16="http://schemas.microsoft.com/office/drawing/2014/main" id="{F2DADB2C-0F81-4910-AF28-119657974979}"/>
              </a:ext>
            </a:extLst>
          </p:cNvPr>
          <p:cNvSpPr>
            <a:spLocks xmlns:a="http://schemas.openxmlformats.org/drawingml/2006/main" noGrp="1"/>
          </p:cNvSpPr>
          <p:nvPr/>
        </p:nvSpPr>
        <p:spPr>
          <a:xfrm xmlns:a="http://schemas.openxmlformats.org/drawingml/2006/main">
            <a:off x="640080" y="2011680"/>
            <a:ext cx="1554480" cy="4114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4" name="Text 10">
            <a:extLst xmlns:a="http://schemas.openxmlformats.org/drawingml/2006/main">
              <a:ext uri="{FF2B5EF4-FFF2-40B4-BE49-F238E27FC236}">
                <a16:creationId xmlns:a16="http://schemas.microsoft.com/office/drawing/2014/main" id="{9166132D-FFA9-4C47-9BE1-39E91300909F}"/>
              </a:ext>
            </a:extLst>
          </p:cNvPr>
          <p:cNvSpPr>
            <a:spLocks xmlns:a="http://schemas.openxmlformats.org/drawingml/2006/main" noGrp="1"/>
          </p:cNvSpPr>
          <p:nvPr/>
        </p:nvSpPr>
        <p:spPr>
          <a:xfrm xmlns:a="http://schemas.openxmlformats.org/drawingml/2006/main">
            <a:off x="685800" y="201168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image:</a:t>
            </a:r>
            <a:endParaRPr sz="1100"/>
          </a:p>
        </p:txBody>
      </p:sp>
      <p:sp>
        <p:nvSpPr>
          <p:cNvPr id="15" name="Text 11">
            <a:extLst xmlns:a="http://schemas.openxmlformats.org/drawingml/2006/main">
              <a:ext uri="{FF2B5EF4-FFF2-40B4-BE49-F238E27FC236}">
                <a16:creationId xmlns:a16="http://schemas.microsoft.com/office/drawing/2014/main" id="{6097CE13-0125-4240-ABBC-DBDDF0482686}"/>
              </a:ext>
            </a:extLst>
          </p:cNvPr>
          <p:cNvSpPr>
            <a:spLocks xmlns:a="http://schemas.openxmlformats.org/drawingml/2006/main" noGrp="1"/>
          </p:cNvSpPr>
          <p:nvPr/>
        </p:nvSpPr>
        <p:spPr>
          <a:xfrm xmlns:a="http://schemas.openxmlformats.org/drawingml/2006/main">
            <a:off x="2286000" y="201168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Pakai image dari registry</a:t>
            </a:r>
            <a:endParaRPr sz="1000"/>
          </a:p>
        </p:txBody>
      </p:sp>
      <p:sp>
        <p:nvSpPr>
          <p:cNvPr id="16" name="Shape 12">
            <a:extLst xmlns:a="http://schemas.openxmlformats.org/drawingml/2006/main">
              <a:ext uri="{FF2B5EF4-FFF2-40B4-BE49-F238E27FC236}">
                <a16:creationId xmlns:a16="http://schemas.microsoft.com/office/drawing/2014/main" id="{3083BD70-08C8-4A3D-A6E1-E949B0629D6A}"/>
              </a:ext>
            </a:extLst>
          </p:cNvPr>
          <p:cNvSpPr>
            <a:spLocks xmlns:a="http://schemas.openxmlformats.org/drawingml/2006/main" noGrp="1"/>
          </p:cNvSpPr>
          <p:nvPr/>
        </p:nvSpPr>
        <p:spPr>
          <a:xfrm xmlns:a="http://schemas.openxmlformats.org/drawingml/2006/main">
            <a:off x="640080" y="2514600"/>
            <a:ext cx="4663440" cy="4114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17" name="Shape 13">
            <a:extLst xmlns:a="http://schemas.openxmlformats.org/drawingml/2006/main">
              <a:ext uri="{FF2B5EF4-FFF2-40B4-BE49-F238E27FC236}">
                <a16:creationId xmlns:a16="http://schemas.microsoft.com/office/drawing/2014/main" id="{1FD7B781-7456-488D-AF91-BEB87A5ACDFC}"/>
              </a:ext>
            </a:extLst>
          </p:cNvPr>
          <p:cNvSpPr>
            <a:spLocks xmlns:a="http://schemas.openxmlformats.org/drawingml/2006/main" noGrp="1"/>
          </p:cNvSpPr>
          <p:nvPr/>
        </p:nvSpPr>
        <p:spPr>
          <a:xfrm xmlns:a="http://schemas.openxmlformats.org/drawingml/2006/main">
            <a:off x="640080" y="2514600"/>
            <a:ext cx="1554480" cy="4114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8" name="Text 14">
            <a:extLst xmlns:a="http://schemas.openxmlformats.org/drawingml/2006/main">
              <a:ext uri="{FF2B5EF4-FFF2-40B4-BE49-F238E27FC236}">
                <a16:creationId xmlns:a16="http://schemas.microsoft.com/office/drawing/2014/main" id="{CEB3525C-F48C-4AD7-B815-2C0A44D86399}"/>
              </a:ext>
            </a:extLst>
          </p:cNvPr>
          <p:cNvSpPr>
            <a:spLocks xmlns:a="http://schemas.openxmlformats.org/drawingml/2006/main" noGrp="1"/>
          </p:cNvSpPr>
          <p:nvPr/>
        </p:nvSpPr>
        <p:spPr>
          <a:xfrm xmlns:a="http://schemas.openxmlformats.org/drawingml/2006/main">
            <a:off x="685800" y="251460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build:</a:t>
            </a:r>
            <a:endParaRPr sz="1100"/>
          </a:p>
        </p:txBody>
      </p:sp>
      <p:sp>
        <p:nvSpPr>
          <p:cNvPr id="19" name="Text 15">
            <a:extLst xmlns:a="http://schemas.openxmlformats.org/drawingml/2006/main">
              <a:ext uri="{FF2B5EF4-FFF2-40B4-BE49-F238E27FC236}">
                <a16:creationId xmlns:a16="http://schemas.microsoft.com/office/drawing/2014/main" id="{2DAB79F7-4037-4390-ABEB-A57B6AC871F3}"/>
              </a:ext>
            </a:extLst>
          </p:cNvPr>
          <p:cNvSpPr>
            <a:spLocks xmlns:a="http://schemas.openxmlformats.org/drawingml/2006/main" noGrp="1"/>
          </p:cNvSpPr>
          <p:nvPr/>
        </p:nvSpPr>
        <p:spPr>
          <a:xfrm xmlns:a="http://schemas.openxmlformats.org/drawingml/2006/main">
            <a:off x="2286000" y="251460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Build dari Dockerfile lokal</a:t>
            </a:r>
            <a:endParaRPr sz="1000"/>
          </a:p>
        </p:txBody>
      </p:sp>
      <p:sp>
        <p:nvSpPr>
          <p:cNvPr id="20" name="Shape 16">
            <a:extLst xmlns:a="http://schemas.openxmlformats.org/drawingml/2006/main">
              <a:ext uri="{FF2B5EF4-FFF2-40B4-BE49-F238E27FC236}">
                <a16:creationId xmlns:a16="http://schemas.microsoft.com/office/drawing/2014/main" id="{7EE01378-748E-4CE7-BC62-E73F25144062}"/>
              </a:ext>
            </a:extLst>
          </p:cNvPr>
          <p:cNvSpPr>
            <a:spLocks xmlns:a="http://schemas.openxmlformats.org/drawingml/2006/main" noGrp="1"/>
          </p:cNvSpPr>
          <p:nvPr/>
        </p:nvSpPr>
        <p:spPr>
          <a:xfrm xmlns:a="http://schemas.openxmlformats.org/drawingml/2006/main">
            <a:off x="640080" y="3017520"/>
            <a:ext cx="4663440" cy="4114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1" name="Shape 17">
            <a:extLst xmlns:a="http://schemas.openxmlformats.org/drawingml/2006/main">
              <a:ext uri="{FF2B5EF4-FFF2-40B4-BE49-F238E27FC236}">
                <a16:creationId xmlns:a16="http://schemas.microsoft.com/office/drawing/2014/main" id="{850ADBA0-4FCF-4AFD-A2E6-66EACA38F165}"/>
              </a:ext>
            </a:extLst>
          </p:cNvPr>
          <p:cNvSpPr>
            <a:spLocks xmlns:a="http://schemas.openxmlformats.org/drawingml/2006/main" noGrp="1"/>
          </p:cNvSpPr>
          <p:nvPr/>
        </p:nvSpPr>
        <p:spPr>
          <a:xfrm xmlns:a="http://schemas.openxmlformats.org/drawingml/2006/main">
            <a:off x="640080" y="3017520"/>
            <a:ext cx="1554480" cy="4114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2" name="Text 18">
            <a:extLst xmlns:a="http://schemas.openxmlformats.org/drawingml/2006/main">
              <a:ext uri="{FF2B5EF4-FFF2-40B4-BE49-F238E27FC236}">
                <a16:creationId xmlns:a16="http://schemas.microsoft.com/office/drawing/2014/main" id="{FFF24D1D-FDA6-477F-B849-3AD2DB74A5D2}"/>
              </a:ext>
            </a:extLst>
          </p:cNvPr>
          <p:cNvSpPr>
            <a:spLocks xmlns:a="http://schemas.openxmlformats.org/drawingml/2006/main" noGrp="1"/>
          </p:cNvSpPr>
          <p:nvPr/>
        </p:nvSpPr>
        <p:spPr>
          <a:xfrm xmlns:a="http://schemas.openxmlformats.org/drawingml/2006/main">
            <a:off x="685800" y="301752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ports:</a:t>
            </a:r>
            <a:endParaRPr sz="1100"/>
          </a:p>
        </p:txBody>
      </p:sp>
      <p:sp>
        <p:nvSpPr>
          <p:cNvPr id="23" name="Text 19">
            <a:extLst xmlns:a="http://schemas.openxmlformats.org/drawingml/2006/main">
              <a:ext uri="{FF2B5EF4-FFF2-40B4-BE49-F238E27FC236}">
                <a16:creationId xmlns:a16="http://schemas.microsoft.com/office/drawing/2014/main" id="{E92CD84A-78AE-41A4-AB56-50B44CE6BCAF}"/>
              </a:ext>
            </a:extLst>
          </p:cNvPr>
          <p:cNvSpPr>
            <a:spLocks xmlns:a="http://schemas.openxmlformats.org/drawingml/2006/main" noGrp="1"/>
          </p:cNvSpPr>
          <p:nvPr/>
        </p:nvSpPr>
        <p:spPr>
          <a:xfrm xmlns:a="http://schemas.openxmlformats.org/drawingml/2006/main">
            <a:off x="2286000" y="301752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Port mapping host:container</a:t>
            </a:r>
            <a:endParaRPr sz="1000"/>
          </a:p>
        </p:txBody>
      </p:sp>
      <p:sp>
        <p:nvSpPr>
          <p:cNvPr id="24" name="Shape 20">
            <a:extLst xmlns:a="http://schemas.openxmlformats.org/drawingml/2006/main">
              <a:ext uri="{FF2B5EF4-FFF2-40B4-BE49-F238E27FC236}">
                <a16:creationId xmlns:a16="http://schemas.microsoft.com/office/drawing/2014/main" id="{A997B8A7-5638-46AD-AC55-4A95532B9C9E}"/>
              </a:ext>
            </a:extLst>
          </p:cNvPr>
          <p:cNvSpPr>
            <a:spLocks xmlns:a="http://schemas.openxmlformats.org/drawingml/2006/main" noGrp="1"/>
          </p:cNvSpPr>
          <p:nvPr/>
        </p:nvSpPr>
        <p:spPr>
          <a:xfrm xmlns:a="http://schemas.openxmlformats.org/drawingml/2006/main">
            <a:off x="640080" y="3520440"/>
            <a:ext cx="4663440" cy="4114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5" name="Shape 21">
            <a:extLst xmlns:a="http://schemas.openxmlformats.org/drawingml/2006/main">
              <a:ext uri="{FF2B5EF4-FFF2-40B4-BE49-F238E27FC236}">
                <a16:creationId xmlns:a16="http://schemas.microsoft.com/office/drawing/2014/main" id="{C6254637-7E37-488E-AA6E-BC4A122CD76B}"/>
              </a:ext>
            </a:extLst>
          </p:cNvPr>
          <p:cNvSpPr>
            <a:spLocks xmlns:a="http://schemas.openxmlformats.org/drawingml/2006/main" noGrp="1"/>
          </p:cNvSpPr>
          <p:nvPr/>
        </p:nvSpPr>
        <p:spPr>
          <a:xfrm xmlns:a="http://schemas.openxmlformats.org/drawingml/2006/main">
            <a:off x="640080" y="3520440"/>
            <a:ext cx="1554480" cy="4114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6" name="Text 22">
            <a:extLst xmlns:a="http://schemas.openxmlformats.org/drawingml/2006/main">
              <a:ext uri="{FF2B5EF4-FFF2-40B4-BE49-F238E27FC236}">
                <a16:creationId xmlns:a16="http://schemas.microsoft.com/office/drawing/2014/main" id="{9D79502C-D87F-4770-B948-1BE8F8CF99FA}"/>
              </a:ext>
            </a:extLst>
          </p:cNvPr>
          <p:cNvSpPr>
            <a:spLocks xmlns:a="http://schemas.openxmlformats.org/drawingml/2006/main" noGrp="1"/>
          </p:cNvSpPr>
          <p:nvPr/>
        </p:nvSpPr>
        <p:spPr>
          <a:xfrm xmlns:a="http://schemas.openxmlformats.org/drawingml/2006/main">
            <a:off x="685800" y="352044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environment:</a:t>
            </a:r>
            <a:endParaRPr sz="1100"/>
          </a:p>
        </p:txBody>
      </p:sp>
      <p:sp>
        <p:nvSpPr>
          <p:cNvPr id="27" name="Text 23">
            <a:extLst xmlns:a="http://schemas.openxmlformats.org/drawingml/2006/main">
              <a:ext uri="{FF2B5EF4-FFF2-40B4-BE49-F238E27FC236}">
                <a16:creationId xmlns:a16="http://schemas.microsoft.com/office/drawing/2014/main" id="{40EE6B0A-91A8-49E7-8B48-A30B6797F729}"/>
              </a:ext>
            </a:extLst>
          </p:cNvPr>
          <p:cNvSpPr>
            <a:spLocks xmlns:a="http://schemas.openxmlformats.org/drawingml/2006/main" noGrp="1"/>
          </p:cNvSpPr>
          <p:nvPr/>
        </p:nvSpPr>
        <p:spPr>
          <a:xfrm xmlns:a="http://schemas.openxmlformats.org/drawingml/2006/main">
            <a:off x="2286000" y="352044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Env variable runtime</a:t>
            </a:r>
            <a:endParaRPr sz="1000"/>
          </a:p>
        </p:txBody>
      </p:sp>
      <p:sp>
        <p:nvSpPr>
          <p:cNvPr id="28" name="Shape 24">
            <a:extLst xmlns:a="http://schemas.openxmlformats.org/drawingml/2006/main">
              <a:ext uri="{FF2B5EF4-FFF2-40B4-BE49-F238E27FC236}">
                <a16:creationId xmlns:a16="http://schemas.microsoft.com/office/drawing/2014/main" id="{EC79BBE5-CFBB-4A69-8ED3-5032E418EBEC}"/>
              </a:ext>
            </a:extLst>
          </p:cNvPr>
          <p:cNvSpPr>
            <a:spLocks xmlns:a="http://schemas.openxmlformats.org/drawingml/2006/main" noGrp="1"/>
          </p:cNvSpPr>
          <p:nvPr/>
        </p:nvSpPr>
        <p:spPr>
          <a:xfrm xmlns:a="http://schemas.openxmlformats.org/drawingml/2006/main">
            <a:off x="640080" y="4023360"/>
            <a:ext cx="4663440" cy="4114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29" name="Shape 25">
            <a:extLst xmlns:a="http://schemas.openxmlformats.org/drawingml/2006/main">
              <a:ext uri="{FF2B5EF4-FFF2-40B4-BE49-F238E27FC236}">
                <a16:creationId xmlns:a16="http://schemas.microsoft.com/office/drawing/2014/main" id="{EFD4FCA9-ECD7-4971-81B4-19A1577F9044}"/>
              </a:ext>
            </a:extLst>
          </p:cNvPr>
          <p:cNvSpPr>
            <a:spLocks xmlns:a="http://schemas.openxmlformats.org/drawingml/2006/main" noGrp="1"/>
          </p:cNvSpPr>
          <p:nvPr/>
        </p:nvSpPr>
        <p:spPr>
          <a:xfrm xmlns:a="http://schemas.openxmlformats.org/drawingml/2006/main">
            <a:off x="640080" y="4023360"/>
            <a:ext cx="1554480" cy="4114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0" name="Text 26">
            <a:extLst xmlns:a="http://schemas.openxmlformats.org/drawingml/2006/main">
              <a:ext uri="{FF2B5EF4-FFF2-40B4-BE49-F238E27FC236}">
                <a16:creationId xmlns:a16="http://schemas.microsoft.com/office/drawing/2014/main" id="{3A95A18F-E7B7-42C4-8047-24AC02D6118F}"/>
              </a:ext>
            </a:extLst>
          </p:cNvPr>
          <p:cNvSpPr>
            <a:spLocks xmlns:a="http://schemas.openxmlformats.org/drawingml/2006/main" noGrp="1"/>
          </p:cNvSpPr>
          <p:nvPr/>
        </p:nvSpPr>
        <p:spPr>
          <a:xfrm xmlns:a="http://schemas.openxmlformats.org/drawingml/2006/main">
            <a:off x="685800" y="402336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volumes:</a:t>
            </a:r>
            <a:endParaRPr sz="1100"/>
          </a:p>
        </p:txBody>
      </p:sp>
      <p:sp>
        <p:nvSpPr>
          <p:cNvPr id="31" name="Text 27">
            <a:extLst xmlns:a="http://schemas.openxmlformats.org/drawingml/2006/main">
              <a:ext uri="{FF2B5EF4-FFF2-40B4-BE49-F238E27FC236}">
                <a16:creationId xmlns:a16="http://schemas.microsoft.com/office/drawing/2014/main" id="{4C1AACE2-12D3-4AF0-9AD3-4847D7BA14C0}"/>
              </a:ext>
            </a:extLst>
          </p:cNvPr>
          <p:cNvSpPr>
            <a:spLocks xmlns:a="http://schemas.openxmlformats.org/drawingml/2006/main" noGrp="1"/>
          </p:cNvSpPr>
          <p:nvPr/>
        </p:nvSpPr>
        <p:spPr>
          <a:xfrm xmlns:a="http://schemas.openxmlformats.org/drawingml/2006/main">
            <a:off x="2286000" y="402336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Mount data persistent / bind</a:t>
            </a:r>
            <a:endParaRPr sz="1000"/>
          </a:p>
        </p:txBody>
      </p:sp>
      <p:sp>
        <p:nvSpPr>
          <p:cNvPr id="32" name="Shape 28">
            <a:extLst xmlns:a="http://schemas.openxmlformats.org/drawingml/2006/main">
              <a:ext uri="{FF2B5EF4-FFF2-40B4-BE49-F238E27FC236}">
                <a16:creationId xmlns:a16="http://schemas.microsoft.com/office/drawing/2014/main" id="{07114884-12E3-4F6B-8D3B-10D1A777C885}"/>
              </a:ext>
            </a:extLst>
          </p:cNvPr>
          <p:cNvSpPr>
            <a:spLocks xmlns:a="http://schemas.openxmlformats.org/drawingml/2006/main" noGrp="1"/>
          </p:cNvSpPr>
          <p:nvPr/>
        </p:nvSpPr>
        <p:spPr>
          <a:xfrm xmlns:a="http://schemas.openxmlformats.org/drawingml/2006/main">
            <a:off x="640080" y="4526280"/>
            <a:ext cx="4663440" cy="4114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3" name="Shape 29">
            <a:extLst xmlns:a="http://schemas.openxmlformats.org/drawingml/2006/main">
              <a:ext uri="{FF2B5EF4-FFF2-40B4-BE49-F238E27FC236}">
                <a16:creationId xmlns:a16="http://schemas.microsoft.com/office/drawing/2014/main" id="{254F958C-4608-4409-AB20-01C6F46B4156}"/>
              </a:ext>
            </a:extLst>
          </p:cNvPr>
          <p:cNvSpPr>
            <a:spLocks xmlns:a="http://schemas.openxmlformats.org/drawingml/2006/main" noGrp="1"/>
          </p:cNvSpPr>
          <p:nvPr/>
        </p:nvSpPr>
        <p:spPr>
          <a:xfrm xmlns:a="http://schemas.openxmlformats.org/drawingml/2006/main">
            <a:off x="640080" y="4526280"/>
            <a:ext cx="1554480" cy="4114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4" name="Text 30">
            <a:extLst xmlns:a="http://schemas.openxmlformats.org/drawingml/2006/main">
              <a:ext uri="{FF2B5EF4-FFF2-40B4-BE49-F238E27FC236}">
                <a16:creationId xmlns:a16="http://schemas.microsoft.com/office/drawing/2014/main" id="{EAB9184C-B105-443C-A1A3-EDFC6FC7EAD7}"/>
              </a:ext>
            </a:extLst>
          </p:cNvPr>
          <p:cNvSpPr>
            <a:spLocks xmlns:a="http://schemas.openxmlformats.org/drawingml/2006/main" noGrp="1"/>
          </p:cNvSpPr>
          <p:nvPr/>
        </p:nvSpPr>
        <p:spPr>
          <a:xfrm xmlns:a="http://schemas.openxmlformats.org/drawingml/2006/main">
            <a:off x="685800" y="452628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depends_on:</a:t>
            </a:r>
            <a:endParaRPr sz="1100"/>
          </a:p>
        </p:txBody>
      </p:sp>
      <p:sp>
        <p:nvSpPr>
          <p:cNvPr id="35" name="Text 31">
            <a:extLst xmlns:a="http://schemas.openxmlformats.org/drawingml/2006/main">
              <a:ext uri="{FF2B5EF4-FFF2-40B4-BE49-F238E27FC236}">
                <a16:creationId xmlns:a16="http://schemas.microsoft.com/office/drawing/2014/main" id="{BC4A479D-0700-47BF-B431-28276E06A35A}"/>
              </a:ext>
            </a:extLst>
          </p:cNvPr>
          <p:cNvSpPr>
            <a:spLocks xmlns:a="http://schemas.openxmlformats.org/drawingml/2006/main" noGrp="1"/>
          </p:cNvSpPr>
          <p:nvPr/>
        </p:nvSpPr>
        <p:spPr>
          <a:xfrm xmlns:a="http://schemas.openxmlformats.org/drawingml/2006/main">
            <a:off x="2286000" y="452628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Urutan start service</a:t>
            </a:r>
            <a:endParaRPr sz="1000"/>
          </a:p>
        </p:txBody>
      </p:sp>
      <p:sp>
        <p:nvSpPr>
          <p:cNvPr id="36" name="Shape 32">
            <a:extLst xmlns:a="http://schemas.openxmlformats.org/drawingml/2006/main">
              <a:ext uri="{FF2B5EF4-FFF2-40B4-BE49-F238E27FC236}">
                <a16:creationId xmlns:a16="http://schemas.microsoft.com/office/drawing/2014/main" id="{6740AE7F-3194-4F1F-9951-3BC3D110A07B}"/>
              </a:ext>
            </a:extLst>
          </p:cNvPr>
          <p:cNvSpPr>
            <a:spLocks xmlns:a="http://schemas.openxmlformats.org/drawingml/2006/main" noGrp="1"/>
          </p:cNvSpPr>
          <p:nvPr/>
        </p:nvSpPr>
        <p:spPr>
          <a:xfrm xmlns:a="http://schemas.openxmlformats.org/drawingml/2006/main">
            <a:off x="640080" y="5029200"/>
            <a:ext cx="4663440" cy="4114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37" name="Shape 33">
            <a:extLst xmlns:a="http://schemas.openxmlformats.org/drawingml/2006/main">
              <a:ext uri="{FF2B5EF4-FFF2-40B4-BE49-F238E27FC236}">
                <a16:creationId xmlns:a16="http://schemas.microsoft.com/office/drawing/2014/main" id="{9982804D-F069-4C61-8206-7A953F4CD16F}"/>
              </a:ext>
            </a:extLst>
          </p:cNvPr>
          <p:cNvSpPr>
            <a:spLocks xmlns:a="http://schemas.openxmlformats.org/drawingml/2006/main" noGrp="1"/>
          </p:cNvSpPr>
          <p:nvPr/>
        </p:nvSpPr>
        <p:spPr>
          <a:xfrm xmlns:a="http://schemas.openxmlformats.org/drawingml/2006/main">
            <a:off x="640080" y="5029200"/>
            <a:ext cx="1554480" cy="4114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8" name="Text 34">
            <a:extLst xmlns:a="http://schemas.openxmlformats.org/drawingml/2006/main">
              <a:ext uri="{FF2B5EF4-FFF2-40B4-BE49-F238E27FC236}">
                <a16:creationId xmlns:a16="http://schemas.microsoft.com/office/drawing/2014/main" id="{811D19ED-DA76-4A05-BAF0-3AD031D1492F}"/>
              </a:ext>
            </a:extLst>
          </p:cNvPr>
          <p:cNvSpPr>
            <a:spLocks xmlns:a="http://schemas.openxmlformats.org/drawingml/2006/main" noGrp="1"/>
          </p:cNvSpPr>
          <p:nvPr/>
        </p:nvSpPr>
        <p:spPr>
          <a:xfrm xmlns:a="http://schemas.openxmlformats.org/drawingml/2006/main">
            <a:off x="685800" y="502920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restart:</a:t>
            </a:r>
            <a:endParaRPr sz="1100"/>
          </a:p>
        </p:txBody>
      </p:sp>
      <p:sp>
        <p:nvSpPr>
          <p:cNvPr id="39" name="Text 35">
            <a:extLst xmlns:a="http://schemas.openxmlformats.org/drawingml/2006/main">
              <a:ext uri="{FF2B5EF4-FFF2-40B4-BE49-F238E27FC236}">
                <a16:creationId xmlns:a16="http://schemas.microsoft.com/office/drawing/2014/main" id="{F6A29CEE-FDE8-4F3B-A6A1-C7F85A3C53D7}"/>
              </a:ext>
            </a:extLst>
          </p:cNvPr>
          <p:cNvSpPr>
            <a:spLocks xmlns:a="http://schemas.openxmlformats.org/drawingml/2006/main" noGrp="1"/>
          </p:cNvSpPr>
          <p:nvPr/>
        </p:nvSpPr>
        <p:spPr>
          <a:xfrm xmlns:a="http://schemas.openxmlformats.org/drawingml/2006/main">
            <a:off x="2286000" y="502920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Policy restart (no/always/unless-stopped)</a:t>
            </a:r>
            <a:endParaRPr sz="1000"/>
          </a:p>
        </p:txBody>
      </p:sp>
      <p:sp>
        <p:nvSpPr>
          <p:cNvPr id="40" name="Shape 36">
            <a:extLst xmlns:a="http://schemas.openxmlformats.org/drawingml/2006/main">
              <a:ext uri="{FF2B5EF4-FFF2-40B4-BE49-F238E27FC236}">
                <a16:creationId xmlns:a16="http://schemas.microsoft.com/office/drawing/2014/main" id="{C91F22A7-15B1-4FD2-B394-600E57DF7EDD}"/>
              </a:ext>
            </a:extLst>
          </p:cNvPr>
          <p:cNvSpPr>
            <a:spLocks xmlns:a="http://schemas.openxmlformats.org/drawingml/2006/main" noGrp="1"/>
          </p:cNvSpPr>
          <p:nvPr/>
        </p:nvSpPr>
        <p:spPr>
          <a:xfrm xmlns:a="http://schemas.openxmlformats.org/drawingml/2006/main">
            <a:off x="640080" y="5532120"/>
            <a:ext cx="4663440" cy="411480"/>
          </a:xfrm>
          <a:prstGeom xmlns:a="http://schemas.openxmlformats.org/drawingml/2006/main" prst="rect">
            <a:avLst/>
          </a:prstGeom>
          <a:solidFill xmlns:a="http://schemas.openxmlformats.org/drawingml/2006/main">
            <a:srgbClr val="FFFFFF"/>
          </a:solidFill>
          <a:ln xmlns:a="http://schemas.openxmlformats.org/drawingml/2006/main" w="12700">
            <a:solidFill>
              <a:srgbClr val="E2E8F0"/>
            </a:solidFill>
            <a:prstDash val="solid"/>
          </a:ln>
        </p:spPr>
      </p:sp>
      <p:sp>
        <p:nvSpPr>
          <p:cNvPr id="41" name="Shape 37">
            <a:extLst xmlns:a="http://schemas.openxmlformats.org/drawingml/2006/main">
              <a:ext uri="{FF2B5EF4-FFF2-40B4-BE49-F238E27FC236}">
                <a16:creationId xmlns:a16="http://schemas.microsoft.com/office/drawing/2014/main" id="{E93E5F7C-106A-4F33-9CE9-1C3A65D421C5}"/>
              </a:ext>
            </a:extLst>
          </p:cNvPr>
          <p:cNvSpPr>
            <a:spLocks xmlns:a="http://schemas.openxmlformats.org/drawingml/2006/main" noGrp="1"/>
          </p:cNvSpPr>
          <p:nvPr/>
        </p:nvSpPr>
        <p:spPr>
          <a:xfrm xmlns:a="http://schemas.openxmlformats.org/drawingml/2006/main">
            <a:off x="640080" y="5532120"/>
            <a:ext cx="1554480" cy="41148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42" name="Text 38">
            <a:extLst xmlns:a="http://schemas.openxmlformats.org/drawingml/2006/main">
              <a:ext uri="{FF2B5EF4-FFF2-40B4-BE49-F238E27FC236}">
                <a16:creationId xmlns:a16="http://schemas.microsoft.com/office/drawing/2014/main" id="{3DFCAF23-F3FC-4382-BD52-7EA52E562726}"/>
              </a:ext>
            </a:extLst>
          </p:cNvPr>
          <p:cNvSpPr>
            <a:spLocks xmlns:a="http://schemas.openxmlformats.org/drawingml/2006/main" noGrp="1"/>
          </p:cNvSpPr>
          <p:nvPr/>
        </p:nvSpPr>
        <p:spPr>
          <a:xfrm xmlns:a="http://schemas.openxmlformats.org/drawingml/2006/main">
            <a:off x="685800" y="5532120"/>
            <a:ext cx="14630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0B981"/>
                </a:solidFill>
                <a:latin typeface="Consolas"/>
                <a:ea typeface="Consolas"/>
                <a:cs typeface="Consolas"/>
              </a:rPr>
              <a:t>command:</a:t>
            </a:r>
            <a:endParaRPr sz="1100"/>
          </a:p>
        </p:txBody>
      </p:sp>
      <p:sp>
        <p:nvSpPr>
          <p:cNvPr id="43" name="Text 39">
            <a:extLst xmlns:a="http://schemas.openxmlformats.org/drawingml/2006/main">
              <a:ext uri="{FF2B5EF4-FFF2-40B4-BE49-F238E27FC236}">
                <a16:creationId xmlns:a16="http://schemas.microsoft.com/office/drawing/2014/main" id="{C2F703C5-1A3C-4D9E-AD73-7E9574A8720C}"/>
              </a:ext>
            </a:extLst>
          </p:cNvPr>
          <p:cNvSpPr>
            <a:spLocks xmlns:a="http://schemas.openxmlformats.org/drawingml/2006/main" noGrp="1"/>
          </p:cNvSpPr>
          <p:nvPr/>
        </p:nvSpPr>
        <p:spPr>
          <a:xfrm xmlns:a="http://schemas.openxmlformats.org/drawingml/2006/main">
            <a:off x="2286000" y="5532120"/>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E293B"/>
                </a:solidFill>
                <a:latin typeface="Calibri"/>
                <a:ea typeface="Calibri"/>
                <a:cs typeface="Calibri"/>
              </a:rPr>
              <a:t>Override CMD dari image</a:t>
            </a:r>
            <a:endParaRPr sz="1000"/>
          </a:p>
        </p:txBody>
      </p:sp>
      <p:sp>
        <p:nvSpPr>
          <p:cNvPr id="44" name="Shape 40">
            <a:extLst xmlns:a="http://schemas.openxmlformats.org/drawingml/2006/main">
              <a:ext uri="{FF2B5EF4-FFF2-40B4-BE49-F238E27FC236}">
                <a16:creationId xmlns:a16="http://schemas.microsoft.com/office/drawing/2014/main" id="{66862B8B-2B9C-4E3B-AE99-4F3F915F2462}"/>
              </a:ext>
            </a:extLst>
          </p:cNvPr>
          <p:cNvSpPr>
            <a:spLocks xmlns:a="http://schemas.openxmlformats.org/drawingml/2006/main" noGrp="1"/>
          </p:cNvSpPr>
          <p:nvPr/>
        </p:nvSpPr>
        <p:spPr>
          <a:xfrm xmlns:a="http://schemas.openxmlformats.org/drawingml/2006/main">
            <a:off x="5760720" y="1417320"/>
            <a:ext cx="5943600" cy="47548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45" name="Shape 41">
            <a:extLst xmlns:a="http://schemas.openxmlformats.org/drawingml/2006/main">
              <a:ext uri="{FF2B5EF4-FFF2-40B4-BE49-F238E27FC236}">
                <a16:creationId xmlns:a16="http://schemas.microsoft.com/office/drawing/2014/main" id="{26A81AAB-D874-455F-8D4E-95EDA6094D2A}"/>
              </a:ext>
            </a:extLst>
          </p:cNvPr>
          <p:cNvSpPr>
            <a:spLocks xmlns:a="http://schemas.openxmlformats.org/drawingml/2006/main" noGrp="1"/>
          </p:cNvSpPr>
          <p:nvPr/>
        </p:nvSpPr>
        <p:spPr>
          <a:xfrm xmlns:a="http://schemas.openxmlformats.org/drawingml/2006/main">
            <a:off x="5760720" y="1417320"/>
            <a:ext cx="59436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46" name="Shape 42">
            <a:extLst xmlns:a="http://schemas.openxmlformats.org/drawingml/2006/main">
              <a:ext uri="{FF2B5EF4-FFF2-40B4-BE49-F238E27FC236}">
                <a16:creationId xmlns:a16="http://schemas.microsoft.com/office/drawing/2014/main" id="{218AF5B9-713F-4944-9FA8-D29B1F9712D7}"/>
              </a:ext>
            </a:extLst>
          </p:cNvPr>
          <p:cNvSpPr>
            <a:spLocks xmlns:a="http://schemas.openxmlformats.org/drawingml/2006/main" noGrp="1"/>
          </p:cNvSpPr>
          <p:nvPr/>
        </p:nvSpPr>
        <p:spPr>
          <a:xfrm xmlns:a="http://schemas.openxmlformats.org/drawingml/2006/main">
            <a:off x="5852160" y="14996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47" name="Shape 43">
            <a:extLst xmlns:a="http://schemas.openxmlformats.org/drawingml/2006/main">
              <a:ext uri="{FF2B5EF4-FFF2-40B4-BE49-F238E27FC236}">
                <a16:creationId xmlns:a16="http://schemas.microsoft.com/office/drawing/2014/main" id="{207809F3-D033-479E-BAC5-64E122D37113}"/>
              </a:ext>
            </a:extLst>
          </p:cNvPr>
          <p:cNvSpPr>
            <a:spLocks xmlns:a="http://schemas.openxmlformats.org/drawingml/2006/main" noGrp="1"/>
          </p:cNvSpPr>
          <p:nvPr/>
        </p:nvSpPr>
        <p:spPr>
          <a:xfrm xmlns:a="http://schemas.openxmlformats.org/drawingml/2006/main">
            <a:off x="5989320" y="14996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48" name="Shape 44">
            <a:extLst xmlns:a="http://schemas.openxmlformats.org/drawingml/2006/main">
              <a:ext uri="{FF2B5EF4-FFF2-40B4-BE49-F238E27FC236}">
                <a16:creationId xmlns:a16="http://schemas.microsoft.com/office/drawing/2014/main" id="{8F7F66D0-88AB-470F-A6E7-112C07D86C79}"/>
              </a:ext>
            </a:extLst>
          </p:cNvPr>
          <p:cNvSpPr>
            <a:spLocks xmlns:a="http://schemas.openxmlformats.org/drawingml/2006/main" noGrp="1"/>
          </p:cNvSpPr>
          <p:nvPr/>
        </p:nvSpPr>
        <p:spPr>
          <a:xfrm xmlns:a="http://schemas.openxmlformats.org/drawingml/2006/main">
            <a:off x="6126480" y="14996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49" name="Text 45">
            <a:extLst xmlns:a="http://schemas.openxmlformats.org/drawingml/2006/main">
              <a:ext uri="{FF2B5EF4-FFF2-40B4-BE49-F238E27FC236}">
                <a16:creationId xmlns:a16="http://schemas.microsoft.com/office/drawing/2014/main" id="{62616532-6DA5-4741-BABD-FB931368FA7E}"/>
              </a:ext>
            </a:extLst>
          </p:cNvPr>
          <p:cNvSpPr>
            <a:spLocks xmlns:a="http://schemas.openxmlformats.org/drawingml/2006/main" noGrp="1"/>
          </p:cNvSpPr>
          <p:nvPr/>
        </p:nvSpPr>
        <p:spPr>
          <a:xfrm xmlns:a="http://schemas.openxmlformats.org/drawingml/2006/main">
            <a:off x="6309360" y="1417320"/>
            <a:ext cx="5212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service config lengkap</a:t>
            </a:r>
            <a:endParaRPr sz="900"/>
          </a:p>
        </p:txBody>
      </p:sp>
      <p:sp>
        <p:nvSpPr>
          <p:cNvPr id="50" name="Text 46">
            <a:extLst xmlns:a="http://schemas.openxmlformats.org/drawingml/2006/main">
              <a:ext uri="{FF2B5EF4-FFF2-40B4-BE49-F238E27FC236}">
                <a16:creationId xmlns:a16="http://schemas.microsoft.com/office/drawing/2014/main" id="{DA34F52E-A9E8-480F-BD39-55DAE9A00EE1}"/>
              </a:ext>
            </a:extLst>
          </p:cNvPr>
          <p:cNvSpPr>
            <a:spLocks xmlns:a="http://schemas.openxmlformats.org/drawingml/2006/main" noGrp="1"/>
          </p:cNvSpPr>
          <p:nvPr/>
        </p:nvSpPr>
        <p:spPr>
          <a:xfrm xmlns:a="http://schemas.openxmlformats.org/drawingml/2006/main">
            <a:off x="5897880" y="1783080"/>
            <a:ext cx="5669280" cy="4297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94A3B8"/>
                </a:solidFill>
                <a:latin typeface="Consolas"/>
                <a:ea typeface="Consolas"/>
                <a:cs typeface="Consolas"/>
              </a:rPr>
              <a:t>    # Build dari Dockerfile lokal</a:t>
            </a:r>
            <a:endParaRPr sz="1100"/>
          </a:p>
          <a:p xmlns:a="http://schemas.openxmlformats.org/drawingml/2006/main">
            <a:pPr marL="0" indent="0">
              <a:spcAft>
                <a:spcPts val="200"/>
              </a:spcAft>
              <a:buNone/>
            </a:pPr>
            <a:r>
              <a:rPr sz="1100">
                <a:solidFill>
                  <a:srgbClr val="E2E8F0"/>
                </a:solidFill>
                <a:latin typeface="Consolas"/>
                <a:ea typeface="Consolas"/>
                <a:cs typeface="Consolas"/>
              </a:rPr>
              <a:t>    build:</a:t>
            </a:r>
            <a:endParaRPr sz="1100"/>
          </a:p>
          <a:p xmlns:a="http://schemas.openxmlformats.org/drawingml/2006/main">
            <a:pPr marL="0" indent="0">
              <a:spcAft>
                <a:spcPts val="200"/>
              </a:spcAft>
              <a:buNone/>
            </a:pPr>
            <a:r>
              <a:rPr sz="1100">
                <a:solidFill>
                  <a:srgbClr val="E2E8F0"/>
                </a:solidFill>
                <a:latin typeface="Consolas"/>
                <a:ea typeface="Consolas"/>
                <a:cs typeface="Consolas"/>
              </a:rPr>
              <a:t>      context: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dockerfile: Dockerfile.prod</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 Image tag setelah build</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myapp/api:1.0</a:t>
            </a:r>
            <a:endParaRPr sz="1100"/>
          </a:p>
          <a:p xmlns:a="http://schemas.openxmlformats.org/drawingml/2006/main">
            <a:pPr marL="0" indent="0">
              <a:spcAft>
                <a:spcPts val="200"/>
              </a:spcAft>
              <a:buNone/>
            </a:pPr>
            <a:r>
              <a:rPr sz="1100">
                <a:solidFill>
                  <a:srgbClr val="E2E8F0"/>
                </a:solidFill>
                <a:latin typeface="Consolas"/>
                <a:ea typeface="Consolas"/>
                <a:cs typeface="Consolas"/>
              </a:rPr>
              <a:t>    # Hindari container_name jika perlu replica</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E2E8F0"/>
                </a:solidFill>
                <a:latin typeface="Consolas"/>
                <a:ea typeface="Consolas"/>
                <a:cs typeface="Consolas"/>
              </a:rPr>
              <a:t>    ports:</a:t>
            </a:r>
            <a:endParaRPr sz="1100"/>
          </a:p>
          <a:p xmlns:a="http://schemas.openxmlformats.org/drawingml/2006/main">
            <a:pPr marL="0" indent="0">
              <a:spcAft>
                <a:spcPts val="200"/>
              </a:spcAft>
              <a:buNone/>
            </a:pPr>
            <a:r>
              <a:rPr sz="1100">
                <a:solidFill>
                  <a:srgbClr val="E2E8F0"/>
                </a:solidFill>
                <a:latin typeface="Consolas"/>
                <a:ea typeface="Consolas"/>
                <a:cs typeface="Consolas"/>
              </a:rPr>
              <a:t>      - "3000:3000"</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E2E8F0"/>
                </a:solidFill>
                <a:latin typeface="Consolas"/>
                <a:ea typeface="Consolas"/>
                <a:cs typeface="Consolas"/>
              </a:rPr>
              <a:t>    environment:</a:t>
            </a:r>
            <a:endParaRPr sz="1100"/>
          </a:p>
          <a:p xmlns:a="http://schemas.openxmlformats.org/drawingml/2006/main">
            <a:pPr marL="0" indent="0">
              <a:spcAft>
                <a:spcPts val="200"/>
              </a:spcAft>
              <a:buNone/>
            </a:pPr>
            <a:r>
              <a:rPr sz="1100">
                <a:solidFill>
                  <a:srgbClr val="E2E8F0"/>
                </a:solidFill>
                <a:latin typeface="Consolas"/>
                <a:ea typeface="Consolas"/>
                <a:cs typeface="Consolas"/>
              </a:rPr>
              <a:t>      NODE_ENV: production</a:t>
            </a:r>
            <a:endParaRPr sz="1100"/>
          </a:p>
          <a:p xmlns:a="http://schemas.openxmlformats.org/drawingml/2006/main">
            <a:pPr marL="0" indent="0">
              <a:spcAft>
                <a:spcPts val="200"/>
              </a:spcAft>
              <a:buNone/>
            </a:pPr>
            <a:r>
              <a:rPr sz="1100">
                <a:solidFill>
                  <a:srgbClr val="E2E8F0"/>
                </a:solidFill>
                <a:latin typeface="Consolas"/>
                <a:ea typeface="Consolas"/>
                <a:cs typeface="Consolas"/>
              </a:rPr>
              <a:t>      DB_HOST: db</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10B981"/>
                </a:solidFill>
                <a:latin typeface="Consolas"/>
                <a:ea typeface="Consolas"/>
                <a:cs typeface="Consolas"/>
              </a:rPr>
              <a:t>    restart: unless-stopped</a:t>
            </a:r>
            <a:endParaRPr sz="1100"/>
          </a:p>
          <a:p xmlns:a="http://schemas.openxmlformats.org/drawingml/2006/main">
            <a:pPr marL="0" indent="0">
              <a:spcAft>
                <a:spcPts val="200"/>
              </a:spcAft>
              <a:buNone/>
            </a:pPr>
            <a:r>
              <a:rPr sz="1100">
                <a:solidFill>
                  <a:srgbClr val="E2E8F0"/>
                </a:solidFill>
                <a:latin typeface="Consolas"/>
                <a:ea typeface="Consolas"/>
                <a:cs typeface="Consolas"/>
              </a:rPr>
              <a:t>    depends_on:</a:t>
            </a:r>
            <a:endParaRPr sz="1100"/>
          </a:p>
          <a:p xmlns:a="http://schemas.openxmlformats.org/drawingml/2006/main">
            <a:pPr marL="0" indent="0">
              <a:spcAft>
                <a:spcPts val="200"/>
              </a:spcAft>
              <a:buNone/>
            </a:pPr>
            <a:r>
              <a:rPr sz="1100">
                <a:solidFill>
                  <a:srgbClr val="E2E8F0"/>
                </a:solidFill>
                <a:latin typeface="Consolas"/>
                <a:ea typeface="Consolas"/>
                <a:cs typeface="Consolas"/>
              </a:rPr>
              <a:t>      - db</a:t>
            </a:r>
            <a:endParaRPr sz="1100"/>
          </a:p>
        </p:txBody>
      </p:sp>
    </p:spTree>
    <p:extLst>
      <p:ext uri="{BB962C8B-B14F-4D97-AF65-F5344CB8AC3E}">
        <p14:creationId xmlns:p14="http://schemas.microsoft.com/office/powerpoint/2010/main" val="11766679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CD2DEA-DAC1-4EFE-ADAA-7EA7FF47F56C}"/>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11D9A050-1019-428B-AFF0-3AE120CC10B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10</a:t>
            </a:r>
            <a:endParaRPr sz="900"/>
          </a:p>
        </p:txBody>
      </p:sp>
      <p:sp>
        <p:nvSpPr>
          <p:cNvPr id="4" name="Shape 2">
            <a:extLst xmlns:a="http://schemas.openxmlformats.org/drawingml/2006/main">
              <a:ext uri="{FF2B5EF4-FFF2-40B4-BE49-F238E27FC236}">
                <a16:creationId xmlns:a16="http://schemas.microsoft.com/office/drawing/2014/main" id="{12487B8A-5DC1-4818-AB8F-21A2C095064A}"/>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1" name="Image 0">
            <a:extLst xmlns:a="http://schemas.openxmlformats.org/drawingml/2006/main">
              <a:ext uri="{FF2B5EF4-FFF2-40B4-BE49-F238E27FC236}">
                <a16:creationId xmlns:a16="http://schemas.microsoft.com/office/drawing/2014/main" id="{CFEE58BD-23D6-4896-B240-987751E93AB8}"/>
              </a:ext>
            </a:extLst>
          </p:cNvPr>
          <p:cNvPicPr>
            <a:picLocks xmlns:a="http://schemas.openxmlformats.org/drawingml/2006/main" noChangeAspect="1"/>
          </p:cNvPicPr>
          <p:nvPr/>
        </p:nvPicPr>
        <p:blipFill>
          <a:blip xmlns:r="http://schemas.openxmlformats.org/officeDocument/2006/relationships" xmlns:a="http://schemas.openxmlformats.org/drawingml/2006/main" r:embed="R4584372f555b47d8"/>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2" name="Image 1">
            <a:extLst xmlns:a="http://schemas.openxmlformats.org/drawingml/2006/main">
              <a:ext uri="{FF2B5EF4-FFF2-40B4-BE49-F238E27FC236}">
                <a16:creationId xmlns:a16="http://schemas.microsoft.com/office/drawing/2014/main" id="{BE875B5F-DF0A-46A2-830D-DF75B91C188C}"/>
              </a:ext>
            </a:extLst>
          </p:cNvPr>
          <p:cNvPicPr>
            <a:picLocks xmlns:a="http://schemas.openxmlformats.org/drawingml/2006/main" noChangeAspect="1"/>
          </p:cNvPicPr>
          <p:nvPr/>
        </p:nvPicPr>
        <p:blipFill>
          <a:blip xmlns:r="http://schemas.openxmlformats.org/officeDocument/2006/relationships" xmlns:a="http://schemas.openxmlformats.org/drawingml/2006/main" r:embed="R49d026d09857404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8684A473-E7F4-408D-9AF6-F0CF6F28FB16}"/>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231771D2-77AE-4923-9261-1D142DF8D626}"/>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Networks - Service Discovery via DNS</a:t>
            </a:r>
            <a:endParaRPr sz="2200"/>
          </a:p>
        </p:txBody>
      </p:sp>
      <p:sp>
        <p:nvSpPr>
          <p:cNvPr id="9" name="Text 5">
            <a:extLst xmlns:a="http://schemas.openxmlformats.org/drawingml/2006/main">
              <a:ext uri="{FF2B5EF4-FFF2-40B4-BE49-F238E27FC236}">
                <a16:creationId xmlns:a16="http://schemas.microsoft.com/office/drawing/2014/main" id="{D1D8E900-9201-4B6D-B2D3-1AB3D10AD092}"/>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Default network + custom network untuk isolasi tier</a:t>
            </a:r>
            <a:endParaRPr sz="1200"/>
          </a:p>
        </p:txBody>
      </p:sp>
      <p:sp>
        <p:nvSpPr>
          <p:cNvPr id="10" name="Shape 6">
            <a:extLst xmlns:a="http://schemas.openxmlformats.org/drawingml/2006/main">
              <a:ext uri="{FF2B5EF4-FFF2-40B4-BE49-F238E27FC236}">
                <a16:creationId xmlns:a16="http://schemas.microsoft.com/office/drawing/2014/main" id="{0B7654DE-8A8A-495F-940E-300A7C705BC5}"/>
              </a:ext>
            </a:extLst>
          </p:cNvPr>
          <p:cNvSpPr>
            <a:spLocks xmlns:a="http://schemas.openxmlformats.org/drawingml/2006/main" noGrp="1"/>
          </p:cNvSpPr>
          <p:nvPr/>
        </p:nvSpPr>
        <p:spPr>
          <a:xfrm xmlns:a="http://schemas.openxmlformats.org/drawingml/2006/main">
            <a:off x="457200" y="1417320"/>
            <a:ext cx="1124712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2DE8180A-58D3-4188-81DC-5FA2F8A35F86}"/>
              </a:ext>
            </a:extLst>
          </p:cNvPr>
          <p:cNvSpPr>
            <a:spLocks xmlns:a="http://schemas.openxmlformats.org/drawingml/2006/main" noGrp="1"/>
          </p:cNvSpPr>
          <p:nvPr/>
        </p:nvSpPr>
        <p:spPr>
          <a:xfrm xmlns:a="http://schemas.openxmlformats.org/drawingml/2006/main">
            <a:off x="685800" y="1508760"/>
            <a:ext cx="107899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Default behavior: </a:t>
            </a:r>
            <a:r>
              <a:rPr sz="1300">
                <a:solidFill>
                  <a:srgbClr val="FFFFFF"/>
                </a:solidFill>
                <a:latin typeface="Calibri"/>
                <a:ea typeface="Calibri"/>
                <a:cs typeface="Calibri"/>
              </a:rPr>
              <a:t>Compose otomatis bikin 1 network bridge untuk semua service.</a:t>
            </a:r>
            <a:endParaRPr sz="1300"/>
          </a:p>
          <a:p xmlns:a="http://schemas.openxmlformats.org/drawingml/2006/main">
            <a:pPr marL="0" indent="0">
              <a:buNone/>
            </a:pPr>
            <a:r>
              <a:rPr sz="1100" i="1">
                <a:solidFill>
                  <a:srgbClr val="FFE0B2"/>
                </a:solidFill>
                <a:latin typeface="Calibri"/>
                <a:ea typeface="Calibri"/>
                <a:cs typeface="Calibri"/>
              </a:rPr>
              <a:t>Service kontak satu sama lain pakai nama service-nya (bukan IP). 'db', 'api', 'web' jadi DNS hostname.</a:t>
            </a:r>
            <a:endParaRPr sz="1300"/>
          </a:p>
        </p:txBody>
      </p:sp>
      <p:sp>
        <p:nvSpPr>
          <p:cNvPr id="12" name="Shape 8">
            <a:extLst xmlns:a="http://schemas.openxmlformats.org/drawingml/2006/main">
              <a:ext uri="{FF2B5EF4-FFF2-40B4-BE49-F238E27FC236}">
                <a16:creationId xmlns:a16="http://schemas.microsoft.com/office/drawing/2014/main" id="{6451B67A-97BE-408B-8FCE-972F4CC1BED3}"/>
              </a:ext>
            </a:extLst>
          </p:cNvPr>
          <p:cNvSpPr>
            <a:spLocks xmlns:a="http://schemas.openxmlformats.org/drawingml/2006/main" noGrp="1"/>
          </p:cNvSpPr>
          <p:nvPr/>
        </p:nvSpPr>
        <p:spPr>
          <a:xfrm xmlns:a="http://schemas.openxmlformats.org/drawingml/2006/main">
            <a:off x="457200" y="2514600"/>
            <a:ext cx="5577840" cy="37490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3" name="Shape 9">
            <a:extLst xmlns:a="http://schemas.openxmlformats.org/drawingml/2006/main">
              <a:ext uri="{FF2B5EF4-FFF2-40B4-BE49-F238E27FC236}">
                <a16:creationId xmlns:a16="http://schemas.microsoft.com/office/drawing/2014/main" id="{2F1DF42E-0E74-4519-8197-F069180D7A4D}"/>
              </a:ext>
            </a:extLst>
          </p:cNvPr>
          <p:cNvSpPr>
            <a:spLocks xmlns:a="http://schemas.openxmlformats.org/drawingml/2006/main" noGrp="1"/>
          </p:cNvSpPr>
          <p:nvPr/>
        </p:nvSpPr>
        <p:spPr>
          <a:xfrm xmlns:a="http://schemas.openxmlformats.org/drawingml/2006/main">
            <a:off x="457200" y="2514600"/>
            <a:ext cx="55778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4" name="Shape 10">
            <a:extLst xmlns:a="http://schemas.openxmlformats.org/drawingml/2006/main">
              <a:ext uri="{FF2B5EF4-FFF2-40B4-BE49-F238E27FC236}">
                <a16:creationId xmlns:a16="http://schemas.microsoft.com/office/drawing/2014/main" id="{0145A4CC-2365-4BA6-BAB8-A98C05E82AA1}"/>
              </a:ext>
            </a:extLst>
          </p:cNvPr>
          <p:cNvSpPr>
            <a:spLocks xmlns:a="http://schemas.openxmlformats.org/drawingml/2006/main" noGrp="1"/>
          </p:cNvSpPr>
          <p:nvPr/>
        </p:nvSpPr>
        <p:spPr>
          <a:xfrm xmlns:a="http://schemas.openxmlformats.org/drawingml/2006/main">
            <a:off x="548640" y="259689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5" name="Shape 11">
            <a:extLst xmlns:a="http://schemas.openxmlformats.org/drawingml/2006/main">
              <a:ext uri="{FF2B5EF4-FFF2-40B4-BE49-F238E27FC236}">
                <a16:creationId xmlns:a16="http://schemas.microsoft.com/office/drawing/2014/main" id="{90979A14-70D6-450F-8605-D6E0287AAC3A}"/>
              </a:ext>
            </a:extLst>
          </p:cNvPr>
          <p:cNvSpPr>
            <a:spLocks xmlns:a="http://schemas.openxmlformats.org/drawingml/2006/main" noGrp="1"/>
          </p:cNvSpPr>
          <p:nvPr/>
        </p:nvSpPr>
        <p:spPr>
          <a:xfrm xmlns:a="http://schemas.openxmlformats.org/drawingml/2006/main">
            <a:off x="685800" y="259689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6" name="Shape 12">
            <a:extLst xmlns:a="http://schemas.openxmlformats.org/drawingml/2006/main">
              <a:ext uri="{FF2B5EF4-FFF2-40B4-BE49-F238E27FC236}">
                <a16:creationId xmlns:a16="http://schemas.microsoft.com/office/drawing/2014/main" id="{D16D84F4-FF9E-43AC-B08E-98D5F80B3D38}"/>
              </a:ext>
            </a:extLst>
          </p:cNvPr>
          <p:cNvSpPr>
            <a:spLocks xmlns:a="http://schemas.openxmlformats.org/drawingml/2006/main" noGrp="1"/>
          </p:cNvSpPr>
          <p:nvPr/>
        </p:nvSpPr>
        <p:spPr>
          <a:xfrm xmlns:a="http://schemas.openxmlformats.org/drawingml/2006/main">
            <a:off x="822960" y="259689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7" name="Text 13">
            <a:extLst xmlns:a="http://schemas.openxmlformats.org/drawingml/2006/main">
              <a:ext uri="{FF2B5EF4-FFF2-40B4-BE49-F238E27FC236}">
                <a16:creationId xmlns:a16="http://schemas.microsoft.com/office/drawing/2014/main" id="{CB2116FA-C957-4F14-934F-CDA88FC04E80}"/>
              </a:ext>
            </a:extLst>
          </p:cNvPr>
          <p:cNvSpPr>
            <a:spLocks xmlns:a="http://schemas.openxmlformats.org/drawingml/2006/main" noGrp="1"/>
          </p:cNvSpPr>
          <p:nvPr/>
        </p:nvSpPr>
        <p:spPr>
          <a:xfrm xmlns:a="http://schemas.openxmlformats.org/drawingml/2006/main">
            <a:off x="1005840" y="251460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default network - auto-managed</a:t>
            </a:r>
            <a:endParaRPr sz="900"/>
          </a:p>
        </p:txBody>
      </p:sp>
      <p:sp>
        <p:nvSpPr>
          <p:cNvPr id="18" name="Text 14">
            <a:extLst xmlns:a="http://schemas.openxmlformats.org/drawingml/2006/main">
              <a:ext uri="{FF2B5EF4-FFF2-40B4-BE49-F238E27FC236}">
                <a16:creationId xmlns:a16="http://schemas.microsoft.com/office/drawing/2014/main" id="{27EDC928-EB64-4CE6-8399-DB764D77205F}"/>
              </a:ext>
            </a:extLst>
          </p:cNvPr>
          <p:cNvSpPr>
            <a:spLocks xmlns:a="http://schemas.openxmlformats.org/drawingml/2006/main" noGrp="1"/>
          </p:cNvSpPr>
          <p:nvPr/>
        </p:nvSpPr>
        <p:spPr>
          <a:xfrm xmlns:a="http://schemas.openxmlformats.org/drawingml/2006/main">
            <a:off x="594360" y="2880360"/>
            <a:ext cx="530352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myapp/api:1.0</a:t>
            </a:r>
            <a:endParaRPr sz="1100"/>
          </a:p>
          <a:p xmlns:a="http://schemas.openxmlformats.org/drawingml/2006/main">
            <a:pPr marL="0" indent="0">
              <a:spcAft>
                <a:spcPts val="200"/>
              </a:spcAft>
              <a:buNone/>
            </a:pPr>
            <a:r>
              <a:rPr sz="1100">
                <a:solidFill>
                  <a:srgbClr val="E2E8F0"/>
                </a:solidFill>
                <a:latin typeface="Consolas"/>
                <a:ea typeface="Consolas"/>
                <a:cs typeface="Consolas"/>
              </a:rPr>
              <a:t>    environment:</a:t>
            </a:r>
            <a:endParaRPr sz="1100"/>
          </a:p>
          <a:p xmlns:a="http://schemas.openxmlformats.org/drawingml/2006/main">
            <a:pPr marL="0" indent="0">
              <a:spcAft>
                <a:spcPts val="200"/>
              </a:spcAft>
              <a:buNone/>
            </a:pPr>
            <a:r>
              <a:rPr sz="1100">
                <a:solidFill>
                  <a:srgbClr val="94A3B8"/>
                </a:solidFill>
                <a:latin typeface="Consolas"/>
                <a:ea typeface="Consolas"/>
                <a:cs typeface="Consolas"/>
              </a:rPr>
              <a:t>      # Akses db pakai service name!</a:t>
            </a:r>
            <a:endParaRPr sz="1100"/>
          </a:p>
          <a:p xmlns:a="http://schemas.openxmlformats.org/drawingml/2006/main">
            <a:pPr marL="0" indent="0">
              <a:spcAft>
                <a:spcPts val="200"/>
              </a:spcAft>
              <a:buNone/>
            </a:pPr>
            <a:r>
              <a:rPr sz="1100" b="1">
                <a:solidFill>
                  <a:srgbClr val="10B981"/>
                </a:solidFill>
                <a:latin typeface="Consolas"/>
                <a:ea typeface="Consolas"/>
                <a:cs typeface="Consolas"/>
              </a:rPr>
              <a:t>      DB_HOST: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DB_PORT: 5432</a:t>
            </a:r>
            <a:endParaRPr sz="1100"/>
          </a:p>
          <a:p xmlns:a="http://schemas.openxmlformats.org/drawingml/2006/main">
            <a:pPr marL="0" indent="0">
              <a:spcAft>
                <a:spcPts val="200"/>
              </a:spcAft>
              <a:buNone/>
            </a:pPr>
            <a:r>
              <a:rPr sz="1100" b="1">
                <a:solidFill>
                  <a:srgbClr val="10B981"/>
                </a:solidFill>
                <a:latin typeface="Consolas"/>
                <a:ea typeface="Consolas"/>
                <a:cs typeface="Consolas"/>
              </a:rPr>
              <a:t>      REDIS_URL: redis://cache:6379</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60A5FA"/>
                </a:solidFill>
                <a:latin typeface="Consolas"/>
                <a:ea typeface="Consolas"/>
                <a:cs typeface="Consolas"/>
              </a:rPr>
              <a: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postgres:15-alpine</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60A5FA"/>
                </a:solidFill>
                <a:latin typeface="Consolas"/>
                <a:ea typeface="Consolas"/>
                <a:cs typeface="Consolas"/>
              </a:rPr>
              <a:t>  cache:</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redis:7-alpine</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Network auto-dibuat: &lt;project&gt;_default</a:t>
            </a:r>
            <a:endParaRPr sz="1100"/>
          </a:p>
          <a:p xmlns:a="http://schemas.openxmlformats.org/drawingml/2006/main">
            <a:pPr marL="0" indent="0">
              <a:spcAft>
                <a:spcPts val="200"/>
              </a:spcAft>
              <a:buNone/>
            </a:pPr>
            <a:r>
              <a:rPr sz="1100">
                <a:solidFill>
                  <a:srgbClr val="94A3B8"/>
                </a:solidFill>
                <a:latin typeface="Consolas"/>
                <a:ea typeface="Consolas"/>
                <a:cs typeface="Consolas"/>
              </a:rPr>
              <a:t># Semua service di network sama - bisa saling kontak</a:t>
            </a:r>
            <a:endParaRPr sz="1100"/>
          </a:p>
        </p:txBody>
      </p:sp>
      <p:sp>
        <p:nvSpPr>
          <p:cNvPr id="19" name="Shape 15">
            <a:extLst xmlns:a="http://schemas.openxmlformats.org/drawingml/2006/main">
              <a:ext uri="{FF2B5EF4-FFF2-40B4-BE49-F238E27FC236}">
                <a16:creationId xmlns:a16="http://schemas.microsoft.com/office/drawing/2014/main" id="{261F6C8A-BD8A-44C4-BDBC-BF0485EFEA18}"/>
              </a:ext>
            </a:extLst>
          </p:cNvPr>
          <p:cNvSpPr>
            <a:spLocks xmlns:a="http://schemas.openxmlformats.org/drawingml/2006/main" noGrp="1"/>
          </p:cNvSpPr>
          <p:nvPr/>
        </p:nvSpPr>
        <p:spPr>
          <a:xfrm xmlns:a="http://schemas.openxmlformats.org/drawingml/2006/main">
            <a:off x="6217920" y="2514600"/>
            <a:ext cx="5486400" cy="37490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0" name="Shape 16">
            <a:extLst xmlns:a="http://schemas.openxmlformats.org/drawingml/2006/main">
              <a:ext uri="{FF2B5EF4-FFF2-40B4-BE49-F238E27FC236}">
                <a16:creationId xmlns:a16="http://schemas.microsoft.com/office/drawing/2014/main" id="{2C5F6EE3-18D4-4023-8A50-844475FB111C}"/>
              </a:ext>
            </a:extLst>
          </p:cNvPr>
          <p:cNvSpPr>
            <a:spLocks xmlns:a="http://schemas.openxmlformats.org/drawingml/2006/main" noGrp="1"/>
          </p:cNvSpPr>
          <p:nvPr/>
        </p:nvSpPr>
        <p:spPr>
          <a:xfrm xmlns:a="http://schemas.openxmlformats.org/drawingml/2006/main">
            <a:off x="6217920" y="2514600"/>
            <a:ext cx="54864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1" name="Shape 17">
            <a:extLst xmlns:a="http://schemas.openxmlformats.org/drawingml/2006/main">
              <a:ext uri="{FF2B5EF4-FFF2-40B4-BE49-F238E27FC236}">
                <a16:creationId xmlns:a16="http://schemas.microsoft.com/office/drawing/2014/main" id="{502FDED3-87B9-44FE-B4FB-18C74FC8CF14}"/>
              </a:ext>
            </a:extLst>
          </p:cNvPr>
          <p:cNvSpPr>
            <a:spLocks xmlns:a="http://schemas.openxmlformats.org/drawingml/2006/main" noGrp="1"/>
          </p:cNvSpPr>
          <p:nvPr/>
        </p:nvSpPr>
        <p:spPr>
          <a:xfrm xmlns:a="http://schemas.openxmlformats.org/drawingml/2006/main">
            <a:off x="6309360" y="259689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2" name="Shape 18">
            <a:extLst xmlns:a="http://schemas.openxmlformats.org/drawingml/2006/main">
              <a:ext uri="{FF2B5EF4-FFF2-40B4-BE49-F238E27FC236}">
                <a16:creationId xmlns:a16="http://schemas.microsoft.com/office/drawing/2014/main" id="{4A050EEB-40A1-4DE8-83FA-ED7CB4ABE482}"/>
              </a:ext>
            </a:extLst>
          </p:cNvPr>
          <p:cNvSpPr>
            <a:spLocks xmlns:a="http://schemas.openxmlformats.org/drawingml/2006/main" noGrp="1"/>
          </p:cNvSpPr>
          <p:nvPr/>
        </p:nvSpPr>
        <p:spPr>
          <a:xfrm xmlns:a="http://schemas.openxmlformats.org/drawingml/2006/main">
            <a:off x="6446520" y="259689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3" name="Shape 19">
            <a:extLst xmlns:a="http://schemas.openxmlformats.org/drawingml/2006/main">
              <a:ext uri="{FF2B5EF4-FFF2-40B4-BE49-F238E27FC236}">
                <a16:creationId xmlns:a16="http://schemas.microsoft.com/office/drawing/2014/main" id="{AFEBD11A-D287-4E56-89AE-F0266E2019A2}"/>
              </a:ext>
            </a:extLst>
          </p:cNvPr>
          <p:cNvSpPr>
            <a:spLocks xmlns:a="http://schemas.openxmlformats.org/drawingml/2006/main" noGrp="1"/>
          </p:cNvSpPr>
          <p:nvPr/>
        </p:nvSpPr>
        <p:spPr>
          <a:xfrm xmlns:a="http://schemas.openxmlformats.org/drawingml/2006/main">
            <a:off x="6583680" y="259689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4" name="Text 20">
            <a:extLst xmlns:a="http://schemas.openxmlformats.org/drawingml/2006/main">
              <a:ext uri="{FF2B5EF4-FFF2-40B4-BE49-F238E27FC236}">
                <a16:creationId xmlns:a16="http://schemas.microsoft.com/office/drawing/2014/main" id="{5DB38F96-C765-4667-BE6C-C1DD98A8D268}"/>
              </a:ext>
            </a:extLst>
          </p:cNvPr>
          <p:cNvSpPr>
            <a:spLocks xmlns:a="http://schemas.openxmlformats.org/drawingml/2006/main" noGrp="1"/>
          </p:cNvSpPr>
          <p:nvPr/>
        </p:nvSpPr>
        <p:spPr>
          <a:xfrm xmlns:a="http://schemas.openxmlformats.org/drawingml/2006/main">
            <a:off x="6766560" y="251460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custom network - isolasi tier</a:t>
            </a:r>
            <a:endParaRPr sz="900"/>
          </a:p>
        </p:txBody>
      </p:sp>
      <p:sp>
        <p:nvSpPr>
          <p:cNvPr id="25" name="Text 21">
            <a:extLst xmlns:a="http://schemas.openxmlformats.org/drawingml/2006/main">
              <a:ext uri="{FF2B5EF4-FFF2-40B4-BE49-F238E27FC236}">
                <a16:creationId xmlns:a16="http://schemas.microsoft.com/office/drawing/2014/main" id="{60D88E0B-772A-4EA8-9213-3F93E0A08375}"/>
              </a:ext>
            </a:extLst>
          </p:cNvPr>
          <p:cNvSpPr>
            <a:spLocks xmlns:a="http://schemas.openxmlformats.org/drawingml/2006/main" noGrp="1"/>
          </p:cNvSpPr>
          <p:nvPr/>
        </p:nvSpPr>
        <p:spPr>
          <a:xfrm xmlns:a="http://schemas.openxmlformats.org/drawingml/2006/main">
            <a:off x="6355080" y="2880360"/>
            <a:ext cx="521208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F37021"/>
                </a:solidFill>
                <a:latin typeface="Consolas"/>
                <a:ea typeface="Consolas"/>
                <a:cs typeface="Consolas"/>
              </a:rPr>
              <a:t>  web:</a:t>
            </a:r>
          </a:p>
          <a:p xmlns:a="http://schemas.openxmlformats.org/drawingml/2006/main">
            <a:pPr marL="0" indent="0">
              <a:spcAft>
                <a:spcPts val="200"/>
              </a:spcAft>
              <a:buNone/>
            </a:pPr>
            <a:r>
              <a:rPr sz="1100" b="1">
                <a:solidFill>
                  <a:srgbClr val="F37021"/>
                </a:solidFill>
                <a:latin typeface="Consolas"/>
                <a:ea typeface="Consolas"/>
                <a:cs typeface="Consolas"/>
              </a:rPr>
              <a:t>    image: nginx</a:t>
            </a:r>
          </a:p>
          <a:p xmlns:a="http://schemas.openxmlformats.org/drawingml/2006/main">
            <a:pPr marL="0" indent="0">
              <a:spcAft>
                <a:spcPts val="200"/>
              </a:spcAft>
              <a:buNone/>
            </a:pPr>
            <a:r>
              <a:rPr sz="1100" b="1">
                <a:solidFill>
                  <a:srgbClr val="F37021"/>
                </a:solidFill>
                <a:latin typeface="Consolas"/>
                <a:ea typeface="Consolas"/>
                <a:cs typeface="Consolas"/>
              </a:rPr>
              <a:t>    networks:</a:t>
            </a:r>
          </a:p>
          <a:p xmlns:a="http://schemas.openxmlformats.org/drawingml/2006/main">
            <a:pPr marL="0" indent="0">
              <a:spcAft>
                <a:spcPts val="200"/>
              </a:spcAft>
              <a:buNone/>
            </a:pPr>
            <a:r>
              <a:rPr sz="1100" b="1">
                <a:solidFill>
                  <a:srgbClr val="F37021"/>
                </a:solidFill>
                <a:latin typeface="Consolas"/>
                <a:ea typeface="Consolas"/>
                <a:cs typeface="Consolas"/>
              </a:rPr>
              <a:t>      - frontend</a:t>
            </a:r>
          </a:p>
          <a:p xmlns:a="http://schemas.openxmlformats.org/drawingml/2006/main">
            <a:pPr marL="0" indent="0">
              <a:spcAft>
                <a:spcPts val="200"/>
              </a:spcAft>
              <a:buNone/>
            </a:pPr>
            <a:r>
              <a:rPr sz="1100" b="1">
                <a:solidFill>
                  <a:srgbClr val="F37021"/>
                </a:solidFill>
                <a:latin typeface="Consolas"/>
                <a:ea typeface="Consolas"/>
                <a:cs typeface="Consolas"/>
              </a:rPr>
              <a:t>  api:</a:t>
            </a:r>
          </a:p>
          <a:p xmlns:a="http://schemas.openxmlformats.org/drawingml/2006/main">
            <a:pPr marL="0" indent="0">
              <a:spcAft>
                <a:spcPts val="200"/>
              </a:spcAft>
              <a:buNone/>
            </a:pPr>
            <a:r>
              <a:rPr sz="1100" b="1">
                <a:solidFill>
                  <a:srgbClr val="F37021"/>
                </a:solidFill>
                <a:latin typeface="Consolas"/>
                <a:ea typeface="Consolas"/>
                <a:cs typeface="Consolas"/>
              </a:rPr>
              <a:t>    image: myapp/api</a:t>
            </a:r>
          </a:p>
          <a:p xmlns:a="http://schemas.openxmlformats.org/drawingml/2006/main">
            <a:pPr marL="0" indent="0">
              <a:spcAft>
                <a:spcPts val="200"/>
              </a:spcAft>
              <a:buNone/>
            </a:pPr>
            <a:r>
              <a:rPr sz="1100" b="1">
                <a:solidFill>
                  <a:srgbClr val="F37021"/>
                </a:solidFill>
                <a:latin typeface="Consolas"/>
                <a:ea typeface="Consolas"/>
                <a:cs typeface="Consolas"/>
              </a:rPr>
              <a:t>    networks:</a:t>
            </a:r>
          </a:p>
          <a:p xmlns:a="http://schemas.openxmlformats.org/drawingml/2006/main">
            <a:pPr marL="0" indent="0">
              <a:spcAft>
                <a:spcPts val="200"/>
              </a:spcAft>
              <a:buNone/>
            </a:pPr>
            <a:r>
              <a:rPr sz="1100" b="1">
                <a:solidFill>
                  <a:srgbClr val="F37021"/>
                </a:solidFill>
                <a:latin typeface="Consolas"/>
                <a:ea typeface="Consolas"/>
                <a:cs typeface="Consolas"/>
              </a:rPr>
              <a:t>      - frontend    # bisa kontak web</a:t>
            </a:r>
          </a:p>
          <a:p xmlns:a="http://schemas.openxmlformats.org/drawingml/2006/main">
            <a:pPr marL="0" indent="0">
              <a:spcAft>
                <a:spcPts val="200"/>
              </a:spcAft>
              <a:buNone/>
            </a:pPr>
            <a:r>
              <a:rPr sz="1100" b="1">
                <a:solidFill>
                  <a:srgbClr val="F37021"/>
                </a:solidFill>
                <a:latin typeface="Consolas"/>
                <a:ea typeface="Consolas"/>
                <a:cs typeface="Consolas"/>
              </a:rPr>
              <a:t>      - backend     # bisa kontak db</a:t>
            </a:r>
          </a:p>
          <a:p xmlns:a="http://schemas.openxmlformats.org/drawingml/2006/main">
            <a:pPr marL="0" indent="0">
              <a:spcAft>
                <a:spcPts val="200"/>
              </a:spcAft>
              <a:buNone/>
            </a:pPr>
            <a:r>
              <a:rPr sz="1100" b="1">
                <a:solidFill>
                  <a:srgbClr val="F37021"/>
                </a:solidFill>
                <a:latin typeface="Consolas"/>
                <a:ea typeface="Consolas"/>
                <a:cs typeface="Consolas"/>
              </a:rPr>
              <a:t>  db:</a:t>
            </a:r>
          </a:p>
          <a:p xmlns:a="http://schemas.openxmlformats.org/drawingml/2006/main">
            <a:pPr marL="0" indent="0">
              <a:spcAft>
                <a:spcPts val="200"/>
              </a:spcAft>
              <a:buNone/>
            </a:pPr>
            <a:r>
              <a:rPr sz="1100" b="1">
                <a:solidFill>
                  <a:srgbClr val="F37021"/>
                </a:solidFill>
                <a:latin typeface="Consolas"/>
                <a:ea typeface="Consolas"/>
                <a:cs typeface="Consolas"/>
              </a:rPr>
              <a:t>    image: postgres:15</a:t>
            </a:r>
          </a:p>
          <a:p xmlns:a="http://schemas.openxmlformats.org/drawingml/2006/main">
            <a:pPr marL="0" indent="0">
              <a:spcAft>
                <a:spcPts val="200"/>
              </a:spcAft>
              <a:buNone/>
            </a:pPr>
            <a:r>
              <a:rPr sz="1100" b="1">
                <a:solidFill>
                  <a:srgbClr val="F37021"/>
                </a:solidFill>
                <a:latin typeface="Consolas"/>
                <a:ea typeface="Consolas"/>
                <a:cs typeface="Consolas"/>
              </a:rPr>
              <a:t>    networks:</a:t>
            </a:r>
          </a:p>
          <a:p xmlns:a="http://schemas.openxmlformats.org/drawingml/2006/main">
            <a:pPr marL="0" indent="0">
              <a:spcAft>
                <a:spcPts val="200"/>
              </a:spcAft>
              <a:buNone/>
            </a:pPr>
            <a:r>
              <a:rPr sz="1100" b="1">
                <a:solidFill>
                  <a:srgbClr val="F37021"/>
                </a:solidFill>
                <a:latin typeface="Consolas"/>
                <a:ea typeface="Consolas"/>
                <a:cs typeface="Consolas"/>
              </a:rPr>
              <a:t>      - backend     # ISOLATED dari web</a:t>
            </a:r>
          </a:p>
          <a:p xmlns:a="http://schemas.openxmlformats.org/drawingml/2006/main">
            <a:pPr marL="0" indent="0">
              <a:spcAft>
                <a:spcPts val="200"/>
              </a:spcAft>
              <a:buNone/>
            </a:pPr>
            <a:r>
              <a:rPr sz="1100" b="1">
                <a:solidFill>
                  <a:srgbClr val="F37021"/>
                </a:solidFill>
                <a:latin typeface="Consolas"/>
                <a:ea typeface="Consolas"/>
                <a:cs typeface="Consolas"/>
              </a:rPr>
              <a:t>networks:</a:t>
            </a:r>
          </a:p>
          <a:p xmlns:a="http://schemas.openxmlformats.org/drawingml/2006/main">
            <a:pPr marL="0" indent="0">
              <a:spcAft>
                <a:spcPts val="200"/>
              </a:spcAft>
              <a:buNone/>
            </a:pPr>
            <a:r>
              <a:rPr sz="1100" b="1">
                <a:solidFill>
                  <a:srgbClr val="F37021"/>
                </a:solidFill>
                <a:latin typeface="Consolas"/>
                <a:ea typeface="Consolas"/>
                <a:cs typeface="Consolas"/>
              </a:rPr>
              <a:t>  frontend:</a:t>
            </a:r>
          </a:p>
          <a:p xmlns:a="http://schemas.openxmlformats.org/drawingml/2006/main">
            <a:pPr marL="0" indent="0">
              <a:spcAft>
                <a:spcPts val="200"/>
              </a:spcAft>
              <a:buNone/>
            </a:pPr>
            <a:r>
              <a:rPr sz="1100" b="1">
                <a:solidFill>
                  <a:srgbClr val="F37021"/>
                </a:solidFill>
                <a:latin typeface="Consolas"/>
                <a:ea typeface="Consolas"/>
                <a:cs typeface="Consolas"/>
              </a:rPr>
              <a:t>  backend:</a:t>
            </a:r>
          </a:p>
        </p:txBody>
      </p:sp>
    </p:spTree>
    <p:extLst>
      <p:ext uri="{BB962C8B-B14F-4D97-AF65-F5344CB8AC3E}">
        <p14:creationId xmlns:p14="http://schemas.microsoft.com/office/powerpoint/2010/main" val="4867487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D20682E-4513-43A0-B121-91A41704A435}"/>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54EFC9B9-5C51-4993-BC62-D4CA81FCE473}"/>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11</a:t>
            </a:r>
            <a:endParaRPr sz="900"/>
          </a:p>
        </p:txBody>
      </p:sp>
      <p:sp>
        <p:nvSpPr>
          <p:cNvPr id="4" name="Shape 2">
            <a:extLst xmlns:a="http://schemas.openxmlformats.org/drawingml/2006/main">
              <a:ext uri="{FF2B5EF4-FFF2-40B4-BE49-F238E27FC236}">
                <a16:creationId xmlns:a16="http://schemas.microsoft.com/office/drawing/2014/main" id="{40AB71B6-6A95-4762-A690-168CB070DD27}"/>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7" name="Image 0">
            <a:extLst xmlns:a="http://schemas.openxmlformats.org/drawingml/2006/main">
              <a:ext uri="{FF2B5EF4-FFF2-40B4-BE49-F238E27FC236}">
                <a16:creationId xmlns:a16="http://schemas.microsoft.com/office/drawing/2014/main" id="{95343856-0AF8-4B16-B7F6-1A7E1AB82BC8}"/>
              </a:ext>
            </a:extLst>
          </p:cNvPr>
          <p:cNvPicPr>
            <a:picLocks xmlns:a="http://schemas.openxmlformats.org/drawingml/2006/main" noChangeAspect="1"/>
          </p:cNvPicPr>
          <p:nvPr/>
        </p:nvPicPr>
        <p:blipFill>
          <a:blip xmlns:r="http://schemas.openxmlformats.org/officeDocument/2006/relationships" xmlns:a="http://schemas.openxmlformats.org/drawingml/2006/main" r:embed="Re8960bf41f3249e6"/>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8" name="Image 1">
            <a:extLst xmlns:a="http://schemas.openxmlformats.org/drawingml/2006/main">
              <a:ext uri="{FF2B5EF4-FFF2-40B4-BE49-F238E27FC236}">
                <a16:creationId xmlns:a16="http://schemas.microsoft.com/office/drawing/2014/main" id="{70A147F7-F427-47FC-86C9-BA0C822866C8}"/>
              </a:ext>
            </a:extLst>
          </p:cNvPr>
          <p:cNvPicPr>
            <a:picLocks xmlns:a="http://schemas.openxmlformats.org/drawingml/2006/main" noChangeAspect="1"/>
          </p:cNvPicPr>
          <p:nvPr/>
        </p:nvPicPr>
        <p:blipFill>
          <a:blip xmlns:r="http://schemas.openxmlformats.org/officeDocument/2006/relationships" xmlns:a="http://schemas.openxmlformats.org/drawingml/2006/main" r:embed="R0dfc9f00fd0647f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CE613F08-12B8-4BAF-8B17-18231C48E699}"/>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DAB7EA8B-10A4-4457-99E7-039C5062A46D}"/>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Volumes - Persistent Data</a:t>
            </a:r>
            <a:endParaRPr sz="2200"/>
          </a:p>
        </p:txBody>
      </p:sp>
      <p:sp>
        <p:nvSpPr>
          <p:cNvPr id="9" name="Text 5">
            <a:extLst xmlns:a="http://schemas.openxmlformats.org/drawingml/2006/main">
              <a:ext uri="{FF2B5EF4-FFF2-40B4-BE49-F238E27FC236}">
                <a16:creationId xmlns:a16="http://schemas.microsoft.com/office/drawing/2014/main" id="{4C5BEA45-D70E-4AD7-A01C-0064D8DEE60B}"/>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Named volume untuk db, bind mount untuk dev hot-reload</a:t>
            </a:r>
            <a:endParaRPr sz="1200"/>
          </a:p>
        </p:txBody>
      </p:sp>
      <p:sp>
        <p:nvSpPr>
          <p:cNvPr id="10" name="Shape 6">
            <a:extLst xmlns:a="http://schemas.openxmlformats.org/drawingml/2006/main">
              <a:ext uri="{FF2B5EF4-FFF2-40B4-BE49-F238E27FC236}">
                <a16:creationId xmlns:a16="http://schemas.microsoft.com/office/drawing/2014/main" id="{E77050CD-B63C-4D9D-A49B-8D06BB43BE00}"/>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87F0878F-E8F2-48A9-8BEE-B54CD8BDB4AE}"/>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88C035B2-0369-49EC-A27D-3DE84182A242}"/>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200">
                <a:solidFill>
                  <a:srgbClr val="FFFFFF"/>
                </a:solidFill>
                <a:latin typeface="Calibri"/>
                <a:ea typeface="Calibri"/>
                <a:cs typeface="Calibri"/>
              </a:rPr>
              <a:t>Named Volume  -  Production DB</a:t>
            </a:r>
            <a:endParaRPr sz="1400"/>
          </a:p>
        </p:txBody>
      </p:sp>
      <p:sp>
        <p:nvSpPr>
          <p:cNvPr id="13" name="Text 9">
            <a:extLst xmlns:a="http://schemas.openxmlformats.org/drawingml/2006/main">
              <a:ext uri="{FF2B5EF4-FFF2-40B4-BE49-F238E27FC236}">
                <a16:creationId xmlns:a16="http://schemas.microsoft.com/office/drawing/2014/main" id="{5C3E0C92-D5ED-4586-8077-B253D52645F3}"/>
              </a:ext>
            </a:extLst>
          </p:cNvPr>
          <p:cNvSpPr>
            <a:spLocks xmlns:a="http://schemas.openxmlformats.org/drawingml/2006/main" noGrp="1"/>
          </p:cNvSpPr>
          <p:nvPr/>
        </p:nvSpPr>
        <p:spPr>
          <a:xfrm xmlns:a="http://schemas.openxmlformats.org/drawingml/2006/main">
            <a:off x="640080" y="2148840"/>
            <a:ext cx="521208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1E293B"/>
                </a:solidFill>
                <a:latin typeface="Calibri"/>
                <a:ea typeface="Calibri"/>
                <a:cs typeface="Calibri"/>
              </a:rPr>
              <a:t>Docker manage volume - disimpan di /var/lib/docker/volumes/. Persist saat container di-recreate.</a:t>
            </a:r>
            <a:endParaRPr sz="1100"/>
          </a:p>
        </p:txBody>
      </p:sp>
      <p:sp>
        <p:nvSpPr>
          <p:cNvPr id="14" name="Shape 10">
            <a:extLst xmlns:a="http://schemas.openxmlformats.org/drawingml/2006/main">
              <a:ext uri="{FF2B5EF4-FFF2-40B4-BE49-F238E27FC236}">
                <a16:creationId xmlns:a16="http://schemas.microsoft.com/office/drawing/2014/main" id="{2F20704B-7B37-4B78-8060-82FB9A939985}"/>
              </a:ext>
            </a:extLst>
          </p:cNvPr>
          <p:cNvSpPr>
            <a:spLocks xmlns:a="http://schemas.openxmlformats.org/drawingml/2006/main" noGrp="1"/>
          </p:cNvSpPr>
          <p:nvPr/>
        </p:nvSpPr>
        <p:spPr>
          <a:xfrm xmlns:a="http://schemas.openxmlformats.org/drawingml/2006/main">
            <a:off x="640080" y="2788920"/>
            <a:ext cx="5212080" cy="33832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5" name="Shape 11">
            <a:extLst xmlns:a="http://schemas.openxmlformats.org/drawingml/2006/main">
              <a:ext uri="{FF2B5EF4-FFF2-40B4-BE49-F238E27FC236}">
                <a16:creationId xmlns:a16="http://schemas.microsoft.com/office/drawing/2014/main" id="{013FB089-7D4E-445C-840D-625F50D73AE5}"/>
              </a:ext>
            </a:extLst>
          </p:cNvPr>
          <p:cNvSpPr>
            <a:spLocks xmlns:a="http://schemas.openxmlformats.org/drawingml/2006/main" noGrp="1"/>
          </p:cNvSpPr>
          <p:nvPr/>
        </p:nvSpPr>
        <p:spPr>
          <a:xfrm xmlns:a="http://schemas.openxmlformats.org/drawingml/2006/main">
            <a:off x="640080" y="2788920"/>
            <a:ext cx="521208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6" name="Shape 12">
            <a:extLst xmlns:a="http://schemas.openxmlformats.org/drawingml/2006/main">
              <a:ext uri="{FF2B5EF4-FFF2-40B4-BE49-F238E27FC236}">
                <a16:creationId xmlns:a16="http://schemas.microsoft.com/office/drawing/2014/main" id="{3D9CBE57-50B5-4166-952D-7175F5EA0A8F}"/>
              </a:ext>
            </a:extLst>
          </p:cNvPr>
          <p:cNvSpPr>
            <a:spLocks xmlns:a="http://schemas.openxmlformats.org/drawingml/2006/main" noGrp="1"/>
          </p:cNvSpPr>
          <p:nvPr/>
        </p:nvSpPr>
        <p:spPr>
          <a:xfrm xmlns:a="http://schemas.openxmlformats.org/drawingml/2006/main">
            <a:off x="731520" y="28712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7" name="Shape 13">
            <a:extLst xmlns:a="http://schemas.openxmlformats.org/drawingml/2006/main">
              <a:ext uri="{FF2B5EF4-FFF2-40B4-BE49-F238E27FC236}">
                <a16:creationId xmlns:a16="http://schemas.microsoft.com/office/drawing/2014/main" id="{A4EAEAAA-1E6B-4F9A-AE42-4DA8AFE9949F}"/>
              </a:ext>
            </a:extLst>
          </p:cNvPr>
          <p:cNvSpPr>
            <a:spLocks xmlns:a="http://schemas.openxmlformats.org/drawingml/2006/main" noGrp="1"/>
          </p:cNvSpPr>
          <p:nvPr/>
        </p:nvSpPr>
        <p:spPr>
          <a:xfrm xmlns:a="http://schemas.openxmlformats.org/drawingml/2006/main">
            <a:off x="868680" y="28712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8" name="Shape 14">
            <a:extLst xmlns:a="http://schemas.openxmlformats.org/drawingml/2006/main">
              <a:ext uri="{FF2B5EF4-FFF2-40B4-BE49-F238E27FC236}">
                <a16:creationId xmlns:a16="http://schemas.microsoft.com/office/drawing/2014/main" id="{4D15886C-393A-4437-BB22-71295EA60C25}"/>
              </a:ext>
            </a:extLst>
          </p:cNvPr>
          <p:cNvSpPr>
            <a:spLocks xmlns:a="http://schemas.openxmlformats.org/drawingml/2006/main" noGrp="1"/>
          </p:cNvSpPr>
          <p:nvPr/>
        </p:nvSpPr>
        <p:spPr>
          <a:xfrm xmlns:a="http://schemas.openxmlformats.org/drawingml/2006/main">
            <a:off x="1005840" y="28712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9" name="Text 15">
            <a:extLst xmlns:a="http://schemas.openxmlformats.org/drawingml/2006/main">
              <a:ext uri="{FF2B5EF4-FFF2-40B4-BE49-F238E27FC236}">
                <a16:creationId xmlns:a16="http://schemas.microsoft.com/office/drawing/2014/main" id="{7BEE5D16-3570-4435-9135-EC9FC6B41301}"/>
              </a:ext>
            </a:extLst>
          </p:cNvPr>
          <p:cNvSpPr>
            <a:spLocks xmlns:a="http://schemas.openxmlformats.org/drawingml/2006/main" noGrp="1"/>
          </p:cNvSpPr>
          <p:nvPr/>
        </p:nvSpPr>
        <p:spPr>
          <a:xfrm xmlns:a="http://schemas.openxmlformats.org/drawingml/2006/main">
            <a:off x="1188720" y="2788920"/>
            <a:ext cx="4480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named volume - postgres data</a:t>
            </a:r>
            <a:endParaRPr sz="900"/>
          </a:p>
        </p:txBody>
      </p:sp>
      <p:sp>
        <p:nvSpPr>
          <p:cNvPr id="20" name="Text 16">
            <a:extLst xmlns:a="http://schemas.openxmlformats.org/drawingml/2006/main">
              <a:ext uri="{FF2B5EF4-FFF2-40B4-BE49-F238E27FC236}">
                <a16:creationId xmlns:a16="http://schemas.microsoft.com/office/drawing/2014/main" id="{BFD5D76D-FB3F-43AA-9E16-F10062DE7750}"/>
              </a:ext>
            </a:extLst>
          </p:cNvPr>
          <p:cNvSpPr>
            <a:spLocks xmlns:a="http://schemas.openxmlformats.org/drawingml/2006/main" noGrp="1"/>
          </p:cNvSpPr>
          <p:nvPr/>
        </p:nvSpPr>
        <p:spPr>
          <a:xfrm xmlns:a="http://schemas.openxmlformats.org/drawingml/2006/main">
            <a:off x="777240" y="3154680"/>
            <a:ext cx="493776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F37021"/>
                </a:solidFill>
                <a:latin typeface="Consolas"/>
                <a:ea typeface="Consolas"/>
                <a:cs typeface="Consolas"/>
              </a:rPr>
              <a:t>  db:</a:t>
            </a:r>
          </a:p>
          <a:p xmlns:a="http://schemas.openxmlformats.org/drawingml/2006/main">
            <a:pPr marL="0" indent="0">
              <a:spcAft>
                <a:spcPts val="200"/>
              </a:spcAft>
              <a:buNone/>
            </a:pPr>
            <a:r>
              <a:rPr sz="1100" b="1">
                <a:solidFill>
                  <a:srgbClr val="F37021"/>
                </a:solidFill>
                <a:latin typeface="Consolas"/>
                <a:ea typeface="Consolas"/>
                <a:cs typeface="Consolas"/>
              </a:rPr>
              <a:t>    image: postgres:15-alpine</a:t>
            </a:r>
          </a:p>
          <a:p xmlns:a="http://schemas.openxmlformats.org/drawingml/2006/main">
            <a:pPr marL="0" indent="0">
              <a:spcAft>
                <a:spcPts val="200"/>
              </a:spcAft>
              <a:buNone/>
            </a:pPr>
            <a:r>
              <a:rPr sz="1100" b="1">
                <a:solidFill>
                  <a:srgbClr val="F37021"/>
                </a:solidFill>
                <a:latin typeface="Consolas"/>
                <a:ea typeface="Consolas"/>
                <a:cs typeface="Consolas"/>
              </a:rPr>
              <a:t>    volumes:</a:t>
            </a:r>
          </a:p>
          <a:p xmlns:a="http://schemas.openxmlformats.org/drawingml/2006/main">
            <a:pPr marL="0" indent="0">
              <a:spcAft>
                <a:spcPts val="200"/>
              </a:spcAft>
              <a:buNone/>
            </a:pPr>
            <a:r>
              <a:rPr sz="1100" b="1">
                <a:solidFill>
                  <a:srgbClr val="F37021"/>
                </a:solidFill>
                <a:latin typeface="Consolas"/>
                <a:ea typeface="Consolas"/>
                <a:cs typeface="Consolas"/>
              </a:rPr>
              <a:t>      - db-data:/var/lib/postgresql/data</a:t>
            </a:r>
          </a:p>
          <a:p xmlns:a="http://schemas.openxmlformats.org/drawingml/2006/main">
            <a:pPr marL="0" indent="0">
              <a:spcAft>
                <a:spcPts val="200"/>
              </a:spcAft>
              <a:buNone/>
            </a:pPr>
            <a:r>
              <a:rPr sz="1100" b="1">
                <a:solidFill>
                  <a:srgbClr val="F37021"/>
                </a:solidFill>
                <a:latin typeface="Consolas"/>
                <a:ea typeface="Consolas"/>
                <a:cs typeface="Consolas"/>
              </a:rPr>
              <a:t>    environment:</a:t>
            </a:r>
          </a:p>
          <a:p xmlns:a="http://schemas.openxmlformats.org/drawingml/2006/main">
            <a:pPr marL="0" indent="0">
              <a:spcAft>
                <a:spcPts val="200"/>
              </a:spcAft>
              <a:buNone/>
            </a:pPr>
            <a:r>
              <a:rPr sz="1100" b="1">
                <a:solidFill>
                  <a:srgbClr val="F37021"/>
                </a:solidFill>
                <a:latin typeface="Consolas"/>
                <a:ea typeface="Consolas"/>
                <a:cs typeface="Consolas"/>
              </a:rPr>
              <a:t>      POSTGRES_PASSWORD: secret</a:t>
            </a:r>
          </a:p>
          <a:p xmlns:a="http://schemas.openxmlformats.org/drawingml/2006/main">
            <a:pPr marL="0" indent="0">
              <a:spcAft>
                <a:spcPts val="200"/>
              </a:spcAft>
              <a:buNone/>
            </a:pPr>
            <a:r>
              <a:rPr sz="1100" b="1">
                <a:solidFill>
                  <a:srgbClr val="F37021"/>
                </a:solidFill>
                <a:latin typeface="Consolas"/>
                <a:ea typeface="Consolas"/>
                <a:cs typeface="Consolas"/>
              </a:rPr>
              <a:t># Wajib declare di top-level</a:t>
            </a:r>
          </a:p>
          <a:p xmlns:a="http://schemas.openxmlformats.org/drawingml/2006/main">
            <a:pPr marL="0" indent="0">
              <a:spcAft>
                <a:spcPts val="200"/>
              </a:spcAft>
              <a:buNone/>
            </a:pPr>
            <a:r>
              <a:rPr sz="1100" b="1">
                <a:solidFill>
                  <a:srgbClr val="F37021"/>
                </a:solidFill>
                <a:latin typeface="Consolas"/>
                <a:ea typeface="Consolas"/>
                <a:cs typeface="Consolas"/>
              </a:rPr>
              <a:t>volumes:</a:t>
            </a:r>
          </a:p>
          <a:p xmlns:a="http://schemas.openxmlformats.org/drawingml/2006/main">
            <a:pPr marL="0" indent="0">
              <a:spcAft>
                <a:spcPts val="200"/>
              </a:spcAft>
              <a:buNone/>
            </a:pPr>
            <a:r>
              <a:rPr sz="1100" b="1">
                <a:solidFill>
                  <a:srgbClr val="F37021"/>
                </a:solidFill>
                <a:latin typeface="Consolas"/>
                <a:ea typeface="Consolas"/>
                <a:cs typeface="Consolas"/>
              </a:rPr>
              <a:t>  db-data:</a:t>
            </a:r>
          </a:p>
          <a:p xmlns:a="http://schemas.openxmlformats.org/drawingml/2006/main">
            <a:pPr marL="0" indent="0">
              <a:spcAft>
                <a:spcPts val="200"/>
              </a:spcAft>
              <a:buNone/>
            </a:pPr>
            <a:r>
              <a:rPr sz="1100" b="1">
                <a:solidFill>
                  <a:srgbClr val="F37021"/>
                </a:solidFill>
                <a:latin typeface="Consolas"/>
                <a:ea typeface="Consolas"/>
                <a:cs typeface="Consolas"/>
              </a:rPr>
              <a:t>    # driver: local (default)</a:t>
            </a:r>
          </a:p>
          <a:p xmlns:a="http://schemas.openxmlformats.org/drawingml/2006/main">
            <a:pPr marL="0" indent="0">
              <a:spcAft>
                <a:spcPts val="200"/>
              </a:spcAft>
              <a:buNone/>
            </a:pPr>
            <a:r>
              <a:rPr sz="1100" b="1">
                <a:solidFill>
                  <a:srgbClr val="F37021"/>
                </a:solidFill>
                <a:latin typeface="Consolas"/>
                <a:ea typeface="Consolas"/>
                <a:cs typeface="Consolas"/>
              </a:rPr>
              <a:t># Cek lokasi &amp; inspect:</a:t>
            </a:r>
          </a:p>
          <a:p xmlns:a="http://schemas.openxmlformats.org/drawingml/2006/main">
            <a:pPr marL="0" indent="0">
              <a:spcAft>
                <a:spcPts val="200"/>
              </a:spcAft>
              <a:buNone/>
            </a:pPr>
            <a:r>
              <a:rPr sz="1100" b="1">
                <a:solidFill>
                  <a:srgbClr val="F37021"/>
                </a:solidFill>
                <a:latin typeface="Consolas"/>
                <a:ea typeface="Consolas"/>
                <a:cs typeface="Consolas"/>
              </a:rPr>
              <a:t>$ docker volume ls</a:t>
            </a:r>
          </a:p>
          <a:p xmlns:a="http://schemas.openxmlformats.org/drawingml/2006/main">
            <a:pPr marL="0" indent="0">
              <a:spcAft>
                <a:spcPts val="200"/>
              </a:spcAft>
              <a:buNone/>
            </a:pPr>
            <a:r>
              <a:rPr sz="1100" b="1">
                <a:solidFill>
                  <a:srgbClr val="F37021"/>
                </a:solidFill>
                <a:latin typeface="Consolas"/>
                <a:ea typeface="Consolas"/>
                <a:cs typeface="Consolas"/>
              </a:rPr>
              <a:t>$ docker volume inspect myapp_db-data</a:t>
            </a:r>
          </a:p>
        </p:txBody>
      </p:sp>
      <p:sp>
        <p:nvSpPr>
          <p:cNvPr id="21" name="Shape 17">
            <a:extLst xmlns:a="http://schemas.openxmlformats.org/drawingml/2006/main">
              <a:ext uri="{FF2B5EF4-FFF2-40B4-BE49-F238E27FC236}">
                <a16:creationId xmlns:a16="http://schemas.microsoft.com/office/drawing/2014/main" id="{817DCBB3-F939-4F46-BC87-CBA33ED37117}"/>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2" name="Shape 18">
            <a:extLst xmlns:a="http://schemas.openxmlformats.org/drawingml/2006/main">
              <a:ext uri="{FF2B5EF4-FFF2-40B4-BE49-F238E27FC236}">
                <a16:creationId xmlns:a16="http://schemas.microsoft.com/office/drawing/2014/main" id="{B0E62BA4-F9ED-4C36-92F7-6F7DB4F9C78D}"/>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23" name="Text 19">
            <a:extLst xmlns:a="http://schemas.openxmlformats.org/drawingml/2006/main">
              <a:ext uri="{FF2B5EF4-FFF2-40B4-BE49-F238E27FC236}">
                <a16:creationId xmlns:a16="http://schemas.microsoft.com/office/drawing/2014/main" id="{C05A8C6C-E31A-4E11-8BCC-BD8C9B92A79A}"/>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200">
                <a:solidFill>
                  <a:srgbClr val="FFFFFF"/>
                </a:solidFill>
                <a:latin typeface="Calibri"/>
                <a:ea typeface="Calibri"/>
                <a:cs typeface="Calibri"/>
              </a:rPr>
              <a:t>Bind Mount  -  Dev Hot-Reload</a:t>
            </a:r>
            <a:endParaRPr sz="1400"/>
          </a:p>
        </p:txBody>
      </p:sp>
      <p:sp>
        <p:nvSpPr>
          <p:cNvPr id="24" name="Text 20">
            <a:extLst xmlns:a="http://schemas.openxmlformats.org/drawingml/2006/main">
              <a:ext uri="{FF2B5EF4-FFF2-40B4-BE49-F238E27FC236}">
                <a16:creationId xmlns:a16="http://schemas.microsoft.com/office/drawing/2014/main" id="{411CA89E-76AF-4731-A42A-52C9D1C90C0F}"/>
              </a:ext>
            </a:extLst>
          </p:cNvPr>
          <p:cNvSpPr>
            <a:spLocks xmlns:a="http://schemas.openxmlformats.org/drawingml/2006/main" noGrp="1"/>
          </p:cNvSpPr>
          <p:nvPr/>
        </p:nvSpPr>
        <p:spPr>
          <a:xfrm xmlns:a="http://schemas.openxmlformats.org/drawingml/2006/main">
            <a:off x="6400800" y="2148840"/>
            <a:ext cx="51206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1E293B"/>
                </a:solidFill>
                <a:latin typeface="Calibri"/>
                <a:ea typeface="Calibri"/>
                <a:cs typeface="Calibri"/>
              </a:rPr>
              <a:t>Mount folder host langsung ke container. Edit code di host = langsung effect di container.</a:t>
            </a:r>
            <a:endParaRPr sz="1100"/>
          </a:p>
        </p:txBody>
      </p:sp>
      <p:sp>
        <p:nvSpPr>
          <p:cNvPr id="25" name="Shape 21">
            <a:extLst xmlns:a="http://schemas.openxmlformats.org/drawingml/2006/main">
              <a:ext uri="{FF2B5EF4-FFF2-40B4-BE49-F238E27FC236}">
                <a16:creationId xmlns:a16="http://schemas.microsoft.com/office/drawing/2014/main" id="{8E01F92E-E140-47DC-B8B0-74164834B920}"/>
              </a:ext>
            </a:extLst>
          </p:cNvPr>
          <p:cNvSpPr>
            <a:spLocks xmlns:a="http://schemas.openxmlformats.org/drawingml/2006/main" noGrp="1"/>
          </p:cNvSpPr>
          <p:nvPr/>
        </p:nvSpPr>
        <p:spPr>
          <a:xfrm xmlns:a="http://schemas.openxmlformats.org/drawingml/2006/main">
            <a:off x="6400800" y="2788920"/>
            <a:ext cx="5120640" cy="33832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6" name="Shape 22">
            <a:extLst xmlns:a="http://schemas.openxmlformats.org/drawingml/2006/main">
              <a:ext uri="{FF2B5EF4-FFF2-40B4-BE49-F238E27FC236}">
                <a16:creationId xmlns:a16="http://schemas.microsoft.com/office/drawing/2014/main" id="{536CE181-0655-4766-AE5B-AF175F875102}"/>
              </a:ext>
            </a:extLst>
          </p:cNvPr>
          <p:cNvSpPr>
            <a:spLocks xmlns:a="http://schemas.openxmlformats.org/drawingml/2006/main" noGrp="1"/>
          </p:cNvSpPr>
          <p:nvPr/>
        </p:nvSpPr>
        <p:spPr>
          <a:xfrm xmlns:a="http://schemas.openxmlformats.org/drawingml/2006/main">
            <a:off x="6400800" y="2788920"/>
            <a:ext cx="51206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7" name="Shape 23">
            <a:extLst xmlns:a="http://schemas.openxmlformats.org/drawingml/2006/main">
              <a:ext uri="{FF2B5EF4-FFF2-40B4-BE49-F238E27FC236}">
                <a16:creationId xmlns:a16="http://schemas.microsoft.com/office/drawing/2014/main" id="{9903E787-C564-404D-971E-94DE249CB623}"/>
              </a:ext>
            </a:extLst>
          </p:cNvPr>
          <p:cNvSpPr>
            <a:spLocks xmlns:a="http://schemas.openxmlformats.org/drawingml/2006/main" noGrp="1"/>
          </p:cNvSpPr>
          <p:nvPr/>
        </p:nvSpPr>
        <p:spPr>
          <a:xfrm xmlns:a="http://schemas.openxmlformats.org/drawingml/2006/main">
            <a:off x="6492240" y="28712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8" name="Shape 24">
            <a:extLst xmlns:a="http://schemas.openxmlformats.org/drawingml/2006/main">
              <a:ext uri="{FF2B5EF4-FFF2-40B4-BE49-F238E27FC236}">
                <a16:creationId xmlns:a16="http://schemas.microsoft.com/office/drawing/2014/main" id="{CB8F9CD0-7C4A-44AC-B3B7-8447D7D65458}"/>
              </a:ext>
            </a:extLst>
          </p:cNvPr>
          <p:cNvSpPr>
            <a:spLocks xmlns:a="http://schemas.openxmlformats.org/drawingml/2006/main" noGrp="1"/>
          </p:cNvSpPr>
          <p:nvPr/>
        </p:nvSpPr>
        <p:spPr>
          <a:xfrm xmlns:a="http://schemas.openxmlformats.org/drawingml/2006/main">
            <a:off x="6629400" y="28712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9" name="Shape 25">
            <a:extLst xmlns:a="http://schemas.openxmlformats.org/drawingml/2006/main">
              <a:ext uri="{FF2B5EF4-FFF2-40B4-BE49-F238E27FC236}">
                <a16:creationId xmlns:a16="http://schemas.microsoft.com/office/drawing/2014/main" id="{0623E8E4-8B9D-4ACB-A6F8-AB8542306896}"/>
              </a:ext>
            </a:extLst>
          </p:cNvPr>
          <p:cNvSpPr>
            <a:spLocks xmlns:a="http://schemas.openxmlformats.org/drawingml/2006/main" noGrp="1"/>
          </p:cNvSpPr>
          <p:nvPr/>
        </p:nvSpPr>
        <p:spPr>
          <a:xfrm xmlns:a="http://schemas.openxmlformats.org/drawingml/2006/main">
            <a:off x="6766560" y="28712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0" name="Text 26">
            <a:extLst xmlns:a="http://schemas.openxmlformats.org/drawingml/2006/main">
              <a:ext uri="{FF2B5EF4-FFF2-40B4-BE49-F238E27FC236}">
                <a16:creationId xmlns:a16="http://schemas.microsoft.com/office/drawing/2014/main" id="{9A754F48-7F7F-43F2-9525-694199A419E8}"/>
              </a:ext>
            </a:extLst>
          </p:cNvPr>
          <p:cNvSpPr>
            <a:spLocks xmlns:a="http://schemas.openxmlformats.org/drawingml/2006/main" noGrp="1"/>
          </p:cNvSpPr>
          <p:nvPr/>
        </p:nvSpPr>
        <p:spPr>
          <a:xfrm xmlns:a="http://schemas.openxmlformats.org/drawingml/2006/main">
            <a:off x="6949440" y="2788920"/>
            <a:ext cx="4389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bind mount - dev workflow</a:t>
            </a:r>
            <a:endParaRPr sz="900"/>
          </a:p>
        </p:txBody>
      </p:sp>
      <p:sp>
        <p:nvSpPr>
          <p:cNvPr id="31" name="Text 27">
            <a:extLst xmlns:a="http://schemas.openxmlformats.org/drawingml/2006/main">
              <a:ext uri="{FF2B5EF4-FFF2-40B4-BE49-F238E27FC236}">
                <a16:creationId xmlns:a16="http://schemas.microsoft.com/office/drawing/2014/main" id="{F254D14E-158E-459E-9728-2D0510A73401}"/>
              </a:ext>
            </a:extLst>
          </p:cNvPr>
          <p:cNvSpPr>
            <a:spLocks xmlns:a="http://schemas.openxmlformats.org/drawingml/2006/main" noGrp="1"/>
          </p:cNvSpPr>
          <p:nvPr/>
        </p:nvSpPr>
        <p:spPr>
          <a:xfrm xmlns:a="http://schemas.openxmlformats.org/drawingml/2006/main">
            <a:off x="6537960" y="3154680"/>
            <a:ext cx="484632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F37021"/>
                </a:solidFill>
                <a:latin typeface="Consolas"/>
                <a:ea typeface="Consolas"/>
                <a:cs typeface="Consolas"/>
              </a:rPr>
              <a:t>  api:</a:t>
            </a:r>
          </a:p>
          <a:p xmlns:a="http://schemas.openxmlformats.org/drawingml/2006/main">
            <a:pPr marL="0" indent="0">
              <a:spcAft>
                <a:spcPts val="200"/>
              </a:spcAft>
              <a:buNone/>
            </a:pPr>
            <a:r>
              <a:rPr sz="1100" b="1">
                <a:solidFill>
                  <a:srgbClr val="F37021"/>
                </a:solidFill>
                <a:latin typeface="Consolas"/>
                <a:ea typeface="Consolas"/>
                <a:cs typeface="Consolas"/>
              </a:rPr>
              <a:t>    build: ./api</a:t>
            </a:r>
          </a:p>
          <a:p xmlns:a="http://schemas.openxmlformats.org/drawingml/2006/main">
            <a:pPr marL="0" indent="0">
              <a:spcAft>
                <a:spcPts val="200"/>
              </a:spcAft>
              <a:buNone/>
            </a:pPr>
            <a:r>
              <a:rPr sz="1100" b="1">
                <a:solidFill>
                  <a:srgbClr val="F37021"/>
                </a:solidFill>
                <a:latin typeface="Consolas"/>
                <a:ea typeface="Consolas"/>
                <a:cs typeface="Consolas"/>
              </a:rPr>
              <a:t>    volumes:</a:t>
            </a:r>
          </a:p>
          <a:p xmlns:a="http://schemas.openxmlformats.org/drawingml/2006/main">
            <a:pPr marL="0" indent="0">
              <a:spcAft>
                <a:spcPts val="200"/>
              </a:spcAft>
              <a:buNone/>
            </a:pPr>
            <a:r>
              <a:rPr sz="1100" b="1">
                <a:solidFill>
                  <a:srgbClr val="F37021"/>
                </a:solidFill>
                <a:latin typeface="Consolas"/>
                <a:ea typeface="Consolas"/>
                <a:cs typeface="Consolas"/>
              </a:rPr>
              <a:t>      # ./api host -&gt; /app container</a:t>
            </a:r>
          </a:p>
          <a:p xmlns:a="http://schemas.openxmlformats.org/drawingml/2006/main">
            <a:pPr marL="0" indent="0">
              <a:spcAft>
                <a:spcPts val="200"/>
              </a:spcAft>
              <a:buNone/>
            </a:pPr>
            <a:r>
              <a:rPr sz="1100" b="1">
                <a:solidFill>
                  <a:srgbClr val="F37021"/>
                </a:solidFill>
                <a:latin typeface="Consolas"/>
                <a:ea typeface="Consolas"/>
                <a:cs typeface="Consolas"/>
              </a:rPr>
              <a:t>      - ./api:/app</a:t>
            </a:r>
          </a:p>
          <a:p xmlns:a="http://schemas.openxmlformats.org/drawingml/2006/main">
            <a:pPr marL="0" indent="0">
              <a:spcAft>
                <a:spcPts val="200"/>
              </a:spcAft>
              <a:buNone/>
            </a:pPr>
            <a:r>
              <a:rPr sz="1100" b="1">
                <a:solidFill>
                  <a:srgbClr val="F37021"/>
                </a:solidFill>
                <a:latin typeface="Consolas"/>
                <a:ea typeface="Consolas"/>
                <a:cs typeface="Consolas"/>
              </a:rPr>
              <a:t>      # Anonymous vol cegah node_modules</a:t>
            </a:r>
          </a:p>
          <a:p xmlns:a="http://schemas.openxmlformats.org/drawingml/2006/main">
            <a:pPr marL="0" indent="0">
              <a:spcAft>
                <a:spcPts val="200"/>
              </a:spcAft>
              <a:buNone/>
            </a:pPr>
            <a:r>
              <a:rPr sz="1100" b="1">
                <a:solidFill>
                  <a:srgbClr val="F37021"/>
                </a:solidFill>
                <a:latin typeface="Consolas"/>
                <a:ea typeface="Consolas"/>
                <a:cs typeface="Consolas"/>
              </a:rPr>
              <a:t>      - /app/node_modules</a:t>
            </a:r>
          </a:p>
          <a:p xmlns:a="http://schemas.openxmlformats.org/drawingml/2006/main">
            <a:pPr marL="0" indent="0">
              <a:spcAft>
                <a:spcPts val="200"/>
              </a:spcAft>
              <a:buNone/>
            </a:pPr>
            <a:r>
              <a:rPr sz="1100" b="1">
                <a:solidFill>
                  <a:srgbClr val="F37021"/>
                </a:solidFill>
                <a:latin typeface="Consolas"/>
                <a:ea typeface="Consolas"/>
                <a:cs typeface="Consolas"/>
              </a:rPr>
              <a:t>    command: npm run dev</a:t>
            </a:r>
          </a:p>
          <a:p xmlns:a="http://schemas.openxmlformats.org/drawingml/2006/main">
            <a:pPr marL="0" indent="0">
              <a:spcAft>
                <a:spcPts val="200"/>
              </a:spcAft>
              <a:buNone/>
            </a:pPr>
            <a:r>
              <a:rPr sz="1100" b="1">
                <a:solidFill>
                  <a:srgbClr val="F37021"/>
                </a:solidFill>
                <a:latin typeface="Consolas"/>
                <a:ea typeface="Consolas"/>
                <a:cs typeface="Consolas"/>
              </a:rPr>
              <a:t># Edit ./api/server.js di host</a:t>
            </a:r>
          </a:p>
          <a:p xmlns:a="http://schemas.openxmlformats.org/drawingml/2006/main">
            <a:pPr marL="0" indent="0">
              <a:spcAft>
                <a:spcPts val="200"/>
              </a:spcAft>
              <a:buNone/>
            </a:pPr>
            <a:r>
              <a:rPr sz="1100" b="1">
                <a:solidFill>
                  <a:srgbClr val="F37021"/>
                </a:solidFill>
                <a:latin typeface="Consolas"/>
                <a:ea typeface="Consolas"/>
                <a:cs typeface="Consolas"/>
              </a:rPr>
              <a:t># nodemon di container auto-restart!</a:t>
            </a:r>
          </a:p>
          <a:p xmlns:a="http://schemas.openxmlformats.org/drawingml/2006/main">
            <a:pPr marL="0" indent="0">
              <a:spcAft>
                <a:spcPts val="200"/>
              </a:spcAft>
              <a:buNone/>
            </a:pPr>
            <a:r>
              <a:rPr sz="1100" b="1">
                <a:solidFill>
                  <a:srgbClr val="F37021"/>
                </a:solidFill>
                <a:latin typeface="Consolas"/>
                <a:ea typeface="Consolas"/>
                <a:cs typeface="Consolas"/>
              </a:rPr>
              <a:t># Format: HOST:CONTAINER[:MODE]</a:t>
            </a:r>
          </a:p>
          <a:p xmlns:a="http://schemas.openxmlformats.org/drawingml/2006/main">
            <a:pPr marL="0" indent="0">
              <a:spcAft>
                <a:spcPts val="200"/>
              </a:spcAft>
              <a:buNone/>
            </a:pPr>
            <a:r>
              <a:rPr sz="1100" b="1">
                <a:solidFill>
                  <a:srgbClr val="F37021"/>
                </a:solidFill>
                <a:latin typeface="Consolas"/>
                <a:ea typeface="Consolas"/>
                <a:cs typeface="Consolas"/>
              </a:rPr>
              <a:t># - ./src:/app/src     (rw, default)</a:t>
            </a:r>
          </a:p>
          <a:p xmlns:a="http://schemas.openxmlformats.org/drawingml/2006/main">
            <a:pPr marL="0" indent="0">
              <a:spcAft>
                <a:spcPts val="200"/>
              </a:spcAft>
              <a:buNone/>
            </a:pPr>
            <a:r>
              <a:rPr sz="1100" b="1">
                <a:solidFill>
                  <a:srgbClr val="F37021"/>
                </a:solidFill>
                <a:latin typeface="Consolas"/>
                <a:ea typeface="Consolas"/>
                <a:cs typeface="Consolas"/>
              </a:rPr>
              <a:t># - ./conf:/etc:ro     (read-only)</a:t>
            </a:r>
          </a:p>
        </p:txBody>
      </p:sp>
    </p:spTree>
    <p:extLst>
      <p:ext uri="{BB962C8B-B14F-4D97-AF65-F5344CB8AC3E}">
        <p14:creationId xmlns:p14="http://schemas.microsoft.com/office/powerpoint/2010/main" val="20241644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968983-E84B-4CCC-83C7-55133488299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7B3F770E-F22D-45AC-9F91-8EE87827D6DB}"/>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12</a:t>
            </a:r>
            <a:endParaRPr sz="900"/>
          </a:p>
        </p:txBody>
      </p:sp>
      <p:sp>
        <p:nvSpPr>
          <p:cNvPr id="4" name="Shape 2">
            <a:extLst xmlns:a="http://schemas.openxmlformats.org/drawingml/2006/main">
              <a:ext uri="{FF2B5EF4-FFF2-40B4-BE49-F238E27FC236}">
                <a16:creationId xmlns:a16="http://schemas.microsoft.com/office/drawing/2014/main" id="{5AA26F7D-CBED-4295-86B6-CAFEFB2145A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8" name="Image 0">
            <a:extLst xmlns:a="http://schemas.openxmlformats.org/drawingml/2006/main">
              <a:ext uri="{FF2B5EF4-FFF2-40B4-BE49-F238E27FC236}">
                <a16:creationId xmlns:a16="http://schemas.microsoft.com/office/drawing/2014/main" id="{73251307-28B8-40AD-ACC8-5D337C07353E}"/>
              </a:ext>
            </a:extLst>
          </p:cNvPr>
          <p:cNvPicPr>
            <a:picLocks xmlns:a="http://schemas.openxmlformats.org/drawingml/2006/main" noChangeAspect="1"/>
          </p:cNvPicPr>
          <p:nvPr/>
        </p:nvPicPr>
        <p:blipFill>
          <a:blip xmlns:r="http://schemas.openxmlformats.org/officeDocument/2006/relationships" xmlns:a="http://schemas.openxmlformats.org/drawingml/2006/main" r:embed="Ra50c38b43c7e447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9" name="Image 1">
            <a:extLst xmlns:a="http://schemas.openxmlformats.org/drawingml/2006/main">
              <a:ext uri="{FF2B5EF4-FFF2-40B4-BE49-F238E27FC236}">
                <a16:creationId xmlns:a16="http://schemas.microsoft.com/office/drawing/2014/main" id="{B6E56C62-B67F-467B-A2F2-2376707FAD63}"/>
              </a:ext>
            </a:extLst>
          </p:cNvPr>
          <p:cNvPicPr>
            <a:picLocks xmlns:a="http://schemas.openxmlformats.org/drawingml/2006/main" noChangeAspect="1"/>
          </p:cNvPicPr>
          <p:nvPr/>
        </p:nvPicPr>
        <p:blipFill>
          <a:blip xmlns:r="http://schemas.openxmlformats.org/officeDocument/2006/relationships" xmlns:a="http://schemas.openxmlformats.org/drawingml/2006/main" r:embed="R895b99a25b034309"/>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9AF4629A-C574-495C-833B-1A41054793AD}"/>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AABD0C8B-2AEF-4E27-94E6-FFAD266E058D}"/>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Environment Variables</a:t>
            </a:r>
            <a:endParaRPr sz="2200"/>
          </a:p>
        </p:txBody>
      </p:sp>
      <p:sp>
        <p:nvSpPr>
          <p:cNvPr id="9" name="Text 5">
            <a:extLst xmlns:a="http://schemas.openxmlformats.org/drawingml/2006/main">
              <a:ext uri="{FF2B5EF4-FFF2-40B4-BE49-F238E27FC236}">
                <a16:creationId xmlns:a16="http://schemas.microsoft.com/office/drawing/2014/main" id="{7D13B480-731F-4B40-85C7-E0EF3B7C967E}"/>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3 cara set env: inline, env_file, atau .env (di root project)</a:t>
            </a:r>
            <a:endParaRPr sz="1200"/>
          </a:p>
        </p:txBody>
      </p:sp>
      <p:sp>
        <p:nvSpPr>
          <p:cNvPr id="10" name="Shape 6">
            <a:extLst xmlns:a="http://schemas.openxmlformats.org/drawingml/2006/main">
              <a:ext uri="{FF2B5EF4-FFF2-40B4-BE49-F238E27FC236}">
                <a16:creationId xmlns:a16="http://schemas.microsoft.com/office/drawing/2014/main" id="{7044977B-D7D4-4E16-9550-550823ABF412}"/>
              </a:ext>
            </a:extLst>
          </p:cNvPr>
          <p:cNvSpPr>
            <a:spLocks xmlns:a="http://schemas.openxmlformats.org/drawingml/2006/main" noGrp="1"/>
          </p:cNvSpPr>
          <p:nvPr/>
        </p:nvSpPr>
        <p:spPr>
          <a:xfrm xmlns:a="http://schemas.openxmlformats.org/drawingml/2006/main">
            <a:off x="457200" y="1417320"/>
            <a:ext cx="37490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05A694DB-4D27-4EC0-9DEA-D70A05EB0B26}"/>
              </a:ext>
            </a:extLst>
          </p:cNvPr>
          <p:cNvSpPr>
            <a:spLocks xmlns:a="http://schemas.openxmlformats.org/drawingml/2006/main" noGrp="1"/>
          </p:cNvSpPr>
          <p:nvPr/>
        </p:nvSpPr>
        <p:spPr>
          <a:xfrm xmlns:a="http://schemas.openxmlformats.org/drawingml/2006/main">
            <a:off x="457200" y="1417320"/>
            <a:ext cx="3749040" cy="45720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12" name="Text 8">
            <a:extLst xmlns:a="http://schemas.openxmlformats.org/drawingml/2006/main">
              <a:ext uri="{FF2B5EF4-FFF2-40B4-BE49-F238E27FC236}">
                <a16:creationId xmlns:a16="http://schemas.microsoft.com/office/drawing/2014/main" id="{D4388E7A-F7AE-4522-BF9B-351C173B5F77}"/>
              </a:ext>
            </a:extLst>
          </p:cNvPr>
          <p:cNvSpPr>
            <a:spLocks xmlns:a="http://schemas.openxmlformats.org/drawingml/2006/main" noGrp="1"/>
          </p:cNvSpPr>
          <p:nvPr/>
        </p:nvSpPr>
        <p:spPr>
          <a:xfrm xmlns:a="http://schemas.openxmlformats.org/drawingml/2006/main">
            <a:off x="457200" y="1417320"/>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spc="200">
                <a:solidFill>
                  <a:srgbClr val="FFFFFF"/>
                </a:solidFill>
                <a:latin typeface="Calibri"/>
                <a:ea typeface="Calibri"/>
                <a:cs typeface="Calibri"/>
              </a:rPr>
              <a:t>1. Inline environment:</a:t>
            </a:r>
            <a:endParaRPr sz="1200"/>
          </a:p>
        </p:txBody>
      </p:sp>
      <p:sp>
        <p:nvSpPr>
          <p:cNvPr id="13" name="Text 9">
            <a:extLst xmlns:a="http://schemas.openxmlformats.org/drawingml/2006/main">
              <a:ext uri="{FF2B5EF4-FFF2-40B4-BE49-F238E27FC236}">
                <a16:creationId xmlns:a16="http://schemas.microsoft.com/office/drawing/2014/main" id="{594312C8-7C85-42F0-A450-7300274DDAB5}"/>
              </a:ext>
            </a:extLst>
          </p:cNvPr>
          <p:cNvSpPr>
            <a:spLocks xmlns:a="http://schemas.openxmlformats.org/drawingml/2006/main" noGrp="1"/>
          </p:cNvSpPr>
          <p:nvPr/>
        </p:nvSpPr>
        <p:spPr>
          <a:xfrm xmlns:a="http://schemas.openxmlformats.org/drawingml/2006/main">
            <a:off x="640080" y="1965960"/>
            <a:ext cx="338328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i="1">
                <a:solidFill>
                  <a:srgbClr val="1E293B"/>
                </a:solidFill>
                <a:latin typeface="Calibri"/>
                <a:ea typeface="Calibri"/>
                <a:cs typeface="Calibri"/>
              </a:rPr>
              <a:t>Hardcoded di compose.yml. Cepat tapi tidak fleksibel + secret terlihat.</a:t>
            </a:r>
            <a:endParaRPr sz="1050"/>
          </a:p>
        </p:txBody>
      </p:sp>
      <p:sp>
        <p:nvSpPr>
          <p:cNvPr id="14" name="Shape 10">
            <a:extLst xmlns:a="http://schemas.openxmlformats.org/drawingml/2006/main">
              <a:ext uri="{FF2B5EF4-FFF2-40B4-BE49-F238E27FC236}">
                <a16:creationId xmlns:a16="http://schemas.microsoft.com/office/drawing/2014/main" id="{DBA80FCC-6B2E-4269-A9B8-9D4DD3928DA2}"/>
              </a:ext>
            </a:extLst>
          </p:cNvPr>
          <p:cNvSpPr>
            <a:spLocks xmlns:a="http://schemas.openxmlformats.org/drawingml/2006/main" noGrp="1"/>
          </p:cNvSpPr>
          <p:nvPr/>
        </p:nvSpPr>
        <p:spPr>
          <a:xfrm xmlns:a="http://schemas.openxmlformats.org/drawingml/2006/main">
            <a:off x="640080" y="2697480"/>
            <a:ext cx="3383280" cy="33832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5" name="Shape 11">
            <a:extLst xmlns:a="http://schemas.openxmlformats.org/drawingml/2006/main">
              <a:ext uri="{FF2B5EF4-FFF2-40B4-BE49-F238E27FC236}">
                <a16:creationId xmlns:a16="http://schemas.microsoft.com/office/drawing/2014/main" id="{E542F73E-D38D-446F-B43F-1805C252B006}"/>
              </a:ext>
            </a:extLst>
          </p:cNvPr>
          <p:cNvSpPr>
            <a:spLocks xmlns:a="http://schemas.openxmlformats.org/drawingml/2006/main" noGrp="1"/>
          </p:cNvSpPr>
          <p:nvPr/>
        </p:nvSpPr>
        <p:spPr>
          <a:xfrm xmlns:a="http://schemas.openxmlformats.org/drawingml/2006/main">
            <a:off x="640080" y="2697480"/>
            <a:ext cx="338328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6" name="Shape 12">
            <a:extLst xmlns:a="http://schemas.openxmlformats.org/drawingml/2006/main">
              <a:ext uri="{FF2B5EF4-FFF2-40B4-BE49-F238E27FC236}">
                <a16:creationId xmlns:a16="http://schemas.microsoft.com/office/drawing/2014/main" id="{42881154-70C7-4212-9839-99F2F1D12756}"/>
              </a:ext>
            </a:extLst>
          </p:cNvPr>
          <p:cNvSpPr>
            <a:spLocks xmlns:a="http://schemas.openxmlformats.org/drawingml/2006/main" noGrp="1"/>
          </p:cNvSpPr>
          <p:nvPr/>
        </p:nvSpPr>
        <p:spPr>
          <a:xfrm xmlns:a="http://schemas.openxmlformats.org/drawingml/2006/main">
            <a:off x="731520" y="277977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7" name="Shape 13">
            <a:extLst xmlns:a="http://schemas.openxmlformats.org/drawingml/2006/main">
              <a:ext uri="{FF2B5EF4-FFF2-40B4-BE49-F238E27FC236}">
                <a16:creationId xmlns:a16="http://schemas.microsoft.com/office/drawing/2014/main" id="{BCEF5125-32AD-470A-AB70-45452DEF491D}"/>
              </a:ext>
            </a:extLst>
          </p:cNvPr>
          <p:cNvSpPr>
            <a:spLocks xmlns:a="http://schemas.openxmlformats.org/drawingml/2006/main" noGrp="1"/>
          </p:cNvSpPr>
          <p:nvPr/>
        </p:nvSpPr>
        <p:spPr>
          <a:xfrm xmlns:a="http://schemas.openxmlformats.org/drawingml/2006/main">
            <a:off x="868680" y="277977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8" name="Shape 14">
            <a:extLst xmlns:a="http://schemas.openxmlformats.org/drawingml/2006/main">
              <a:ext uri="{FF2B5EF4-FFF2-40B4-BE49-F238E27FC236}">
                <a16:creationId xmlns:a16="http://schemas.microsoft.com/office/drawing/2014/main" id="{5EE8EF2C-B014-425E-88E3-4B3BCF585DD0}"/>
              </a:ext>
            </a:extLst>
          </p:cNvPr>
          <p:cNvSpPr>
            <a:spLocks xmlns:a="http://schemas.openxmlformats.org/drawingml/2006/main" noGrp="1"/>
          </p:cNvSpPr>
          <p:nvPr/>
        </p:nvSpPr>
        <p:spPr>
          <a:xfrm xmlns:a="http://schemas.openxmlformats.org/drawingml/2006/main">
            <a:off x="1005840" y="277977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9" name="Text 15">
            <a:extLst xmlns:a="http://schemas.openxmlformats.org/drawingml/2006/main">
              <a:ext uri="{FF2B5EF4-FFF2-40B4-BE49-F238E27FC236}">
                <a16:creationId xmlns:a16="http://schemas.microsoft.com/office/drawing/2014/main" id="{8019E2CF-FF11-41A5-8E96-CAA171F7F72C}"/>
              </a:ext>
            </a:extLst>
          </p:cNvPr>
          <p:cNvSpPr>
            <a:spLocks xmlns:a="http://schemas.openxmlformats.org/drawingml/2006/main" noGrp="1"/>
          </p:cNvSpPr>
          <p:nvPr/>
        </p:nvSpPr>
        <p:spPr>
          <a:xfrm xmlns:a="http://schemas.openxmlformats.org/drawingml/2006/main">
            <a:off x="1188720" y="2697480"/>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compose.yml</a:t>
            </a:r>
            <a:endParaRPr sz="900"/>
          </a:p>
        </p:txBody>
      </p:sp>
      <p:sp>
        <p:nvSpPr>
          <p:cNvPr id="20" name="Text 16">
            <a:extLst xmlns:a="http://schemas.openxmlformats.org/drawingml/2006/main">
              <a:ext uri="{FF2B5EF4-FFF2-40B4-BE49-F238E27FC236}">
                <a16:creationId xmlns:a16="http://schemas.microsoft.com/office/drawing/2014/main" id="{A60D37B0-C82E-4C49-93F5-AC6D20DBCD01}"/>
              </a:ext>
            </a:extLst>
          </p:cNvPr>
          <p:cNvSpPr>
            <a:spLocks xmlns:a="http://schemas.openxmlformats.org/drawingml/2006/main" noGrp="1"/>
          </p:cNvSpPr>
          <p:nvPr/>
        </p:nvSpPr>
        <p:spPr>
          <a:xfrm xmlns:a="http://schemas.openxmlformats.org/drawingml/2006/main">
            <a:off x="777240" y="3063240"/>
            <a:ext cx="310896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b="1">
                <a:solidFill>
                  <a:srgbClr val="F37021"/>
                </a:solidFill>
                <a:latin typeface="Consolas"/>
                <a:ea typeface="Consolas"/>
                <a:cs typeface="Consolas"/>
              </a:rPr>
              <a:t>services:</a:t>
            </a:r>
            <a:endParaRPr sz="1000"/>
          </a:p>
          <a:p xmlns:a="http://schemas.openxmlformats.org/drawingml/2006/main">
            <a:pPr marL="0" indent="0">
              <a:spcAft>
                <a:spcPts val="200"/>
              </a:spcAft>
              <a:buNone/>
            </a:pPr>
            <a:r>
              <a:rPr sz="1000">
                <a:solidFill>
                  <a:srgbClr val="60A5FA"/>
                </a:solidFill>
                <a:latin typeface="Consolas"/>
                <a:ea typeface="Consolas"/>
                <a:cs typeface="Consolas"/>
              </a:rPr>
              <a:t>  api:</a:t>
            </a:r>
            <a:endParaRPr sz="1000"/>
          </a:p>
          <a:p xmlns:a="http://schemas.openxmlformats.org/drawingml/2006/main">
            <a:pPr marL="0" indent="0">
              <a:spcAft>
                <a:spcPts val="200"/>
              </a:spcAft>
              <a:buNone/>
            </a:pPr>
            <a:r>
              <a:rPr sz="1000">
                <a:solidFill>
                  <a:srgbClr val="E2E8F0"/>
                </a:solidFill>
                <a:latin typeface="Consolas"/>
                <a:ea typeface="Consolas"/>
                <a:cs typeface="Consolas"/>
              </a:rPr>
              <a:t>    image: myapp</a:t>
            </a:r>
            <a:endParaRPr sz="1000"/>
          </a:p>
          <a:p xmlns:a="http://schemas.openxmlformats.org/drawingml/2006/main">
            <a:pPr marL="0" indent="0">
              <a:spcAft>
                <a:spcPts val="200"/>
              </a:spcAft>
              <a:buNone/>
            </a:pPr>
            <a:r>
              <a:rPr sz="1000">
                <a:solidFill>
                  <a:srgbClr val="E2E8F0"/>
                </a:solidFill>
                <a:latin typeface="Consolas"/>
                <a:ea typeface="Consolas"/>
                <a:cs typeface="Consolas"/>
              </a:rPr>
              <a:t>    environment:</a:t>
            </a:r>
            <a:endParaRPr sz="1000"/>
          </a:p>
          <a:p xmlns:a="http://schemas.openxmlformats.org/drawingml/2006/main">
            <a:pPr marL="0" indent="0">
              <a:spcAft>
                <a:spcPts val="200"/>
              </a:spcAft>
              <a:buNone/>
            </a:pPr>
            <a:r>
              <a:rPr sz="1000">
                <a:solidFill>
                  <a:srgbClr val="E2E8F0"/>
                </a:solidFill>
                <a:latin typeface="Consolas"/>
                <a:ea typeface="Consolas"/>
                <a:cs typeface="Consolas"/>
              </a:rPr>
              <a:t>      NODE_ENV: prod</a:t>
            </a:r>
            <a:endParaRPr sz="1000"/>
          </a:p>
          <a:p xmlns:a="http://schemas.openxmlformats.org/drawingml/2006/main">
            <a:pPr marL="0" indent="0">
              <a:spcAft>
                <a:spcPts val="200"/>
              </a:spcAft>
              <a:buNone/>
            </a:pPr>
            <a:r>
              <a:rPr sz="1000">
                <a:solidFill>
                  <a:srgbClr val="E2E8F0"/>
                </a:solidFill>
                <a:latin typeface="Consolas"/>
                <a:ea typeface="Consolas"/>
                <a:cs typeface="Consolas"/>
              </a:rPr>
              <a:t>      DB_HOST: db</a:t>
            </a:r>
            <a:endParaRPr sz="1000"/>
          </a:p>
          <a:p xmlns:a="http://schemas.openxmlformats.org/drawingml/2006/main">
            <a:pPr marL="0" indent="0">
              <a:spcAft>
                <a:spcPts val="200"/>
              </a:spcAft>
              <a:buNone/>
            </a:pPr>
            <a:r>
              <a:rPr sz="1000">
                <a:solidFill>
                  <a:srgbClr val="E2E8F0"/>
                </a:solidFill>
                <a:latin typeface="Consolas"/>
                <a:ea typeface="Consolas"/>
                <a:cs typeface="Consolas"/>
              </a:rPr>
              <a:t>      LOG_LEVEL: info</a:t>
            </a:r>
            <a:endParaRPr sz="1000"/>
          </a:p>
          <a:p xmlns:a="http://schemas.openxmlformats.org/drawingml/2006/main">
            <a:pPr marL="0" indent="0">
              <a:spcAft>
                <a:spcPts val="200"/>
              </a:spcAft>
              <a:buNone/>
            </a:pPr>
            <a:r>
              <a:rPr sz="1000">
                <a:solidFill>
                  <a:srgbClr val="EF4444"/>
                </a:solidFill>
                <a:latin typeface="Consolas"/>
                <a:ea typeface="Consolas"/>
                <a:cs typeface="Consolas"/>
              </a:rPr>
              <a:t>      # JANGAN:</a:t>
            </a:r>
            <a:endParaRPr sz="1000"/>
          </a:p>
          <a:p xmlns:a="http://schemas.openxmlformats.org/drawingml/2006/main">
            <a:pPr marL="0" indent="0">
              <a:spcAft>
                <a:spcPts val="200"/>
              </a:spcAft>
              <a:buNone/>
            </a:pPr>
            <a:r>
              <a:rPr sz="1000">
                <a:solidFill>
                  <a:srgbClr val="EF4444"/>
                </a:solidFill>
                <a:latin typeface="Consolas"/>
                <a:ea typeface="Consolas"/>
                <a:cs typeface="Consolas"/>
              </a:rPr>
              <a:t>      # API_KEY: x</a:t>
            </a:r>
            <a:endParaRPr sz="1000"/>
          </a:p>
        </p:txBody>
      </p:sp>
      <p:sp>
        <p:nvSpPr>
          <p:cNvPr id="21" name="Shape 17">
            <a:extLst xmlns:a="http://schemas.openxmlformats.org/drawingml/2006/main">
              <a:ext uri="{FF2B5EF4-FFF2-40B4-BE49-F238E27FC236}">
                <a16:creationId xmlns:a16="http://schemas.microsoft.com/office/drawing/2014/main" id="{1046E330-6DD8-4E19-BD24-4F4A99EA3223}"/>
              </a:ext>
            </a:extLst>
          </p:cNvPr>
          <p:cNvSpPr>
            <a:spLocks xmlns:a="http://schemas.openxmlformats.org/drawingml/2006/main" noGrp="1"/>
          </p:cNvSpPr>
          <p:nvPr/>
        </p:nvSpPr>
        <p:spPr>
          <a:xfrm xmlns:a="http://schemas.openxmlformats.org/drawingml/2006/main">
            <a:off x="4297680" y="1417320"/>
            <a:ext cx="37490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2" name="Shape 18">
            <a:extLst xmlns:a="http://schemas.openxmlformats.org/drawingml/2006/main">
              <a:ext uri="{FF2B5EF4-FFF2-40B4-BE49-F238E27FC236}">
                <a16:creationId xmlns:a16="http://schemas.microsoft.com/office/drawing/2014/main" id="{BA2E16BB-44E2-46D7-9088-ED83602E4A2B}"/>
              </a:ext>
            </a:extLst>
          </p:cNvPr>
          <p:cNvSpPr>
            <a:spLocks xmlns:a="http://schemas.openxmlformats.org/drawingml/2006/main" noGrp="1"/>
          </p:cNvSpPr>
          <p:nvPr/>
        </p:nvSpPr>
        <p:spPr>
          <a:xfrm xmlns:a="http://schemas.openxmlformats.org/drawingml/2006/main">
            <a:off x="4297680" y="1417320"/>
            <a:ext cx="3749040" cy="45720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3" name="Text 19">
            <a:extLst xmlns:a="http://schemas.openxmlformats.org/drawingml/2006/main">
              <a:ext uri="{FF2B5EF4-FFF2-40B4-BE49-F238E27FC236}">
                <a16:creationId xmlns:a16="http://schemas.microsoft.com/office/drawing/2014/main" id="{C4718F98-3E01-4F93-9F0C-A3993C75D4A6}"/>
              </a:ext>
            </a:extLst>
          </p:cNvPr>
          <p:cNvSpPr>
            <a:spLocks xmlns:a="http://schemas.openxmlformats.org/drawingml/2006/main" noGrp="1"/>
          </p:cNvSpPr>
          <p:nvPr/>
        </p:nvSpPr>
        <p:spPr>
          <a:xfrm xmlns:a="http://schemas.openxmlformats.org/drawingml/2006/main">
            <a:off x="4297680" y="1417320"/>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spc="200">
                <a:solidFill>
                  <a:srgbClr val="FFFFFF"/>
                </a:solidFill>
                <a:latin typeface="Calibri"/>
                <a:ea typeface="Calibri"/>
                <a:cs typeface="Calibri"/>
              </a:rPr>
              <a:t>2. env_file:</a:t>
            </a:r>
            <a:endParaRPr sz="1200"/>
          </a:p>
        </p:txBody>
      </p:sp>
      <p:sp>
        <p:nvSpPr>
          <p:cNvPr id="24" name="Text 20">
            <a:extLst xmlns:a="http://schemas.openxmlformats.org/drawingml/2006/main">
              <a:ext uri="{FF2B5EF4-FFF2-40B4-BE49-F238E27FC236}">
                <a16:creationId xmlns:a16="http://schemas.microsoft.com/office/drawing/2014/main" id="{28FA7725-EB65-4C1F-8BB1-4747EC2C276B}"/>
              </a:ext>
            </a:extLst>
          </p:cNvPr>
          <p:cNvSpPr>
            <a:spLocks xmlns:a="http://schemas.openxmlformats.org/drawingml/2006/main" noGrp="1"/>
          </p:cNvSpPr>
          <p:nvPr/>
        </p:nvSpPr>
        <p:spPr>
          <a:xfrm xmlns:a="http://schemas.openxmlformats.org/drawingml/2006/main">
            <a:off x="4480560" y="1965960"/>
            <a:ext cx="338328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i="1">
                <a:solidFill>
                  <a:srgbClr val="1E293B"/>
                </a:solidFill>
                <a:latin typeface="Calibri"/>
                <a:ea typeface="Calibri"/>
                <a:cs typeface="Calibri"/>
              </a:rPr>
              <a:t>Per-service env file. Bisa pakai banyak file. Cocok untuk dev/staging/prod split.</a:t>
            </a:r>
            <a:endParaRPr sz="1050"/>
          </a:p>
        </p:txBody>
      </p:sp>
      <p:sp>
        <p:nvSpPr>
          <p:cNvPr id="25" name="Shape 21">
            <a:extLst xmlns:a="http://schemas.openxmlformats.org/drawingml/2006/main">
              <a:ext uri="{FF2B5EF4-FFF2-40B4-BE49-F238E27FC236}">
                <a16:creationId xmlns:a16="http://schemas.microsoft.com/office/drawing/2014/main" id="{009153C0-DA95-49B4-B369-B53454DE6E88}"/>
              </a:ext>
            </a:extLst>
          </p:cNvPr>
          <p:cNvSpPr>
            <a:spLocks xmlns:a="http://schemas.openxmlformats.org/drawingml/2006/main" noGrp="1"/>
          </p:cNvSpPr>
          <p:nvPr/>
        </p:nvSpPr>
        <p:spPr>
          <a:xfrm xmlns:a="http://schemas.openxmlformats.org/drawingml/2006/main">
            <a:off x="4480560" y="2697480"/>
            <a:ext cx="3383280" cy="33832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6" name="Shape 22">
            <a:extLst xmlns:a="http://schemas.openxmlformats.org/drawingml/2006/main">
              <a:ext uri="{FF2B5EF4-FFF2-40B4-BE49-F238E27FC236}">
                <a16:creationId xmlns:a16="http://schemas.microsoft.com/office/drawing/2014/main" id="{324E5771-7F85-45B1-8056-15D1732317E2}"/>
              </a:ext>
            </a:extLst>
          </p:cNvPr>
          <p:cNvSpPr>
            <a:spLocks xmlns:a="http://schemas.openxmlformats.org/drawingml/2006/main" noGrp="1"/>
          </p:cNvSpPr>
          <p:nvPr/>
        </p:nvSpPr>
        <p:spPr>
          <a:xfrm xmlns:a="http://schemas.openxmlformats.org/drawingml/2006/main">
            <a:off x="4480560" y="2697480"/>
            <a:ext cx="338328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7" name="Shape 23">
            <a:extLst xmlns:a="http://schemas.openxmlformats.org/drawingml/2006/main">
              <a:ext uri="{FF2B5EF4-FFF2-40B4-BE49-F238E27FC236}">
                <a16:creationId xmlns:a16="http://schemas.microsoft.com/office/drawing/2014/main" id="{D1140971-5E72-47A1-8990-2B1E883C271B}"/>
              </a:ext>
            </a:extLst>
          </p:cNvPr>
          <p:cNvSpPr>
            <a:spLocks xmlns:a="http://schemas.openxmlformats.org/drawingml/2006/main" noGrp="1"/>
          </p:cNvSpPr>
          <p:nvPr/>
        </p:nvSpPr>
        <p:spPr>
          <a:xfrm xmlns:a="http://schemas.openxmlformats.org/drawingml/2006/main">
            <a:off x="4572000" y="277977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8" name="Shape 24">
            <a:extLst xmlns:a="http://schemas.openxmlformats.org/drawingml/2006/main">
              <a:ext uri="{FF2B5EF4-FFF2-40B4-BE49-F238E27FC236}">
                <a16:creationId xmlns:a16="http://schemas.microsoft.com/office/drawing/2014/main" id="{7B9886C3-2456-48DE-AF51-71F2CCD94DE3}"/>
              </a:ext>
            </a:extLst>
          </p:cNvPr>
          <p:cNvSpPr>
            <a:spLocks xmlns:a="http://schemas.openxmlformats.org/drawingml/2006/main" noGrp="1"/>
          </p:cNvSpPr>
          <p:nvPr/>
        </p:nvSpPr>
        <p:spPr>
          <a:xfrm xmlns:a="http://schemas.openxmlformats.org/drawingml/2006/main">
            <a:off x="4709160" y="277977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9" name="Shape 25">
            <a:extLst xmlns:a="http://schemas.openxmlformats.org/drawingml/2006/main">
              <a:ext uri="{FF2B5EF4-FFF2-40B4-BE49-F238E27FC236}">
                <a16:creationId xmlns:a16="http://schemas.microsoft.com/office/drawing/2014/main" id="{A75924CB-A6B6-4970-9923-074116F7086E}"/>
              </a:ext>
            </a:extLst>
          </p:cNvPr>
          <p:cNvSpPr>
            <a:spLocks xmlns:a="http://schemas.openxmlformats.org/drawingml/2006/main" noGrp="1"/>
          </p:cNvSpPr>
          <p:nvPr/>
        </p:nvSpPr>
        <p:spPr>
          <a:xfrm xmlns:a="http://schemas.openxmlformats.org/drawingml/2006/main">
            <a:off x="4846320" y="277977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0" name="Text 26">
            <a:extLst xmlns:a="http://schemas.openxmlformats.org/drawingml/2006/main">
              <a:ext uri="{FF2B5EF4-FFF2-40B4-BE49-F238E27FC236}">
                <a16:creationId xmlns:a16="http://schemas.microsoft.com/office/drawing/2014/main" id="{5604CE29-50EF-4571-A244-0B6B12F83012}"/>
              </a:ext>
            </a:extLst>
          </p:cNvPr>
          <p:cNvSpPr>
            <a:spLocks xmlns:a="http://schemas.openxmlformats.org/drawingml/2006/main" noGrp="1"/>
          </p:cNvSpPr>
          <p:nvPr/>
        </p:nvSpPr>
        <p:spPr>
          <a:xfrm xmlns:a="http://schemas.openxmlformats.org/drawingml/2006/main">
            <a:off x="5029200" y="2697480"/>
            <a:ext cx="2651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compose.yml + .env.api</a:t>
            </a:r>
            <a:endParaRPr sz="900"/>
          </a:p>
        </p:txBody>
      </p:sp>
      <p:sp>
        <p:nvSpPr>
          <p:cNvPr id="31" name="Text 27">
            <a:extLst xmlns:a="http://schemas.openxmlformats.org/drawingml/2006/main">
              <a:ext uri="{FF2B5EF4-FFF2-40B4-BE49-F238E27FC236}">
                <a16:creationId xmlns:a16="http://schemas.microsoft.com/office/drawing/2014/main" id="{840482CF-A008-4ED2-81CA-4E4C6F8EA597}"/>
              </a:ext>
            </a:extLst>
          </p:cNvPr>
          <p:cNvSpPr>
            <a:spLocks xmlns:a="http://schemas.openxmlformats.org/drawingml/2006/main" noGrp="1"/>
          </p:cNvSpPr>
          <p:nvPr/>
        </p:nvSpPr>
        <p:spPr>
          <a:xfrm xmlns:a="http://schemas.openxmlformats.org/drawingml/2006/main">
            <a:off x="4617720" y="3063240"/>
            <a:ext cx="310896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a:solidFill>
                  <a:srgbClr val="94A3B8"/>
                </a:solidFill>
                <a:latin typeface="Consolas"/>
                <a:ea typeface="Consolas"/>
                <a:cs typeface="Consolas"/>
              </a:rPr>
              <a:t># compose.yml</a:t>
            </a:r>
            <a:endParaRPr sz="1000"/>
          </a:p>
          <a:p xmlns:a="http://schemas.openxmlformats.org/drawingml/2006/main">
            <a:pPr marL="0" indent="0">
              <a:spcAft>
                <a:spcPts val="200"/>
              </a:spcAft>
              <a:buNone/>
            </a:pPr>
            <a:r>
              <a:rPr sz="1000" b="1">
                <a:solidFill>
                  <a:srgbClr val="F37021"/>
                </a:solidFill>
                <a:latin typeface="Consolas"/>
                <a:ea typeface="Consolas"/>
                <a:cs typeface="Consolas"/>
              </a:rPr>
              <a:t>services:</a:t>
            </a:r>
            <a:endParaRPr sz="1000"/>
          </a:p>
          <a:p xmlns:a="http://schemas.openxmlformats.org/drawingml/2006/main">
            <a:pPr marL="0" indent="0">
              <a:spcAft>
                <a:spcPts val="200"/>
              </a:spcAft>
              <a:buNone/>
            </a:pPr>
            <a:r>
              <a:rPr sz="1000">
                <a:solidFill>
                  <a:srgbClr val="60A5FA"/>
                </a:solidFill>
                <a:latin typeface="Consolas"/>
                <a:ea typeface="Consolas"/>
                <a:cs typeface="Consolas"/>
              </a:rPr>
              <a:t>  api:</a:t>
            </a:r>
            <a:endParaRPr sz="1000"/>
          </a:p>
          <a:p xmlns:a="http://schemas.openxmlformats.org/drawingml/2006/main">
            <a:pPr marL="0" indent="0">
              <a:spcAft>
                <a:spcPts val="200"/>
              </a:spcAft>
              <a:buNone/>
            </a:pPr>
            <a:r>
              <a:rPr sz="1000">
                <a:solidFill>
                  <a:srgbClr val="E2E8F0"/>
                </a:solidFill>
                <a:latin typeface="Consolas"/>
                <a:ea typeface="Consolas"/>
                <a:cs typeface="Consolas"/>
              </a:rPr>
              <a:t>    env_file:</a:t>
            </a:r>
            <a:endParaRPr sz="1000"/>
          </a:p>
          <a:p xmlns:a="http://schemas.openxmlformats.org/drawingml/2006/main">
            <a:pPr marL="0" indent="0">
              <a:spcAft>
                <a:spcPts val="200"/>
              </a:spcAft>
              <a:buNone/>
            </a:pPr>
            <a:r>
              <a:rPr sz="1000">
                <a:solidFill>
                  <a:srgbClr val="10B981"/>
                </a:solidFill>
                <a:latin typeface="Consolas"/>
                <a:ea typeface="Consolas"/>
                <a:cs typeface="Consolas"/>
              </a:rPr>
              <a:t>      - .env.api</a:t>
            </a:r>
            <a:endParaRPr sz="1000"/>
          </a:p>
          <a:p xmlns:a="http://schemas.openxmlformats.org/drawingml/2006/main">
            <a:pPr marL="0" indent="0">
              <a:spcAft>
                <a:spcPts val="200"/>
              </a:spcAft>
              <a:buNone/>
            </a:pPr>
            <a:r>
              <a:rPr sz="1000">
                <a:solidFill>
                  <a:srgbClr val="10B981"/>
                </a:solidFill>
                <a:latin typeface="Consolas"/>
                <a:ea typeface="Consolas"/>
                <a:cs typeface="Consolas"/>
              </a:rPr>
              <a:t>      - .env.common</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.env.api file</a:t>
            </a:r>
            <a:endParaRPr sz="1000"/>
          </a:p>
          <a:p xmlns:a="http://schemas.openxmlformats.org/drawingml/2006/main">
            <a:pPr marL="0" indent="0">
              <a:spcAft>
                <a:spcPts val="200"/>
              </a:spcAft>
              <a:buNone/>
            </a:pPr>
            <a:r>
              <a:rPr sz="1000">
                <a:solidFill>
                  <a:srgbClr val="E2E8F0"/>
                </a:solidFill>
                <a:latin typeface="Consolas"/>
                <a:ea typeface="Consolas"/>
                <a:cs typeface="Consolas"/>
              </a:rPr>
              <a:t>NODE_ENV=production</a:t>
            </a:r>
            <a:endParaRPr sz="1000"/>
          </a:p>
          <a:p xmlns:a="http://schemas.openxmlformats.org/drawingml/2006/main">
            <a:pPr marL="0" indent="0">
              <a:spcAft>
                <a:spcPts val="200"/>
              </a:spcAft>
              <a:buNone/>
            </a:pPr>
            <a:r>
              <a:rPr sz="1000">
                <a:solidFill>
                  <a:srgbClr val="E2E8F0"/>
                </a:solidFill>
                <a:latin typeface="Consolas"/>
                <a:ea typeface="Consolas"/>
                <a:cs typeface="Consolas"/>
              </a:rPr>
              <a:t>DB_HOST=db</a:t>
            </a:r>
            <a:endParaRPr sz="1000"/>
          </a:p>
          <a:p xmlns:a="http://schemas.openxmlformats.org/drawingml/2006/main">
            <a:pPr marL="0" indent="0">
              <a:spcAft>
                <a:spcPts val="200"/>
              </a:spcAft>
              <a:buNone/>
            </a:pPr>
            <a:r>
              <a:rPr sz="1000">
                <a:solidFill>
                  <a:srgbClr val="E2E8F0"/>
                </a:solidFill>
                <a:latin typeface="Consolas"/>
                <a:ea typeface="Consolas"/>
                <a:cs typeface="Consolas"/>
              </a:rPr>
              <a:t>API_KEY=xxx</a:t>
            </a:r>
            <a:endParaRPr sz="1000"/>
          </a:p>
        </p:txBody>
      </p:sp>
      <p:sp>
        <p:nvSpPr>
          <p:cNvPr id="32" name="Shape 28">
            <a:extLst xmlns:a="http://schemas.openxmlformats.org/drawingml/2006/main">
              <a:ext uri="{FF2B5EF4-FFF2-40B4-BE49-F238E27FC236}">
                <a16:creationId xmlns:a16="http://schemas.microsoft.com/office/drawing/2014/main" id="{BCD2F822-CF09-423E-AFB6-92A5CA27A46B}"/>
              </a:ext>
            </a:extLst>
          </p:cNvPr>
          <p:cNvSpPr>
            <a:spLocks xmlns:a="http://schemas.openxmlformats.org/drawingml/2006/main" noGrp="1"/>
          </p:cNvSpPr>
          <p:nvPr/>
        </p:nvSpPr>
        <p:spPr>
          <a:xfrm xmlns:a="http://schemas.openxmlformats.org/drawingml/2006/main">
            <a:off x="8138160" y="1417320"/>
            <a:ext cx="356616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3" name="Shape 29">
            <a:extLst xmlns:a="http://schemas.openxmlformats.org/drawingml/2006/main">
              <a:ext uri="{FF2B5EF4-FFF2-40B4-BE49-F238E27FC236}">
                <a16:creationId xmlns:a16="http://schemas.microsoft.com/office/drawing/2014/main" id="{EE381BAD-1D2A-4936-A6AB-54F06A446D29}"/>
              </a:ext>
            </a:extLst>
          </p:cNvPr>
          <p:cNvSpPr>
            <a:spLocks xmlns:a="http://schemas.openxmlformats.org/drawingml/2006/main" noGrp="1"/>
          </p:cNvSpPr>
          <p:nvPr/>
        </p:nvSpPr>
        <p:spPr>
          <a:xfrm xmlns:a="http://schemas.openxmlformats.org/drawingml/2006/main">
            <a:off x="8138160" y="1417320"/>
            <a:ext cx="3566160" cy="45720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34" name="Text 30">
            <a:extLst xmlns:a="http://schemas.openxmlformats.org/drawingml/2006/main">
              <a:ext uri="{FF2B5EF4-FFF2-40B4-BE49-F238E27FC236}">
                <a16:creationId xmlns:a16="http://schemas.microsoft.com/office/drawing/2014/main" id="{31410F37-E163-40F8-99ED-1C50B5C05AEE}"/>
              </a:ext>
            </a:extLst>
          </p:cNvPr>
          <p:cNvSpPr>
            <a:spLocks xmlns:a="http://schemas.openxmlformats.org/drawingml/2006/main" noGrp="1"/>
          </p:cNvSpPr>
          <p:nvPr/>
        </p:nvSpPr>
        <p:spPr>
          <a:xfrm xmlns:a="http://schemas.openxmlformats.org/drawingml/2006/main">
            <a:off x="8138160" y="1417320"/>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spc="200">
                <a:solidFill>
                  <a:srgbClr val="FFFFFF"/>
                </a:solidFill>
                <a:latin typeface="Calibri"/>
                <a:ea typeface="Calibri"/>
                <a:cs typeface="Calibri"/>
              </a:rPr>
              <a:t>3. .env (interpolation):</a:t>
            </a:r>
            <a:endParaRPr sz="1200"/>
          </a:p>
        </p:txBody>
      </p:sp>
      <p:sp>
        <p:nvSpPr>
          <p:cNvPr id="35" name="Text 31">
            <a:extLst xmlns:a="http://schemas.openxmlformats.org/drawingml/2006/main">
              <a:ext uri="{FF2B5EF4-FFF2-40B4-BE49-F238E27FC236}">
                <a16:creationId xmlns:a16="http://schemas.microsoft.com/office/drawing/2014/main" id="{4D7280A1-42A7-45B2-B609-BEF41F90F429}"/>
              </a:ext>
            </a:extLst>
          </p:cNvPr>
          <p:cNvSpPr>
            <a:spLocks xmlns:a="http://schemas.openxmlformats.org/drawingml/2006/main" noGrp="1"/>
          </p:cNvSpPr>
          <p:nvPr/>
        </p:nvSpPr>
        <p:spPr>
          <a:xfrm xmlns:a="http://schemas.openxmlformats.org/drawingml/2006/main">
            <a:off x="8321040" y="1965960"/>
            <a:ext cx="329184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i="1">
                <a:solidFill>
                  <a:srgbClr val="1E293B"/>
                </a:solidFill>
                <a:latin typeface="Calibri"/>
                <a:ea typeface="Calibri"/>
                <a:cs typeface="Calibri"/>
              </a:rPr>
              <a:t>File .env di root project auto-loaded. Variabelnya bisa di-substitusi di compose.yml.</a:t>
            </a:r>
            <a:endParaRPr sz="1050"/>
          </a:p>
        </p:txBody>
      </p:sp>
      <p:sp>
        <p:nvSpPr>
          <p:cNvPr id="36" name="Shape 32">
            <a:extLst xmlns:a="http://schemas.openxmlformats.org/drawingml/2006/main">
              <a:ext uri="{FF2B5EF4-FFF2-40B4-BE49-F238E27FC236}">
                <a16:creationId xmlns:a16="http://schemas.microsoft.com/office/drawing/2014/main" id="{77147BFA-A8C6-4DB0-9F6D-4412F7B1D7A8}"/>
              </a:ext>
            </a:extLst>
          </p:cNvPr>
          <p:cNvSpPr>
            <a:spLocks xmlns:a="http://schemas.openxmlformats.org/drawingml/2006/main" noGrp="1"/>
          </p:cNvSpPr>
          <p:nvPr/>
        </p:nvSpPr>
        <p:spPr>
          <a:xfrm xmlns:a="http://schemas.openxmlformats.org/drawingml/2006/main">
            <a:off x="8321040" y="2697480"/>
            <a:ext cx="3291840" cy="33832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37" name="Shape 33">
            <a:extLst xmlns:a="http://schemas.openxmlformats.org/drawingml/2006/main">
              <a:ext uri="{FF2B5EF4-FFF2-40B4-BE49-F238E27FC236}">
                <a16:creationId xmlns:a16="http://schemas.microsoft.com/office/drawing/2014/main" id="{AEFFF7E2-6572-43B7-8993-DABCD99FD4D6}"/>
              </a:ext>
            </a:extLst>
          </p:cNvPr>
          <p:cNvSpPr>
            <a:spLocks xmlns:a="http://schemas.openxmlformats.org/drawingml/2006/main" noGrp="1"/>
          </p:cNvSpPr>
          <p:nvPr/>
        </p:nvSpPr>
        <p:spPr>
          <a:xfrm xmlns:a="http://schemas.openxmlformats.org/drawingml/2006/main">
            <a:off x="8321040" y="2697480"/>
            <a:ext cx="32918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38" name="Shape 34">
            <a:extLst xmlns:a="http://schemas.openxmlformats.org/drawingml/2006/main">
              <a:ext uri="{FF2B5EF4-FFF2-40B4-BE49-F238E27FC236}">
                <a16:creationId xmlns:a16="http://schemas.microsoft.com/office/drawing/2014/main" id="{4B211E30-D91A-4A85-BD94-B3B4DF0441C1}"/>
              </a:ext>
            </a:extLst>
          </p:cNvPr>
          <p:cNvSpPr>
            <a:spLocks xmlns:a="http://schemas.openxmlformats.org/drawingml/2006/main" noGrp="1"/>
          </p:cNvSpPr>
          <p:nvPr/>
        </p:nvSpPr>
        <p:spPr>
          <a:xfrm xmlns:a="http://schemas.openxmlformats.org/drawingml/2006/main">
            <a:off x="8412480" y="277977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39" name="Shape 35">
            <a:extLst xmlns:a="http://schemas.openxmlformats.org/drawingml/2006/main">
              <a:ext uri="{FF2B5EF4-FFF2-40B4-BE49-F238E27FC236}">
                <a16:creationId xmlns:a16="http://schemas.microsoft.com/office/drawing/2014/main" id="{060831E0-F4E8-4BAE-AA0C-74A3178D642A}"/>
              </a:ext>
            </a:extLst>
          </p:cNvPr>
          <p:cNvSpPr>
            <a:spLocks xmlns:a="http://schemas.openxmlformats.org/drawingml/2006/main" noGrp="1"/>
          </p:cNvSpPr>
          <p:nvPr/>
        </p:nvSpPr>
        <p:spPr>
          <a:xfrm xmlns:a="http://schemas.openxmlformats.org/drawingml/2006/main">
            <a:off x="8549640" y="277977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40" name="Shape 36">
            <a:extLst xmlns:a="http://schemas.openxmlformats.org/drawingml/2006/main">
              <a:ext uri="{FF2B5EF4-FFF2-40B4-BE49-F238E27FC236}">
                <a16:creationId xmlns:a16="http://schemas.microsoft.com/office/drawing/2014/main" id="{37E71C24-F815-4AC5-B29E-B4761FD7E606}"/>
              </a:ext>
            </a:extLst>
          </p:cNvPr>
          <p:cNvSpPr>
            <a:spLocks xmlns:a="http://schemas.openxmlformats.org/drawingml/2006/main" noGrp="1"/>
          </p:cNvSpPr>
          <p:nvPr/>
        </p:nvSpPr>
        <p:spPr>
          <a:xfrm xmlns:a="http://schemas.openxmlformats.org/drawingml/2006/main">
            <a:off x="8686800" y="277977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41" name="Text 37">
            <a:extLst xmlns:a="http://schemas.openxmlformats.org/drawingml/2006/main">
              <a:ext uri="{FF2B5EF4-FFF2-40B4-BE49-F238E27FC236}">
                <a16:creationId xmlns:a16="http://schemas.microsoft.com/office/drawing/2014/main" id="{C7483B70-9E80-4FAE-82FB-DE071B6E2DD8}"/>
              </a:ext>
            </a:extLst>
          </p:cNvPr>
          <p:cNvSpPr>
            <a:spLocks xmlns:a="http://schemas.openxmlformats.org/drawingml/2006/main" noGrp="1"/>
          </p:cNvSpPr>
          <p:nvPr/>
        </p:nvSpPr>
        <p:spPr>
          <a:xfrm xmlns:a="http://schemas.openxmlformats.org/drawingml/2006/main">
            <a:off x="8869680" y="269748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.env + compose.yml</a:t>
            </a:r>
            <a:endParaRPr sz="900"/>
          </a:p>
        </p:txBody>
      </p:sp>
      <p:sp>
        <p:nvSpPr>
          <p:cNvPr id="42" name="Text 38">
            <a:extLst xmlns:a="http://schemas.openxmlformats.org/drawingml/2006/main">
              <a:ext uri="{FF2B5EF4-FFF2-40B4-BE49-F238E27FC236}">
                <a16:creationId xmlns:a16="http://schemas.microsoft.com/office/drawing/2014/main" id="{616B56CA-C5FF-4D09-BEA5-9DB3AC5FB9AF}"/>
              </a:ext>
            </a:extLst>
          </p:cNvPr>
          <p:cNvSpPr>
            <a:spLocks xmlns:a="http://schemas.openxmlformats.org/drawingml/2006/main" noGrp="1"/>
          </p:cNvSpPr>
          <p:nvPr/>
        </p:nvSpPr>
        <p:spPr>
          <a:xfrm xmlns:a="http://schemas.openxmlformats.org/drawingml/2006/main">
            <a:off x="8458200" y="3063240"/>
            <a:ext cx="301752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a:solidFill>
                  <a:srgbClr val="94A3B8"/>
                </a:solidFill>
                <a:latin typeface="Consolas"/>
                <a:ea typeface="Consolas"/>
                <a:cs typeface="Consolas"/>
              </a:rPr>
              <a:t># .env (di root)</a:t>
            </a:r>
            <a:endParaRPr sz="1000"/>
          </a:p>
          <a:p xmlns:a="http://schemas.openxmlformats.org/drawingml/2006/main">
            <a:pPr marL="0" indent="0">
              <a:spcAft>
                <a:spcPts val="200"/>
              </a:spcAft>
              <a:buNone/>
            </a:pPr>
            <a:r>
              <a:rPr sz="1000">
                <a:solidFill>
                  <a:srgbClr val="E2E8F0"/>
                </a:solidFill>
                <a:latin typeface="Consolas"/>
                <a:ea typeface="Consolas"/>
                <a:cs typeface="Consolas"/>
              </a:rPr>
              <a:t>PG_PASSWORD=secret</a:t>
            </a:r>
            <a:endParaRPr sz="1000"/>
          </a:p>
          <a:p xmlns:a="http://schemas.openxmlformats.org/drawingml/2006/main">
            <a:pPr marL="0" indent="0">
              <a:spcAft>
                <a:spcPts val="200"/>
              </a:spcAft>
              <a:buNone/>
            </a:pPr>
            <a:r>
              <a:rPr sz="1000">
                <a:solidFill>
                  <a:srgbClr val="E2E8F0"/>
                </a:solidFill>
                <a:latin typeface="Consolas"/>
                <a:ea typeface="Consolas"/>
                <a:cs typeface="Consolas"/>
              </a:rPr>
              <a:t>APP_PORT=3000</a:t>
            </a:r>
            <a:endParaRPr sz="1000"/>
          </a:p>
          <a:p xmlns:a="http://schemas.openxmlformats.org/drawingml/2006/main">
            <a:pPr marL="0" indent="0">
              <a:spcAft>
                <a:spcPts val="200"/>
              </a:spcAft>
              <a:buNone/>
            </a:pPr>
            <a:endParaRPr sz="1000"/>
          </a:p>
          <a:p xmlns:a="http://schemas.openxmlformats.org/drawingml/2006/main">
            <a:pPr marL="0" indent="0">
              <a:spcAft>
                <a:spcPts val="200"/>
              </a:spcAft>
              <a:buNone/>
            </a:pPr>
            <a:r>
              <a:rPr sz="1000">
                <a:solidFill>
                  <a:srgbClr val="94A3B8"/>
                </a:solidFill>
                <a:latin typeface="Consolas"/>
                <a:ea typeface="Consolas"/>
                <a:cs typeface="Consolas"/>
              </a:rPr>
              <a:t># compose.yml</a:t>
            </a:r>
            <a:endParaRPr sz="1000"/>
          </a:p>
          <a:p xmlns:a="http://schemas.openxmlformats.org/drawingml/2006/main">
            <a:pPr marL="0" indent="0">
              <a:spcAft>
                <a:spcPts val="200"/>
              </a:spcAft>
              <a:buNone/>
            </a:pPr>
            <a:r>
              <a:rPr sz="1000" b="1">
                <a:solidFill>
                  <a:srgbClr val="F37021"/>
                </a:solidFill>
                <a:latin typeface="Consolas"/>
                <a:ea typeface="Consolas"/>
                <a:cs typeface="Consolas"/>
              </a:rPr>
              <a:t>services:</a:t>
            </a:r>
            <a:endParaRPr sz="1000"/>
          </a:p>
          <a:p xmlns:a="http://schemas.openxmlformats.org/drawingml/2006/main">
            <a:pPr marL="0" indent="0">
              <a:spcAft>
                <a:spcPts val="200"/>
              </a:spcAft>
              <a:buNone/>
            </a:pPr>
            <a:r>
              <a:rPr sz="1000">
                <a:solidFill>
                  <a:srgbClr val="60A5FA"/>
                </a:solidFill>
                <a:latin typeface="Consolas"/>
                <a:ea typeface="Consolas"/>
                <a:cs typeface="Consolas"/>
              </a:rPr>
              <a:t>  api:</a:t>
            </a:r>
            <a:endParaRPr sz="1000"/>
          </a:p>
          <a:p xmlns:a="http://schemas.openxmlformats.org/drawingml/2006/main">
            <a:pPr marL="0" indent="0">
              <a:spcAft>
                <a:spcPts val="200"/>
              </a:spcAft>
              <a:buNone/>
            </a:pPr>
            <a:r>
              <a:rPr sz="1000">
                <a:solidFill>
                  <a:srgbClr val="E2E8F0"/>
                </a:solidFill>
                <a:latin typeface="Consolas"/>
                <a:ea typeface="Consolas"/>
                <a:cs typeface="Consolas"/>
              </a:rPr>
              <a:t>    ports:</a:t>
            </a:r>
            <a:endParaRPr sz="1000"/>
          </a:p>
          <a:p xmlns:a="http://schemas.openxmlformats.org/drawingml/2006/main">
            <a:pPr marL="0" indent="0">
              <a:spcAft>
                <a:spcPts val="200"/>
              </a:spcAft>
              <a:buNone/>
            </a:pPr>
            <a:r>
              <a:rPr sz="1000">
                <a:solidFill>
                  <a:srgbClr val="10B981"/>
                </a:solidFill>
                <a:latin typeface="Consolas"/>
                <a:ea typeface="Consolas"/>
                <a:cs typeface="Consolas"/>
              </a:rPr>
              <a:t>      - ${APP_PORT}:3000</a:t>
            </a:r>
            <a:endParaRPr sz="1000"/>
          </a:p>
          <a:p xmlns:a="http://schemas.openxmlformats.org/drawingml/2006/main">
            <a:pPr marL="0" indent="0">
              <a:spcAft>
                <a:spcPts val="200"/>
              </a:spcAft>
              <a:buNone/>
            </a:pPr>
            <a:r>
              <a:rPr sz="1000">
                <a:solidFill>
                  <a:srgbClr val="60A5FA"/>
                </a:solidFill>
                <a:latin typeface="Consolas"/>
                <a:ea typeface="Consolas"/>
                <a:cs typeface="Consolas"/>
              </a:rPr>
              <a:t>  db:</a:t>
            </a:r>
            <a:endParaRPr sz="1000"/>
          </a:p>
          <a:p xmlns:a="http://schemas.openxmlformats.org/drawingml/2006/main">
            <a:pPr marL="0" indent="0">
              <a:spcAft>
                <a:spcPts val="200"/>
              </a:spcAft>
              <a:buNone/>
            </a:pPr>
            <a:r>
              <a:rPr sz="1000">
                <a:solidFill>
                  <a:srgbClr val="E2E8F0"/>
                </a:solidFill>
                <a:latin typeface="Consolas"/>
                <a:ea typeface="Consolas"/>
                <a:cs typeface="Consolas"/>
              </a:rPr>
              <a:t>    environment:</a:t>
            </a:r>
            <a:endParaRPr sz="1000"/>
          </a:p>
          <a:p xmlns:a="http://schemas.openxmlformats.org/drawingml/2006/main">
            <a:pPr marL="0" indent="0">
              <a:spcAft>
                <a:spcPts val="200"/>
              </a:spcAft>
              <a:buNone/>
            </a:pPr>
            <a:r>
              <a:rPr sz="1000">
                <a:solidFill>
                  <a:srgbClr val="E2E8F0"/>
                </a:solidFill>
                <a:latin typeface="Consolas"/>
                <a:ea typeface="Consolas"/>
                <a:cs typeface="Consolas"/>
              </a:rPr>
              <a:t>      POSTGRES_PASSWORD:</a:t>
            </a:r>
            <a:endParaRPr sz="1000"/>
          </a:p>
          <a:p xmlns:a="http://schemas.openxmlformats.org/drawingml/2006/main">
            <a:pPr marL="0" indent="0">
              <a:spcAft>
                <a:spcPts val="200"/>
              </a:spcAft>
              <a:buNone/>
            </a:pPr>
            <a:r>
              <a:rPr sz="1000">
                <a:solidFill>
                  <a:srgbClr val="10B981"/>
                </a:solidFill>
                <a:latin typeface="Consolas"/>
                <a:ea typeface="Consolas"/>
                <a:cs typeface="Consolas"/>
              </a:rPr>
              <a:t>        ${PG_PASSWORD}</a:t>
            </a:r>
            <a:endParaRPr sz="1000"/>
          </a:p>
        </p:txBody>
      </p:sp>
    </p:spTree>
    <p:extLst>
      <p:ext uri="{BB962C8B-B14F-4D97-AF65-F5344CB8AC3E}">
        <p14:creationId xmlns:p14="http://schemas.microsoft.com/office/powerpoint/2010/main" val="17364006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45A2F76-E3D0-4638-94A9-D0269AD3FBA6}"/>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B02FD58C-989E-415C-9A53-EEEA8A943400}"/>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13</a:t>
            </a:r>
            <a:endParaRPr sz="900"/>
          </a:p>
        </p:txBody>
      </p:sp>
      <p:sp>
        <p:nvSpPr>
          <p:cNvPr id="4" name="Shape 2">
            <a:extLst xmlns:a="http://schemas.openxmlformats.org/drawingml/2006/main">
              <a:ext uri="{FF2B5EF4-FFF2-40B4-BE49-F238E27FC236}">
                <a16:creationId xmlns:a16="http://schemas.microsoft.com/office/drawing/2014/main" id="{1573C282-9205-45AC-BDD6-15219BD3CD9F}"/>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1" name="Image 0">
            <a:extLst xmlns:a="http://schemas.openxmlformats.org/drawingml/2006/main">
              <a:ext uri="{FF2B5EF4-FFF2-40B4-BE49-F238E27FC236}">
                <a16:creationId xmlns:a16="http://schemas.microsoft.com/office/drawing/2014/main" id="{CAFB2E1A-C7C1-4563-B6D7-61479E80AEF8}"/>
              </a:ext>
            </a:extLst>
          </p:cNvPr>
          <p:cNvPicPr>
            <a:picLocks xmlns:a="http://schemas.openxmlformats.org/drawingml/2006/main" noChangeAspect="1"/>
          </p:cNvPicPr>
          <p:nvPr/>
        </p:nvPicPr>
        <p:blipFill>
          <a:blip xmlns:r="http://schemas.openxmlformats.org/officeDocument/2006/relationships" xmlns:a="http://schemas.openxmlformats.org/drawingml/2006/main" r:embed="Rce8124b91ee5419a"/>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2" name="Image 1">
            <a:extLst xmlns:a="http://schemas.openxmlformats.org/drawingml/2006/main">
              <a:ext uri="{FF2B5EF4-FFF2-40B4-BE49-F238E27FC236}">
                <a16:creationId xmlns:a16="http://schemas.microsoft.com/office/drawing/2014/main" id="{CF2DA990-2C98-4EF6-878E-561DC31108C2}"/>
              </a:ext>
            </a:extLst>
          </p:cNvPr>
          <p:cNvPicPr>
            <a:picLocks xmlns:a="http://schemas.openxmlformats.org/drawingml/2006/main" noChangeAspect="1"/>
          </p:cNvPicPr>
          <p:nvPr/>
        </p:nvPicPr>
        <p:blipFill>
          <a:blip xmlns:r="http://schemas.openxmlformats.org/officeDocument/2006/relationships" xmlns:a="http://schemas.openxmlformats.org/drawingml/2006/main" r:embed="R0ed981a3ab4f44fd"/>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4E3F2F9-EBBA-4287-8CA9-6FDADCE9E1B3}"/>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59F3CF5C-C4C8-4A8A-BBFE-B6AE6F848D35}"/>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depends_on + healthcheck</a:t>
            </a:r>
            <a:endParaRPr sz="2200"/>
          </a:p>
        </p:txBody>
      </p:sp>
      <p:sp>
        <p:nvSpPr>
          <p:cNvPr id="9" name="Text 5">
            <a:extLst xmlns:a="http://schemas.openxmlformats.org/drawingml/2006/main">
              <a:ext uri="{FF2B5EF4-FFF2-40B4-BE49-F238E27FC236}">
                <a16:creationId xmlns:a16="http://schemas.microsoft.com/office/drawing/2014/main" id="{A4AEFDA5-F61D-41D8-AE4F-97BF8996B57A}"/>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Pastikan urutan start benar - jangan asal up</a:t>
            </a:r>
            <a:endParaRPr sz="1200"/>
          </a:p>
        </p:txBody>
      </p:sp>
      <p:sp>
        <p:nvSpPr>
          <p:cNvPr id="10" name="Shape 6">
            <a:extLst xmlns:a="http://schemas.openxmlformats.org/drawingml/2006/main">
              <a:ext uri="{FF2B5EF4-FFF2-40B4-BE49-F238E27FC236}">
                <a16:creationId xmlns:a16="http://schemas.microsoft.com/office/drawing/2014/main" id="{170978B0-6219-4F3C-B4C6-C4A95DBA0E67}"/>
              </a:ext>
            </a:extLst>
          </p:cNvPr>
          <p:cNvSpPr>
            <a:spLocks xmlns:a="http://schemas.openxmlformats.org/drawingml/2006/main" noGrp="1"/>
          </p:cNvSpPr>
          <p:nvPr/>
        </p:nvSpPr>
        <p:spPr>
          <a:xfrm xmlns:a="http://schemas.openxmlformats.org/drawingml/2006/main">
            <a:off x="457200" y="1417320"/>
            <a:ext cx="11247120" cy="8229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DCE106F4-D498-45D3-A782-B772843AA07A}"/>
              </a:ext>
            </a:extLst>
          </p:cNvPr>
          <p:cNvSpPr>
            <a:spLocks xmlns:a="http://schemas.openxmlformats.org/drawingml/2006/main" noGrp="1"/>
          </p:cNvSpPr>
          <p:nvPr/>
        </p:nvSpPr>
        <p:spPr>
          <a:xfrm xmlns:a="http://schemas.openxmlformats.org/drawingml/2006/main">
            <a:off x="685800" y="1508760"/>
            <a:ext cx="107899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depends_on bentuk pendek menunggu startup. service_healthy menunggu healthcheck yang Anda definisikan. Waktu siap bergantung layanan.</a:t>
            </a:r>
            <a:endParaRPr sz="1300"/>
          </a:p>
        </p:txBody>
      </p:sp>
      <p:sp>
        <p:nvSpPr>
          <p:cNvPr id="12" name="Shape 8">
            <a:extLst xmlns:a="http://schemas.openxmlformats.org/drawingml/2006/main">
              <a:ext uri="{FF2B5EF4-FFF2-40B4-BE49-F238E27FC236}">
                <a16:creationId xmlns:a16="http://schemas.microsoft.com/office/drawing/2014/main" id="{2C30B8AB-55BC-4381-8841-317527169EA0}"/>
              </a:ext>
            </a:extLst>
          </p:cNvPr>
          <p:cNvSpPr>
            <a:spLocks xmlns:a="http://schemas.openxmlformats.org/drawingml/2006/main" noGrp="1"/>
          </p:cNvSpPr>
          <p:nvPr/>
        </p:nvSpPr>
        <p:spPr>
          <a:xfrm xmlns:a="http://schemas.openxmlformats.org/drawingml/2006/main">
            <a:off x="457200" y="2377440"/>
            <a:ext cx="5577840" cy="388620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3" name="Shape 9">
            <a:extLst xmlns:a="http://schemas.openxmlformats.org/drawingml/2006/main">
              <a:ext uri="{FF2B5EF4-FFF2-40B4-BE49-F238E27FC236}">
                <a16:creationId xmlns:a16="http://schemas.microsoft.com/office/drawing/2014/main" id="{29CAA5A8-AFA3-4FB6-A12C-277C650C2F57}"/>
              </a:ext>
            </a:extLst>
          </p:cNvPr>
          <p:cNvSpPr>
            <a:spLocks xmlns:a="http://schemas.openxmlformats.org/drawingml/2006/main" noGrp="1"/>
          </p:cNvSpPr>
          <p:nvPr/>
        </p:nvSpPr>
        <p:spPr>
          <a:xfrm xmlns:a="http://schemas.openxmlformats.org/drawingml/2006/main">
            <a:off x="457200" y="2377440"/>
            <a:ext cx="55778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4" name="Shape 10">
            <a:extLst xmlns:a="http://schemas.openxmlformats.org/drawingml/2006/main">
              <a:ext uri="{FF2B5EF4-FFF2-40B4-BE49-F238E27FC236}">
                <a16:creationId xmlns:a16="http://schemas.microsoft.com/office/drawing/2014/main" id="{40BF54A1-D383-4ECF-B821-BA7630FD4C19}"/>
              </a:ext>
            </a:extLst>
          </p:cNvPr>
          <p:cNvSpPr>
            <a:spLocks xmlns:a="http://schemas.openxmlformats.org/drawingml/2006/main" noGrp="1"/>
          </p:cNvSpPr>
          <p:nvPr/>
        </p:nvSpPr>
        <p:spPr>
          <a:xfrm xmlns:a="http://schemas.openxmlformats.org/drawingml/2006/main">
            <a:off x="548640" y="24597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5" name="Shape 11">
            <a:extLst xmlns:a="http://schemas.openxmlformats.org/drawingml/2006/main">
              <a:ext uri="{FF2B5EF4-FFF2-40B4-BE49-F238E27FC236}">
                <a16:creationId xmlns:a16="http://schemas.microsoft.com/office/drawing/2014/main" id="{0DA20F98-09BA-4830-9311-991F1E628013}"/>
              </a:ext>
            </a:extLst>
          </p:cNvPr>
          <p:cNvSpPr>
            <a:spLocks xmlns:a="http://schemas.openxmlformats.org/drawingml/2006/main" noGrp="1"/>
          </p:cNvSpPr>
          <p:nvPr/>
        </p:nvSpPr>
        <p:spPr>
          <a:xfrm xmlns:a="http://schemas.openxmlformats.org/drawingml/2006/main">
            <a:off x="685800" y="24597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6" name="Shape 12">
            <a:extLst xmlns:a="http://schemas.openxmlformats.org/drawingml/2006/main">
              <a:ext uri="{FF2B5EF4-FFF2-40B4-BE49-F238E27FC236}">
                <a16:creationId xmlns:a16="http://schemas.microsoft.com/office/drawing/2014/main" id="{21F57BEF-89FE-45FB-AC14-EF71FFB35B3E}"/>
              </a:ext>
            </a:extLst>
          </p:cNvPr>
          <p:cNvSpPr>
            <a:spLocks xmlns:a="http://schemas.openxmlformats.org/drawingml/2006/main" noGrp="1"/>
          </p:cNvSpPr>
          <p:nvPr/>
        </p:nvSpPr>
        <p:spPr>
          <a:xfrm xmlns:a="http://schemas.openxmlformats.org/drawingml/2006/main">
            <a:off x="822960" y="24597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7" name="Text 13">
            <a:extLst xmlns:a="http://schemas.openxmlformats.org/drawingml/2006/main">
              <a:ext uri="{FF2B5EF4-FFF2-40B4-BE49-F238E27FC236}">
                <a16:creationId xmlns:a16="http://schemas.microsoft.com/office/drawing/2014/main" id="{AB814055-D153-46BF-9ECD-EB49125BDBC6}"/>
              </a:ext>
            </a:extLst>
          </p:cNvPr>
          <p:cNvSpPr>
            <a:spLocks xmlns:a="http://schemas.openxmlformats.org/drawingml/2006/main" noGrp="1"/>
          </p:cNvSpPr>
          <p:nvPr/>
        </p:nvSpPr>
        <p:spPr>
          <a:xfrm xmlns:a="http://schemas.openxmlformats.org/drawingml/2006/main">
            <a:off x="1005840" y="237744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BAD - depends_on tanpa healthcheck</a:t>
            </a:r>
            <a:endParaRPr sz="900"/>
          </a:p>
        </p:txBody>
      </p:sp>
      <p:sp>
        <p:nvSpPr>
          <p:cNvPr id="18" name="Text 14">
            <a:extLst xmlns:a="http://schemas.openxmlformats.org/drawingml/2006/main">
              <a:ext uri="{FF2B5EF4-FFF2-40B4-BE49-F238E27FC236}">
                <a16:creationId xmlns:a16="http://schemas.microsoft.com/office/drawing/2014/main" id="{1DBA3D01-9AE4-4D50-B308-BF11A5485F93}"/>
              </a:ext>
            </a:extLst>
          </p:cNvPr>
          <p:cNvSpPr>
            <a:spLocks xmlns:a="http://schemas.openxmlformats.org/drawingml/2006/main" noGrp="1"/>
          </p:cNvSpPr>
          <p:nvPr/>
        </p:nvSpPr>
        <p:spPr>
          <a:xfrm xmlns:a="http://schemas.openxmlformats.org/drawingml/2006/main">
            <a:off x="594360" y="2743200"/>
            <a:ext cx="5303520" cy="3429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postgres:15-alpine</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myapp</a:t>
            </a:r>
            <a:endParaRPr sz="1100"/>
          </a:p>
          <a:p xmlns:a="http://schemas.openxmlformats.org/drawingml/2006/main">
            <a:pPr marL="0" indent="0">
              <a:spcAft>
                <a:spcPts val="200"/>
              </a:spcAft>
              <a:buNone/>
            </a:pPr>
            <a:r>
              <a:rPr sz="1100">
                <a:solidFill>
                  <a:srgbClr val="E2E8F0"/>
                </a:solidFill>
                <a:latin typeface="Consolas"/>
                <a:ea typeface="Consolas"/>
                <a:cs typeface="Consolas"/>
              </a:rPr>
              <a:t>    depends_on:</a:t>
            </a:r>
            <a:endParaRPr sz="1100"/>
          </a:p>
          <a:p xmlns:a="http://schemas.openxmlformats.org/drawingml/2006/main">
            <a:pPr marL="0" indent="0">
              <a:spcAft>
                <a:spcPts val="200"/>
              </a:spcAft>
              <a:buNone/>
            </a:pPr>
            <a:r>
              <a:rPr sz="1100" b="1">
                <a:solidFill>
                  <a:srgbClr val="EF4444"/>
                </a:solidFill>
                <a:latin typeface="Consolas"/>
                <a:ea typeface="Consolas"/>
                <a:cs typeface="Consolas"/>
              </a:rPr>
              <a:t>      - db</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Yang terjadi:</a:t>
            </a:r>
            <a:endParaRPr sz="1100"/>
          </a:p>
          <a:p xmlns:a="http://schemas.openxmlformats.org/drawingml/2006/main">
            <a:pPr marL="0" indent="0">
              <a:spcAft>
                <a:spcPts val="200"/>
              </a:spcAft>
              <a:buNone/>
            </a:pPr>
            <a:r>
              <a:rPr sz="1100">
                <a:solidFill>
                  <a:srgbClr val="94A3B8"/>
                </a:solidFill>
                <a:latin typeface="Consolas"/>
                <a:ea typeface="Consolas"/>
                <a:cs typeface="Consolas"/>
              </a:rPr>
              <a:t># 1. db container start</a:t>
            </a:r>
            <a:endParaRPr sz="1100"/>
          </a:p>
          <a:p xmlns:a="http://schemas.openxmlformats.org/drawingml/2006/main">
            <a:pPr marL="0" indent="0">
              <a:spcAft>
                <a:spcPts val="200"/>
              </a:spcAft>
              <a:buNone/>
            </a:pPr>
            <a:r>
              <a:rPr sz="1100">
                <a:solidFill>
                  <a:srgbClr val="94A3B8"/>
                </a:solidFill>
                <a:latin typeface="Consolas"/>
                <a:ea typeface="Consolas"/>
                <a:cs typeface="Consolas"/>
              </a:rPr>
              <a:t># 2. api start TANPA tunggu db ready</a:t>
            </a:r>
            <a:endParaRPr sz="1100"/>
          </a:p>
          <a:p xmlns:a="http://schemas.openxmlformats.org/drawingml/2006/main">
            <a:pPr marL="0" indent="0">
              <a:spcAft>
                <a:spcPts val="200"/>
              </a:spcAft>
              <a:buNone/>
            </a:pPr>
            <a:r>
              <a:rPr sz="1100">
                <a:solidFill>
                  <a:srgbClr val="EF4444"/>
                </a:solidFill>
                <a:latin typeface="Consolas"/>
                <a:ea typeface="Consolas"/>
                <a:cs typeface="Consolas"/>
              </a:rPr>
              <a:t># 3. api kontak db -&gt; ECONNREFUSED!</a:t>
            </a:r>
            <a:endParaRPr sz="1100"/>
          </a:p>
          <a:p xmlns:a="http://schemas.openxmlformats.org/drawingml/2006/main">
            <a:pPr marL="0" indent="0">
              <a:spcAft>
                <a:spcPts val="200"/>
              </a:spcAft>
              <a:buNone/>
            </a:pPr>
            <a:r>
              <a:rPr sz="1100">
                <a:solidFill>
                  <a:srgbClr val="EF4444"/>
                </a:solidFill>
                <a:latin typeface="Consolas"/>
                <a:ea typeface="Consolas"/>
                <a:cs typeface="Consolas"/>
              </a:rPr>
              <a:t># 4. api crash + auto-restart loop</a:t>
            </a:r>
            <a:endParaRPr sz="1100"/>
          </a:p>
        </p:txBody>
      </p:sp>
      <p:sp>
        <p:nvSpPr>
          <p:cNvPr id="19" name="Shape 15">
            <a:extLst xmlns:a="http://schemas.openxmlformats.org/drawingml/2006/main">
              <a:ext uri="{FF2B5EF4-FFF2-40B4-BE49-F238E27FC236}">
                <a16:creationId xmlns:a16="http://schemas.microsoft.com/office/drawing/2014/main" id="{269315C7-6767-492E-853B-40954C9CE0F2}"/>
              </a:ext>
            </a:extLst>
          </p:cNvPr>
          <p:cNvSpPr>
            <a:spLocks xmlns:a="http://schemas.openxmlformats.org/drawingml/2006/main" noGrp="1"/>
          </p:cNvSpPr>
          <p:nvPr/>
        </p:nvSpPr>
        <p:spPr>
          <a:xfrm xmlns:a="http://schemas.openxmlformats.org/drawingml/2006/main">
            <a:off x="6217920" y="2377440"/>
            <a:ext cx="5486400" cy="388620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0" name="Shape 16">
            <a:extLst xmlns:a="http://schemas.openxmlformats.org/drawingml/2006/main">
              <a:ext uri="{FF2B5EF4-FFF2-40B4-BE49-F238E27FC236}">
                <a16:creationId xmlns:a16="http://schemas.microsoft.com/office/drawing/2014/main" id="{E093DEF3-D5C2-4C93-847F-1237D2A25FC2}"/>
              </a:ext>
            </a:extLst>
          </p:cNvPr>
          <p:cNvSpPr>
            <a:spLocks xmlns:a="http://schemas.openxmlformats.org/drawingml/2006/main" noGrp="1"/>
          </p:cNvSpPr>
          <p:nvPr/>
        </p:nvSpPr>
        <p:spPr>
          <a:xfrm xmlns:a="http://schemas.openxmlformats.org/drawingml/2006/main">
            <a:off x="6217920" y="2377440"/>
            <a:ext cx="54864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1" name="Shape 17">
            <a:extLst xmlns:a="http://schemas.openxmlformats.org/drawingml/2006/main">
              <a:ext uri="{FF2B5EF4-FFF2-40B4-BE49-F238E27FC236}">
                <a16:creationId xmlns:a16="http://schemas.microsoft.com/office/drawing/2014/main" id="{D371002F-4B6D-4D63-BB2F-4C9C626B8A5D}"/>
              </a:ext>
            </a:extLst>
          </p:cNvPr>
          <p:cNvSpPr>
            <a:spLocks xmlns:a="http://schemas.openxmlformats.org/drawingml/2006/main" noGrp="1"/>
          </p:cNvSpPr>
          <p:nvPr/>
        </p:nvSpPr>
        <p:spPr>
          <a:xfrm xmlns:a="http://schemas.openxmlformats.org/drawingml/2006/main">
            <a:off x="6309360" y="24597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2" name="Shape 18">
            <a:extLst xmlns:a="http://schemas.openxmlformats.org/drawingml/2006/main">
              <a:ext uri="{FF2B5EF4-FFF2-40B4-BE49-F238E27FC236}">
                <a16:creationId xmlns:a16="http://schemas.microsoft.com/office/drawing/2014/main" id="{5A6702AC-2595-4A65-91A7-0B7F73B7B354}"/>
              </a:ext>
            </a:extLst>
          </p:cNvPr>
          <p:cNvSpPr>
            <a:spLocks xmlns:a="http://schemas.openxmlformats.org/drawingml/2006/main" noGrp="1"/>
          </p:cNvSpPr>
          <p:nvPr/>
        </p:nvSpPr>
        <p:spPr>
          <a:xfrm xmlns:a="http://schemas.openxmlformats.org/drawingml/2006/main">
            <a:off x="6446520" y="24597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3" name="Shape 19">
            <a:extLst xmlns:a="http://schemas.openxmlformats.org/drawingml/2006/main">
              <a:ext uri="{FF2B5EF4-FFF2-40B4-BE49-F238E27FC236}">
                <a16:creationId xmlns:a16="http://schemas.microsoft.com/office/drawing/2014/main" id="{E28C44E6-DD74-4E07-AB79-2B17AC21DD05}"/>
              </a:ext>
            </a:extLst>
          </p:cNvPr>
          <p:cNvSpPr>
            <a:spLocks xmlns:a="http://schemas.openxmlformats.org/drawingml/2006/main" noGrp="1"/>
          </p:cNvSpPr>
          <p:nvPr/>
        </p:nvSpPr>
        <p:spPr>
          <a:xfrm xmlns:a="http://schemas.openxmlformats.org/drawingml/2006/main">
            <a:off x="6583680" y="24597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4" name="Text 20">
            <a:extLst xmlns:a="http://schemas.openxmlformats.org/drawingml/2006/main">
              <a:ext uri="{FF2B5EF4-FFF2-40B4-BE49-F238E27FC236}">
                <a16:creationId xmlns:a16="http://schemas.microsoft.com/office/drawing/2014/main" id="{9F82F254-BFC5-43DC-83CF-4323F823F0F2}"/>
              </a:ext>
            </a:extLst>
          </p:cNvPr>
          <p:cNvSpPr>
            <a:spLocks xmlns:a="http://schemas.openxmlformats.org/drawingml/2006/main" noGrp="1"/>
          </p:cNvSpPr>
          <p:nvPr/>
        </p:nvSpPr>
        <p:spPr>
          <a:xfrm xmlns:a="http://schemas.openxmlformats.org/drawingml/2006/main">
            <a:off x="6766560" y="237744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GOOD - depends_on + healthcheck</a:t>
            </a:r>
            <a:endParaRPr sz="900"/>
          </a:p>
        </p:txBody>
      </p:sp>
      <p:sp>
        <p:nvSpPr>
          <p:cNvPr id="25" name="Text 21">
            <a:extLst xmlns:a="http://schemas.openxmlformats.org/drawingml/2006/main">
              <a:ext uri="{FF2B5EF4-FFF2-40B4-BE49-F238E27FC236}">
                <a16:creationId xmlns:a16="http://schemas.microsoft.com/office/drawing/2014/main" id="{5BB389A6-8EE3-4491-A5E0-2A6BBD26B7D7}"/>
              </a:ext>
            </a:extLst>
          </p:cNvPr>
          <p:cNvSpPr>
            <a:spLocks xmlns:a="http://schemas.openxmlformats.org/drawingml/2006/main" noGrp="1"/>
          </p:cNvSpPr>
          <p:nvPr/>
        </p:nvSpPr>
        <p:spPr>
          <a:xfrm xmlns:a="http://schemas.openxmlformats.org/drawingml/2006/main">
            <a:off x="6355080" y="2743200"/>
            <a:ext cx="5212080" cy="3429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postgres:15-alpine</a:t>
            </a:r>
            <a:endParaRPr sz="1100"/>
          </a:p>
          <a:p xmlns:a="http://schemas.openxmlformats.org/drawingml/2006/main">
            <a:pPr marL="0" indent="0">
              <a:spcAft>
                <a:spcPts val="200"/>
              </a:spcAft>
              <a:buNone/>
            </a:pPr>
            <a:r>
              <a:rPr sz="1100" b="1">
                <a:solidFill>
                  <a:srgbClr val="10B981"/>
                </a:solidFill>
                <a:latin typeface="Consolas"/>
                <a:ea typeface="Consolas"/>
                <a:cs typeface="Consolas"/>
              </a:rPr>
              <a:t>    healthcheck:</a:t>
            </a:r>
            <a:endParaRPr sz="1100"/>
          </a:p>
          <a:p xmlns:a="http://schemas.openxmlformats.org/drawingml/2006/main">
            <a:pPr marL="0" indent="0">
              <a:spcAft>
                <a:spcPts val="200"/>
              </a:spcAft>
              <a:buNone/>
            </a:pPr>
            <a:r>
              <a:rPr sz="1100">
                <a:solidFill>
                  <a:srgbClr val="E2E8F0"/>
                </a:solidFill>
                <a:latin typeface="Consolas"/>
                <a:ea typeface="Consolas"/>
                <a:cs typeface="Consolas"/>
              </a:rPr>
              <a:t>      test: ["CMD", "pg_isready", "-U", "postgres"]</a:t>
            </a:r>
            <a:endParaRPr sz="1100"/>
          </a:p>
          <a:p xmlns:a="http://schemas.openxmlformats.org/drawingml/2006/main">
            <a:pPr marL="0" indent="0">
              <a:spcAft>
                <a:spcPts val="200"/>
              </a:spcAft>
              <a:buNone/>
            </a:pPr>
            <a:r>
              <a:rPr sz="1100">
                <a:solidFill>
                  <a:srgbClr val="E2E8F0"/>
                </a:solidFill>
                <a:latin typeface="Consolas"/>
                <a:ea typeface="Consolas"/>
                <a:cs typeface="Consolas"/>
              </a:rPr>
              <a:t>      interval: 5s</a:t>
            </a:r>
            <a:endParaRPr sz="1100"/>
          </a:p>
          <a:p xmlns:a="http://schemas.openxmlformats.org/drawingml/2006/main">
            <a:pPr marL="0" indent="0">
              <a:spcAft>
                <a:spcPts val="200"/>
              </a:spcAft>
              <a:buNone/>
            </a:pPr>
            <a:r>
              <a:rPr sz="1100">
                <a:solidFill>
                  <a:srgbClr val="E2E8F0"/>
                </a:solidFill>
                <a:latin typeface="Consolas"/>
                <a:ea typeface="Consolas"/>
                <a:cs typeface="Consolas"/>
              </a:rPr>
              <a:t>      retries: 5</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myapp</a:t>
            </a:r>
            <a:endParaRPr sz="1100"/>
          </a:p>
          <a:p xmlns:a="http://schemas.openxmlformats.org/drawingml/2006/main">
            <a:pPr marL="0" indent="0">
              <a:spcAft>
                <a:spcPts val="200"/>
              </a:spcAft>
              <a:buNone/>
            </a:pPr>
            <a:r>
              <a:rPr sz="1100">
                <a:solidFill>
                  <a:srgbClr val="E2E8F0"/>
                </a:solidFill>
                <a:latin typeface="Consolas"/>
                <a:ea typeface="Consolas"/>
                <a:cs typeface="Consolas"/>
              </a:rPr>
              <a:t>    depends_on:</a:t>
            </a:r>
            <a:endParaRPr sz="1100"/>
          </a:p>
          <a:p xmlns:a="http://schemas.openxmlformats.org/drawingml/2006/main">
            <a:pPr marL="0" indent="0">
              <a:spcAft>
                <a:spcPts val="200"/>
              </a:spcAft>
              <a:buNone/>
            </a:pPr>
            <a:r>
              <a:rPr sz="1100">
                <a:solidFill>
                  <a:srgbClr val="60A5FA"/>
                </a:solidFill>
                <a:latin typeface="Consolas"/>
                <a:ea typeface="Consolas"/>
                <a:cs typeface="Consolas"/>
              </a:rPr>
              <a:t>      db:</a:t>
            </a:r>
            <a:endParaRPr sz="1100"/>
          </a:p>
          <a:p xmlns:a="http://schemas.openxmlformats.org/drawingml/2006/main">
            <a:pPr marL="0" indent="0">
              <a:spcAft>
                <a:spcPts val="200"/>
              </a:spcAft>
              <a:buNone/>
            </a:pPr>
            <a:r>
              <a:rPr sz="1100" b="1">
                <a:solidFill>
                  <a:srgbClr val="10B981"/>
                </a:solidFill>
                <a:latin typeface="Consolas"/>
                <a:ea typeface="Consolas"/>
                <a:cs typeface="Consolas"/>
              </a:rPr>
              <a:t>        condition: service_healthy</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api TUNGGU pg_isready return OK</a:t>
            </a:r>
            <a:endParaRPr sz="1100"/>
          </a:p>
          <a:p xmlns:a="http://schemas.openxmlformats.org/drawingml/2006/main">
            <a:pPr marL="0" indent="0">
              <a:spcAft>
                <a:spcPts val="200"/>
              </a:spcAft>
              <a:buNone/>
            </a:pPr>
            <a:r>
              <a:rPr sz="1100">
                <a:solidFill>
                  <a:srgbClr val="10B981"/>
                </a:solidFill>
                <a:latin typeface="Consolas"/>
                <a:ea typeface="Consolas"/>
                <a:cs typeface="Consolas"/>
              </a:rPr>
              <a:t># baru start. Tetap siapkan retry saat runtime.</a:t>
            </a:r>
            <a:endParaRPr sz="1100"/>
          </a:p>
        </p:txBody>
      </p:sp>
    </p:spTree>
    <p:extLst>
      <p:ext uri="{BB962C8B-B14F-4D97-AF65-F5344CB8AC3E}">
        <p14:creationId xmlns:p14="http://schemas.microsoft.com/office/powerpoint/2010/main" val="1978351059"/>
      </p:ext>
    </p:extLst>
  </p:cSld>
</p:sld>
</file>

<file path=ppt/slides/slide14.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FBACFAC-4421-4C13-8742-8ED541F2FE49}"/>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C660EB1C-CFA4-4E79-93EF-BD3652D19C17}"/>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7CBE6A8D-751E-451D-A18E-765CF02D440E}"/>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70FA48ED-0A62-4312-876E-03A46F2BE80B}"/>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1FDC3CF4-CBBE-476C-8124-21E17F915295}"/>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7B0A7D4D-6BA5-4762-A823-1DD5E3F898B6}"/>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ADD7AD7B-9D23-482C-9565-3447A084730E}"/>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0342B61B-8830-4B40-83E9-F43CA9D82100}"/>
              </a:ext>
            </a:extLst>
          </p:cNvPr>
          <p:cNvPicPr>
            <a:picLocks xmlns:a="http://schemas.openxmlformats.org/drawingml/2006/main" noChangeAspect="1"/>
          </p:cNvPicPr>
          <p:nvPr/>
        </p:nvPicPr>
        <p:blipFill>
          <a:blip xmlns:r="http://schemas.openxmlformats.org/officeDocument/2006/relationships" xmlns:a="http://schemas.openxmlformats.org/drawingml/2006/main" r:embed="Rc56f64906605484f"/>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4536A006-5F7B-44A8-BFA0-6D06A2195835}"/>
              </a:ext>
            </a:extLst>
          </p:cNvPr>
          <p:cNvPicPr>
            <a:picLocks xmlns:a="http://schemas.openxmlformats.org/drawingml/2006/main" noChangeAspect="1"/>
          </p:cNvPicPr>
          <p:nvPr/>
        </p:nvPicPr>
        <p:blipFill>
          <a:blip xmlns:r="http://schemas.openxmlformats.org/officeDocument/2006/relationships" xmlns:a="http://schemas.openxmlformats.org/drawingml/2006/main" r:embed="Rd7fbeb5e6e1344d5"/>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6941BB79-1835-46B2-87AB-7EFD79C44BBF}"/>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03</a:t>
            </a:r>
            <a:endParaRPr sz="1600"/>
          </a:p>
        </p:txBody>
      </p:sp>
      <p:sp>
        <p:nvSpPr>
          <p:cNvPr id="12" name="Text 8">
            <a:extLst xmlns:a="http://schemas.openxmlformats.org/drawingml/2006/main">
              <a:ext uri="{FF2B5EF4-FFF2-40B4-BE49-F238E27FC236}">
                <a16:creationId xmlns:a16="http://schemas.microsoft.com/office/drawing/2014/main" id="{A32725EF-9F12-4D6B-B9CB-FE20B723182D}"/>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Multi-Tier App</a:t>
            </a:r>
            <a:endParaRPr sz="5200"/>
          </a:p>
          <a:p xmlns:a="http://schemas.openxmlformats.org/drawingml/2006/main">
            <a:pPr marL="0" indent="0" algn="ctr">
              <a:buNone/>
            </a:pPr>
            <a:r>
              <a:rPr sz="5200" b="1">
                <a:solidFill>
                  <a:srgbClr val="FFFFFF"/>
                </a:solidFill>
                <a:latin typeface="Calibri"/>
                <a:ea typeface="Calibri"/>
                <a:cs typeface="Calibri"/>
              </a:rPr>
              <a:t>Example</a:t>
            </a:r>
            <a:endParaRPr sz="5200"/>
          </a:p>
        </p:txBody>
      </p:sp>
      <p:sp>
        <p:nvSpPr>
          <p:cNvPr id="13" name="Shape 9">
            <a:extLst xmlns:a="http://schemas.openxmlformats.org/drawingml/2006/main">
              <a:ext uri="{FF2B5EF4-FFF2-40B4-BE49-F238E27FC236}">
                <a16:creationId xmlns:a16="http://schemas.microsoft.com/office/drawing/2014/main" id="{DC7240B1-012E-4D41-8A7B-4417512BDB5E}"/>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DBA79348-6C19-4505-840B-A60CF0F374FC}"/>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Web + API + DB + Cache - full stack dalam 1 compose file.</a:t>
            </a:r>
            <a:endParaRPr sz="1400"/>
          </a:p>
        </p:txBody>
      </p:sp>
    </p:spTree>
    <p:extLst>
      <p:ext uri="{BB962C8B-B14F-4D97-AF65-F5344CB8AC3E}">
        <p14:creationId xmlns:p14="http://schemas.microsoft.com/office/powerpoint/2010/main" val="2205612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F16173-5A9C-4233-A1D7-F76C21926A4B}"/>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03E8404B-8737-45A6-BC35-B7EF47F9807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15</a:t>
            </a:r>
            <a:endParaRPr sz="900"/>
          </a:p>
        </p:txBody>
      </p:sp>
      <p:sp>
        <p:nvSpPr>
          <p:cNvPr id="4" name="Shape 2">
            <a:extLst xmlns:a="http://schemas.openxmlformats.org/drawingml/2006/main">
              <a:ext uri="{FF2B5EF4-FFF2-40B4-BE49-F238E27FC236}">
                <a16:creationId xmlns:a16="http://schemas.microsoft.com/office/drawing/2014/main" id="{A4BF953B-40BF-4071-A705-09A72052DC9D}"/>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66" name="Image 0">
            <a:extLst xmlns:a="http://schemas.openxmlformats.org/drawingml/2006/main">
              <a:ext uri="{FF2B5EF4-FFF2-40B4-BE49-F238E27FC236}">
                <a16:creationId xmlns:a16="http://schemas.microsoft.com/office/drawing/2014/main" id="{61F29647-F848-4AA8-8767-6C8FE1067748}"/>
              </a:ext>
            </a:extLst>
          </p:cNvPr>
          <p:cNvPicPr>
            <a:picLocks xmlns:a="http://schemas.openxmlformats.org/drawingml/2006/main" noChangeAspect="1"/>
          </p:cNvPicPr>
          <p:nvPr/>
        </p:nvPicPr>
        <p:blipFill>
          <a:blip xmlns:r="http://schemas.openxmlformats.org/officeDocument/2006/relationships" xmlns:a="http://schemas.openxmlformats.org/drawingml/2006/main" r:embed="R00c6c050c537424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67" name="Image 1">
            <a:extLst xmlns:a="http://schemas.openxmlformats.org/drawingml/2006/main">
              <a:ext uri="{FF2B5EF4-FFF2-40B4-BE49-F238E27FC236}">
                <a16:creationId xmlns:a16="http://schemas.microsoft.com/office/drawing/2014/main" id="{142F26BE-3A63-4B60-89CE-9B6E07FB2F88}"/>
              </a:ext>
            </a:extLst>
          </p:cNvPr>
          <p:cNvPicPr>
            <a:picLocks xmlns:a="http://schemas.openxmlformats.org/drawingml/2006/main" noChangeAspect="1"/>
          </p:cNvPicPr>
          <p:nvPr/>
        </p:nvPicPr>
        <p:blipFill>
          <a:blip xmlns:r="http://schemas.openxmlformats.org/officeDocument/2006/relationships" xmlns:a="http://schemas.openxmlformats.org/drawingml/2006/main" r:embed="R809bb72dcebb439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41ACC34D-7EF8-44B9-95BD-E7E162AE540C}"/>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DC8AFFE0-392B-4A76-80C7-5DE93110E235}"/>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Architecture - 4-Tier Web App</a:t>
            </a:r>
            <a:endParaRPr sz="2200"/>
          </a:p>
        </p:txBody>
      </p:sp>
      <p:sp>
        <p:nvSpPr>
          <p:cNvPr id="9" name="Text 5">
            <a:extLst xmlns:a="http://schemas.openxmlformats.org/drawingml/2006/main">
              <a:ext uri="{FF2B5EF4-FFF2-40B4-BE49-F238E27FC236}">
                <a16:creationId xmlns:a16="http://schemas.microsoft.com/office/drawing/2014/main" id="{851FF1DF-5679-4FAE-B3C9-20D2DE4A7D8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Frontend (Nginx) -&gt; API (FastAPI) -&gt; Database (Postgres) + Cache (Redis)</a:t>
            </a:r>
            <a:endParaRPr sz="1200"/>
          </a:p>
        </p:txBody>
      </p:sp>
      <p:sp>
        <p:nvSpPr>
          <p:cNvPr id="10" name="Shape 6">
            <a:extLst xmlns:a="http://schemas.openxmlformats.org/drawingml/2006/main">
              <a:ext uri="{FF2B5EF4-FFF2-40B4-BE49-F238E27FC236}">
                <a16:creationId xmlns:a16="http://schemas.microsoft.com/office/drawing/2014/main" id="{80BC85A3-3AE6-4F92-AD43-1D55DE1967FB}"/>
              </a:ext>
            </a:extLst>
          </p:cNvPr>
          <p:cNvSpPr>
            <a:spLocks xmlns:a="http://schemas.openxmlformats.org/drawingml/2006/main" noGrp="1"/>
          </p:cNvSpPr>
          <p:nvPr/>
        </p:nvSpPr>
        <p:spPr>
          <a:xfrm xmlns:a="http://schemas.openxmlformats.org/drawingml/2006/main">
            <a:off x="457200" y="1417320"/>
            <a:ext cx="11247120" cy="32918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379568E6-9D1B-4CB1-B3CA-C93799269880}"/>
              </a:ext>
            </a:extLst>
          </p:cNvPr>
          <p:cNvSpPr>
            <a:spLocks xmlns:a="http://schemas.openxmlformats.org/drawingml/2006/main" noGrp="1"/>
          </p:cNvSpPr>
          <p:nvPr/>
        </p:nvSpPr>
        <p:spPr>
          <a:xfrm xmlns:a="http://schemas.openxmlformats.org/drawingml/2006/main">
            <a:off x="777240" y="2377440"/>
            <a:ext cx="1463040" cy="1280160"/>
          </a:xfrm>
          <a:prstGeom xmlns:a="http://schemas.openxmlformats.org/drawingml/2006/main" prst="ellipse">
            <a:avLst/>
          </a:prstGeom>
          <a:solidFill xmlns:a="http://schemas.openxmlformats.org/drawingml/2006/main">
            <a:srgbClr val="1976D2"/>
          </a:solidFill>
          <a:ln xmlns:a="http://schemas.openxmlformats.org/drawingml/2006/main" w="12700">
            <a:solidFill>
              <a:srgbClr val="1976D2"/>
            </a:solidFill>
            <a:prstDash val="solid"/>
          </a:ln>
        </p:spPr>
      </p:sp>
      <p:pic>
        <p:nvPicPr>
          <p:cNvPr id="73" name="Image 2">
            <a:extLst xmlns:a="http://schemas.openxmlformats.org/drawingml/2006/main">
              <a:ext uri="{FF2B5EF4-FFF2-40B4-BE49-F238E27FC236}">
                <a16:creationId xmlns:a16="http://schemas.microsoft.com/office/drawing/2014/main" id="{6269B8F5-64CD-473D-8D42-F8E973EF0006}"/>
              </a:ext>
            </a:extLst>
          </p:cNvPr>
          <p:cNvPicPr>
            <a:picLocks xmlns:a="http://schemas.openxmlformats.org/drawingml/2006/main" noChangeAspect="1"/>
          </p:cNvPicPr>
          <p:nvPr/>
        </p:nvPicPr>
        <p:blipFill>
          <a:blip xmlns:r="http://schemas.openxmlformats.org/officeDocument/2006/relationships" xmlns:a="http://schemas.openxmlformats.org/drawingml/2006/main" r:embed="Rc867b9e17ad24bf8"/>
          <a:stretch xmlns:a="http://schemas.openxmlformats.org/drawingml/2006/main">
            <a:fillRect l="0" t="0" r="0" b="0"/>
          </a:stretch>
        </p:blipFill>
        <p:spPr>
          <a:xfrm xmlns:a="http://schemas.openxmlformats.org/drawingml/2006/main">
            <a:off x="1188720" y="2606040"/>
            <a:ext cx="640080" cy="64008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4D480B42-82A5-4B44-9030-C50688912E91}"/>
              </a:ext>
            </a:extLst>
          </p:cNvPr>
          <p:cNvSpPr>
            <a:spLocks xmlns:a="http://schemas.openxmlformats.org/drawingml/2006/main" noGrp="1"/>
          </p:cNvSpPr>
          <p:nvPr/>
        </p:nvSpPr>
        <p:spPr>
          <a:xfrm xmlns:a="http://schemas.openxmlformats.org/drawingml/2006/main">
            <a:off x="777240" y="3246120"/>
            <a:ext cx="1463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INTERNET</a:t>
            </a:r>
            <a:endParaRPr sz="1100"/>
          </a:p>
        </p:txBody>
      </p:sp>
      <p:sp>
        <p:nvSpPr>
          <p:cNvPr id="14" name="Shape 9">
            <a:extLst xmlns:a="http://schemas.openxmlformats.org/drawingml/2006/main">
              <a:ext uri="{FF2B5EF4-FFF2-40B4-BE49-F238E27FC236}">
                <a16:creationId xmlns:a16="http://schemas.microsoft.com/office/drawing/2014/main" id="{45120F3A-832B-4EBD-99E7-2F4CB3BE42DC}"/>
              </a:ext>
            </a:extLst>
          </p:cNvPr>
          <p:cNvSpPr>
            <a:spLocks xmlns:a="http://schemas.openxmlformats.org/drawingml/2006/main" noGrp="1"/>
          </p:cNvSpPr>
          <p:nvPr/>
        </p:nvSpPr>
        <p:spPr>
          <a:xfrm xmlns:a="http://schemas.openxmlformats.org/drawingml/2006/main">
            <a:off x="2331720" y="2834640"/>
            <a:ext cx="457200" cy="36576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0">
            <a:extLst xmlns:a="http://schemas.openxmlformats.org/drawingml/2006/main">
              <a:ext uri="{FF2B5EF4-FFF2-40B4-BE49-F238E27FC236}">
                <a16:creationId xmlns:a16="http://schemas.microsoft.com/office/drawing/2014/main" id="{8A3D72A7-0AAD-4807-B009-25A85F499F4B}"/>
              </a:ext>
            </a:extLst>
          </p:cNvPr>
          <p:cNvSpPr>
            <a:spLocks xmlns:a="http://schemas.openxmlformats.org/drawingml/2006/main" noGrp="1"/>
          </p:cNvSpPr>
          <p:nvPr/>
        </p:nvSpPr>
        <p:spPr>
          <a:xfrm xmlns:a="http://schemas.openxmlformats.org/drawingml/2006/main">
            <a:off x="2331720" y="2834640"/>
            <a:ext cx="457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onsolas"/>
                <a:ea typeface="Consolas"/>
                <a:cs typeface="Consolas"/>
              </a:rPr>
              <a:t>:80</a:t>
            </a:r>
            <a:endParaRPr sz="900"/>
          </a:p>
        </p:txBody>
      </p:sp>
      <p:sp>
        <p:nvSpPr>
          <p:cNvPr id="16" name="Shape 11">
            <a:extLst xmlns:a="http://schemas.openxmlformats.org/drawingml/2006/main">
              <a:ext uri="{FF2B5EF4-FFF2-40B4-BE49-F238E27FC236}">
                <a16:creationId xmlns:a16="http://schemas.microsoft.com/office/drawing/2014/main" id="{DBAC0E02-A441-4AB9-950A-8C41CB596F20}"/>
              </a:ext>
            </a:extLst>
          </p:cNvPr>
          <p:cNvSpPr>
            <a:spLocks xmlns:a="http://schemas.openxmlformats.org/drawingml/2006/main" noGrp="1"/>
          </p:cNvSpPr>
          <p:nvPr/>
        </p:nvSpPr>
        <p:spPr>
          <a:xfrm xmlns:a="http://schemas.openxmlformats.org/drawingml/2006/main">
            <a:off x="2880360" y="2194560"/>
            <a:ext cx="1828800" cy="16459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78" name="Image 3">
            <a:extLst xmlns:a="http://schemas.openxmlformats.org/drawingml/2006/main">
              <a:ext uri="{FF2B5EF4-FFF2-40B4-BE49-F238E27FC236}">
                <a16:creationId xmlns:a16="http://schemas.microsoft.com/office/drawing/2014/main" id="{7ED7B190-4B80-4FCE-90F6-A23E1A53BEE5}"/>
              </a:ext>
            </a:extLst>
          </p:cNvPr>
          <p:cNvPicPr>
            <a:picLocks xmlns:a="http://schemas.openxmlformats.org/drawingml/2006/main" noChangeAspect="1"/>
          </p:cNvPicPr>
          <p:nvPr/>
        </p:nvPicPr>
        <p:blipFill>
          <a:blip xmlns:r="http://schemas.openxmlformats.org/officeDocument/2006/relationships" xmlns:a="http://schemas.openxmlformats.org/drawingml/2006/main" r:embed="Ra040668c9f394c5a"/>
          <a:stretch xmlns:a="http://schemas.openxmlformats.org/drawingml/2006/main">
            <a:fillRect l="0" t="0" r="0" b="0"/>
          </a:stretch>
        </p:blipFill>
        <p:spPr>
          <a:xfrm xmlns:a="http://schemas.openxmlformats.org/drawingml/2006/main">
            <a:off x="3429000" y="2331720"/>
            <a:ext cx="731520" cy="731520"/>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D8CACB5E-7B6D-47B8-9C9C-7A278B2777D5}"/>
              </a:ext>
            </a:extLst>
          </p:cNvPr>
          <p:cNvSpPr>
            <a:spLocks xmlns:a="http://schemas.openxmlformats.org/drawingml/2006/main" noGrp="1"/>
          </p:cNvSpPr>
          <p:nvPr/>
        </p:nvSpPr>
        <p:spPr>
          <a:xfrm xmlns:a="http://schemas.openxmlformats.org/drawingml/2006/main">
            <a:off x="2880360" y="3108960"/>
            <a:ext cx="1828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37021"/>
                </a:solidFill>
                <a:latin typeface="Consolas"/>
                <a:ea typeface="Consolas"/>
                <a:cs typeface="Consolas"/>
              </a:rPr>
              <a:t>web</a:t>
            </a:r>
            <a:endParaRPr sz="1300"/>
          </a:p>
        </p:txBody>
      </p:sp>
      <p:sp>
        <p:nvSpPr>
          <p:cNvPr id="19" name="Text 13">
            <a:extLst xmlns:a="http://schemas.openxmlformats.org/drawingml/2006/main">
              <a:ext uri="{FF2B5EF4-FFF2-40B4-BE49-F238E27FC236}">
                <a16:creationId xmlns:a16="http://schemas.microsoft.com/office/drawing/2014/main" id="{EDC699A1-A9F3-49ED-9E95-8B687143AEB9}"/>
              </a:ext>
            </a:extLst>
          </p:cNvPr>
          <p:cNvSpPr>
            <a:spLocks xmlns:a="http://schemas.openxmlformats.org/drawingml/2006/main" noGrp="1"/>
          </p:cNvSpPr>
          <p:nvPr/>
        </p:nvSpPr>
        <p:spPr>
          <a:xfrm xmlns:a="http://schemas.openxmlformats.org/drawingml/2006/main">
            <a:off x="2880360" y="342900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FFE0B2"/>
                </a:solidFill>
                <a:latin typeface="Calibri"/>
                <a:ea typeface="Calibri"/>
                <a:cs typeface="Calibri"/>
              </a:rPr>
              <a:t>Nginx</a:t>
            </a:r>
            <a:endParaRPr sz="1000"/>
          </a:p>
        </p:txBody>
      </p:sp>
      <p:sp>
        <p:nvSpPr>
          <p:cNvPr id="20" name="Shape 14">
            <a:extLst xmlns:a="http://schemas.openxmlformats.org/drawingml/2006/main">
              <a:ext uri="{FF2B5EF4-FFF2-40B4-BE49-F238E27FC236}">
                <a16:creationId xmlns:a16="http://schemas.microsoft.com/office/drawing/2014/main" id="{0999875C-F050-4B2A-8FD0-07D7EDCE4C92}"/>
              </a:ext>
            </a:extLst>
          </p:cNvPr>
          <p:cNvSpPr>
            <a:spLocks xmlns:a="http://schemas.openxmlformats.org/drawingml/2006/main" noGrp="1"/>
          </p:cNvSpPr>
          <p:nvPr/>
        </p:nvSpPr>
        <p:spPr>
          <a:xfrm xmlns:a="http://schemas.openxmlformats.org/drawingml/2006/main">
            <a:off x="4800600" y="2834640"/>
            <a:ext cx="457200" cy="36576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21" name="Text 15">
            <a:extLst xmlns:a="http://schemas.openxmlformats.org/drawingml/2006/main">
              <a:ext uri="{FF2B5EF4-FFF2-40B4-BE49-F238E27FC236}">
                <a16:creationId xmlns:a16="http://schemas.microsoft.com/office/drawing/2014/main" id="{9A211BF2-6BE3-4410-84DF-CE07AB62E998}"/>
              </a:ext>
            </a:extLst>
          </p:cNvPr>
          <p:cNvSpPr>
            <a:spLocks xmlns:a="http://schemas.openxmlformats.org/drawingml/2006/main" noGrp="1"/>
          </p:cNvSpPr>
          <p:nvPr/>
        </p:nvSpPr>
        <p:spPr>
          <a:xfrm xmlns:a="http://schemas.openxmlformats.org/drawingml/2006/main">
            <a:off x="4709160" y="2834640"/>
            <a:ext cx="640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onsolas"/>
                <a:ea typeface="Consolas"/>
                <a:cs typeface="Consolas"/>
              </a:rPr>
              <a:t>:3000</a:t>
            </a:r>
            <a:endParaRPr sz="900"/>
          </a:p>
        </p:txBody>
      </p:sp>
      <p:sp>
        <p:nvSpPr>
          <p:cNvPr id="22" name="Shape 16">
            <a:extLst xmlns:a="http://schemas.openxmlformats.org/drawingml/2006/main">
              <a:ext uri="{FF2B5EF4-FFF2-40B4-BE49-F238E27FC236}">
                <a16:creationId xmlns:a16="http://schemas.microsoft.com/office/drawing/2014/main" id="{7B07C38B-5DB1-4DAC-B630-5DBFC36025FD}"/>
              </a:ext>
            </a:extLst>
          </p:cNvPr>
          <p:cNvSpPr>
            <a:spLocks xmlns:a="http://schemas.openxmlformats.org/drawingml/2006/main" noGrp="1"/>
          </p:cNvSpPr>
          <p:nvPr/>
        </p:nvSpPr>
        <p:spPr>
          <a:xfrm xmlns:a="http://schemas.openxmlformats.org/drawingml/2006/main">
            <a:off x="5349240" y="2194560"/>
            <a:ext cx="1828800" cy="16459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84" name="Image 4">
            <a:extLst xmlns:a="http://schemas.openxmlformats.org/drawingml/2006/main">
              <a:ext uri="{FF2B5EF4-FFF2-40B4-BE49-F238E27FC236}">
                <a16:creationId xmlns:a16="http://schemas.microsoft.com/office/drawing/2014/main" id="{E0F4F9EF-F453-4A27-BF8D-089757635208}"/>
              </a:ext>
            </a:extLst>
          </p:cNvPr>
          <p:cNvPicPr>
            <a:picLocks xmlns:a="http://schemas.openxmlformats.org/drawingml/2006/main" noChangeAspect="1"/>
          </p:cNvPicPr>
          <p:nvPr/>
        </p:nvPicPr>
        <p:blipFill>
          <a:blip xmlns:r="http://schemas.openxmlformats.org/officeDocument/2006/relationships" xmlns:a="http://schemas.openxmlformats.org/drawingml/2006/main" r:embed="R759ac6030e4a4a2a"/>
          <a:stretch xmlns:a="http://schemas.openxmlformats.org/drawingml/2006/main">
            <a:fillRect l="0" t="0" r="0" b="0"/>
          </a:stretch>
        </p:blipFill>
        <p:spPr>
          <a:xfrm xmlns:a="http://schemas.openxmlformats.org/drawingml/2006/main">
            <a:off x="5897880" y="2331720"/>
            <a:ext cx="731520" cy="731520"/>
          </a:xfrm>
          <a:prstGeom xmlns:a="http://schemas.openxmlformats.org/drawingml/2006/main" prst="rect">
            <a:avLst/>
          </a:prstGeom>
        </p:spPr>
      </p:pic>
      <p:sp>
        <p:nvSpPr>
          <p:cNvPr id="24" name="Text 17">
            <a:extLst xmlns:a="http://schemas.openxmlformats.org/drawingml/2006/main">
              <a:ext uri="{FF2B5EF4-FFF2-40B4-BE49-F238E27FC236}">
                <a16:creationId xmlns:a16="http://schemas.microsoft.com/office/drawing/2014/main" id="{B5F87626-0F7C-467C-A9B0-0C668C859D76}"/>
              </a:ext>
            </a:extLst>
          </p:cNvPr>
          <p:cNvSpPr>
            <a:spLocks xmlns:a="http://schemas.openxmlformats.org/drawingml/2006/main" noGrp="1"/>
          </p:cNvSpPr>
          <p:nvPr/>
        </p:nvSpPr>
        <p:spPr>
          <a:xfrm xmlns:a="http://schemas.openxmlformats.org/drawingml/2006/main">
            <a:off x="5349240" y="3108960"/>
            <a:ext cx="1828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37021"/>
                </a:solidFill>
                <a:latin typeface="Consolas"/>
                <a:ea typeface="Consolas"/>
                <a:cs typeface="Consolas"/>
              </a:rPr>
              <a:t>api</a:t>
            </a:r>
            <a:endParaRPr sz="1300"/>
          </a:p>
        </p:txBody>
      </p:sp>
      <p:sp>
        <p:nvSpPr>
          <p:cNvPr id="25" name="Text 18">
            <a:extLst xmlns:a="http://schemas.openxmlformats.org/drawingml/2006/main">
              <a:ext uri="{FF2B5EF4-FFF2-40B4-BE49-F238E27FC236}">
                <a16:creationId xmlns:a16="http://schemas.microsoft.com/office/drawing/2014/main" id="{806CD542-7F74-4E3E-B0F4-7B05B32DEC0B}"/>
              </a:ext>
            </a:extLst>
          </p:cNvPr>
          <p:cNvSpPr>
            <a:spLocks xmlns:a="http://schemas.openxmlformats.org/drawingml/2006/main" noGrp="1"/>
          </p:cNvSpPr>
          <p:nvPr/>
        </p:nvSpPr>
        <p:spPr>
          <a:xfrm xmlns:a="http://schemas.openxmlformats.org/drawingml/2006/main">
            <a:off x="5349240" y="342900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FFE0B2"/>
                </a:solidFill>
                <a:latin typeface="Calibri"/>
                <a:ea typeface="Calibri"/>
                <a:cs typeface="Calibri"/>
              </a:rPr>
              <a:t>FastAPI</a:t>
            </a:r>
            <a:endParaRPr sz="1000"/>
          </a:p>
        </p:txBody>
      </p:sp>
      <p:sp>
        <p:nvSpPr>
          <p:cNvPr id="26" name="Shape 19">
            <a:extLst xmlns:a="http://schemas.openxmlformats.org/drawingml/2006/main">
              <a:ext uri="{FF2B5EF4-FFF2-40B4-BE49-F238E27FC236}">
                <a16:creationId xmlns:a16="http://schemas.microsoft.com/office/drawing/2014/main" id="{13B3721F-F334-4AE4-AACB-6FAC23EFDC7A}"/>
              </a:ext>
            </a:extLst>
          </p:cNvPr>
          <p:cNvSpPr>
            <a:spLocks xmlns:a="http://schemas.openxmlformats.org/drawingml/2006/main" noGrp="1"/>
          </p:cNvSpPr>
          <p:nvPr/>
        </p:nvSpPr>
        <p:spPr>
          <a:xfrm xmlns:a="http://schemas.openxmlformats.org/drawingml/2006/main">
            <a:off x="7269480" y="2286000"/>
            <a:ext cx="457200" cy="36576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27" name="Text 20">
            <a:extLst xmlns:a="http://schemas.openxmlformats.org/drawingml/2006/main">
              <a:ext uri="{FF2B5EF4-FFF2-40B4-BE49-F238E27FC236}">
                <a16:creationId xmlns:a16="http://schemas.microsoft.com/office/drawing/2014/main" id="{D4FF763E-FD8D-4495-8FFF-DA52DC0BE330}"/>
              </a:ext>
            </a:extLst>
          </p:cNvPr>
          <p:cNvSpPr>
            <a:spLocks xmlns:a="http://schemas.openxmlformats.org/drawingml/2006/main" noGrp="1"/>
          </p:cNvSpPr>
          <p:nvPr/>
        </p:nvSpPr>
        <p:spPr>
          <a:xfrm xmlns:a="http://schemas.openxmlformats.org/drawingml/2006/main">
            <a:off x="7178040" y="2286000"/>
            <a:ext cx="640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onsolas"/>
                <a:ea typeface="Consolas"/>
                <a:cs typeface="Consolas"/>
              </a:rPr>
              <a:t>:5432</a:t>
            </a:r>
            <a:endParaRPr sz="900"/>
          </a:p>
        </p:txBody>
      </p:sp>
      <p:sp>
        <p:nvSpPr>
          <p:cNvPr id="28" name="Shape 21">
            <a:extLst xmlns:a="http://schemas.openxmlformats.org/drawingml/2006/main">
              <a:ext uri="{FF2B5EF4-FFF2-40B4-BE49-F238E27FC236}">
                <a16:creationId xmlns:a16="http://schemas.microsoft.com/office/drawing/2014/main" id="{19C0460E-BF9D-4403-B236-C1537610457A}"/>
              </a:ext>
            </a:extLst>
          </p:cNvPr>
          <p:cNvSpPr>
            <a:spLocks xmlns:a="http://schemas.openxmlformats.org/drawingml/2006/main" noGrp="1"/>
          </p:cNvSpPr>
          <p:nvPr/>
        </p:nvSpPr>
        <p:spPr>
          <a:xfrm xmlns:a="http://schemas.openxmlformats.org/drawingml/2006/main">
            <a:off x="7269480" y="3337560"/>
            <a:ext cx="457200" cy="365760"/>
          </a:xfrm>
          <a:prstGeom xmlns:a="http://schemas.openxmlformats.org/drawingml/2006/main" prst="rightArrow">
            <a:avLst/>
          </a:prstGeom>
          <a:solidFill xmlns:a="http://schemas.openxmlformats.org/drawingml/2006/main">
            <a:srgbClr val="F37021"/>
          </a:solidFill>
          <a:ln xmlns:a="http://schemas.openxmlformats.org/drawingml/2006/main" w="12700">
            <a:solidFill>
              <a:srgbClr val="F37021"/>
            </a:solidFill>
            <a:prstDash val="solid"/>
          </a:ln>
        </p:spPr>
      </p:sp>
      <p:sp>
        <p:nvSpPr>
          <p:cNvPr id="29" name="Text 22">
            <a:extLst xmlns:a="http://schemas.openxmlformats.org/drawingml/2006/main">
              <a:ext uri="{FF2B5EF4-FFF2-40B4-BE49-F238E27FC236}">
                <a16:creationId xmlns:a16="http://schemas.microsoft.com/office/drawing/2014/main" id="{481727EA-DCA3-4A79-B316-78F38A5919BF}"/>
              </a:ext>
            </a:extLst>
          </p:cNvPr>
          <p:cNvSpPr>
            <a:spLocks xmlns:a="http://schemas.openxmlformats.org/drawingml/2006/main" noGrp="1"/>
          </p:cNvSpPr>
          <p:nvPr/>
        </p:nvSpPr>
        <p:spPr>
          <a:xfrm xmlns:a="http://schemas.openxmlformats.org/drawingml/2006/main">
            <a:off x="7178040" y="3337560"/>
            <a:ext cx="640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Consolas"/>
                <a:ea typeface="Consolas"/>
                <a:cs typeface="Consolas"/>
              </a:rPr>
              <a:t>:6379</a:t>
            </a:r>
            <a:endParaRPr sz="900"/>
          </a:p>
        </p:txBody>
      </p:sp>
      <p:sp>
        <p:nvSpPr>
          <p:cNvPr id="30" name="Shape 23">
            <a:extLst xmlns:a="http://schemas.openxmlformats.org/drawingml/2006/main">
              <a:ext uri="{FF2B5EF4-FFF2-40B4-BE49-F238E27FC236}">
                <a16:creationId xmlns:a16="http://schemas.microsoft.com/office/drawing/2014/main" id="{24964D95-BC87-4D74-86D0-7E527782CF99}"/>
              </a:ext>
            </a:extLst>
          </p:cNvPr>
          <p:cNvSpPr>
            <a:spLocks xmlns:a="http://schemas.openxmlformats.org/drawingml/2006/main" noGrp="1"/>
          </p:cNvSpPr>
          <p:nvPr/>
        </p:nvSpPr>
        <p:spPr>
          <a:xfrm xmlns:a="http://schemas.openxmlformats.org/drawingml/2006/main">
            <a:off x="7818120" y="1691640"/>
            <a:ext cx="1828800" cy="128016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pic>
        <p:nvPicPr>
          <p:cNvPr id="92" name="Image 5">
            <a:extLst xmlns:a="http://schemas.openxmlformats.org/drawingml/2006/main">
              <a:ext uri="{FF2B5EF4-FFF2-40B4-BE49-F238E27FC236}">
                <a16:creationId xmlns:a16="http://schemas.microsoft.com/office/drawing/2014/main" id="{B0017203-5161-4DE8-97B8-4D4F911C347E}"/>
              </a:ext>
            </a:extLst>
          </p:cNvPr>
          <p:cNvPicPr>
            <a:picLocks xmlns:a="http://schemas.openxmlformats.org/drawingml/2006/main" noChangeAspect="1"/>
          </p:cNvPicPr>
          <p:nvPr/>
        </p:nvPicPr>
        <p:blipFill>
          <a:blip xmlns:r="http://schemas.openxmlformats.org/officeDocument/2006/relationships" xmlns:a="http://schemas.openxmlformats.org/drawingml/2006/main" r:embed="R813492f92cef4f8a"/>
          <a:stretch xmlns:a="http://schemas.openxmlformats.org/drawingml/2006/main">
            <a:fillRect l="0" t="0" r="0" b="0"/>
          </a:stretch>
        </p:blipFill>
        <p:spPr>
          <a:xfrm xmlns:a="http://schemas.openxmlformats.org/drawingml/2006/main">
            <a:off x="8366760" y="1828800"/>
            <a:ext cx="640080" cy="640080"/>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20925275-955F-40DF-8A93-D9BD0C95BCFF}"/>
              </a:ext>
            </a:extLst>
          </p:cNvPr>
          <p:cNvSpPr>
            <a:spLocks xmlns:a="http://schemas.openxmlformats.org/drawingml/2006/main" noGrp="1"/>
          </p:cNvSpPr>
          <p:nvPr/>
        </p:nvSpPr>
        <p:spPr>
          <a:xfrm xmlns:a="http://schemas.openxmlformats.org/drawingml/2006/main">
            <a:off x="7818120" y="246888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onsolas"/>
                <a:ea typeface="Consolas"/>
                <a:cs typeface="Consolas"/>
              </a:rPr>
              <a:t>db</a:t>
            </a:r>
            <a:endParaRPr sz="1300"/>
          </a:p>
        </p:txBody>
      </p:sp>
      <p:sp>
        <p:nvSpPr>
          <p:cNvPr id="33" name="Text 25">
            <a:extLst xmlns:a="http://schemas.openxmlformats.org/drawingml/2006/main">
              <a:ext uri="{FF2B5EF4-FFF2-40B4-BE49-F238E27FC236}">
                <a16:creationId xmlns:a16="http://schemas.microsoft.com/office/drawing/2014/main" id="{99FEA702-DA30-4244-BA52-DC572B027497}"/>
              </a:ext>
            </a:extLst>
          </p:cNvPr>
          <p:cNvSpPr>
            <a:spLocks xmlns:a="http://schemas.openxmlformats.org/drawingml/2006/main" noGrp="1"/>
          </p:cNvSpPr>
          <p:nvPr/>
        </p:nvSpPr>
        <p:spPr>
          <a:xfrm xmlns:a="http://schemas.openxmlformats.org/drawingml/2006/main">
            <a:off x="7818120" y="274320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FFE0B2"/>
                </a:solidFill>
                <a:latin typeface="Calibri"/>
                <a:ea typeface="Calibri"/>
                <a:cs typeface="Calibri"/>
              </a:rPr>
              <a:t>Postgres 15</a:t>
            </a:r>
            <a:endParaRPr sz="1000"/>
          </a:p>
        </p:txBody>
      </p:sp>
      <p:sp>
        <p:nvSpPr>
          <p:cNvPr id="34" name="Shape 26">
            <a:extLst xmlns:a="http://schemas.openxmlformats.org/drawingml/2006/main">
              <a:ext uri="{FF2B5EF4-FFF2-40B4-BE49-F238E27FC236}">
                <a16:creationId xmlns:a16="http://schemas.microsoft.com/office/drawing/2014/main" id="{962CAD5C-F4A3-49A6-B721-B74E923507D4}"/>
              </a:ext>
            </a:extLst>
          </p:cNvPr>
          <p:cNvSpPr>
            <a:spLocks xmlns:a="http://schemas.openxmlformats.org/drawingml/2006/main" noGrp="1"/>
          </p:cNvSpPr>
          <p:nvPr/>
        </p:nvSpPr>
        <p:spPr>
          <a:xfrm xmlns:a="http://schemas.openxmlformats.org/drawingml/2006/main">
            <a:off x="7818120" y="3108960"/>
            <a:ext cx="1828800" cy="128016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pic>
        <p:nvPicPr>
          <p:cNvPr id="96" name="Image 6">
            <a:extLst xmlns:a="http://schemas.openxmlformats.org/drawingml/2006/main">
              <a:ext uri="{FF2B5EF4-FFF2-40B4-BE49-F238E27FC236}">
                <a16:creationId xmlns:a16="http://schemas.microsoft.com/office/drawing/2014/main" id="{5623E770-F0E7-4829-BFBE-8ABE75998F8D}"/>
              </a:ext>
            </a:extLst>
          </p:cNvPr>
          <p:cNvPicPr>
            <a:picLocks xmlns:a="http://schemas.openxmlformats.org/drawingml/2006/main" noChangeAspect="1"/>
          </p:cNvPicPr>
          <p:nvPr/>
        </p:nvPicPr>
        <p:blipFill>
          <a:blip xmlns:r="http://schemas.openxmlformats.org/officeDocument/2006/relationships" xmlns:a="http://schemas.openxmlformats.org/drawingml/2006/main" r:embed="Rfe5c54b0dfb74558"/>
          <a:stretch xmlns:a="http://schemas.openxmlformats.org/drawingml/2006/main">
            <a:fillRect l="0" t="0" r="0" b="0"/>
          </a:stretch>
        </p:blipFill>
        <p:spPr>
          <a:xfrm xmlns:a="http://schemas.openxmlformats.org/drawingml/2006/main">
            <a:off x="8366760" y="3200400"/>
            <a:ext cx="640080" cy="640080"/>
          </a:xfrm>
          <a:prstGeom xmlns:a="http://schemas.openxmlformats.org/drawingml/2006/main" prst="rect">
            <a:avLst/>
          </a:prstGeom>
        </p:spPr>
      </p:pic>
      <p:sp>
        <p:nvSpPr>
          <p:cNvPr id="36" name="Text 27">
            <a:extLst xmlns:a="http://schemas.openxmlformats.org/drawingml/2006/main">
              <a:ext uri="{FF2B5EF4-FFF2-40B4-BE49-F238E27FC236}">
                <a16:creationId xmlns:a16="http://schemas.microsoft.com/office/drawing/2014/main" id="{49E3F28F-A6AA-44E4-90DD-9269885C3B4E}"/>
              </a:ext>
            </a:extLst>
          </p:cNvPr>
          <p:cNvSpPr>
            <a:spLocks xmlns:a="http://schemas.openxmlformats.org/drawingml/2006/main" noGrp="1"/>
          </p:cNvSpPr>
          <p:nvPr/>
        </p:nvSpPr>
        <p:spPr>
          <a:xfrm xmlns:a="http://schemas.openxmlformats.org/drawingml/2006/main">
            <a:off x="7818120" y="384048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onsolas"/>
                <a:ea typeface="Consolas"/>
                <a:cs typeface="Consolas"/>
              </a:rPr>
              <a:t>cache</a:t>
            </a:r>
            <a:endParaRPr sz="1300"/>
          </a:p>
        </p:txBody>
      </p:sp>
      <p:sp>
        <p:nvSpPr>
          <p:cNvPr id="37" name="Text 28">
            <a:extLst xmlns:a="http://schemas.openxmlformats.org/drawingml/2006/main">
              <a:ext uri="{FF2B5EF4-FFF2-40B4-BE49-F238E27FC236}">
                <a16:creationId xmlns:a16="http://schemas.microsoft.com/office/drawing/2014/main" id="{10C2AC56-8326-4C13-B3FA-CE804E2BEDF8}"/>
              </a:ext>
            </a:extLst>
          </p:cNvPr>
          <p:cNvSpPr>
            <a:spLocks xmlns:a="http://schemas.openxmlformats.org/drawingml/2006/main" noGrp="1"/>
          </p:cNvSpPr>
          <p:nvPr/>
        </p:nvSpPr>
        <p:spPr>
          <a:xfrm xmlns:a="http://schemas.openxmlformats.org/drawingml/2006/main">
            <a:off x="7818120" y="411480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FFE0B2"/>
                </a:solidFill>
                <a:latin typeface="Calibri"/>
                <a:ea typeface="Calibri"/>
                <a:cs typeface="Calibri"/>
              </a:rPr>
              <a:t>Redis 7</a:t>
            </a:r>
            <a:endParaRPr sz="1000"/>
          </a:p>
        </p:txBody>
      </p:sp>
      <p:sp>
        <p:nvSpPr>
          <p:cNvPr id="38" name="Shape 29">
            <a:extLst xmlns:a="http://schemas.openxmlformats.org/drawingml/2006/main">
              <a:ext uri="{FF2B5EF4-FFF2-40B4-BE49-F238E27FC236}">
                <a16:creationId xmlns:a16="http://schemas.microsoft.com/office/drawing/2014/main" id="{186F82CA-EB1C-425D-A145-0E0E851AD973}"/>
              </a:ext>
            </a:extLst>
          </p:cNvPr>
          <p:cNvSpPr>
            <a:spLocks xmlns:a="http://schemas.openxmlformats.org/drawingml/2006/main" noGrp="1"/>
          </p:cNvSpPr>
          <p:nvPr/>
        </p:nvSpPr>
        <p:spPr>
          <a:xfrm xmlns:a="http://schemas.openxmlformats.org/drawingml/2006/main">
            <a:off x="9921240" y="2011680"/>
            <a:ext cx="1645920" cy="640080"/>
          </a:xfrm>
          <a:prstGeom xmlns:a="http://schemas.openxmlformats.org/drawingml/2006/main" prst="rect">
            <a:avLst/>
          </a:prstGeom>
          <a:solidFill xmlns:a="http://schemas.openxmlformats.org/drawingml/2006/main">
            <a:srgbClr val="7C3AED"/>
          </a:solidFill>
          <a:ln xmlns:a="http://schemas.openxmlformats.org/drawingml/2006/main" w="12700">
            <a:solidFill>
              <a:srgbClr val="7C3AED"/>
            </a:solidFill>
            <a:prstDash val="solid"/>
          </a:ln>
        </p:spPr>
      </p:sp>
      <p:pic>
        <p:nvPicPr>
          <p:cNvPr id="100" name="Image 7">
            <a:extLst xmlns:a="http://schemas.openxmlformats.org/drawingml/2006/main">
              <a:ext uri="{FF2B5EF4-FFF2-40B4-BE49-F238E27FC236}">
                <a16:creationId xmlns:a16="http://schemas.microsoft.com/office/drawing/2014/main" id="{6E3D2478-11BD-4C9B-967B-5695BAAD0A84}"/>
              </a:ext>
            </a:extLst>
          </p:cNvPr>
          <p:cNvPicPr>
            <a:picLocks xmlns:a="http://schemas.openxmlformats.org/drawingml/2006/main" noChangeAspect="1"/>
          </p:cNvPicPr>
          <p:nvPr/>
        </p:nvPicPr>
        <p:blipFill>
          <a:blip xmlns:r="http://schemas.openxmlformats.org/officeDocument/2006/relationships" xmlns:a="http://schemas.openxmlformats.org/drawingml/2006/main" r:embed="Rc4636afb550b4799"/>
          <a:stretch xmlns:a="http://schemas.openxmlformats.org/drawingml/2006/main">
            <a:fillRect l="0" t="0" r="0" b="0"/>
          </a:stretch>
        </p:blipFill>
        <p:spPr>
          <a:xfrm xmlns:a="http://schemas.openxmlformats.org/drawingml/2006/main">
            <a:off x="10012680" y="2103120"/>
            <a:ext cx="457200" cy="457200"/>
          </a:xfrm>
          <a:prstGeom xmlns:a="http://schemas.openxmlformats.org/drawingml/2006/main" prst="rect">
            <a:avLst/>
          </a:prstGeom>
        </p:spPr>
      </p:pic>
      <p:sp>
        <p:nvSpPr>
          <p:cNvPr id="40" name="Text 30">
            <a:extLst xmlns:a="http://schemas.openxmlformats.org/drawingml/2006/main">
              <a:ext uri="{FF2B5EF4-FFF2-40B4-BE49-F238E27FC236}">
                <a16:creationId xmlns:a16="http://schemas.microsoft.com/office/drawing/2014/main" id="{321A8CF4-5CC9-4E2A-973A-A615B31028BA}"/>
              </a:ext>
            </a:extLst>
          </p:cNvPr>
          <p:cNvSpPr>
            <a:spLocks xmlns:a="http://schemas.openxmlformats.org/drawingml/2006/main" noGrp="1"/>
          </p:cNvSpPr>
          <p:nvPr/>
        </p:nvSpPr>
        <p:spPr>
          <a:xfrm xmlns:a="http://schemas.openxmlformats.org/drawingml/2006/main">
            <a:off x="10515600" y="2011680"/>
            <a:ext cx="1005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Consolas"/>
                <a:ea typeface="Consolas"/>
                <a:cs typeface="Consolas"/>
              </a:rPr>
              <a:t>db-data</a:t>
            </a:r>
            <a:endParaRPr sz="1100"/>
          </a:p>
        </p:txBody>
      </p:sp>
      <p:sp>
        <p:nvSpPr>
          <p:cNvPr id="41" name="Shape 31">
            <a:extLst xmlns:a="http://schemas.openxmlformats.org/drawingml/2006/main">
              <a:ext uri="{FF2B5EF4-FFF2-40B4-BE49-F238E27FC236}">
                <a16:creationId xmlns:a16="http://schemas.microsoft.com/office/drawing/2014/main" id="{7BB390E1-74C7-4732-B5DE-F357D3322A32}"/>
              </a:ext>
            </a:extLst>
          </p:cNvPr>
          <p:cNvSpPr>
            <a:spLocks xmlns:a="http://schemas.openxmlformats.org/drawingml/2006/main" noGrp="1"/>
          </p:cNvSpPr>
          <p:nvPr/>
        </p:nvSpPr>
        <p:spPr>
          <a:xfrm xmlns:a="http://schemas.openxmlformats.org/drawingml/2006/main">
            <a:off x="9646920" y="2194560"/>
            <a:ext cx="274320" cy="274320"/>
          </a:xfrm>
          <a:prstGeom xmlns:a="http://schemas.openxmlformats.org/drawingml/2006/main" prst="leftArrow">
            <a:avLst/>
          </a:prstGeom>
          <a:solidFill xmlns:a="http://schemas.openxmlformats.org/drawingml/2006/main">
            <a:srgbClr val="7C3AED"/>
          </a:solidFill>
          <a:ln xmlns:a="http://schemas.openxmlformats.org/drawingml/2006/main" w="12700">
            <a:solidFill>
              <a:srgbClr val="7C3AED"/>
            </a:solidFill>
            <a:prstDash val="solid"/>
          </a:ln>
        </p:spPr>
      </p:sp>
      <p:sp>
        <p:nvSpPr>
          <p:cNvPr id="42" name="Text 32">
            <a:extLst xmlns:a="http://schemas.openxmlformats.org/drawingml/2006/main">
              <a:ext uri="{FF2B5EF4-FFF2-40B4-BE49-F238E27FC236}">
                <a16:creationId xmlns:a16="http://schemas.microsoft.com/office/drawing/2014/main" id="{BA7857FD-E6D1-46B4-8C23-C2D3BEB371F3}"/>
              </a:ext>
            </a:extLst>
          </p:cNvPr>
          <p:cNvSpPr>
            <a:spLocks xmlns:a="http://schemas.openxmlformats.org/drawingml/2006/main" noGrp="1"/>
          </p:cNvSpPr>
          <p:nvPr/>
        </p:nvSpPr>
        <p:spPr>
          <a:xfrm xmlns:a="http://schemas.openxmlformats.org/drawingml/2006/main">
            <a:off x="457200" y="493776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Karakteristik Stack</a:t>
            </a:r>
            <a:endParaRPr sz="1400"/>
          </a:p>
        </p:txBody>
      </p:sp>
      <p:sp>
        <p:nvSpPr>
          <p:cNvPr id="43" name="Shape 33">
            <a:extLst xmlns:a="http://schemas.openxmlformats.org/drawingml/2006/main">
              <a:ext uri="{FF2B5EF4-FFF2-40B4-BE49-F238E27FC236}">
                <a16:creationId xmlns:a16="http://schemas.microsoft.com/office/drawing/2014/main" id="{107B1C4E-9FE1-422F-9DD1-07F9BF7FF325}"/>
              </a:ext>
            </a:extLst>
          </p:cNvPr>
          <p:cNvSpPr>
            <a:spLocks xmlns:a="http://schemas.openxmlformats.org/drawingml/2006/main" noGrp="1"/>
          </p:cNvSpPr>
          <p:nvPr/>
        </p:nvSpPr>
        <p:spPr>
          <a:xfrm xmlns:a="http://schemas.openxmlformats.org/drawingml/2006/main">
            <a:off x="457200" y="5349240"/>
            <a:ext cx="274320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4" name="Text 34">
            <a:extLst xmlns:a="http://schemas.openxmlformats.org/drawingml/2006/main">
              <a:ext uri="{FF2B5EF4-FFF2-40B4-BE49-F238E27FC236}">
                <a16:creationId xmlns:a16="http://schemas.microsoft.com/office/drawing/2014/main" id="{9F50935B-A8DF-419D-A2FA-B11B9913B35B}"/>
              </a:ext>
            </a:extLst>
          </p:cNvPr>
          <p:cNvSpPr>
            <a:spLocks xmlns:a="http://schemas.openxmlformats.org/drawingml/2006/main" noGrp="1"/>
          </p:cNvSpPr>
          <p:nvPr/>
        </p:nvSpPr>
        <p:spPr>
          <a:xfrm xmlns:a="http://schemas.openxmlformats.org/drawingml/2006/main">
            <a:off x="457200" y="54406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4 services</a:t>
            </a:r>
            <a:endParaRPr sz="1600"/>
          </a:p>
        </p:txBody>
      </p:sp>
      <p:sp>
        <p:nvSpPr>
          <p:cNvPr id="45" name="Text 35">
            <a:extLst xmlns:a="http://schemas.openxmlformats.org/drawingml/2006/main">
              <a:ext uri="{FF2B5EF4-FFF2-40B4-BE49-F238E27FC236}">
                <a16:creationId xmlns:a16="http://schemas.microsoft.com/office/drawing/2014/main" id="{183B2D17-8D59-4A94-8170-D169F16B2046}"/>
              </a:ext>
            </a:extLst>
          </p:cNvPr>
          <p:cNvSpPr>
            <a:spLocks xmlns:a="http://schemas.openxmlformats.org/drawingml/2006/main" noGrp="1"/>
          </p:cNvSpPr>
          <p:nvPr/>
        </p:nvSpPr>
        <p:spPr>
          <a:xfrm xmlns:a="http://schemas.openxmlformats.org/drawingml/2006/main">
            <a:off x="457200" y="58521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1E293B"/>
                </a:solidFill>
                <a:latin typeface="Calibri"/>
                <a:ea typeface="Calibri"/>
                <a:cs typeface="Calibri"/>
              </a:rPr>
              <a:t>web, api, db, cache</a:t>
            </a:r>
            <a:endParaRPr sz="1000"/>
          </a:p>
        </p:txBody>
      </p:sp>
      <p:sp>
        <p:nvSpPr>
          <p:cNvPr id="46" name="Shape 36">
            <a:extLst xmlns:a="http://schemas.openxmlformats.org/drawingml/2006/main">
              <a:ext uri="{FF2B5EF4-FFF2-40B4-BE49-F238E27FC236}">
                <a16:creationId xmlns:a16="http://schemas.microsoft.com/office/drawing/2014/main" id="{5CAD67A0-9358-47D7-8AD0-9FC6B091CE8A}"/>
              </a:ext>
            </a:extLst>
          </p:cNvPr>
          <p:cNvSpPr>
            <a:spLocks xmlns:a="http://schemas.openxmlformats.org/drawingml/2006/main" noGrp="1"/>
          </p:cNvSpPr>
          <p:nvPr/>
        </p:nvSpPr>
        <p:spPr>
          <a:xfrm xmlns:a="http://schemas.openxmlformats.org/drawingml/2006/main">
            <a:off x="3337560" y="5349240"/>
            <a:ext cx="274320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7" name="Text 37">
            <a:extLst xmlns:a="http://schemas.openxmlformats.org/drawingml/2006/main">
              <a:ext uri="{FF2B5EF4-FFF2-40B4-BE49-F238E27FC236}">
                <a16:creationId xmlns:a16="http://schemas.microsoft.com/office/drawing/2014/main" id="{FC14230E-331C-4A10-85C5-8603B8807F6D}"/>
              </a:ext>
            </a:extLst>
          </p:cNvPr>
          <p:cNvSpPr>
            <a:spLocks xmlns:a="http://schemas.openxmlformats.org/drawingml/2006/main" noGrp="1"/>
          </p:cNvSpPr>
          <p:nvPr/>
        </p:nvSpPr>
        <p:spPr>
          <a:xfrm xmlns:a="http://schemas.openxmlformats.org/drawingml/2006/main">
            <a:off x="3337560" y="54406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1 volume</a:t>
            </a:r>
            <a:endParaRPr sz="1600"/>
          </a:p>
        </p:txBody>
      </p:sp>
      <p:sp>
        <p:nvSpPr>
          <p:cNvPr id="48" name="Text 38">
            <a:extLst xmlns:a="http://schemas.openxmlformats.org/drawingml/2006/main">
              <a:ext uri="{FF2B5EF4-FFF2-40B4-BE49-F238E27FC236}">
                <a16:creationId xmlns:a16="http://schemas.microsoft.com/office/drawing/2014/main" id="{2250A722-8DBB-400A-8D5E-24ACB61DABC0}"/>
              </a:ext>
            </a:extLst>
          </p:cNvPr>
          <p:cNvSpPr>
            <a:spLocks xmlns:a="http://schemas.openxmlformats.org/drawingml/2006/main" noGrp="1"/>
          </p:cNvSpPr>
          <p:nvPr/>
        </p:nvSpPr>
        <p:spPr>
          <a:xfrm xmlns:a="http://schemas.openxmlformats.org/drawingml/2006/main">
            <a:off x="3337560" y="58521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1E293B"/>
                </a:solidFill>
                <a:latin typeface="Calibri"/>
                <a:ea typeface="Calibri"/>
                <a:cs typeface="Calibri"/>
              </a:rPr>
              <a:t>db-data persistent</a:t>
            </a:r>
            <a:endParaRPr sz="1000"/>
          </a:p>
        </p:txBody>
      </p:sp>
      <p:sp>
        <p:nvSpPr>
          <p:cNvPr id="49" name="Shape 39">
            <a:extLst xmlns:a="http://schemas.openxmlformats.org/drawingml/2006/main">
              <a:ext uri="{FF2B5EF4-FFF2-40B4-BE49-F238E27FC236}">
                <a16:creationId xmlns:a16="http://schemas.microsoft.com/office/drawing/2014/main" id="{01A26F58-0FC4-4A2B-841A-5B33FD8E816A}"/>
              </a:ext>
            </a:extLst>
          </p:cNvPr>
          <p:cNvSpPr>
            <a:spLocks xmlns:a="http://schemas.openxmlformats.org/drawingml/2006/main" noGrp="1"/>
          </p:cNvSpPr>
          <p:nvPr/>
        </p:nvSpPr>
        <p:spPr>
          <a:xfrm xmlns:a="http://schemas.openxmlformats.org/drawingml/2006/main">
            <a:off x="6217920" y="5349240"/>
            <a:ext cx="274320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50" name="Text 40">
            <a:extLst xmlns:a="http://schemas.openxmlformats.org/drawingml/2006/main">
              <a:ext uri="{FF2B5EF4-FFF2-40B4-BE49-F238E27FC236}">
                <a16:creationId xmlns:a16="http://schemas.microsoft.com/office/drawing/2014/main" id="{46196FAD-1B49-4305-B528-C0A50B200E58}"/>
              </a:ext>
            </a:extLst>
          </p:cNvPr>
          <p:cNvSpPr>
            <a:spLocks xmlns:a="http://schemas.openxmlformats.org/drawingml/2006/main" noGrp="1"/>
          </p:cNvSpPr>
          <p:nvPr/>
        </p:nvSpPr>
        <p:spPr>
          <a:xfrm xmlns:a="http://schemas.openxmlformats.org/drawingml/2006/main">
            <a:off x="6217920" y="54406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2 networks</a:t>
            </a:r>
            <a:endParaRPr sz="1600"/>
          </a:p>
        </p:txBody>
      </p:sp>
      <p:sp>
        <p:nvSpPr>
          <p:cNvPr id="51" name="Text 41">
            <a:extLst xmlns:a="http://schemas.openxmlformats.org/drawingml/2006/main">
              <a:ext uri="{FF2B5EF4-FFF2-40B4-BE49-F238E27FC236}">
                <a16:creationId xmlns:a16="http://schemas.microsoft.com/office/drawing/2014/main" id="{041448C9-1D5D-40EA-9DB7-CC86468C71B2}"/>
              </a:ext>
            </a:extLst>
          </p:cNvPr>
          <p:cNvSpPr>
            <a:spLocks xmlns:a="http://schemas.openxmlformats.org/drawingml/2006/main" noGrp="1"/>
          </p:cNvSpPr>
          <p:nvPr/>
        </p:nvSpPr>
        <p:spPr>
          <a:xfrm xmlns:a="http://schemas.openxmlformats.org/drawingml/2006/main">
            <a:off x="6217920" y="58521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1E293B"/>
                </a:solidFill>
                <a:latin typeface="Calibri"/>
                <a:ea typeface="Calibri"/>
                <a:cs typeface="Calibri"/>
              </a:rPr>
              <a:t>frontend + backend</a:t>
            </a:r>
            <a:endParaRPr sz="1000"/>
          </a:p>
        </p:txBody>
      </p:sp>
      <p:sp>
        <p:nvSpPr>
          <p:cNvPr id="52" name="Shape 42">
            <a:extLst xmlns:a="http://schemas.openxmlformats.org/drawingml/2006/main">
              <a:ext uri="{FF2B5EF4-FFF2-40B4-BE49-F238E27FC236}">
                <a16:creationId xmlns:a16="http://schemas.microsoft.com/office/drawing/2014/main" id="{ADC605C9-BEE5-4F90-8356-7C9DD64EF4F2}"/>
              </a:ext>
            </a:extLst>
          </p:cNvPr>
          <p:cNvSpPr>
            <a:spLocks xmlns:a="http://schemas.openxmlformats.org/drawingml/2006/main" noGrp="1"/>
          </p:cNvSpPr>
          <p:nvPr/>
        </p:nvSpPr>
        <p:spPr>
          <a:xfrm xmlns:a="http://schemas.openxmlformats.org/drawingml/2006/main">
            <a:off x="9098280" y="5349240"/>
            <a:ext cx="2743200" cy="9144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53" name="Text 43">
            <a:extLst xmlns:a="http://schemas.openxmlformats.org/drawingml/2006/main">
              <a:ext uri="{FF2B5EF4-FFF2-40B4-BE49-F238E27FC236}">
                <a16:creationId xmlns:a16="http://schemas.microsoft.com/office/drawing/2014/main" id="{CCE335C0-7BE3-4CAD-9CAE-1FFB01F2081C}"/>
              </a:ext>
            </a:extLst>
          </p:cNvPr>
          <p:cNvSpPr>
            <a:spLocks xmlns:a="http://schemas.openxmlformats.org/drawingml/2006/main" noGrp="1"/>
          </p:cNvSpPr>
          <p:nvPr/>
        </p:nvSpPr>
        <p:spPr>
          <a:xfrm xmlns:a="http://schemas.openxmlformats.org/drawingml/2006/main">
            <a:off x="9098280" y="544068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37021"/>
                </a:solidFill>
                <a:latin typeface="Calibri"/>
                <a:ea typeface="Calibri"/>
                <a:cs typeface="Calibri"/>
              </a:rPr>
              <a:t>ukur waktu</a:t>
            </a:r>
            <a:endParaRPr sz="1600"/>
          </a:p>
        </p:txBody>
      </p:sp>
      <p:sp>
        <p:nvSpPr>
          <p:cNvPr id="54" name="Text 44">
            <a:extLst xmlns:a="http://schemas.openxmlformats.org/drawingml/2006/main">
              <a:ext uri="{FF2B5EF4-FFF2-40B4-BE49-F238E27FC236}">
                <a16:creationId xmlns:a16="http://schemas.microsoft.com/office/drawing/2014/main" id="{8BDCA6D9-5391-4986-80DB-AFFECAC744B3}"/>
              </a:ext>
            </a:extLst>
          </p:cNvPr>
          <p:cNvSpPr>
            <a:spLocks xmlns:a="http://schemas.openxmlformats.org/drawingml/2006/main" noGrp="1"/>
          </p:cNvSpPr>
          <p:nvPr/>
        </p:nvSpPr>
        <p:spPr>
          <a:xfrm xmlns:a="http://schemas.openxmlformats.org/drawingml/2006/main">
            <a:off x="9098280" y="5852160"/>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i="1">
                <a:solidFill>
                  <a:srgbClr val="1E293B"/>
                </a:solidFill>
                <a:latin typeface="Calibri"/>
                <a:ea typeface="Calibri"/>
                <a:cs typeface="Calibri"/>
              </a:rPr>
              <a:t>startup tergantung kondisi</a:t>
            </a:r>
            <a:endParaRPr sz="1000"/>
          </a:p>
        </p:txBody>
      </p:sp>
    </p:spTree>
    <p:extLst>
      <p:ext uri="{BB962C8B-B14F-4D97-AF65-F5344CB8AC3E}">
        <p14:creationId xmlns:p14="http://schemas.microsoft.com/office/powerpoint/2010/main" val="13374278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868D4E-5B9B-4E4F-AB09-84C846A8D21F}"/>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FB410A26-6ECD-44E7-8B94-33128E31890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16</a:t>
            </a:r>
            <a:endParaRPr sz="900"/>
          </a:p>
        </p:txBody>
      </p:sp>
      <p:sp>
        <p:nvSpPr>
          <p:cNvPr id="4" name="Shape 2">
            <a:extLst xmlns:a="http://schemas.openxmlformats.org/drawingml/2006/main">
              <a:ext uri="{FF2B5EF4-FFF2-40B4-BE49-F238E27FC236}">
                <a16:creationId xmlns:a16="http://schemas.microsoft.com/office/drawing/2014/main" id="{C1FBEDA4-D686-4E78-B100-0BF0EA52CCB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22" name="Image 0">
            <a:extLst xmlns:a="http://schemas.openxmlformats.org/drawingml/2006/main">
              <a:ext uri="{FF2B5EF4-FFF2-40B4-BE49-F238E27FC236}">
                <a16:creationId xmlns:a16="http://schemas.microsoft.com/office/drawing/2014/main" id="{530EC534-E72D-40E3-A4F4-85EA7FBCE08B}"/>
              </a:ext>
            </a:extLst>
          </p:cNvPr>
          <p:cNvPicPr>
            <a:picLocks xmlns:a="http://schemas.openxmlformats.org/drawingml/2006/main" noChangeAspect="1"/>
          </p:cNvPicPr>
          <p:nvPr/>
        </p:nvPicPr>
        <p:blipFill>
          <a:blip xmlns:r="http://schemas.openxmlformats.org/officeDocument/2006/relationships" xmlns:a="http://schemas.openxmlformats.org/drawingml/2006/main" r:embed="R0e03cdf07b9241e7"/>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23" name="Image 1">
            <a:extLst xmlns:a="http://schemas.openxmlformats.org/drawingml/2006/main">
              <a:ext uri="{FF2B5EF4-FFF2-40B4-BE49-F238E27FC236}">
                <a16:creationId xmlns:a16="http://schemas.microsoft.com/office/drawing/2014/main" id="{90BC5504-6EEF-4278-B7D4-A3044F6894CC}"/>
              </a:ext>
            </a:extLst>
          </p:cNvPr>
          <p:cNvPicPr>
            <a:picLocks xmlns:a="http://schemas.openxmlformats.org/drawingml/2006/main" noChangeAspect="1"/>
          </p:cNvPicPr>
          <p:nvPr/>
        </p:nvPicPr>
        <p:blipFill>
          <a:blip xmlns:r="http://schemas.openxmlformats.org/officeDocument/2006/relationships" xmlns:a="http://schemas.openxmlformats.org/drawingml/2006/main" r:embed="R8264d919e175478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E9875D34-8E3A-4E88-812A-1E7E704BFAAF}"/>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8BD87483-F4CF-4CD8-9362-6D9EAABE1172}"/>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compose.yml - Stack Lengkap</a:t>
            </a:r>
            <a:endParaRPr sz="2200"/>
          </a:p>
        </p:txBody>
      </p:sp>
      <p:sp>
        <p:nvSpPr>
          <p:cNvPr id="9" name="Text 5">
            <a:extLst xmlns:a="http://schemas.openxmlformats.org/drawingml/2006/main">
              <a:ext uri="{FF2B5EF4-FFF2-40B4-BE49-F238E27FC236}">
                <a16:creationId xmlns:a16="http://schemas.microsoft.com/office/drawing/2014/main" id="{8DA26127-7575-4FD4-AEF6-EFFEE629F015}"/>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Contoh konsep; ganti password literal dengan secrets sebelum praktik</a:t>
            </a:r>
            <a:endParaRPr sz="1200"/>
          </a:p>
        </p:txBody>
      </p:sp>
      <p:sp>
        <p:nvSpPr>
          <p:cNvPr id="10" name="Shape 6">
            <a:extLst xmlns:a="http://schemas.openxmlformats.org/drawingml/2006/main">
              <a:ext uri="{FF2B5EF4-FFF2-40B4-BE49-F238E27FC236}">
                <a16:creationId xmlns:a16="http://schemas.microsoft.com/office/drawing/2014/main" id="{94003123-9C77-42C6-A32F-4BC319381BAF}"/>
              </a:ext>
            </a:extLst>
          </p:cNvPr>
          <p:cNvSpPr>
            <a:spLocks xmlns:a="http://schemas.openxmlformats.org/drawingml/2006/main" noGrp="1"/>
          </p:cNvSpPr>
          <p:nvPr/>
        </p:nvSpPr>
        <p:spPr>
          <a:xfrm xmlns:a="http://schemas.openxmlformats.org/drawingml/2006/main">
            <a:off x="457200" y="1417320"/>
            <a:ext cx="11247120" cy="493776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1" name="Shape 7">
            <a:extLst xmlns:a="http://schemas.openxmlformats.org/drawingml/2006/main">
              <a:ext uri="{FF2B5EF4-FFF2-40B4-BE49-F238E27FC236}">
                <a16:creationId xmlns:a16="http://schemas.microsoft.com/office/drawing/2014/main" id="{8EEC40B6-8475-456E-9228-04473F2ECE18}"/>
              </a:ext>
            </a:extLst>
          </p:cNvPr>
          <p:cNvSpPr>
            <a:spLocks xmlns:a="http://schemas.openxmlformats.org/drawingml/2006/main" noGrp="1"/>
          </p:cNvSpPr>
          <p:nvPr/>
        </p:nvSpPr>
        <p:spPr>
          <a:xfrm xmlns:a="http://schemas.openxmlformats.org/drawingml/2006/main">
            <a:off x="457200" y="1417320"/>
            <a:ext cx="1124712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2" name="Shape 8">
            <a:extLst xmlns:a="http://schemas.openxmlformats.org/drawingml/2006/main">
              <a:ext uri="{FF2B5EF4-FFF2-40B4-BE49-F238E27FC236}">
                <a16:creationId xmlns:a16="http://schemas.microsoft.com/office/drawing/2014/main" id="{72E0BF80-3D8B-4872-97C8-7EFA84BF88EB}"/>
              </a:ext>
            </a:extLst>
          </p:cNvPr>
          <p:cNvSpPr>
            <a:spLocks xmlns:a="http://schemas.openxmlformats.org/drawingml/2006/main" noGrp="1"/>
          </p:cNvSpPr>
          <p:nvPr/>
        </p:nvSpPr>
        <p:spPr>
          <a:xfrm xmlns:a="http://schemas.openxmlformats.org/drawingml/2006/main">
            <a:off x="548640" y="14996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3" name="Shape 9">
            <a:extLst xmlns:a="http://schemas.openxmlformats.org/drawingml/2006/main">
              <a:ext uri="{FF2B5EF4-FFF2-40B4-BE49-F238E27FC236}">
                <a16:creationId xmlns:a16="http://schemas.microsoft.com/office/drawing/2014/main" id="{6DEB24E2-84EF-4F9D-A87A-3CE19B1F5975}"/>
              </a:ext>
            </a:extLst>
          </p:cNvPr>
          <p:cNvSpPr>
            <a:spLocks xmlns:a="http://schemas.openxmlformats.org/drawingml/2006/main" noGrp="1"/>
          </p:cNvSpPr>
          <p:nvPr/>
        </p:nvSpPr>
        <p:spPr>
          <a:xfrm xmlns:a="http://schemas.openxmlformats.org/drawingml/2006/main">
            <a:off x="685800" y="14996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4" name="Shape 10">
            <a:extLst xmlns:a="http://schemas.openxmlformats.org/drawingml/2006/main">
              <a:ext uri="{FF2B5EF4-FFF2-40B4-BE49-F238E27FC236}">
                <a16:creationId xmlns:a16="http://schemas.microsoft.com/office/drawing/2014/main" id="{A765562B-818D-46D6-851E-E3E49E8CD09D}"/>
              </a:ext>
            </a:extLst>
          </p:cNvPr>
          <p:cNvSpPr>
            <a:spLocks xmlns:a="http://schemas.openxmlformats.org/drawingml/2006/main" noGrp="1"/>
          </p:cNvSpPr>
          <p:nvPr/>
        </p:nvSpPr>
        <p:spPr>
          <a:xfrm xmlns:a="http://schemas.openxmlformats.org/drawingml/2006/main">
            <a:off x="822960" y="14996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5" name="Text 11">
            <a:extLst xmlns:a="http://schemas.openxmlformats.org/drawingml/2006/main">
              <a:ext uri="{FF2B5EF4-FFF2-40B4-BE49-F238E27FC236}">
                <a16:creationId xmlns:a16="http://schemas.microsoft.com/office/drawing/2014/main" id="{7C9E0E44-D32C-468F-AEB5-47FD17DEEC9B}"/>
              </a:ext>
            </a:extLst>
          </p:cNvPr>
          <p:cNvSpPr>
            <a:spLocks xmlns:a="http://schemas.openxmlformats.org/drawingml/2006/main" noGrp="1"/>
          </p:cNvSpPr>
          <p:nvPr/>
        </p:nvSpPr>
        <p:spPr>
          <a:xfrm xmlns:a="http://schemas.openxmlformats.org/drawingml/2006/main">
            <a:off x="1005840" y="141732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compose.yml - 4-tier web app</a:t>
            </a:r>
            <a:endParaRPr sz="900"/>
          </a:p>
        </p:txBody>
      </p:sp>
      <p:sp>
        <p:nvSpPr>
          <p:cNvPr id="16" name="Text 12">
            <a:extLst xmlns:a="http://schemas.openxmlformats.org/drawingml/2006/main">
              <a:ext uri="{FF2B5EF4-FFF2-40B4-BE49-F238E27FC236}">
                <a16:creationId xmlns:a16="http://schemas.microsoft.com/office/drawing/2014/main" id="{6725D082-BF77-4987-8E90-379FE87E35E3}"/>
              </a:ext>
            </a:extLst>
          </p:cNvPr>
          <p:cNvSpPr>
            <a:spLocks xmlns:a="http://schemas.openxmlformats.org/drawingml/2006/main" noGrp="1"/>
          </p:cNvSpPr>
          <p:nvPr/>
        </p:nvSpPr>
        <p:spPr>
          <a:xfrm xmlns:a="http://schemas.openxmlformats.org/drawingml/2006/main">
            <a:off x="594360" y="1783080"/>
            <a:ext cx="10972800" cy="4480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800" b="1">
                <a:solidFill>
                  <a:srgbClr val="F37021"/>
                </a:solidFill>
                <a:latin typeface="Consolas"/>
                <a:ea typeface="Consolas"/>
                <a:cs typeface="Consolas"/>
              </a:rPr>
              <a:t>services:</a:t>
            </a:r>
            <a:endParaRPr sz="800"/>
          </a:p>
          <a:p xmlns:a="http://schemas.openxmlformats.org/drawingml/2006/main">
            <a:pPr marL="0" indent="0">
              <a:spcAft>
                <a:spcPts val="200"/>
              </a:spcAft>
              <a:buNone/>
            </a:pPr>
            <a:r>
              <a:rPr sz="800" b="1">
                <a:solidFill>
                  <a:srgbClr val="F37021"/>
                </a:solidFill>
                <a:latin typeface="Consolas"/>
                <a:ea typeface="Consolas"/>
                <a:cs typeface="Consolas"/>
              </a:rPr>
              <a:t>  web:</a:t>
            </a:r>
          </a:p>
          <a:p xmlns:a="http://schemas.openxmlformats.org/drawingml/2006/main">
            <a:pPr marL="0" indent="0">
              <a:spcAft>
                <a:spcPts val="200"/>
              </a:spcAft>
              <a:buNone/>
            </a:pPr>
            <a:r>
              <a:rPr sz="800" b="1">
                <a:solidFill>
                  <a:srgbClr val="F37021"/>
                </a:solidFill>
                <a:latin typeface="Consolas"/>
                <a:ea typeface="Consolas"/>
                <a:cs typeface="Consolas"/>
              </a:rPr>
              <a:t>    image: nginx:1.27-alpine</a:t>
            </a:r>
          </a:p>
          <a:p xmlns:a="http://schemas.openxmlformats.org/drawingml/2006/main">
            <a:pPr marL="0" indent="0">
              <a:spcAft>
                <a:spcPts val="200"/>
              </a:spcAft>
              <a:buNone/>
            </a:pPr>
            <a:r>
              <a:rPr sz="800" b="1">
                <a:solidFill>
                  <a:srgbClr val="F37021"/>
                </a:solidFill>
                <a:latin typeface="Consolas"/>
                <a:ea typeface="Consolas"/>
                <a:cs typeface="Consolas"/>
              </a:rPr>
              <a:t>    ports: ["80:80"]</a:t>
            </a:r>
          </a:p>
          <a:p xmlns:a="http://schemas.openxmlformats.org/drawingml/2006/main">
            <a:pPr marL="0" indent="0">
              <a:spcAft>
                <a:spcPts val="200"/>
              </a:spcAft>
              <a:buNone/>
            </a:pPr>
            <a:r>
              <a:rPr sz="800" b="1">
                <a:solidFill>
                  <a:srgbClr val="F37021"/>
                </a:solidFill>
                <a:latin typeface="Consolas"/>
                <a:ea typeface="Consolas"/>
                <a:cs typeface="Consolas"/>
              </a:rPr>
              <a:t>    volumes:</a:t>
            </a:r>
          </a:p>
          <a:p xmlns:a="http://schemas.openxmlformats.org/drawingml/2006/main">
            <a:pPr marL="0" indent="0">
              <a:spcAft>
                <a:spcPts val="200"/>
              </a:spcAft>
              <a:buNone/>
            </a:pPr>
            <a:r>
              <a:rPr sz="800" b="1">
                <a:solidFill>
                  <a:srgbClr val="F37021"/>
                </a:solidFill>
                <a:latin typeface="Consolas"/>
                <a:ea typeface="Consolas"/>
                <a:cs typeface="Consolas"/>
              </a:rPr>
              <a:t>      - ./nginx.conf:/etc/nginx/nginx.conf:ro</a:t>
            </a:r>
          </a:p>
          <a:p xmlns:a="http://schemas.openxmlformats.org/drawingml/2006/main">
            <a:pPr marL="0" indent="0">
              <a:spcAft>
                <a:spcPts val="200"/>
              </a:spcAft>
              <a:buNone/>
            </a:pPr>
            <a:r>
              <a:rPr sz="800" b="1">
                <a:solidFill>
                  <a:srgbClr val="F37021"/>
                </a:solidFill>
                <a:latin typeface="Consolas"/>
                <a:ea typeface="Consolas"/>
                <a:cs typeface="Consolas"/>
              </a:rPr>
              <a:t>    depends_on: [api]</a:t>
            </a:r>
          </a:p>
          <a:p xmlns:a="http://schemas.openxmlformats.org/drawingml/2006/main">
            <a:pPr marL="0" indent="0">
              <a:spcAft>
                <a:spcPts val="200"/>
              </a:spcAft>
              <a:buNone/>
            </a:pPr>
            <a:r>
              <a:rPr sz="800" b="1">
                <a:solidFill>
                  <a:srgbClr val="F37021"/>
                </a:solidFill>
                <a:latin typeface="Consolas"/>
                <a:ea typeface="Consolas"/>
                <a:cs typeface="Consolas"/>
              </a:rPr>
              <a:t>  api:</a:t>
            </a:r>
          </a:p>
          <a:p xmlns:a="http://schemas.openxmlformats.org/drawingml/2006/main">
            <a:pPr marL="0" indent="0">
              <a:spcAft>
                <a:spcPts val="200"/>
              </a:spcAft>
              <a:buNone/>
            </a:pPr>
            <a:r>
              <a:rPr sz="800" b="1">
                <a:solidFill>
                  <a:srgbClr val="F37021"/>
                </a:solidFill>
                <a:latin typeface="Consolas"/>
                <a:ea typeface="Consolas"/>
                <a:cs typeface="Consolas"/>
              </a:rPr>
              <a:t>    build: ./api</a:t>
            </a:r>
          </a:p>
          <a:p xmlns:a="http://schemas.openxmlformats.org/drawingml/2006/main">
            <a:pPr marL="0" indent="0">
              <a:spcAft>
                <a:spcPts val="200"/>
              </a:spcAft>
              <a:buNone/>
            </a:pPr>
            <a:r>
              <a:rPr sz="800" b="1">
                <a:solidFill>
                  <a:srgbClr val="F37021"/>
                </a:solidFill>
                <a:latin typeface="Consolas"/>
                <a:ea typeface="Consolas"/>
                <a:cs typeface="Consolas"/>
              </a:rPr>
              <a:t>    environment:</a:t>
            </a:r>
          </a:p>
          <a:p xmlns:a="http://schemas.openxmlformats.org/drawingml/2006/main">
            <a:pPr marL="0" indent="0">
              <a:spcAft>
                <a:spcPts val="200"/>
              </a:spcAft>
              <a:buNone/>
            </a:pPr>
            <a:r>
              <a:rPr sz="800" b="1">
                <a:solidFill>
                  <a:srgbClr val="F37021"/>
                </a:solidFill>
                <a:latin typeface="Consolas"/>
                <a:ea typeface="Consolas"/>
                <a:cs typeface="Consolas"/>
              </a:rPr>
              <a:t>      DATABASE_URL: postgresql://app:secret@db:5432/mydb</a:t>
            </a:r>
          </a:p>
          <a:p xmlns:a="http://schemas.openxmlformats.org/drawingml/2006/main">
            <a:pPr marL="0" indent="0">
              <a:spcAft>
                <a:spcPts val="200"/>
              </a:spcAft>
              <a:buNone/>
            </a:pPr>
            <a:r>
              <a:rPr sz="800" b="1">
                <a:solidFill>
                  <a:srgbClr val="F37021"/>
                </a:solidFill>
                <a:latin typeface="Consolas"/>
                <a:ea typeface="Consolas"/>
                <a:cs typeface="Consolas"/>
              </a:rPr>
              <a:t>      REDIS_URL: redis://cache:6379</a:t>
            </a:r>
          </a:p>
          <a:p xmlns:a="http://schemas.openxmlformats.org/drawingml/2006/main">
            <a:pPr marL="0" indent="0">
              <a:spcAft>
                <a:spcPts val="200"/>
              </a:spcAft>
              <a:buNone/>
            </a:pPr>
            <a:r>
              <a:rPr sz="800" b="1">
                <a:solidFill>
                  <a:srgbClr val="F37021"/>
                </a:solidFill>
                <a:latin typeface="Consolas"/>
                <a:ea typeface="Consolas"/>
                <a:cs typeface="Consolas"/>
              </a:rPr>
              <a:t>    depends_on:</a:t>
            </a:r>
          </a:p>
          <a:p xmlns:a="http://schemas.openxmlformats.org/drawingml/2006/main">
            <a:pPr marL="0" indent="0">
              <a:spcAft>
                <a:spcPts val="200"/>
              </a:spcAft>
              <a:buNone/>
            </a:pPr>
            <a:r>
              <a:rPr sz="800" b="1">
                <a:solidFill>
                  <a:srgbClr val="F37021"/>
                </a:solidFill>
                <a:latin typeface="Consolas"/>
                <a:ea typeface="Consolas"/>
                <a:cs typeface="Consolas"/>
              </a:rPr>
              <a:t>      db: { condition: service_healthy }</a:t>
            </a:r>
          </a:p>
          <a:p xmlns:a="http://schemas.openxmlformats.org/drawingml/2006/main">
            <a:pPr marL="0" indent="0">
              <a:spcAft>
                <a:spcPts val="200"/>
              </a:spcAft>
              <a:buNone/>
            </a:pPr>
            <a:r>
              <a:rPr sz="800" b="1">
                <a:solidFill>
                  <a:srgbClr val="F37021"/>
                </a:solidFill>
                <a:latin typeface="Consolas"/>
                <a:ea typeface="Consolas"/>
                <a:cs typeface="Consolas"/>
              </a:rPr>
              <a:t>      cache: { condition: service_started }</a:t>
            </a:r>
          </a:p>
          <a:p xmlns:a="http://schemas.openxmlformats.org/drawingml/2006/main">
            <a:pPr marL="0" indent="0">
              <a:spcAft>
                <a:spcPts val="200"/>
              </a:spcAft>
              <a:buNone/>
            </a:pPr>
            <a:r>
              <a:rPr sz="800" b="1">
                <a:solidFill>
                  <a:srgbClr val="F37021"/>
                </a:solidFill>
                <a:latin typeface="Consolas"/>
                <a:ea typeface="Consolas"/>
                <a:cs typeface="Consolas"/>
              </a:rPr>
              <a:t>  db:</a:t>
            </a:r>
          </a:p>
          <a:p xmlns:a="http://schemas.openxmlformats.org/drawingml/2006/main">
            <a:pPr marL="0" indent="0">
              <a:spcAft>
                <a:spcPts val="200"/>
              </a:spcAft>
              <a:buNone/>
            </a:pPr>
            <a:r>
              <a:rPr sz="800" b="1">
                <a:solidFill>
                  <a:srgbClr val="F37021"/>
                </a:solidFill>
                <a:latin typeface="Consolas"/>
                <a:ea typeface="Consolas"/>
                <a:cs typeface="Consolas"/>
              </a:rPr>
              <a:t>    image: postgres:15-alpine</a:t>
            </a:r>
          </a:p>
          <a:p xmlns:a="http://schemas.openxmlformats.org/drawingml/2006/main">
            <a:pPr marL="0" indent="0">
              <a:spcAft>
                <a:spcPts val="200"/>
              </a:spcAft>
              <a:buNone/>
            </a:pPr>
            <a:r>
              <a:rPr sz="800" b="1">
                <a:solidFill>
                  <a:srgbClr val="F37021"/>
                </a:solidFill>
                <a:latin typeface="Consolas"/>
                <a:ea typeface="Consolas"/>
                <a:cs typeface="Consolas"/>
              </a:rPr>
              <a:t>    environment:</a:t>
            </a:r>
          </a:p>
          <a:p xmlns:a="http://schemas.openxmlformats.org/drawingml/2006/main">
            <a:pPr marL="0" indent="0">
              <a:spcAft>
                <a:spcPts val="200"/>
              </a:spcAft>
              <a:buNone/>
            </a:pPr>
            <a:r>
              <a:rPr sz="800" b="1">
                <a:solidFill>
                  <a:srgbClr val="F37021"/>
                </a:solidFill>
                <a:latin typeface="Consolas"/>
                <a:ea typeface="Consolas"/>
                <a:cs typeface="Consolas"/>
              </a:rPr>
              <a:t>      POSTGRES_USER: app</a:t>
            </a:r>
          </a:p>
          <a:p xmlns:a="http://schemas.openxmlformats.org/drawingml/2006/main">
            <a:pPr marL="0" indent="0">
              <a:spcAft>
                <a:spcPts val="200"/>
              </a:spcAft>
              <a:buNone/>
            </a:pPr>
            <a:r>
              <a:rPr sz="800" b="1">
                <a:solidFill>
                  <a:srgbClr val="F37021"/>
                </a:solidFill>
                <a:latin typeface="Consolas"/>
                <a:ea typeface="Consolas"/>
                <a:cs typeface="Consolas"/>
              </a:rPr>
              <a:t>      POSTGRES_PASSWORD: secret</a:t>
            </a:r>
          </a:p>
          <a:p xmlns:a="http://schemas.openxmlformats.org/drawingml/2006/main">
            <a:pPr marL="0" indent="0">
              <a:spcAft>
                <a:spcPts val="200"/>
              </a:spcAft>
              <a:buNone/>
            </a:pPr>
            <a:r>
              <a:rPr sz="800" b="1">
                <a:solidFill>
                  <a:srgbClr val="F37021"/>
                </a:solidFill>
                <a:latin typeface="Consolas"/>
                <a:ea typeface="Consolas"/>
                <a:cs typeface="Consolas"/>
              </a:rPr>
              <a:t>      POSTGRES_DB: mydb</a:t>
            </a:r>
          </a:p>
          <a:p xmlns:a="http://schemas.openxmlformats.org/drawingml/2006/main">
            <a:pPr marL="0" indent="0">
              <a:spcAft>
                <a:spcPts val="200"/>
              </a:spcAft>
              <a:buNone/>
            </a:pPr>
            <a:r>
              <a:rPr sz="800" b="1">
                <a:solidFill>
                  <a:srgbClr val="F37021"/>
                </a:solidFill>
                <a:latin typeface="Consolas"/>
                <a:ea typeface="Consolas"/>
                <a:cs typeface="Consolas"/>
              </a:rPr>
              <a:t>    volumes: ["db-data:/var/lib/postgresql/data"]</a:t>
            </a:r>
          </a:p>
          <a:p xmlns:a="http://schemas.openxmlformats.org/drawingml/2006/main">
            <a:pPr marL="0" indent="0">
              <a:spcAft>
                <a:spcPts val="200"/>
              </a:spcAft>
              <a:buNone/>
            </a:pPr>
            <a:r>
              <a:rPr sz="800" b="1">
                <a:solidFill>
                  <a:srgbClr val="F37021"/>
                </a:solidFill>
                <a:latin typeface="Consolas"/>
                <a:ea typeface="Consolas"/>
                <a:cs typeface="Consolas"/>
              </a:rPr>
              <a:t>    healthcheck:</a:t>
            </a:r>
          </a:p>
          <a:p xmlns:a="http://schemas.openxmlformats.org/drawingml/2006/main">
            <a:pPr marL="0" indent="0">
              <a:spcAft>
                <a:spcPts val="200"/>
              </a:spcAft>
              <a:buNone/>
            </a:pPr>
            <a:r>
              <a:rPr sz="800" b="1">
                <a:solidFill>
                  <a:srgbClr val="F37021"/>
                </a:solidFill>
                <a:latin typeface="Consolas"/>
                <a:ea typeface="Consolas"/>
                <a:cs typeface="Consolas"/>
              </a:rPr>
              <a:t>      test: ["CMD", "pg_isready", "-U", "app"]</a:t>
            </a:r>
          </a:p>
          <a:p xmlns:a="http://schemas.openxmlformats.org/drawingml/2006/main">
            <a:pPr marL="0" indent="0">
              <a:spcAft>
                <a:spcPts val="200"/>
              </a:spcAft>
              <a:buNone/>
            </a:pPr>
            <a:r>
              <a:rPr sz="800" b="1">
                <a:solidFill>
                  <a:srgbClr val="F37021"/>
                </a:solidFill>
                <a:latin typeface="Consolas"/>
                <a:ea typeface="Consolas"/>
                <a:cs typeface="Consolas"/>
              </a:rPr>
              <a:t>      interval: 5s</a:t>
            </a:r>
          </a:p>
          <a:p xmlns:a="http://schemas.openxmlformats.org/drawingml/2006/main">
            <a:pPr marL="0" indent="0">
              <a:spcAft>
                <a:spcPts val="200"/>
              </a:spcAft>
              <a:buNone/>
            </a:pPr>
            <a:r>
              <a:rPr sz="800" b="1">
                <a:solidFill>
                  <a:srgbClr val="F37021"/>
                </a:solidFill>
                <a:latin typeface="Consolas"/>
                <a:ea typeface="Consolas"/>
                <a:cs typeface="Consolas"/>
              </a:rPr>
              <a:t>  cache:</a:t>
            </a:r>
          </a:p>
          <a:p xmlns:a="http://schemas.openxmlformats.org/drawingml/2006/main">
            <a:pPr marL="0" indent="0">
              <a:spcAft>
                <a:spcPts val="200"/>
              </a:spcAft>
              <a:buNone/>
            </a:pPr>
            <a:r>
              <a:rPr sz="800" b="1">
                <a:solidFill>
                  <a:srgbClr val="F37021"/>
                </a:solidFill>
                <a:latin typeface="Consolas"/>
                <a:ea typeface="Consolas"/>
                <a:cs typeface="Consolas"/>
              </a:rPr>
              <a:t>    image: redis:7-alpine</a:t>
            </a:r>
          </a:p>
          <a:p xmlns:a="http://schemas.openxmlformats.org/drawingml/2006/main">
            <a:pPr marL="0" indent="0">
              <a:spcAft>
                <a:spcPts val="200"/>
              </a:spcAft>
              <a:buNone/>
            </a:pPr>
            <a:r>
              <a:rPr sz="800" b="1">
                <a:solidFill>
                  <a:srgbClr val="F37021"/>
                </a:solidFill>
                <a:latin typeface="Consolas"/>
                <a:ea typeface="Consolas"/>
                <a:cs typeface="Consolas"/>
              </a:rPr>
              <a:t>volumes:</a:t>
            </a:r>
          </a:p>
          <a:p xmlns:a="http://schemas.openxmlformats.org/drawingml/2006/main">
            <a:pPr marL="0" indent="0">
              <a:spcAft>
                <a:spcPts val="200"/>
              </a:spcAft>
              <a:buNone/>
            </a:pPr>
            <a:r>
              <a:rPr sz="800" b="1">
                <a:solidFill>
                  <a:srgbClr val="F37021"/>
                </a:solidFill>
                <a:latin typeface="Consolas"/>
                <a:ea typeface="Consolas"/>
                <a:cs typeface="Consolas"/>
              </a:rPr>
              <a:t>  db-data:</a:t>
            </a:r>
          </a:p>
        </p:txBody>
      </p:sp>
    </p:spTree>
    <p:extLst>
      <p:ext uri="{BB962C8B-B14F-4D97-AF65-F5344CB8AC3E}">
        <p14:creationId xmlns:p14="http://schemas.microsoft.com/office/powerpoint/2010/main" val="11579617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1EFEE3-4E39-42A6-B416-9B7346AC6FE3}"/>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9D036A59-1738-49C6-91C9-313497FBAA5A}"/>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17</a:t>
            </a:r>
            <a:endParaRPr sz="900"/>
          </a:p>
        </p:txBody>
      </p:sp>
      <p:sp>
        <p:nvSpPr>
          <p:cNvPr id="4" name="Shape 2">
            <a:extLst xmlns:a="http://schemas.openxmlformats.org/drawingml/2006/main">
              <a:ext uri="{FF2B5EF4-FFF2-40B4-BE49-F238E27FC236}">
                <a16:creationId xmlns:a16="http://schemas.microsoft.com/office/drawing/2014/main" id="{4CC39159-FA95-4E0B-8EAF-D4962246AFBD}"/>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7" name="Image 0">
            <a:extLst xmlns:a="http://schemas.openxmlformats.org/drawingml/2006/main">
              <a:ext uri="{FF2B5EF4-FFF2-40B4-BE49-F238E27FC236}">
                <a16:creationId xmlns:a16="http://schemas.microsoft.com/office/drawing/2014/main" id="{93316E82-65DF-47C2-AEB2-13870ED13C53}"/>
              </a:ext>
            </a:extLst>
          </p:cNvPr>
          <p:cNvPicPr>
            <a:picLocks xmlns:a="http://schemas.openxmlformats.org/drawingml/2006/main" noChangeAspect="1"/>
          </p:cNvPicPr>
          <p:nvPr/>
        </p:nvPicPr>
        <p:blipFill>
          <a:blip xmlns:r="http://schemas.openxmlformats.org/officeDocument/2006/relationships" xmlns:a="http://schemas.openxmlformats.org/drawingml/2006/main" r:embed="Ra9851f0bb12343bb"/>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8" name="Image 1">
            <a:extLst xmlns:a="http://schemas.openxmlformats.org/drawingml/2006/main">
              <a:ext uri="{FF2B5EF4-FFF2-40B4-BE49-F238E27FC236}">
                <a16:creationId xmlns:a16="http://schemas.microsoft.com/office/drawing/2014/main" id="{4206C37E-30C1-4199-8EE2-FFB79DA7C5DC}"/>
              </a:ext>
            </a:extLst>
          </p:cNvPr>
          <p:cNvPicPr>
            <a:picLocks xmlns:a="http://schemas.openxmlformats.org/drawingml/2006/main" noChangeAspect="1"/>
          </p:cNvPicPr>
          <p:nvPr/>
        </p:nvPicPr>
        <p:blipFill>
          <a:blip xmlns:r="http://schemas.openxmlformats.org/officeDocument/2006/relationships" xmlns:a="http://schemas.openxmlformats.org/drawingml/2006/main" r:embed="Rfe47c6a89029489a"/>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27889859-2BE0-4BA7-AD40-6D85CEF2587C}"/>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B81E2F7A-0F3C-4F31-8286-939080228201}"/>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docker compose - Commands</a:t>
            </a:r>
            <a:endParaRPr sz="2200"/>
          </a:p>
        </p:txBody>
      </p:sp>
      <p:sp>
        <p:nvSpPr>
          <p:cNvPr id="9" name="Text 5">
            <a:extLst xmlns:a="http://schemas.openxmlformats.org/drawingml/2006/main">
              <a:ext uri="{FF2B5EF4-FFF2-40B4-BE49-F238E27FC236}">
                <a16:creationId xmlns:a16="http://schemas.microsoft.com/office/drawing/2014/main" id="{AD419192-DA70-41D7-9212-705D90E7418A}"/>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10 perintah yang Anda akan pakai sehari-hari</a:t>
            </a:r>
            <a:endParaRPr sz="1200"/>
          </a:p>
        </p:txBody>
      </p:sp>
      <p:sp>
        <p:nvSpPr>
          <p:cNvPr id="10" name="Shape 6">
            <a:extLst xmlns:a="http://schemas.openxmlformats.org/drawingml/2006/main">
              <a:ext uri="{FF2B5EF4-FFF2-40B4-BE49-F238E27FC236}">
                <a16:creationId xmlns:a16="http://schemas.microsoft.com/office/drawing/2014/main" id="{381CD6C4-7B09-42D7-A130-7872D5BC676B}"/>
              </a:ext>
            </a:extLst>
          </p:cNvPr>
          <p:cNvSpPr>
            <a:spLocks xmlns:a="http://schemas.openxmlformats.org/drawingml/2006/main" noGrp="1"/>
          </p:cNvSpPr>
          <p:nvPr/>
        </p:nvSpPr>
        <p:spPr>
          <a:xfrm xmlns:a="http://schemas.openxmlformats.org/drawingml/2006/main">
            <a:off x="457200" y="141732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4B5258D4-341D-4F6A-83A4-137539E72521}"/>
              </a:ext>
            </a:extLst>
          </p:cNvPr>
          <p:cNvSpPr>
            <a:spLocks xmlns:a="http://schemas.openxmlformats.org/drawingml/2006/main" noGrp="1"/>
          </p:cNvSpPr>
          <p:nvPr/>
        </p:nvSpPr>
        <p:spPr>
          <a:xfrm xmlns:a="http://schemas.openxmlformats.org/drawingml/2006/main">
            <a:off x="457200" y="141732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2" name="Text 8">
            <a:extLst xmlns:a="http://schemas.openxmlformats.org/drawingml/2006/main">
              <a:ext uri="{FF2B5EF4-FFF2-40B4-BE49-F238E27FC236}">
                <a16:creationId xmlns:a16="http://schemas.microsoft.com/office/drawing/2014/main" id="{89182FC9-EEE5-4A00-B84A-1867567EF282}"/>
              </a:ext>
            </a:extLst>
          </p:cNvPr>
          <p:cNvSpPr>
            <a:spLocks xmlns:a="http://schemas.openxmlformats.org/drawingml/2006/main" noGrp="1"/>
          </p:cNvSpPr>
          <p:nvPr/>
        </p:nvSpPr>
        <p:spPr>
          <a:xfrm xmlns:a="http://schemas.openxmlformats.org/drawingml/2006/main">
            <a:off x="594360" y="141732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up -d</a:t>
            </a:r>
            <a:endParaRPr sz="1050"/>
          </a:p>
        </p:txBody>
      </p:sp>
      <p:sp>
        <p:nvSpPr>
          <p:cNvPr id="13" name="Text 9">
            <a:extLst xmlns:a="http://schemas.openxmlformats.org/drawingml/2006/main">
              <a:ext uri="{FF2B5EF4-FFF2-40B4-BE49-F238E27FC236}">
                <a16:creationId xmlns:a16="http://schemas.microsoft.com/office/drawing/2014/main" id="{3D5D0687-F6A1-4F18-ADD1-E480328FE0D8}"/>
              </a:ext>
            </a:extLst>
          </p:cNvPr>
          <p:cNvSpPr>
            <a:spLocks xmlns:a="http://schemas.openxmlformats.org/drawingml/2006/main" noGrp="1"/>
          </p:cNvSpPr>
          <p:nvPr/>
        </p:nvSpPr>
        <p:spPr>
          <a:xfrm xmlns:a="http://schemas.openxmlformats.org/drawingml/2006/main">
            <a:off x="594360" y="182880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Start service. Tambahkan --build untuk rebuild.</a:t>
            </a:r>
            <a:endParaRPr sz="1000"/>
          </a:p>
        </p:txBody>
      </p:sp>
      <p:sp>
        <p:nvSpPr>
          <p:cNvPr id="14" name="Shape 10">
            <a:extLst xmlns:a="http://schemas.openxmlformats.org/drawingml/2006/main">
              <a:ext uri="{FF2B5EF4-FFF2-40B4-BE49-F238E27FC236}">
                <a16:creationId xmlns:a16="http://schemas.microsoft.com/office/drawing/2014/main" id="{46F2745E-4B7F-41FE-AC98-C91ACF2C95B6}"/>
              </a:ext>
            </a:extLst>
          </p:cNvPr>
          <p:cNvSpPr>
            <a:spLocks xmlns:a="http://schemas.openxmlformats.org/drawingml/2006/main" noGrp="1"/>
          </p:cNvSpPr>
          <p:nvPr/>
        </p:nvSpPr>
        <p:spPr>
          <a:xfrm xmlns:a="http://schemas.openxmlformats.org/drawingml/2006/main">
            <a:off x="4297680" y="141732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5" name="Shape 11">
            <a:extLst xmlns:a="http://schemas.openxmlformats.org/drawingml/2006/main">
              <a:ext uri="{FF2B5EF4-FFF2-40B4-BE49-F238E27FC236}">
                <a16:creationId xmlns:a16="http://schemas.microsoft.com/office/drawing/2014/main" id="{006B4D20-F10B-496C-B2BF-8628E398663D}"/>
              </a:ext>
            </a:extLst>
          </p:cNvPr>
          <p:cNvSpPr>
            <a:spLocks xmlns:a="http://schemas.openxmlformats.org/drawingml/2006/main" noGrp="1"/>
          </p:cNvSpPr>
          <p:nvPr/>
        </p:nvSpPr>
        <p:spPr>
          <a:xfrm xmlns:a="http://schemas.openxmlformats.org/drawingml/2006/main">
            <a:off x="4297680" y="141732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16" name="Text 12">
            <a:extLst xmlns:a="http://schemas.openxmlformats.org/drawingml/2006/main">
              <a:ext uri="{FF2B5EF4-FFF2-40B4-BE49-F238E27FC236}">
                <a16:creationId xmlns:a16="http://schemas.microsoft.com/office/drawing/2014/main" id="{4DDB1CB1-650B-46B1-A920-3758C7C4A8DF}"/>
              </a:ext>
            </a:extLst>
          </p:cNvPr>
          <p:cNvSpPr>
            <a:spLocks xmlns:a="http://schemas.openxmlformats.org/drawingml/2006/main" noGrp="1"/>
          </p:cNvSpPr>
          <p:nvPr/>
        </p:nvSpPr>
        <p:spPr>
          <a:xfrm xmlns:a="http://schemas.openxmlformats.org/drawingml/2006/main">
            <a:off x="4434840" y="141732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down</a:t>
            </a:r>
            <a:endParaRPr sz="1050"/>
          </a:p>
        </p:txBody>
      </p:sp>
      <p:sp>
        <p:nvSpPr>
          <p:cNvPr id="17" name="Text 13">
            <a:extLst xmlns:a="http://schemas.openxmlformats.org/drawingml/2006/main">
              <a:ext uri="{FF2B5EF4-FFF2-40B4-BE49-F238E27FC236}">
                <a16:creationId xmlns:a16="http://schemas.microsoft.com/office/drawing/2014/main" id="{15087D61-FFF0-42B8-BA21-7FA89D142AFC}"/>
              </a:ext>
            </a:extLst>
          </p:cNvPr>
          <p:cNvSpPr>
            <a:spLocks xmlns:a="http://schemas.openxmlformats.org/drawingml/2006/main" noGrp="1"/>
          </p:cNvSpPr>
          <p:nvPr/>
        </p:nvSpPr>
        <p:spPr>
          <a:xfrm xmlns:a="http://schemas.openxmlformats.org/drawingml/2006/main">
            <a:off x="4434840" y="182880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Stop + remove semua container + network</a:t>
            </a:r>
            <a:endParaRPr sz="1000"/>
          </a:p>
        </p:txBody>
      </p:sp>
      <p:sp>
        <p:nvSpPr>
          <p:cNvPr id="18" name="Shape 14">
            <a:extLst xmlns:a="http://schemas.openxmlformats.org/drawingml/2006/main">
              <a:ext uri="{FF2B5EF4-FFF2-40B4-BE49-F238E27FC236}">
                <a16:creationId xmlns:a16="http://schemas.microsoft.com/office/drawing/2014/main" id="{538D8572-6DE6-48A0-B59F-56E10D1705CB}"/>
              </a:ext>
            </a:extLst>
          </p:cNvPr>
          <p:cNvSpPr>
            <a:spLocks xmlns:a="http://schemas.openxmlformats.org/drawingml/2006/main" noGrp="1"/>
          </p:cNvSpPr>
          <p:nvPr/>
        </p:nvSpPr>
        <p:spPr>
          <a:xfrm xmlns:a="http://schemas.openxmlformats.org/drawingml/2006/main">
            <a:off x="8138160" y="141732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9" name="Shape 15">
            <a:extLst xmlns:a="http://schemas.openxmlformats.org/drawingml/2006/main">
              <a:ext uri="{FF2B5EF4-FFF2-40B4-BE49-F238E27FC236}">
                <a16:creationId xmlns:a16="http://schemas.microsoft.com/office/drawing/2014/main" id="{34719BF9-5E65-4F9D-9C71-90D1D2FE9E8D}"/>
              </a:ext>
            </a:extLst>
          </p:cNvPr>
          <p:cNvSpPr>
            <a:spLocks xmlns:a="http://schemas.openxmlformats.org/drawingml/2006/main" noGrp="1"/>
          </p:cNvSpPr>
          <p:nvPr/>
        </p:nvSpPr>
        <p:spPr>
          <a:xfrm xmlns:a="http://schemas.openxmlformats.org/drawingml/2006/main">
            <a:off x="8138160" y="141732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0" name="Text 16">
            <a:extLst xmlns:a="http://schemas.openxmlformats.org/drawingml/2006/main">
              <a:ext uri="{FF2B5EF4-FFF2-40B4-BE49-F238E27FC236}">
                <a16:creationId xmlns:a16="http://schemas.microsoft.com/office/drawing/2014/main" id="{238D6FEF-61DC-4470-B28A-3FF496380DC3}"/>
              </a:ext>
            </a:extLst>
          </p:cNvPr>
          <p:cNvSpPr>
            <a:spLocks xmlns:a="http://schemas.openxmlformats.org/drawingml/2006/main" noGrp="1"/>
          </p:cNvSpPr>
          <p:nvPr/>
        </p:nvSpPr>
        <p:spPr>
          <a:xfrm xmlns:a="http://schemas.openxmlformats.org/drawingml/2006/main">
            <a:off x="8275320" y="141732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ps</a:t>
            </a:r>
            <a:endParaRPr sz="1050"/>
          </a:p>
        </p:txBody>
      </p:sp>
      <p:sp>
        <p:nvSpPr>
          <p:cNvPr id="21" name="Text 17">
            <a:extLst xmlns:a="http://schemas.openxmlformats.org/drawingml/2006/main">
              <a:ext uri="{FF2B5EF4-FFF2-40B4-BE49-F238E27FC236}">
                <a16:creationId xmlns:a16="http://schemas.microsoft.com/office/drawing/2014/main" id="{FC4F0C81-8D89-43B8-B032-41AAA96A5E93}"/>
              </a:ext>
            </a:extLst>
          </p:cNvPr>
          <p:cNvSpPr>
            <a:spLocks xmlns:a="http://schemas.openxmlformats.org/drawingml/2006/main" noGrp="1"/>
          </p:cNvSpPr>
          <p:nvPr/>
        </p:nvSpPr>
        <p:spPr>
          <a:xfrm xmlns:a="http://schemas.openxmlformats.org/drawingml/2006/main">
            <a:off x="8275320" y="182880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List service yang lagi jalan + status</a:t>
            </a:r>
            <a:endParaRPr sz="1000"/>
          </a:p>
        </p:txBody>
      </p:sp>
      <p:sp>
        <p:nvSpPr>
          <p:cNvPr id="22" name="Shape 18">
            <a:extLst xmlns:a="http://schemas.openxmlformats.org/drawingml/2006/main">
              <a:ext uri="{FF2B5EF4-FFF2-40B4-BE49-F238E27FC236}">
                <a16:creationId xmlns:a16="http://schemas.microsoft.com/office/drawing/2014/main" id="{E3E83D0D-EBEE-41EA-BEE3-A4287D701F80}"/>
              </a:ext>
            </a:extLst>
          </p:cNvPr>
          <p:cNvSpPr>
            <a:spLocks xmlns:a="http://schemas.openxmlformats.org/drawingml/2006/main" noGrp="1"/>
          </p:cNvSpPr>
          <p:nvPr/>
        </p:nvSpPr>
        <p:spPr>
          <a:xfrm xmlns:a="http://schemas.openxmlformats.org/drawingml/2006/main">
            <a:off x="457200" y="237744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2BDDD0E7-D90E-4844-B6D4-1F289005D42E}"/>
              </a:ext>
            </a:extLst>
          </p:cNvPr>
          <p:cNvSpPr>
            <a:spLocks xmlns:a="http://schemas.openxmlformats.org/drawingml/2006/main" noGrp="1"/>
          </p:cNvSpPr>
          <p:nvPr/>
        </p:nvSpPr>
        <p:spPr>
          <a:xfrm xmlns:a="http://schemas.openxmlformats.org/drawingml/2006/main">
            <a:off x="457200" y="237744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4" name="Text 20">
            <a:extLst xmlns:a="http://schemas.openxmlformats.org/drawingml/2006/main">
              <a:ext uri="{FF2B5EF4-FFF2-40B4-BE49-F238E27FC236}">
                <a16:creationId xmlns:a16="http://schemas.microsoft.com/office/drawing/2014/main" id="{E02C320A-F6CA-48F2-B436-789D432E1451}"/>
              </a:ext>
            </a:extLst>
          </p:cNvPr>
          <p:cNvSpPr>
            <a:spLocks xmlns:a="http://schemas.openxmlformats.org/drawingml/2006/main" noGrp="1"/>
          </p:cNvSpPr>
          <p:nvPr/>
        </p:nvSpPr>
        <p:spPr>
          <a:xfrm xmlns:a="http://schemas.openxmlformats.org/drawingml/2006/main">
            <a:off x="594360" y="237744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logs -f</a:t>
            </a:r>
            <a:endParaRPr sz="1050"/>
          </a:p>
        </p:txBody>
      </p:sp>
      <p:sp>
        <p:nvSpPr>
          <p:cNvPr id="25" name="Text 21">
            <a:extLst xmlns:a="http://schemas.openxmlformats.org/drawingml/2006/main">
              <a:ext uri="{FF2B5EF4-FFF2-40B4-BE49-F238E27FC236}">
                <a16:creationId xmlns:a16="http://schemas.microsoft.com/office/drawing/2014/main" id="{39163661-F13B-49A7-A937-4E54E877788C}"/>
              </a:ext>
            </a:extLst>
          </p:cNvPr>
          <p:cNvSpPr>
            <a:spLocks xmlns:a="http://schemas.openxmlformats.org/drawingml/2006/main" noGrp="1"/>
          </p:cNvSpPr>
          <p:nvPr/>
        </p:nvSpPr>
        <p:spPr>
          <a:xfrm xmlns:a="http://schemas.openxmlformats.org/drawingml/2006/main">
            <a:off x="594360" y="278892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Follow log semua service (-f tail)</a:t>
            </a:r>
            <a:endParaRPr sz="1000"/>
          </a:p>
        </p:txBody>
      </p:sp>
      <p:sp>
        <p:nvSpPr>
          <p:cNvPr id="26" name="Shape 22">
            <a:extLst xmlns:a="http://schemas.openxmlformats.org/drawingml/2006/main">
              <a:ext uri="{FF2B5EF4-FFF2-40B4-BE49-F238E27FC236}">
                <a16:creationId xmlns:a16="http://schemas.microsoft.com/office/drawing/2014/main" id="{F1CB456E-3C48-44DD-B863-731440C870BC}"/>
              </a:ext>
            </a:extLst>
          </p:cNvPr>
          <p:cNvSpPr>
            <a:spLocks xmlns:a="http://schemas.openxmlformats.org/drawingml/2006/main" noGrp="1"/>
          </p:cNvSpPr>
          <p:nvPr/>
        </p:nvSpPr>
        <p:spPr>
          <a:xfrm xmlns:a="http://schemas.openxmlformats.org/drawingml/2006/main">
            <a:off x="4297680" y="237744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7" name="Shape 23">
            <a:extLst xmlns:a="http://schemas.openxmlformats.org/drawingml/2006/main">
              <a:ext uri="{FF2B5EF4-FFF2-40B4-BE49-F238E27FC236}">
                <a16:creationId xmlns:a16="http://schemas.microsoft.com/office/drawing/2014/main" id="{449D8ACF-255B-4BC2-A4D6-500B176418A7}"/>
              </a:ext>
            </a:extLst>
          </p:cNvPr>
          <p:cNvSpPr>
            <a:spLocks xmlns:a="http://schemas.openxmlformats.org/drawingml/2006/main" noGrp="1"/>
          </p:cNvSpPr>
          <p:nvPr/>
        </p:nvSpPr>
        <p:spPr>
          <a:xfrm xmlns:a="http://schemas.openxmlformats.org/drawingml/2006/main">
            <a:off x="4297680" y="237744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28" name="Text 24">
            <a:extLst xmlns:a="http://schemas.openxmlformats.org/drawingml/2006/main">
              <a:ext uri="{FF2B5EF4-FFF2-40B4-BE49-F238E27FC236}">
                <a16:creationId xmlns:a16="http://schemas.microsoft.com/office/drawing/2014/main" id="{C0DE3097-C063-487C-A200-2F4568096214}"/>
              </a:ext>
            </a:extLst>
          </p:cNvPr>
          <p:cNvSpPr>
            <a:spLocks xmlns:a="http://schemas.openxmlformats.org/drawingml/2006/main" noGrp="1"/>
          </p:cNvSpPr>
          <p:nvPr/>
        </p:nvSpPr>
        <p:spPr>
          <a:xfrm xmlns:a="http://schemas.openxmlformats.org/drawingml/2006/main">
            <a:off x="4434840" y="237744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logs api</a:t>
            </a:r>
            <a:endParaRPr sz="1050"/>
          </a:p>
        </p:txBody>
      </p:sp>
      <p:sp>
        <p:nvSpPr>
          <p:cNvPr id="29" name="Text 25">
            <a:extLst xmlns:a="http://schemas.openxmlformats.org/drawingml/2006/main">
              <a:ext uri="{FF2B5EF4-FFF2-40B4-BE49-F238E27FC236}">
                <a16:creationId xmlns:a16="http://schemas.microsoft.com/office/drawing/2014/main" id="{15DD3008-37B0-4B89-B7CE-E6EC1CA95900}"/>
              </a:ext>
            </a:extLst>
          </p:cNvPr>
          <p:cNvSpPr>
            <a:spLocks xmlns:a="http://schemas.openxmlformats.org/drawingml/2006/main" noGrp="1"/>
          </p:cNvSpPr>
          <p:nvPr/>
        </p:nvSpPr>
        <p:spPr>
          <a:xfrm xmlns:a="http://schemas.openxmlformats.org/drawingml/2006/main">
            <a:off x="4434840" y="278892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Baca log tersimpan. Tambahkan -f untuk mengikuti.</a:t>
            </a:r>
            <a:endParaRPr sz="1000"/>
          </a:p>
        </p:txBody>
      </p:sp>
      <p:sp>
        <p:nvSpPr>
          <p:cNvPr id="30" name="Shape 26">
            <a:extLst xmlns:a="http://schemas.openxmlformats.org/drawingml/2006/main">
              <a:ext uri="{FF2B5EF4-FFF2-40B4-BE49-F238E27FC236}">
                <a16:creationId xmlns:a16="http://schemas.microsoft.com/office/drawing/2014/main" id="{BA9784E0-90B6-48EE-AB01-35C0D57A469D}"/>
              </a:ext>
            </a:extLst>
          </p:cNvPr>
          <p:cNvSpPr>
            <a:spLocks xmlns:a="http://schemas.openxmlformats.org/drawingml/2006/main" noGrp="1"/>
          </p:cNvSpPr>
          <p:nvPr/>
        </p:nvSpPr>
        <p:spPr>
          <a:xfrm xmlns:a="http://schemas.openxmlformats.org/drawingml/2006/main">
            <a:off x="8138160" y="237744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7">
            <a:extLst xmlns:a="http://schemas.openxmlformats.org/drawingml/2006/main">
              <a:ext uri="{FF2B5EF4-FFF2-40B4-BE49-F238E27FC236}">
                <a16:creationId xmlns:a16="http://schemas.microsoft.com/office/drawing/2014/main" id="{E3CCA593-B573-46B8-B622-8EFAA4793641}"/>
              </a:ext>
            </a:extLst>
          </p:cNvPr>
          <p:cNvSpPr>
            <a:spLocks xmlns:a="http://schemas.openxmlformats.org/drawingml/2006/main" noGrp="1"/>
          </p:cNvSpPr>
          <p:nvPr/>
        </p:nvSpPr>
        <p:spPr>
          <a:xfrm xmlns:a="http://schemas.openxmlformats.org/drawingml/2006/main">
            <a:off x="8138160" y="237744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2" name="Text 28">
            <a:extLst xmlns:a="http://schemas.openxmlformats.org/drawingml/2006/main">
              <a:ext uri="{FF2B5EF4-FFF2-40B4-BE49-F238E27FC236}">
                <a16:creationId xmlns:a16="http://schemas.microsoft.com/office/drawing/2014/main" id="{43750EF3-DFD0-4312-9D80-C88F8E0AA6E7}"/>
              </a:ext>
            </a:extLst>
          </p:cNvPr>
          <p:cNvSpPr>
            <a:spLocks xmlns:a="http://schemas.openxmlformats.org/drawingml/2006/main" noGrp="1"/>
          </p:cNvSpPr>
          <p:nvPr/>
        </p:nvSpPr>
        <p:spPr>
          <a:xfrm xmlns:a="http://schemas.openxmlformats.org/drawingml/2006/main">
            <a:off x="8275320" y="237744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exec api sh</a:t>
            </a:r>
            <a:endParaRPr sz="1050"/>
          </a:p>
        </p:txBody>
      </p:sp>
      <p:sp>
        <p:nvSpPr>
          <p:cNvPr id="33" name="Text 29">
            <a:extLst xmlns:a="http://schemas.openxmlformats.org/drawingml/2006/main">
              <a:ext uri="{FF2B5EF4-FFF2-40B4-BE49-F238E27FC236}">
                <a16:creationId xmlns:a16="http://schemas.microsoft.com/office/drawing/2014/main" id="{D9976CF7-688B-4A8F-A3C9-99B8B6138595}"/>
              </a:ext>
            </a:extLst>
          </p:cNvPr>
          <p:cNvSpPr>
            <a:spLocks xmlns:a="http://schemas.openxmlformats.org/drawingml/2006/main" noGrp="1"/>
          </p:cNvSpPr>
          <p:nvPr/>
        </p:nvSpPr>
        <p:spPr>
          <a:xfrm xmlns:a="http://schemas.openxmlformats.org/drawingml/2006/main">
            <a:off x="8275320" y="278892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Buka shell di service tertentu</a:t>
            </a:r>
            <a:endParaRPr sz="1000"/>
          </a:p>
        </p:txBody>
      </p:sp>
      <p:sp>
        <p:nvSpPr>
          <p:cNvPr id="34" name="Shape 30">
            <a:extLst xmlns:a="http://schemas.openxmlformats.org/drawingml/2006/main">
              <a:ext uri="{FF2B5EF4-FFF2-40B4-BE49-F238E27FC236}">
                <a16:creationId xmlns:a16="http://schemas.microsoft.com/office/drawing/2014/main" id="{F633070E-A1E5-4B2A-8C58-6FED12026C89}"/>
              </a:ext>
            </a:extLst>
          </p:cNvPr>
          <p:cNvSpPr>
            <a:spLocks xmlns:a="http://schemas.openxmlformats.org/drawingml/2006/main" noGrp="1"/>
          </p:cNvSpPr>
          <p:nvPr/>
        </p:nvSpPr>
        <p:spPr>
          <a:xfrm xmlns:a="http://schemas.openxmlformats.org/drawingml/2006/main">
            <a:off x="457200" y="333756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5" name="Shape 31">
            <a:extLst xmlns:a="http://schemas.openxmlformats.org/drawingml/2006/main">
              <a:ext uri="{FF2B5EF4-FFF2-40B4-BE49-F238E27FC236}">
                <a16:creationId xmlns:a16="http://schemas.microsoft.com/office/drawing/2014/main" id="{03117DA0-6A13-4D28-BF85-2DD96BB55D83}"/>
              </a:ext>
            </a:extLst>
          </p:cNvPr>
          <p:cNvSpPr>
            <a:spLocks xmlns:a="http://schemas.openxmlformats.org/drawingml/2006/main" noGrp="1"/>
          </p:cNvSpPr>
          <p:nvPr/>
        </p:nvSpPr>
        <p:spPr>
          <a:xfrm xmlns:a="http://schemas.openxmlformats.org/drawingml/2006/main">
            <a:off x="457200" y="333756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36" name="Text 32">
            <a:extLst xmlns:a="http://schemas.openxmlformats.org/drawingml/2006/main">
              <a:ext uri="{FF2B5EF4-FFF2-40B4-BE49-F238E27FC236}">
                <a16:creationId xmlns:a16="http://schemas.microsoft.com/office/drawing/2014/main" id="{BA3008B9-55FD-45BB-8610-BF863E951FC4}"/>
              </a:ext>
            </a:extLst>
          </p:cNvPr>
          <p:cNvSpPr>
            <a:spLocks xmlns:a="http://schemas.openxmlformats.org/drawingml/2006/main" noGrp="1"/>
          </p:cNvSpPr>
          <p:nvPr/>
        </p:nvSpPr>
        <p:spPr>
          <a:xfrm xmlns:a="http://schemas.openxmlformats.org/drawingml/2006/main">
            <a:off x="594360" y="333756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build</a:t>
            </a:r>
            <a:endParaRPr sz="1050"/>
          </a:p>
        </p:txBody>
      </p:sp>
      <p:sp>
        <p:nvSpPr>
          <p:cNvPr id="37" name="Text 33">
            <a:extLst xmlns:a="http://schemas.openxmlformats.org/drawingml/2006/main">
              <a:ext uri="{FF2B5EF4-FFF2-40B4-BE49-F238E27FC236}">
                <a16:creationId xmlns:a16="http://schemas.microsoft.com/office/drawing/2014/main" id="{737847AC-59A4-4011-9963-23F5AB40D57A}"/>
              </a:ext>
            </a:extLst>
          </p:cNvPr>
          <p:cNvSpPr>
            <a:spLocks xmlns:a="http://schemas.openxmlformats.org/drawingml/2006/main" noGrp="1"/>
          </p:cNvSpPr>
          <p:nvPr/>
        </p:nvSpPr>
        <p:spPr>
          <a:xfrm xmlns:a="http://schemas.openxmlformats.org/drawingml/2006/main">
            <a:off x="594360" y="374904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Build image (kalau ada 'build:' di config)</a:t>
            </a:r>
            <a:endParaRPr sz="1000"/>
          </a:p>
        </p:txBody>
      </p:sp>
      <p:sp>
        <p:nvSpPr>
          <p:cNvPr id="38" name="Shape 34">
            <a:extLst xmlns:a="http://schemas.openxmlformats.org/drawingml/2006/main">
              <a:ext uri="{FF2B5EF4-FFF2-40B4-BE49-F238E27FC236}">
                <a16:creationId xmlns:a16="http://schemas.microsoft.com/office/drawing/2014/main" id="{300F9BF1-E32C-4D7A-A9D7-A4715A0A56A2}"/>
              </a:ext>
            </a:extLst>
          </p:cNvPr>
          <p:cNvSpPr>
            <a:spLocks xmlns:a="http://schemas.openxmlformats.org/drawingml/2006/main" noGrp="1"/>
          </p:cNvSpPr>
          <p:nvPr/>
        </p:nvSpPr>
        <p:spPr>
          <a:xfrm xmlns:a="http://schemas.openxmlformats.org/drawingml/2006/main">
            <a:off x="4297680" y="333756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9" name="Shape 35">
            <a:extLst xmlns:a="http://schemas.openxmlformats.org/drawingml/2006/main">
              <a:ext uri="{FF2B5EF4-FFF2-40B4-BE49-F238E27FC236}">
                <a16:creationId xmlns:a16="http://schemas.microsoft.com/office/drawing/2014/main" id="{B8BE2B23-241F-48EE-B36C-16BDF1274203}"/>
              </a:ext>
            </a:extLst>
          </p:cNvPr>
          <p:cNvSpPr>
            <a:spLocks xmlns:a="http://schemas.openxmlformats.org/drawingml/2006/main" noGrp="1"/>
          </p:cNvSpPr>
          <p:nvPr/>
        </p:nvSpPr>
        <p:spPr>
          <a:xfrm xmlns:a="http://schemas.openxmlformats.org/drawingml/2006/main">
            <a:off x="4297680" y="333756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40" name="Text 36">
            <a:extLst xmlns:a="http://schemas.openxmlformats.org/drawingml/2006/main">
              <a:ext uri="{FF2B5EF4-FFF2-40B4-BE49-F238E27FC236}">
                <a16:creationId xmlns:a16="http://schemas.microsoft.com/office/drawing/2014/main" id="{42023826-C173-47F8-9FA5-34E1940D08EF}"/>
              </a:ext>
            </a:extLst>
          </p:cNvPr>
          <p:cNvSpPr>
            <a:spLocks xmlns:a="http://schemas.openxmlformats.org/drawingml/2006/main" noGrp="1"/>
          </p:cNvSpPr>
          <p:nvPr/>
        </p:nvSpPr>
        <p:spPr>
          <a:xfrm xmlns:a="http://schemas.openxmlformats.org/drawingml/2006/main">
            <a:off x="4434840" y="333756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pull</a:t>
            </a:r>
            <a:endParaRPr sz="1050"/>
          </a:p>
        </p:txBody>
      </p:sp>
      <p:sp>
        <p:nvSpPr>
          <p:cNvPr id="41" name="Text 37">
            <a:extLst xmlns:a="http://schemas.openxmlformats.org/drawingml/2006/main">
              <a:ext uri="{FF2B5EF4-FFF2-40B4-BE49-F238E27FC236}">
                <a16:creationId xmlns:a16="http://schemas.microsoft.com/office/drawing/2014/main" id="{1FE3973D-85FF-4D18-96F1-38A97C992836}"/>
              </a:ext>
            </a:extLst>
          </p:cNvPr>
          <p:cNvSpPr>
            <a:spLocks xmlns:a="http://schemas.openxmlformats.org/drawingml/2006/main" noGrp="1"/>
          </p:cNvSpPr>
          <p:nvPr/>
        </p:nvSpPr>
        <p:spPr>
          <a:xfrm xmlns:a="http://schemas.openxmlformats.org/drawingml/2006/main">
            <a:off x="4434840" y="374904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Pull image terbaru dari registry</a:t>
            </a:r>
            <a:endParaRPr sz="1000"/>
          </a:p>
        </p:txBody>
      </p:sp>
      <p:sp>
        <p:nvSpPr>
          <p:cNvPr id="42" name="Shape 38">
            <a:extLst xmlns:a="http://schemas.openxmlformats.org/drawingml/2006/main">
              <a:ext uri="{FF2B5EF4-FFF2-40B4-BE49-F238E27FC236}">
                <a16:creationId xmlns:a16="http://schemas.microsoft.com/office/drawing/2014/main" id="{C06778D4-7042-4E6A-9FFB-52C8C60C589B}"/>
              </a:ext>
            </a:extLst>
          </p:cNvPr>
          <p:cNvSpPr>
            <a:spLocks xmlns:a="http://schemas.openxmlformats.org/drawingml/2006/main" noGrp="1"/>
          </p:cNvSpPr>
          <p:nvPr/>
        </p:nvSpPr>
        <p:spPr>
          <a:xfrm xmlns:a="http://schemas.openxmlformats.org/drawingml/2006/main">
            <a:off x="8138160" y="333756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3" name="Shape 39">
            <a:extLst xmlns:a="http://schemas.openxmlformats.org/drawingml/2006/main">
              <a:ext uri="{FF2B5EF4-FFF2-40B4-BE49-F238E27FC236}">
                <a16:creationId xmlns:a16="http://schemas.microsoft.com/office/drawing/2014/main" id="{B1C3E980-3038-4457-B0A9-D4BED6E9E1D0}"/>
              </a:ext>
            </a:extLst>
          </p:cNvPr>
          <p:cNvSpPr>
            <a:spLocks xmlns:a="http://schemas.openxmlformats.org/drawingml/2006/main" noGrp="1"/>
          </p:cNvSpPr>
          <p:nvPr/>
        </p:nvSpPr>
        <p:spPr>
          <a:xfrm xmlns:a="http://schemas.openxmlformats.org/drawingml/2006/main">
            <a:off x="8138160" y="333756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44" name="Text 40">
            <a:extLst xmlns:a="http://schemas.openxmlformats.org/drawingml/2006/main">
              <a:ext uri="{FF2B5EF4-FFF2-40B4-BE49-F238E27FC236}">
                <a16:creationId xmlns:a16="http://schemas.microsoft.com/office/drawing/2014/main" id="{7FC6F610-632B-45A3-B416-2D90A0BDE4E9}"/>
              </a:ext>
            </a:extLst>
          </p:cNvPr>
          <p:cNvSpPr>
            <a:spLocks xmlns:a="http://schemas.openxmlformats.org/drawingml/2006/main" noGrp="1"/>
          </p:cNvSpPr>
          <p:nvPr/>
        </p:nvSpPr>
        <p:spPr>
          <a:xfrm xmlns:a="http://schemas.openxmlformats.org/drawingml/2006/main">
            <a:off x="8275320" y="333756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restart api</a:t>
            </a:r>
            <a:endParaRPr sz="1050"/>
          </a:p>
        </p:txBody>
      </p:sp>
      <p:sp>
        <p:nvSpPr>
          <p:cNvPr id="45" name="Text 41">
            <a:extLst xmlns:a="http://schemas.openxmlformats.org/drawingml/2006/main">
              <a:ext uri="{FF2B5EF4-FFF2-40B4-BE49-F238E27FC236}">
                <a16:creationId xmlns:a16="http://schemas.microsoft.com/office/drawing/2014/main" id="{767F68E3-11F3-463C-BDD4-0C7AA48F0D3A}"/>
              </a:ext>
            </a:extLst>
          </p:cNvPr>
          <p:cNvSpPr>
            <a:spLocks xmlns:a="http://schemas.openxmlformats.org/drawingml/2006/main" noGrp="1"/>
          </p:cNvSpPr>
          <p:nvPr/>
        </p:nvSpPr>
        <p:spPr>
          <a:xfrm xmlns:a="http://schemas.openxmlformats.org/drawingml/2006/main">
            <a:off x="8275320" y="374904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Restart 1 service</a:t>
            </a:r>
            <a:endParaRPr sz="1000"/>
          </a:p>
        </p:txBody>
      </p:sp>
      <p:sp>
        <p:nvSpPr>
          <p:cNvPr id="46" name="Shape 42">
            <a:extLst xmlns:a="http://schemas.openxmlformats.org/drawingml/2006/main">
              <a:ext uri="{FF2B5EF4-FFF2-40B4-BE49-F238E27FC236}">
                <a16:creationId xmlns:a16="http://schemas.microsoft.com/office/drawing/2014/main" id="{2E869834-60B4-4A2B-A9A0-3429CDFAE41F}"/>
              </a:ext>
            </a:extLst>
          </p:cNvPr>
          <p:cNvSpPr>
            <a:spLocks xmlns:a="http://schemas.openxmlformats.org/drawingml/2006/main" noGrp="1"/>
          </p:cNvSpPr>
          <p:nvPr/>
        </p:nvSpPr>
        <p:spPr>
          <a:xfrm xmlns:a="http://schemas.openxmlformats.org/drawingml/2006/main">
            <a:off x="457200" y="4297680"/>
            <a:ext cx="3703320" cy="8686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7" name="Shape 43">
            <a:extLst xmlns:a="http://schemas.openxmlformats.org/drawingml/2006/main">
              <a:ext uri="{FF2B5EF4-FFF2-40B4-BE49-F238E27FC236}">
                <a16:creationId xmlns:a16="http://schemas.microsoft.com/office/drawing/2014/main" id="{54BDED51-D2B8-4F5E-92F6-FE14C0039FB9}"/>
              </a:ext>
            </a:extLst>
          </p:cNvPr>
          <p:cNvSpPr>
            <a:spLocks xmlns:a="http://schemas.openxmlformats.org/drawingml/2006/main" noGrp="1"/>
          </p:cNvSpPr>
          <p:nvPr/>
        </p:nvSpPr>
        <p:spPr>
          <a:xfrm xmlns:a="http://schemas.openxmlformats.org/drawingml/2006/main">
            <a:off x="457200" y="4297680"/>
            <a:ext cx="3703320" cy="365760"/>
          </a:xfrm>
          <a:prstGeom xmlns:a="http://schemas.openxmlformats.org/drawingml/2006/main" prst="rect">
            <a:avLst/>
          </a:prstGeom>
          <a:solidFill xmlns:a="http://schemas.openxmlformats.org/drawingml/2006/main">
            <a:srgbClr val="1E293B"/>
          </a:solidFill>
          <a:ln xmlns:a="http://schemas.openxmlformats.org/drawingml/2006/main" w="12700">
            <a:solidFill>
              <a:srgbClr val="1E293B"/>
            </a:solidFill>
            <a:prstDash val="solid"/>
          </a:ln>
        </p:spPr>
      </p:sp>
      <p:sp>
        <p:nvSpPr>
          <p:cNvPr id="48" name="Text 44">
            <a:extLst xmlns:a="http://schemas.openxmlformats.org/drawingml/2006/main">
              <a:ext uri="{FF2B5EF4-FFF2-40B4-BE49-F238E27FC236}">
                <a16:creationId xmlns:a16="http://schemas.microsoft.com/office/drawing/2014/main" id="{1B0C34DF-3E67-40C8-B158-7C8E93C78F5F}"/>
              </a:ext>
            </a:extLst>
          </p:cNvPr>
          <p:cNvSpPr>
            <a:spLocks xmlns:a="http://schemas.openxmlformats.org/drawingml/2006/main" noGrp="1"/>
          </p:cNvSpPr>
          <p:nvPr/>
        </p:nvSpPr>
        <p:spPr>
          <a:xfrm xmlns:a="http://schemas.openxmlformats.org/drawingml/2006/main">
            <a:off x="594360" y="4297680"/>
            <a:ext cx="3429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0B981"/>
                </a:solidFill>
                <a:latin typeface="Consolas"/>
                <a:ea typeface="Consolas"/>
                <a:cs typeface="Consolas"/>
              </a:rPr>
              <a:t>docker compose down -v</a:t>
            </a:r>
            <a:endParaRPr sz="1050"/>
          </a:p>
        </p:txBody>
      </p:sp>
      <p:sp>
        <p:nvSpPr>
          <p:cNvPr id="49" name="Text 45">
            <a:extLst xmlns:a="http://schemas.openxmlformats.org/drawingml/2006/main">
              <a:ext uri="{FF2B5EF4-FFF2-40B4-BE49-F238E27FC236}">
                <a16:creationId xmlns:a16="http://schemas.microsoft.com/office/drawing/2014/main" id="{70142D08-D36D-4C08-9B35-EEE6345EAB55}"/>
              </a:ext>
            </a:extLst>
          </p:cNvPr>
          <p:cNvSpPr>
            <a:spLocks xmlns:a="http://schemas.openxmlformats.org/drawingml/2006/main" noGrp="1"/>
          </p:cNvSpPr>
          <p:nvPr/>
        </p:nvSpPr>
        <p:spPr>
          <a:xfrm xmlns:a="http://schemas.openxmlformats.org/drawingml/2006/main">
            <a:off x="594360" y="4709160"/>
            <a:ext cx="34290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00">
                <a:solidFill>
                  <a:srgbClr val="1E293B"/>
                </a:solidFill>
                <a:latin typeface="Calibri"/>
                <a:ea typeface="Calibri"/>
                <a:cs typeface="Calibri"/>
              </a:rPr>
              <a:t>BAHAYA: hapus volumes juga (data hilang!)</a:t>
            </a:r>
            <a:endParaRPr sz="1000"/>
          </a:p>
        </p:txBody>
      </p:sp>
      <p:sp>
        <p:nvSpPr>
          <p:cNvPr id="50" name="Shape 46">
            <a:extLst xmlns:a="http://schemas.openxmlformats.org/drawingml/2006/main">
              <a:ext uri="{FF2B5EF4-FFF2-40B4-BE49-F238E27FC236}">
                <a16:creationId xmlns:a16="http://schemas.microsoft.com/office/drawing/2014/main" id="{14F3711F-D05A-49DF-847F-B88B87F8F33A}"/>
              </a:ext>
            </a:extLst>
          </p:cNvPr>
          <p:cNvSpPr>
            <a:spLocks xmlns:a="http://schemas.openxmlformats.org/drawingml/2006/main" noGrp="1"/>
          </p:cNvSpPr>
          <p:nvPr/>
        </p:nvSpPr>
        <p:spPr>
          <a:xfrm xmlns:a="http://schemas.openxmlformats.org/drawingml/2006/main">
            <a:off x="457200" y="5897880"/>
            <a:ext cx="11247120" cy="4114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51" name="Text 47">
            <a:extLst xmlns:a="http://schemas.openxmlformats.org/drawingml/2006/main">
              <a:ext uri="{FF2B5EF4-FFF2-40B4-BE49-F238E27FC236}">
                <a16:creationId xmlns:a16="http://schemas.microsoft.com/office/drawing/2014/main" id="{A865BE48-C86D-4F4C-A4D0-513FF286C999}"/>
              </a:ext>
            </a:extLst>
          </p:cNvPr>
          <p:cNvSpPr>
            <a:spLocks xmlns:a="http://schemas.openxmlformats.org/drawingml/2006/main" noGrp="1"/>
          </p:cNvSpPr>
          <p:nvPr/>
        </p:nvSpPr>
        <p:spPr>
          <a:xfrm xmlns:a="http://schemas.openxmlformats.org/drawingml/2006/main">
            <a:off x="457200" y="5897880"/>
            <a:ext cx="112471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Urutan Lab 06: docker compose up --build -d --wait, docker compose ps, uji HTTP, lalu docker compose --profile debug down.</a:t>
            </a:r>
            <a:endParaRPr sz="1100"/>
          </a:p>
        </p:txBody>
      </p:sp>
    </p:spTree>
    <p:extLst>
      <p:ext uri="{BB962C8B-B14F-4D97-AF65-F5344CB8AC3E}">
        <p14:creationId xmlns:p14="http://schemas.microsoft.com/office/powerpoint/2010/main" val="1676104547"/>
      </p:ext>
    </p:extLst>
  </p:cSld>
</p:sld>
</file>

<file path=ppt/slides/slide18.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23F60A3-0467-4067-BDB9-305C98D79152}"/>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4A740630-EB1B-4CEA-B2B2-39ACA1FE93A1}"/>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E11A5530-9D0D-4B98-92E8-56F99D8C72F9}"/>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DD080981-8901-48C4-9C36-023677E9E93E}"/>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E19A75F2-DB83-4EF2-9871-FC492FC47A5E}"/>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6FD545D5-6C06-4F80-8C25-266F99B2DB16}"/>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3F7B431E-DE96-4322-B9CA-D95EFB146241}"/>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3355EC55-ABC8-4EA3-B047-08F93D849BF4}"/>
              </a:ext>
            </a:extLst>
          </p:cNvPr>
          <p:cNvPicPr>
            <a:picLocks xmlns:a="http://schemas.openxmlformats.org/drawingml/2006/main" noChangeAspect="1"/>
          </p:cNvPicPr>
          <p:nvPr/>
        </p:nvPicPr>
        <p:blipFill>
          <a:blip xmlns:r="http://schemas.openxmlformats.org/officeDocument/2006/relationships" xmlns:a="http://schemas.openxmlformats.org/drawingml/2006/main" r:embed="Rc5fad5f17f24426d"/>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CDC7876A-7436-4487-96AD-7F878966C434}"/>
              </a:ext>
            </a:extLst>
          </p:cNvPr>
          <p:cNvPicPr>
            <a:picLocks xmlns:a="http://schemas.openxmlformats.org/drawingml/2006/main" noChangeAspect="1"/>
          </p:cNvPicPr>
          <p:nvPr/>
        </p:nvPicPr>
        <p:blipFill>
          <a:blip xmlns:r="http://schemas.openxmlformats.org/officeDocument/2006/relationships" xmlns:a="http://schemas.openxmlformats.org/drawingml/2006/main" r:embed="Re4840aa50005475b"/>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6935A58-F564-42B6-B2B4-7256D197D3A8}"/>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04</a:t>
            </a:r>
            <a:endParaRPr sz="1600"/>
          </a:p>
        </p:txBody>
      </p:sp>
      <p:sp>
        <p:nvSpPr>
          <p:cNvPr id="12" name="Text 8">
            <a:extLst xmlns:a="http://schemas.openxmlformats.org/drawingml/2006/main">
              <a:ext uri="{FF2B5EF4-FFF2-40B4-BE49-F238E27FC236}">
                <a16:creationId xmlns:a16="http://schemas.microsoft.com/office/drawing/2014/main" id="{7210ED7B-99ED-45F0-A255-9B3C676EA08D}"/>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Networking</a:t>
            </a:r>
            <a:endParaRPr sz="5200"/>
          </a:p>
          <a:p xmlns:a="http://schemas.openxmlformats.org/drawingml/2006/main">
            <a:pPr marL="0" indent="0" algn="ctr">
              <a:buNone/>
            </a:pPr>
            <a:r>
              <a:rPr sz="5200" b="1">
                <a:solidFill>
                  <a:srgbClr val="FFFFFF"/>
                </a:solidFill>
                <a:latin typeface="Calibri"/>
                <a:ea typeface="Calibri"/>
                <a:cs typeface="Calibri"/>
              </a:rPr>
              <a:t>in Compose</a:t>
            </a:r>
            <a:endParaRPr sz="5200"/>
          </a:p>
        </p:txBody>
      </p:sp>
      <p:sp>
        <p:nvSpPr>
          <p:cNvPr id="13" name="Shape 9">
            <a:extLst xmlns:a="http://schemas.openxmlformats.org/drawingml/2006/main">
              <a:ext uri="{FF2B5EF4-FFF2-40B4-BE49-F238E27FC236}">
                <a16:creationId xmlns:a16="http://schemas.microsoft.com/office/drawing/2014/main" id="{CCA0D138-4693-4155-8E52-9FC36BB61C24}"/>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BE7A5D0A-FCBA-486C-A653-58BE8F2710F4}"/>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Service discovery + custom network untuk isolasi tier.</a:t>
            </a:r>
            <a:endParaRPr sz="1400"/>
          </a:p>
        </p:txBody>
      </p:sp>
    </p:spTree>
    <p:extLst>
      <p:ext uri="{BB962C8B-B14F-4D97-AF65-F5344CB8AC3E}">
        <p14:creationId xmlns:p14="http://schemas.microsoft.com/office/powerpoint/2010/main" val="11115289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5F7344-5782-47F7-884D-3FDA38B3298C}"/>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B9E4725A-0EFF-4DDB-A448-E80CA670F941}"/>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19</a:t>
            </a:r>
            <a:endParaRPr sz="900"/>
          </a:p>
        </p:txBody>
      </p:sp>
      <p:sp>
        <p:nvSpPr>
          <p:cNvPr id="4" name="Shape 2">
            <a:extLst xmlns:a="http://schemas.openxmlformats.org/drawingml/2006/main">
              <a:ext uri="{FF2B5EF4-FFF2-40B4-BE49-F238E27FC236}">
                <a16:creationId xmlns:a16="http://schemas.microsoft.com/office/drawing/2014/main" id="{AE760472-2C4D-454D-BB4C-EBA98BD63B83}"/>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1" name="Image 0">
            <a:extLst xmlns:a="http://schemas.openxmlformats.org/drawingml/2006/main">
              <a:ext uri="{FF2B5EF4-FFF2-40B4-BE49-F238E27FC236}">
                <a16:creationId xmlns:a16="http://schemas.microsoft.com/office/drawing/2014/main" id="{A880052D-633D-4A01-9FE4-A3595248E572}"/>
              </a:ext>
            </a:extLst>
          </p:cNvPr>
          <p:cNvPicPr>
            <a:picLocks xmlns:a="http://schemas.openxmlformats.org/drawingml/2006/main" noChangeAspect="1"/>
          </p:cNvPicPr>
          <p:nvPr/>
        </p:nvPicPr>
        <p:blipFill>
          <a:blip xmlns:r="http://schemas.openxmlformats.org/officeDocument/2006/relationships" xmlns:a="http://schemas.openxmlformats.org/drawingml/2006/main" r:embed="R6cd1d5654b804da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2" name="Image 1">
            <a:extLst xmlns:a="http://schemas.openxmlformats.org/drawingml/2006/main">
              <a:ext uri="{FF2B5EF4-FFF2-40B4-BE49-F238E27FC236}">
                <a16:creationId xmlns:a16="http://schemas.microsoft.com/office/drawing/2014/main" id="{B6C64632-36DB-4E8E-988C-FF33EC035693}"/>
              </a:ext>
            </a:extLst>
          </p:cNvPr>
          <p:cNvPicPr>
            <a:picLocks xmlns:a="http://schemas.openxmlformats.org/drawingml/2006/main" noChangeAspect="1"/>
          </p:cNvPicPr>
          <p:nvPr/>
        </p:nvPicPr>
        <p:blipFill>
          <a:blip xmlns:r="http://schemas.openxmlformats.org/officeDocument/2006/relationships" xmlns:a="http://schemas.openxmlformats.org/drawingml/2006/main" r:embed="R5f5434bbbdbb4b74"/>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F49BF76E-9499-4884-9322-EA1CF6AA5CF0}"/>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CFD6C335-FE75-43B5-8C8F-0A750D8E5F64}"/>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Service Discovery via DNS</a:t>
            </a:r>
            <a:endParaRPr sz="2200"/>
          </a:p>
        </p:txBody>
      </p:sp>
      <p:sp>
        <p:nvSpPr>
          <p:cNvPr id="9" name="Text 5">
            <a:extLst xmlns:a="http://schemas.openxmlformats.org/drawingml/2006/main">
              <a:ext uri="{FF2B5EF4-FFF2-40B4-BE49-F238E27FC236}">
                <a16:creationId xmlns:a16="http://schemas.microsoft.com/office/drawing/2014/main" id="{FB9E3C5E-6D17-4E5E-ACF3-9FBEC1C54A8E}"/>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Service name jadi hostname - tidak perlu hardcode IP</a:t>
            </a:r>
            <a:endParaRPr sz="1200"/>
          </a:p>
        </p:txBody>
      </p:sp>
      <p:sp>
        <p:nvSpPr>
          <p:cNvPr id="10" name="Shape 6">
            <a:extLst xmlns:a="http://schemas.openxmlformats.org/drawingml/2006/main">
              <a:ext uri="{FF2B5EF4-FFF2-40B4-BE49-F238E27FC236}">
                <a16:creationId xmlns:a16="http://schemas.microsoft.com/office/drawing/2014/main" id="{E8D9E0D2-4A5B-4B29-83C8-265B4FDF31C4}"/>
              </a:ext>
            </a:extLst>
          </p:cNvPr>
          <p:cNvSpPr>
            <a:spLocks xmlns:a="http://schemas.openxmlformats.org/drawingml/2006/main" noGrp="1"/>
          </p:cNvSpPr>
          <p:nvPr/>
        </p:nvSpPr>
        <p:spPr>
          <a:xfrm xmlns:a="http://schemas.openxmlformats.org/drawingml/2006/main">
            <a:off x="457200" y="1417320"/>
            <a:ext cx="1124712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23BD0D1E-FFD5-4BDB-A29E-2584510518AB}"/>
              </a:ext>
            </a:extLst>
          </p:cNvPr>
          <p:cNvSpPr>
            <a:spLocks xmlns:a="http://schemas.openxmlformats.org/drawingml/2006/main" noGrp="1"/>
          </p:cNvSpPr>
          <p:nvPr/>
        </p:nvSpPr>
        <p:spPr>
          <a:xfrm xmlns:a="http://schemas.openxmlformats.org/drawingml/2006/main">
            <a:off x="685800" y="1508760"/>
            <a:ext cx="107899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37021"/>
                </a:solidFill>
                <a:latin typeface="Calibri"/>
                <a:ea typeface="Calibri"/>
                <a:cs typeface="Calibri"/>
              </a:rPr>
              <a:t>DNS: Docker menyediakan DNS internal. Nama service mengarah ke IP container pada network yang sama.</a:t>
            </a:r>
            <a:endParaRPr sz="1400"/>
          </a:p>
          <a:p xmlns:a="http://schemas.openxmlformats.org/drawingml/2006/main">
            <a:pPr marL="0" indent="0">
              <a:buNone/>
            </a:pPr>
            <a:r>
              <a:rPr sz="1100" i="1">
                <a:solidFill>
                  <a:srgbClr val="FFE0B2"/>
                </a:solidFill>
                <a:latin typeface="Calibri"/>
                <a:ea typeface="Calibri"/>
                <a:cs typeface="Calibri"/>
              </a:rPr>
              <a:t>Tidak perlu hardcode IP, tidak perlu /etc/hosts manual, IP berubah pun tidak masalah.</a:t>
            </a:r>
            <a:endParaRPr sz="1400"/>
          </a:p>
        </p:txBody>
      </p:sp>
      <p:sp>
        <p:nvSpPr>
          <p:cNvPr id="12" name="Shape 8">
            <a:extLst xmlns:a="http://schemas.openxmlformats.org/drawingml/2006/main">
              <a:ext uri="{FF2B5EF4-FFF2-40B4-BE49-F238E27FC236}">
                <a16:creationId xmlns:a16="http://schemas.microsoft.com/office/drawing/2014/main" id="{E4C68B84-14BC-41A3-9E7B-F7D09AC6428E}"/>
              </a:ext>
            </a:extLst>
          </p:cNvPr>
          <p:cNvSpPr>
            <a:spLocks xmlns:a="http://schemas.openxmlformats.org/drawingml/2006/main" noGrp="1"/>
          </p:cNvSpPr>
          <p:nvPr/>
        </p:nvSpPr>
        <p:spPr>
          <a:xfrm xmlns:a="http://schemas.openxmlformats.org/drawingml/2006/main">
            <a:off x="457200" y="2514600"/>
            <a:ext cx="5577840" cy="37490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3" name="Shape 9">
            <a:extLst xmlns:a="http://schemas.openxmlformats.org/drawingml/2006/main">
              <a:ext uri="{FF2B5EF4-FFF2-40B4-BE49-F238E27FC236}">
                <a16:creationId xmlns:a16="http://schemas.microsoft.com/office/drawing/2014/main" id="{F92B7CFC-B7DE-43C4-9861-1B48BC811449}"/>
              </a:ext>
            </a:extLst>
          </p:cNvPr>
          <p:cNvSpPr>
            <a:spLocks xmlns:a="http://schemas.openxmlformats.org/drawingml/2006/main" noGrp="1"/>
          </p:cNvSpPr>
          <p:nvPr/>
        </p:nvSpPr>
        <p:spPr>
          <a:xfrm xmlns:a="http://schemas.openxmlformats.org/drawingml/2006/main">
            <a:off x="457200" y="2514600"/>
            <a:ext cx="55778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4" name="Shape 10">
            <a:extLst xmlns:a="http://schemas.openxmlformats.org/drawingml/2006/main">
              <a:ext uri="{FF2B5EF4-FFF2-40B4-BE49-F238E27FC236}">
                <a16:creationId xmlns:a16="http://schemas.microsoft.com/office/drawing/2014/main" id="{1A814553-107A-4E3D-B445-04716C280805}"/>
              </a:ext>
            </a:extLst>
          </p:cNvPr>
          <p:cNvSpPr>
            <a:spLocks xmlns:a="http://schemas.openxmlformats.org/drawingml/2006/main" noGrp="1"/>
          </p:cNvSpPr>
          <p:nvPr/>
        </p:nvSpPr>
        <p:spPr>
          <a:xfrm xmlns:a="http://schemas.openxmlformats.org/drawingml/2006/main">
            <a:off x="548640" y="259689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5" name="Shape 11">
            <a:extLst xmlns:a="http://schemas.openxmlformats.org/drawingml/2006/main">
              <a:ext uri="{FF2B5EF4-FFF2-40B4-BE49-F238E27FC236}">
                <a16:creationId xmlns:a16="http://schemas.microsoft.com/office/drawing/2014/main" id="{BC0D5A54-6A83-43CD-97C8-99B447C9BF4A}"/>
              </a:ext>
            </a:extLst>
          </p:cNvPr>
          <p:cNvSpPr>
            <a:spLocks xmlns:a="http://schemas.openxmlformats.org/drawingml/2006/main" noGrp="1"/>
          </p:cNvSpPr>
          <p:nvPr/>
        </p:nvSpPr>
        <p:spPr>
          <a:xfrm xmlns:a="http://schemas.openxmlformats.org/drawingml/2006/main">
            <a:off x="685800" y="259689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6" name="Shape 12">
            <a:extLst xmlns:a="http://schemas.openxmlformats.org/drawingml/2006/main">
              <a:ext uri="{FF2B5EF4-FFF2-40B4-BE49-F238E27FC236}">
                <a16:creationId xmlns:a16="http://schemas.microsoft.com/office/drawing/2014/main" id="{DA186EEE-A97F-4C6D-BF14-F1493C3932A6}"/>
              </a:ext>
            </a:extLst>
          </p:cNvPr>
          <p:cNvSpPr>
            <a:spLocks xmlns:a="http://schemas.openxmlformats.org/drawingml/2006/main" noGrp="1"/>
          </p:cNvSpPr>
          <p:nvPr/>
        </p:nvSpPr>
        <p:spPr>
          <a:xfrm xmlns:a="http://schemas.openxmlformats.org/drawingml/2006/main">
            <a:off x="822960" y="259689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7" name="Text 13">
            <a:extLst xmlns:a="http://schemas.openxmlformats.org/drawingml/2006/main">
              <a:ext uri="{FF2B5EF4-FFF2-40B4-BE49-F238E27FC236}">
                <a16:creationId xmlns:a16="http://schemas.microsoft.com/office/drawing/2014/main" id="{FF16CC7E-DEB2-411C-B1EA-900F125DC46E}"/>
              </a:ext>
            </a:extLst>
          </p:cNvPr>
          <p:cNvSpPr>
            <a:spLocks xmlns:a="http://schemas.openxmlformats.org/drawingml/2006/main" noGrp="1"/>
          </p:cNvSpPr>
          <p:nvPr/>
        </p:nvSpPr>
        <p:spPr>
          <a:xfrm xmlns:a="http://schemas.openxmlformats.org/drawingml/2006/main">
            <a:off x="1005840" y="251460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service name -&gt; hostname</a:t>
            </a:r>
            <a:endParaRPr sz="900"/>
          </a:p>
        </p:txBody>
      </p:sp>
      <p:sp>
        <p:nvSpPr>
          <p:cNvPr id="18" name="Text 14">
            <a:extLst xmlns:a="http://schemas.openxmlformats.org/drawingml/2006/main">
              <a:ext uri="{FF2B5EF4-FFF2-40B4-BE49-F238E27FC236}">
                <a16:creationId xmlns:a16="http://schemas.microsoft.com/office/drawing/2014/main" id="{F818F5C2-F051-4103-83C0-5150DE22A260}"/>
              </a:ext>
            </a:extLst>
          </p:cNvPr>
          <p:cNvSpPr>
            <a:spLocks xmlns:a="http://schemas.openxmlformats.org/drawingml/2006/main" noGrp="1"/>
          </p:cNvSpPr>
          <p:nvPr/>
        </p:nvSpPr>
        <p:spPr>
          <a:xfrm xmlns:a="http://schemas.openxmlformats.org/drawingml/2006/main">
            <a:off x="594360" y="2880360"/>
            <a:ext cx="530352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Potongan compose.yaml Lab 06</a:t>
            </a:r>
            <a:endParaRPr sz="1100"/>
          </a:p>
          <a:p xmlns:a="http://schemas.openxmlformats.org/drawingml/2006/main">
            <a:pPr marL="0" indent="0">
              <a:spcAft>
                <a:spcPts val="200"/>
              </a:spcAft>
              <a:buNone/>
            </a:pPr>
            <a:r>
              <a:rPr sz="1100">
                <a:solidFill>
                  <a:srgbClr val="94A3B8"/>
                </a:solidFill>
                <a:latin typeface="Consolas"/>
                <a:ea typeface="Consolas"/>
                <a:cs typeface="Consolas"/>
              </a:rPr>
              <a:t>services:</a:t>
            </a:r>
          </a:p>
          <a:p xmlns:a="http://schemas.openxmlformats.org/drawingml/2006/main">
            <a:pPr marL="0" indent="0">
              <a:spcAft>
                <a:spcPts val="200"/>
              </a:spcAft>
              <a:buNone/>
            </a:pPr>
            <a:r>
              <a:rPr sz="1100">
                <a:solidFill>
                  <a:srgbClr val="94A3B8"/>
                </a:solidFill>
                <a:latin typeface="Consolas"/>
                <a:ea typeface="Consolas"/>
                <a:cs typeface="Consolas"/>
              </a:rPr>
              <a:t>  db:</a:t>
            </a:r>
          </a:p>
          <a:p xmlns:a="http://schemas.openxmlformats.org/drawingml/2006/main">
            <a:pPr marL="0" indent="0">
              <a:spcAft>
                <a:spcPts val="200"/>
              </a:spcAft>
              <a:buNone/>
            </a:pPr>
            <a:r>
              <a:rPr sz="1100">
                <a:solidFill>
                  <a:srgbClr val="94A3B8"/>
                </a:solidFill>
                <a:latin typeface="Consolas"/>
                <a:ea typeface="Consolas"/>
                <a:cs typeface="Consolas"/>
              </a:rPr>
              <a:t>    image: postgres:16-alpine</a:t>
            </a:r>
          </a:p>
          <a:p xmlns:a="http://schemas.openxmlformats.org/drawingml/2006/main">
            <a:pPr marL="0" indent="0">
              <a:spcAft>
                <a:spcPts val="200"/>
              </a:spcAft>
              <a:buNone/>
            </a:pPr>
            <a:r>
              <a:rPr sz="1100">
                <a:solidFill>
                  <a:srgbClr val="94A3B8"/>
                </a:solidFill>
                <a:latin typeface="Consolas"/>
                <a:ea typeface="Consolas"/>
                <a:cs typeface="Consolas"/>
              </a:rPr>
              <a:t>  api:</a:t>
            </a:r>
          </a:p>
          <a:p xmlns:a="http://schemas.openxmlformats.org/drawingml/2006/main">
            <a:pPr marL="0" indent="0">
              <a:spcAft>
                <a:spcPts val="200"/>
              </a:spcAft>
              <a:buNone/>
            </a:pPr>
            <a:r>
              <a:rPr sz="1100">
                <a:solidFill>
                  <a:srgbClr val="94A3B8"/>
                </a:solidFill>
                <a:latin typeface="Consolas"/>
                <a:ea typeface="Consolas"/>
                <a:cs typeface="Consolas"/>
              </a:rPr>
              <a:t>    build: ./api</a:t>
            </a:r>
          </a:p>
          <a:p xmlns:a="http://schemas.openxmlformats.org/drawingml/2006/main">
            <a:pPr marL="0" indent="0">
              <a:spcAft>
                <a:spcPts val="200"/>
              </a:spcAft>
              <a:buNone/>
            </a:pPr>
            <a:r>
              <a:rPr sz="1100">
                <a:solidFill>
                  <a:srgbClr val="94A3B8"/>
                </a:solidFill>
                <a:latin typeface="Consolas"/>
                <a:ea typeface="Consolas"/>
                <a:cs typeface="Consolas"/>
              </a:rPr>
              <a:t>    environment:</a:t>
            </a:r>
          </a:p>
          <a:p xmlns:a="http://schemas.openxmlformats.org/drawingml/2006/main">
            <a:pPr marL="0" indent="0">
              <a:spcAft>
                <a:spcPts val="200"/>
              </a:spcAft>
              <a:buNone/>
            </a:pPr>
            <a:r>
              <a:rPr sz="1100">
                <a:solidFill>
                  <a:srgbClr val="94A3B8"/>
                </a:solidFill>
                <a:latin typeface="Consolas"/>
                <a:ea typeface="Consolas"/>
                <a:cs typeface="Consolas"/>
              </a:rPr>
              <a:t>      DB_HOST: db</a:t>
            </a:r>
          </a:p>
          <a:p xmlns:a="http://schemas.openxmlformats.org/drawingml/2006/main">
            <a:pPr marL="0" indent="0">
              <a:spcAft>
                <a:spcPts val="200"/>
              </a:spcAft>
              <a:buNone/>
            </a:pPr>
            <a:r>
              <a:rPr sz="1100">
                <a:solidFill>
                  <a:srgbClr val="94A3B8"/>
                </a:solidFill>
                <a:latin typeface="Consolas"/>
                <a:ea typeface="Consolas"/>
                <a:cs typeface="Consolas"/>
              </a:rPr>
              <a:t>      REDIS_URL: redis://cache:6379/0</a:t>
            </a:r>
          </a:p>
          <a:p xmlns:a="http://schemas.openxmlformats.org/drawingml/2006/main">
            <a:pPr marL="0" indent="0">
              <a:spcAft>
                <a:spcPts val="200"/>
              </a:spcAft>
              <a:buNone/>
            </a:pPr>
          </a:p>
          <a:p xmlns:a="http://schemas.openxmlformats.org/drawingml/2006/main">
            <a:pPr marL="0" indent="0">
              <a:spcAft>
                <a:spcPts val="200"/>
              </a:spcAft>
              <a:buNone/>
            </a:pPr>
            <a:r>
              <a:rPr sz="1100">
                <a:solidFill>
                  <a:srgbClr val="94A3B8"/>
                </a:solidFill>
                <a:latin typeface="Consolas"/>
                <a:ea typeface="Consolas"/>
                <a:cs typeface="Consolas"/>
              </a:rPr>
              <a:t># Jalankan di root repo Lab 06:</a:t>
            </a:r>
          </a:p>
          <a:p xmlns:a="http://schemas.openxmlformats.org/drawingml/2006/main">
            <a:pPr marL="0" indent="0">
              <a:spcAft>
                <a:spcPts val="200"/>
              </a:spcAft>
              <a:buNone/>
            </a:pPr>
            <a:r>
              <a:rPr sz="1100">
                <a:solidFill>
                  <a:srgbClr val="94A3B8"/>
                </a:solidFill>
                <a:latin typeface="Consolas"/>
                <a:ea typeface="Consolas"/>
                <a:cs typeface="Consolas"/>
              </a:rPr>
              <a:t>docker compose exec -T api \</a:t>
            </a:r>
          </a:p>
          <a:p xmlns:a="http://schemas.openxmlformats.org/drawingml/2006/main">
            <a:pPr marL="0" indent="0">
              <a:spcAft>
                <a:spcPts val="200"/>
              </a:spcAft>
              <a:buNone/>
            </a:pPr>
            <a:r>
              <a:rPr sz="1100">
                <a:solidFill>
                  <a:srgbClr val="94A3B8"/>
                </a:solidFill>
                <a:latin typeface="Consolas"/>
                <a:ea typeface="Consolas"/>
                <a:cs typeface="Consolas"/>
              </a:rPr>
              <a:t>  getent hosts db cache</a:t>
            </a:r>
          </a:p>
          <a:p xmlns:a="http://schemas.openxmlformats.org/drawingml/2006/main">
            <a:pPr marL="0" indent="0">
              <a:spcAft>
                <a:spcPts val="200"/>
              </a:spcAft>
              <a:buNone/>
            </a:pPr>
          </a:p>
          <a:p xmlns:a="http://schemas.openxmlformats.org/drawingml/2006/main">
            <a:pPr marL="0" indent="0">
              <a:spcAft>
                <a:spcPts val="200"/>
              </a:spcAft>
              <a:buNone/>
            </a:pPr>
            <a:r>
              <a:rPr sz="1100">
                <a:solidFill>
                  <a:srgbClr val="94A3B8"/>
                </a:solidFill>
                <a:latin typeface="Consolas"/>
                <a:ea typeface="Consolas"/>
                <a:cs typeface="Consolas"/>
              </a:rPr>
              <a:t># Hasil: alamat untuk db dan cache.</a:t>
            </a:r>
          </a:p>
          <a:p xmlns:a="http://schemas.openxmlformats.org/drawingml/2006/main">
            <a:pPr marL="0" indent="0">
              <a:spcAft>
                <a:spcPts val="200"/>
              </a:spcAft>
              <a:buNone/>
            </a:pPr>
            <a:r>
              <a:rPr sz="1100">
                <a:solidFill>
                  <a:srgbClr val="94A3B8"/>
                </a:solidFill>
                <a:latin typeface="Consolas"/>
                <a:ea typeface="Consolas"/>
                <a:cs typeface="Consolas"/>
              </a:rPr>
              <a:t># IP dapat berubah saat dibuat ulang.</a:t>
            </a:r>
          </a:p>
        </p:txBody>
      </p:sp>
      <p:sp>
        <p:nvSpPr>
          <p:cNvPr id="19" name="Shape 15">
            <a:extLst xmlns:a="http://schemas.openxmlformats.org/drawingml/2006/main">
              <a:ext uri="{FF2B5EF4-FFF2-40B4-BE49-F238E27FC236}">
                <a16:creationId xmlns:a16="http://schemas.microsoft.com/office/drawing/2014/main" id="{5B833C9E-D9D8-4B0F-A91A-FF0B9CF99450}"/>
              </a:ext>
            </a:extLst>
          </p:cNvPr>
          <p:cNvSpPr>
            <a:spLocks xmlns:a="http://schemas.openxmlformats.org/drawingml/2006/main" noGrp="1"/>
          </p:cNvSpPr>
          <p:nvPr/>
        </p:nvSpPr>
        <p:spPr>
          <a:xfrm xmlns:a="http://schemas.openxmlformats.org/drawingml/2006/main">
            <a:off x="6217920" y="2514600"/>
            <a:ext cx="5486400" cy="37490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0" name="Shape 16">
            <a:extLst xmlns:a="http://schemas.openxmlformats.org/drawingml/2006/main">
              <a:ext uri="{FF2B5EF4-FFF2-40B4-BE49-F238E27FC236}">
                <a16:creationId xmlns:a16="http://schemas.microsoft.com/office/drawing/2014/main" id="{836AFE15-3154-44A2-9579-0B9B61CC602F}"/>
              </a:ext>
            </a:extLst>
          </p:cNvPr>
          <p:cNvSpPr>
            <a:spLocks xmlns:a="http://schemas.openxmlformats.org/drawingml/2006/main" noGrp="1"/>
          </p:cNvSpPr>
          <p:nvPr/>
        </p:nvSpPr>
        <p:spPr>
          <a:xfrm xmlns:a="http://schemas.openxmlformats.org/drawingml/2006/main">
            <a:off x="6217920" y="2514600"/>
            <a:ext cx="54864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1" name="Shape 17">
            <a:extLst xmlns:a="http://schemas.openxmlformats.org/drawingml/2006/main">
              <a:ext uri="{FF2B5EF4-FFF2-40B4-BE49-F238E27FC236}">
                <a16:creationId xmlns:a16="http://schemas.microsoft.com/office/drawing/2014/main" id="{59F7FB91-BAF1-470A-894B-AE14A958C3A2}"/>
              </a:ext>
            </a:extLst>
          </p:cNvPr>
          <p:cNvSpPr>
            <a:spLocks xmlns:a="http://schemas.openxmlformats.org/drawingml/2006/main" noGrp="1"/>
          </p:cNvSpPr>
          <p:nvPr/>
        </p:nvSpPr>
        <p:spPr>
          <a:xfrm xmlns:a="http://schemas.openxmlformats.org/drawingml/2006/main">
            <a:off x="6309360" y="259689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2" name="Shape 18">
            <a:extLst xmlns:a="http://schemas.openxmlformats.org/drawingml/2006/main">
              <a:ext uri="{FF2B5EF4-FFF2-40B4-BE49-F238E27FC236}">
                <a16:creationId xmlns:a16="http://schemas.microsoft.com/office/drawing/2014/main" id="{F13BAD10-FAAE-459F-B9FD-AC9C48805834}"/>
              </a:ext>
            </a:extLst>
          </p:cNvPr>
          <p:cNvSpPr>
            <a:spLocks xmlns:a="http://schemas.openxmlformats.org/drawingml/2006/main" noGrp="1"/>
          </p:cNvSpPr>
          <p:nvPr/>
        </p:nvSpPr>
        <p:spPr>
          <a:xfrm xmlns:a="http://schemas.openxmlformats.org/drawingml/2006/main">
            <a:off x="6446520" y="259689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3" name="Shape 19">
            <a:extLst xmlns:a="http://schemas.openxmlformats.org/drawingml/2006/main">
              <a:ext uri="{FF2B5EF4-FFF2-40B4-BE49-F238E27FC236}">
                <a16:creationId xmlns:a16="http://schemas.microsoft.com/office/drawing/2014/main" id="{F0B743DF-735F-41FE-9423-5BA930182127}"/>
              </a:ext>
            </a:extLst>
          </p:cNvPr>
          <p:cNvSpPr>
            <a:spLocks xmlns:a="http://schemas.openxmlformats.org/drawingml/2006/main" noGrp="1"/>
          </p:cNvSpPr>
          <p:nvPr/>
        </p:nvSpPr>
        <p:spPr>
          <a:xfrm xmlns:a="http://schemas.openxmlformats.org/drawingml/2006/main">
            <a:off x="6583680" y="259689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4" name="Text 20">
            <a:extLst xmlns:a="http://schemas.openxmlformats.org/drawingml/2006/main">
              <a:ext uri="{FF2B5EF4-FFF2-40B4-BE49-F238E27FC236}">
                <a16:creationId xmlns:a16="http://schemas.microsoft.com/office/drawing/2014/main" id="{2A5BBE4A-CA78-4C0A-9277-61171278A444}"/>
              </a:ext>
            </a:extLst>
          </p:cNvPr>
          <p:cNvSpPr>
            <a:spLocks xmlns:a="http://schemas.openxmlformats.org/drawingml/2006/main" noGrp="1"/>
          </p:cNvSpPr>
          <p:nvPr/>
        </p:nvSpPr>
        <p:spPr>
          <a:xfrm xmlns:a="http://schemas.openxmlformats.org/drawingml/2006/main">
            <a:off x="6766560" y="251460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replica: syarat sebelum scale</a:t>
            </a:r>
            <a:endParaRPr sz="900"/>
          </a:p>
        </p:txBody>
      </p:sp>
      <p:sp>
        <p:nvSpPr>
          <p:cNvPr id="25" name="Text 21">
            <a:extLst xmlns:a="http://schemas.openxmlformats.org/drawingml/2006/main">
              <a:ext uri="{FF2B5EF4-FFF2-40B4-BE49-F238E27FC236}">
                <a16:creationId xmlns:a16="http://schemas.microsoft.com/office/drawing/2014/main" id="{CE67BCBB-855A-4260-995A-582002203982}"/>
              </a:ext>
            </a:extLst>
          </p:cNvPr>
          <p:cNvSpPr>
            <a:spLocks xmlns:a="http://schemas.openxmlformats.org/drawingml/2006/main" noGrp="1"/>
          </p:cNvSpPr>
          <p:nvPr/>
        </p:nvSpPr>
        <p:spPr>
          <a:xfrm xmlns:a="http://schemas.openxmlformats.org/drawingml/2006/main">
            <a:off x="6355080" y="2880360"/>
            <a:ext cx="521208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Replica adalah topik lanjutan.</a:t>
            </a:r>
            <a:endParaRPr sz="1100"/>
          </a:p>
          <a:p xmlns:a="http://schemas.openxmlformats.org/drawingml/2006/main">
            <a:pPr marL="0" indent="0">
              <a:spcAft>
                <a:spcPts val="200"/>
              </a:spcAft>
              <a:buNone/>
            </a:pPr>
            <a:r>
              <a:rPr sz="1100">
                <a:solidFill>
                  <a:srgbClr val="94A3B8"/>
                </a:solidFill>
                <a:latin typeface="Consolas"/>
                <a:ea typeface="Consolas"/>
                <a:cs typeface="Consolas"/>
              </a:rPr>
              <a:t># Lab 06 memakai host port tetap 8000.</a:t>
            </a:r>
          </a:p>
          <a:p xmlns:a="http://schemas.openxmlformats.org/drawingml/2006/main">
            <a:pPr marL="0" indent="0">
              <a:spcAft>
                <a:spcPts val="200"/>
              </a:spcAft>
              <a:buNone/>
            </a:pPr>
            <a:r>
              <a:rPr sz="1100">
                <a:solidFill>
                  <a:srgbClr val="94A3B8"/>
                </a:solidFill>
                <a:latin typeface="Consolas"/>
                <a:ea typeface="Consolas"/>
                <a:cs typeface="Consolas"/>
              </a:rPr>
              <a:t># Dua replica akan berebut port itu.</a:t>
            </a:r>
          </a:p>
          <a:p xmlns:a="http://schemas.openxmlformats.org/drawingml/2006/main">
            <a:pPr marL="0" indent="0">
              <a:spcAft>
                <a:spcPts val="200"/>
              </a:spcAft>
              <a:buNone/>
            </a:pPr>
          </a:p>
          <a:p xmlns:a="http://schemas.openxmlformats.org/drawingml/2006/main">
            <a:pPr marL="0" indent="0">
              <a:spcAft>
                <a:spcPts val="200"/>
              </a:spcAft>
              <a:buNone/>
            </a:pPr>
            <a:r>
              <a:rPr sz="1100">
                <a:solidFill>
                  <a:srgbClr val="94A3B8"/>
                </a:solidFill>
                <a:latin typeface="Consolas"/>
                <a:ea typeface="Consolas"/>
                <a:cs typeface="Consolas"/>
              </a:rPr>
              <a:t># Syarat sebelum --scale api=3:</a:t>
            </a:r>
          </a:p>
          <a:p xmlns:a="http://schemas.openxmlformats.org/drawingml/2006/main">
            <a:pPr marL="0" indent="0">
              <a:spcAft>
                <a:spcPts val="200"/>
              </a:spcAft>
              <a:buNone/>
            </a:pPr>
            <a:r>
              <a:rPr sz="1100">
                <a:solidFill>
                  <a:srgbClr val="94A3B8"/>
                </a:solidFill>
                <a:latin typeface="Consolas"/>
                <a:ea typeface="Consolas"/>
                <a:cs typeface="Consolas"/>
              </a:rPr>
              <a:t># 1. Hapus container_name.</a:t>
            </a:r>
          </a:p>
          <a:p xmlns:a="http://schemas.openxmlformats.org/drawingml/2006/main">
            <a:pPr marL="0" indent="0">
              <a:spcAft>
                <a:spcPts val="200"/>
              </a:spcAft>
              <a:buNone/>
            </a:pPr>
            <a:r>
              <a:rPr sz="1100">
                <a:solidFill>
                  <a:srgbClr val="94A3B8"/>
                </a:solidFill>
                <a:latin typeface="Consolas"/>
                <a:ea typeface="Consolas"/>
                <a:cs typeface="Consolas"/>
              </a:rPr>
              <a:t># 2. Hindari host port tetap pada API.</a:t>
            </a:r>
          </a:p>
          <a:p xmlns:a="http://schemas.openxmlformats.org/drawingml/2006/main">
            <a:pPr marL="0" indent="0">
              <a:spcAft>
                <a:spcPts val="200"/>
              </a:spcAft>
              <a:buNone/>
            </a:pPr>
            <a:r>
              <a:rPr sz="1100">
                <a:solidFill>
                  <a:srgbClr val="94A3B8"/>
                </a:solidFill>
                <a:latin typeface="Consolas"/>
                <a:ea typeface="Consolas"/>
                <a:cs typeface="Consolas"/>
              </a:rPr>
              <a:t># 3. Publish port pada proxy saja.</a:t>
            </a:r>
          </a:p>
          <a:p xmlns:a="http://schemas.openxmlformats.org/drawingml/2006/main">
            <a:pPr marL="0" indent="0">
              <a:spcAft>
                <a:spcPts val="200"/>
              </a:spcAft>
              <a:buNone/>
            </a:pPr>
            <a:r>
              <a:rPr sz="1100">
                <a:solidFill>
                  <a:srgbClr val="94A3B8"/>
                </a:solidFill>
                <a:latin typeface="Consolas"/>
                <a:ea typeface="Consolas"/>
                <a:cs typeface="Consolas"/>
              </a:rPr>
              <a:t># 4. Konfigurasi upstream dan DNS.</a:t>
            </a:r>
          </a:p>
          <a:p xmlns:a="http://schemas.openxmlformats.org/drawingml/2006/main">
            <a:pPr marL="0" indent="0">
              <a:spcAft>
                <a:spcPts val="200"/>
              </a:spcAft>
              <a:buNone/>
            </a:pPr>
          </a:p>
          <a:p xmlns:a="http://schemas.openxmlformats.org/drawingml/2006/main">
            <a:pPr marL="0" indent="0">
              <a:spcAft>
                <a:spcPts val="200"/>
              </a:spcAft>
              <a:buNone/>
            </a:pPr>
            <a:r>
              <a:rPr sz="1100">
                <a:solidFill>
                  <a:srgbClr val="94A3B8"/>
                </a:solidFill>
                <a:latin typeface="Consolas"/>
                <a:ea typeface="Consolas"/>
                <a:cs typeface="Consolas"/>
              </a:rPr>
              <a:t># DNS service menemukan alamat.</a:t>
            </a:r>
          </a:p>
          <a:p xmlns:a="http://schemas.openxmlformats.org/drawingml/2006/main">
            <a:pPr marL="0" indent="0">
              <a:spcAft>
                <a:spcPts val="200"/>
              </a:spcAft>
              <a:buNone/>
            </a:pPr>
            <a:r>
              <a:rPr sz="1100">
                <a:solidFill>
                  <a:srgbClr val="94A3B8"/>
                </a:solidFill>
                <a:latin typeface="Consolas"/>
                <a:ea typeface="Consolas"/>
                <a:cs typeface="Consolas"/>
              </a:rPr>
              <a:t># Load balancer mengatur request.</a:t>
            </a:r>
          </a:p>
          <a:p xmlns:a="http://schemas.openxmlformats.org/drawingml/2006/main">
            <a:pPr marL="0" indent="0">
              <a:spcAft>
                <a:spcPts val="200"/>
              </a:spcAft>
              <a:buNone/>
            </a:pPr>
            <a:r>
              <a:rPr sz="1100">
                <a:solidFill>
                  <a:srgbClr val="94A3B8"/>
                </a:solidFill>
                <a:latin typeface="Consolas"/>
                <a:ea typeface="Consolas"/>
                <a:cs typeface="Consolas"/>
              </a:rPr>
              <a:t># Nginx perlu konfigurasi upstream.</a:t>
            </a:r>
          </a:p>
          <a:p xmlns:a="http://schemas.openxmlformats.org/drawingml/2006/main">
            <a:pPr marL="0" indent="0">
              <a:spcAft>
                <a:spcPts val="200"/>
              </a:spcAft>
              <a:buNone/>
            </a:pPr>
            <a:r>
              <a:rPr sz="1100">
                <a:solidFill>
                  <a:srgbClr val="94A3B8"/>
                </a:solidFill>
                <a:latin typeface="Consolas"/>
                <a:ea typeface="Consolas"/>
                <a:cs typeface="Consolas"/>
              </a:rPr>
              <a:t># Jangan copy --scale ke lab saat ini.</a:t>
            </a:r>
          </a:p>
        </p:txBody>
      </p:sp>
    </p:spTree>
    <p:extLst>
      <p:ext uri="{BB962C8B-B14F-4D97-AF65-F5344CB8AC3E}">
        <p14:creationId xmlns:p14="http://schemas.microsoft.com/office/powerpoint/2010/main" val="127026478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9BD716-694E-4F70-80ED-5E3E622D460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EA328D08-BED7-4566-AF33-AE8644554496}"/>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20</a:t>
            </a:r>
            <a:endParaRPr sz="900"/>
          </a:p>
        </p:txBody>
      </p:sp>
      <p:sp>
        <p:nvSpPr>
          <p:cNvPr id="4" name="Shape 2">
            <a:extLst xmlns:a="http://schemas.openxmlformats.org/drawingml/2006/main">
              <a:ext uri="{FF2B5EF4-FFF2-40B4-BE49-F238E27FC236}">
                <a16:creationId xmlns:a16="http://schemas.microsoft.com/office/drawing/2014/main" id="{850A2C06-A908-413C-8428-993E8CF129A4}"/>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5" name="Image 0">
            <a:extLst xmlns:a="http://schemas.openxmlformats.org/drawingml/2006/main">
              <a:ext uri="{FF2B5EF4-FFF2-40B4-BE49-F238E27FC236}">
                <a16:creationId xmlns:a16="http://schemas.microsoft.com/office/drawing/2014/main" id="{0E2EE811-44E7-4432-95B4-C3392BB8CC5C}"/>
              </a:ext>
            </a:extLst>
          </p:cNvPr>
          <p:cNvPicPr>
            <a:picLocks xmlns:a="http://schemas.openxmlformats.org/drawingml/2006/main" noChangeAspect="1"/>
          </p:cNvPicPr>
          <p:nvPr/>
        </p:nvPicPr>
        <p:blipFill>
          <a:blip xmlns:r="http://schemas.openxmlformats.org/officeDocument/2006/relationships" xmlns:a="http://schemas.openxmlformats.org/drawingml/2006/main" r:embed="R83a81cdbc9e5418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6" name="Image 1">
            <a:extLst xmlns:a="http://schemas.openxmlformats.org/drawingml/2006/main">
              <a:ext uri="{FF2B5EF4-FFF2-40B4-BE49-F238E27FC236}">
                <a16:creationId xmlns:a16="http://schemas.microsoft.com/office/drawing/2014/main" id="{7A8EAC65-F509-466D-BB70-62263C4697E1}"/>
              </a:ext>
            </a:extLst>
          </p:cNvPr>
          <p:cNvPicPr>
            <a:picLocks xmlns:a="http://schemas.openxmlformats.org/drawingml/2006/main" noChangeAspect="1"/>
          </p:cNvPicPr>
          <p:nvPr/>
        </p:nvPicPr>
        <p:blipFill>
          <a:blip xmlns:r="http://schemas.openxmlformats.org/officeDocument/2006/relationships" xmlns:a="http://schemas.openxmlformats.org/drawingml/2006/main" r:embed="R719499f36f5246e9"/>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FEDFC3E3-AFCB-4528-908C-BF692F6AE096}"/>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F11A0BE0-F0DD-4CCA-A09C-BB3F45680E3F}"/>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Custom Networks - Tier Isolation</a:t>
            </a:r>
            <a:endParaRPr sz="2200"/>
          </a:p>
        </p:txBody>
      </p:sp>
      <p:sp>
        <p:nvSpPr>
          <p:cNvPr id="9" name="Text 5">
            <a:extLst xmlns:a="http://schemas.openxmlformats.org/drawingml/2006/main">
              <a:ext uri="{FF2B5EF4-FFF2-40B4-BE49-F238E27FC236}">
                <a16:creationId xmlns:a16="http://schemas.microsoft.com/office/drawing/2014/main" id="{6B717B29-A989-4AB5-AC13-3F2DB3CD7597}"/>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Pisah frontend dari backend - db tidak ke-expose dari outside</a:t>
            </a:r>
            <a:endParaRPr sz="1200"/>
          </a:p>
        </p:txBody>
      </p:sp>
      <p:sp>
        <p:nvSpPr>
          <p:cNvPr id="10" name="Shape 6">
            <a:extLst xmlns:a="http://schemas.openxmlformats.org/drawingml/2006/main">
              <a:ext uri="{FF2B5EF4-FFF2-40B4-BE49-F238E27FC236}">
                <a16:creationId xmlns:a16="http://schemas.microsoft.com/office/drawing/2014/main" id="{D6F377C9-7EE5-4BE5-8761-A15F3165E09B}"/>
              </a:ext>
            </a:extLst>
          </p:cNvPr>
          <p:cNvSpPr>
            <a:spLocks xmlns:a="http://schemas.openxmlformats.org/drawingml/2006/main" noGrp="1"/>
          </p:cNvSpPr>
          <p:nvPr/>
        </p:nvSpPr>
        <p:spPr>
          <a:xfrm xmlns:a="http://schemas.openxmlformats.org/drawingml/2006/main">
            <a:off x="457200" y="1417320"/>
            <a:ext cx="1124712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5985E352-0181-4D12-AC87-964389DCA718}"/>
              </a:ext>
            </a:extLst>
          </p:cNvPr>
          <p:cNvSpPr>
            <a:spLocks xmlns:a="http://schemas.openxmlformats.org/drawingml/2006/main" noGrp="1"/>
          </p:cNvSpPr>
          <p:nvPr/>
        </p:nvSpPr>
        <p:spPr>
          <a:xfrm xmlns:a="http://schemas.openxmlformats.org/drawingml/2006/main">
            <a:off x="685800" y="1508760"/>
            <a:ext cx="107899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Pattern: </a:t>
            </a:r>
            <a:r>
              <a:rPr sz="1300">
                <a:solidFill>
                  <a:srgbClr val="FFFFFF"/>
                </a:solidFill>
                <a:latin typeface="Calibri"/>
                <a:ea typeface="Calibri"/>
                <a:cs typeface="Calibri"/>
              </a:rPr>
              <a:t>frontend network (web + api) + backend network (api + db + cache). API jadi bridge.</a:t>
            </a:r>
            <a:endParaRPr sz="1300"/>
          </a:p>
          <a:p xmlns:a="http://schemas.openxmlformats.org/drawingml/2006/main">
            <a:pPr marL="0" indent="0">
              <a:buNone/>
            </a:pPr>
            <a:r>
              <a:rPr sz="1100" i="1">
                <a:solidFill>
                  <a:srgbClr val="FFE0B2"/>
                </a:solidFill>
                <a:latin typeface="Calibri"/>
                <a:ea typeface="Calibri"/>
                <a:cs typeface="Calibri"/>
              </a:rPr>
              <a:t>Hasil: web TIDAK bisa kontak db langsung. Defense in depth - layer security tambahan.</a:t>
            </a:r>
            <a:endParaRPr sz="1300"/>
          </a:p>
        </p:txBody>
      </p:sp>
      <p:sp>
        <p:nvSpPr>
          <p:cNvPr id="12" name="Shape 8">
            <a:extLst xmlns:a="http://schemas.openxmlformats.org/drawingml/2006/main">
              <a:ext uri="{FF2B5EF4-FFF2-40B4-BE49-F238E27FC236}">
                <a16:creationId xmlns:a16="http://schemas.microsoft.com/office/drawing/2014/main" id="{E539D12E-94F6-4C6E-847C-D42451F6E955}"/>
              </a:ext>
            </a:extLst>
          </p:cNvPr>
          <p:cNvSpPr>
            <a:spLocks xmlns:a="http://schemas.openxmlformats.org/drawingml/2006/main" noGrp="1"/>
          </p:cNvSpPr>
          <p:nvPr/>
        </p:nvSpPr>
        <p:spPr>
          <a:xfrm xmlns:a="http://schemas.openxmlformats.org/drawingml/2006/main">
            <a:off x="457200" y="2514600"/>
            <a:ext cx="11247120" cy="237744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3" name="Shape 9">
            <a:extLst xmlns:a="http://schemas.openxmlformats.org/drawingml/2006/main">
              <a:ext uri="{FF2B5EF4-FFF2-40B4-BE49-F238E27FC236}">
                <a16:creationId xmlns:a16="http://schemas.microsoft.com/office/drawing/2014/main" id="{DE639223-2B27-43A5-8CDE-75A39520E0E3}"/>
              </a:ext>
            </a:extLst>
          </p:cNvPr>
          <p:cNvSpPr>
            <a:spLocks xmlns:a="http://schemas.openxmlformats.org/drawingml/2006/main" noGrp="1"/>
          </p:cNvSpPr>
          <p:nvPr/>
        </p:nvSpPr>
        <p:spPr>
          <a:xfrm xmlns:a="http://schemas.openxmlformats.org/drawingml/2006/main">
            <a:off x="777240" y="2743200"/>
            <a:ext cx="5120640" cy="1828800"/>
          </a:xfrm>
          <a:prstGeom xmlns:a="http://schemas.openxmlformats.org/drawingml/2006/main" prst="rect">
            <a:avLst/>
          </a:prstGeom>
          <a:solidFill xmlns:a="http://schemas.openxmlformats.org/drawingml/2006/main">
            <a:srgbClr val="DCE7F5"/>
          </a:solidFill>
          <a:ln xmlns:a="http://schemas.openxmlformats.org/drawingml/2006/main" w="12700">
            <a:solidFill>
              <a:srgbClr val="1976D2"/>
            </a:solidFill>
            <a:prstDash val="dash"/>
          </a:ln>
        </p:spPr>
      </p:sp>
      <p:sp>
        <p:nvSpPr>
          <p:cNvPr id="14" name="Text 10">
            <a:extLst xmlns:a="http://schemas.openxmlformats.org/drawingml/2006/main">
              <a:ext uri="{FF2B5EF4-FFF2-40B4-BE49-F238E27FC236}">
                <a16:creationId xmlns:a16="http://schemas.microsoft.com/office/drawing/2014/main" id="{8FED086B-6E73-46DC-9446-2C78FB4B6207}"/>
              </a:ext>
            </a:extLst>
          </p:cNvPr>
          <p:cNvSpPr>
            <a:spLocks xmlns:a="http://schemas.openxmlformats.org/drawingml/2006/main" noGrp="1"/>
          </p:cNvSpPr>
          <p:nvPr/>
        </p:nvSpPr>
        <p:spPr>
          <a:xfrm xmlns:a="http://schemas.openxmlformats.org/drawingml/2006/main">
            <a:off x="777240" y="2743200"/>
            <a:ext cx="5120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i="1">
                <a:solidFill>
                  <a:srgbClr val="1976D2"/>
                </a:solidFill>
                <a:latin typeface="Calibri"/>
                <a:ea typeface="Calibri"/>
                <a:cs typeface="Calibri"/>
              </a:rPr>
              <a:t>frontend network</a:t>
            </a:r>
            <a:endParaRPr sz="1000"/>
          </a:p>
        </p:txBody>
      </p:sp>
      <p:sp>
        <p:nvSpPr>
          <p:cNvPr id="15" name="Shape 11">
            <a:extLst xmlns:a="http://schemas.openxmlformats.org/drawingml/2006/main">
              <a:ext uri="{FF2B5EF4-FFF2-40B4-BE49-F238E27FC236}">
                <a16:creationId xmlns:a16="http://schemas.microsoft.com/office/drawing/2014/main" id="{F8B2E042-6CD2-4967-93A1-BEE41A5E7654}"/>
              </a:ext>
            </a:extLst>
          </p:cNvPr>
          <p:cNvSpPr>
            <a:spLocks xmlns:a="http://schemas.openxmlformats.org/drawingml/2006/main" noGrp="1"/>
          </p:cNvSpPr>
          <p:nvPr/>
        </p:nvSpPr>
        <p:spPr>
          <a:xfrm xmlns:a="http://schemas.openxmlformats.org/drawingml/2006/main">
            <a:off x="1097280" y="3246120"/>
            <a:ext cx="1645920" cy="109728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6" name="Text 12">
            <a:extLst xmlns:a="http://schemas.openxmlformats.org/drawingml/2006/main">
              <a:ext uri="{FF2B5EF4-FFF2-40B4-BE49-F238E27FC236}">
                <a16:creationId xmlns:a16="http://schemas.microsoft.com/office/drawing/2014/main" id="{B2C05417-C2D5-4104-A00D-A32AF513EECF}"/>
              </a:ext>
            </a:extLst>
          </p:cNvPr>
          <p:cNvSpPr>
            <a:spLocks xmlns:a="http://schemas.openxmlformats.org/drawingml/2006/main" noGrp="1"/>
          </p:cNvSpPr>
          <p:nvPr/>
        </p:nvSpPr>
        <p:spPr>
          <a:xfrm xmlns:a="http://schemas.openxmlformats.org/drawingml/2006/main">
            <a:off x="1097280" y="3291840"/>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37021"/>
                </a:solidFill>
                <a:latin typeface="Consolas"/>
                <a:ea typeface="Consolas"/>
                <a:cs typeface="Consolas"/>
              </a:rPr>
              <a:t>web</a:t>
            </a:r>
            <a:endParaRPr sz="1200"/>
          </a:p>
        </p:txBody>
      </p:sp>
      <p:sp>
        <p:nvSpPr>
          <p:cNvPr id="17" name="Text 13">
            <a:extLst xmlns:a="http://schemas.openxmlformats.org/drawingml/2006/main">
              <a:ext uri="{FF2B5EF4-FFF2-40B4-BE49-F238E27FC236}">
                <a16:creationId xmlns:a16="http://schemas.microsoft.com/office/drawing/2014/main" id="{7EBBB6CB-60B3-4EF2-A3D2-F938B3E1D813}"/>
              </a:ext>
            </a:extLst>
          </p:cNvPr>
          <p:cNvSpPr>
            <a:spLocks xmlns:a="http://schemas.openxmlformats.org/drawingml/2006/main" noGrp="1"/>
          </p:cNvSpPr>
          <p:nvPr/>
        </p:nvSpPr>
        <p:spPr>
          <a:xfrm xmlns:a="http://schemas.openxmlformats.org/drawingml/2006/main">
            <a:off x="1097280" y="3703320"/>
            <a:ext cx="1645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FE0B2"/>
                </a:solidFill>
                <a:latin typeface="Calibri"/>
                <a:ea typeface="Calibri"/>
                <a:cs typeface="Calibri"/>
              </a:rPr>
              <a:t>Nginx</a:t>
            </a:r>
            <a:endParaRPr sz="900"/>
          </a:p>
        </p:txBody>
      </p:sp>
      <p:sp>
        <p:nvSpPr>
          <p:cNvPr id="18" name="Text 14">
            <a:extLst xmlns:a="http://schemas.openxmlformats.org/drawingml/2006/main">
              <a:ext uri="{FF2B5EF4-FFF2-40B4-BE49-F238E27FC236}">
                <a16:creationId xmlns:a16="http://schemas.microsoft.com/office/drawing/2014/main" id="{0A5869B5-84F6-4300-86C0-AB9735B7CEBC}"/>
              </a:ext>
            </a:extLst>
          </p:cNvPr>
          <p:cNvSpPr>
            <a:spLocks xmlns:a="http://schemas.openxmlformats.org/drawingml/2006/main" noGrp="1"/>
          </p:cNvSpPr>
          <p:nvPr/>
        </p:nvSpPr>
        <p:spPr>
          <a:xfrm xmlns:a="http://schemas.openxmlformats.org/drawingml/2006/main">
            <a:off x="1097280" y="4023360"/>
            <a:ext cx="1645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FE0B2"/>
                </a:solidFill>
                <a:latin typeface="Calibri"/>
                <a:ea typeface="Calibri"/>
                <a:cs typeface="Calibri"/>
              </a:rPr>
              <a:t>:80 public</a:t>
            </a:r>
            <a:endParaRPr sz="900"/>
          </a:p>
        </p:txBody>
      </p:sp>
      <p:sp>
        <p:nvSpPr>
          <p:cNvPr id="19" name="Shape 15">
            <a:extLst xmlns:a="http://schemas.openxmlformats.org/drawingml/2006/main">
              <a:ext uri="{FF2B5EF4-FFF2-40B4-BE49-F238E27FC236}">
                <a16:creationId xmlns:a16="http://schemas.microsoft.com/office/drawing/2014/main" id="{B8B18BC6-2F0E-44D1-A76B-E7DE3B8D414B}"/>
              </a:ext>
            </a:extLst>
          </p:cNvPr>
          <p:cNvSpPr>
            <a:spLocks xmlns:a="http://schemas.openxmlformats.org/drawingml/2006/main" noGrp="1"/>
          </p:cNvSpPr>
          <p:nvPr/>
        </p:nvSpPr>
        <p:spPr>
          <a:xfrm xmlns:a="http://schemas.openxmlformats.org/drawingml/2006/main">
            <a:off x="4069080" y="3246120"/>
            <a:ext cx="1645920" cy="10972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0" name="Text 16">
            <a:extLst xmlns:a="http://schemas.openxmlformats.org/drawingml/2006/main">
              <a:ext uri="{FF2B5EF4-FFF2-40B4-BE49-F238E27FC236}">
                <a16:creationId xmlns:a16="http://schemas.microsoft.com/office/drawing/2014/main" id="{C064DB88-E9ED-4277-88AF-AD40E86C9308}"/>
              </a:ext>
            </a:extLst>
          </p:cNvPr>
          <p:cNvSpPr>
            <a:spLocks xmlns:a="http://schemas.openxmlformats.org/drawingml/2006/main" noGrp="1"/>
          </p:cNvSpPr>
          <p:nvPr/>
        </p:nvSpPr>
        <p:spPr>
          <a:xfrm xmlns:a="http://schemas.openxmlformats.org/drawingml/2006/main">
            <a:off x="4069080" y="3291840"/>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onsolas"/>
                <a:ea typeface="Consolas"/>
                <a:cs typeface="Consolas"/>
              </a:rPr>
              <a:t>api</a:t>
            </a:r>
            <a:endParaRPr sz="1200"/>
          </a:p>
        </p:txBody>
      </p:sp>
      <p:sp>
        <p:nvSpPr>
          <p:cNvPr id="21" name="Text 17">
            <a:extLst xmlns:a="http://schemas.openxmlformats.org/drawingml/2006/main">
              <a:ext uri="{FF2B5EF4-FFF2-40B4-BE49-F238E27FC236}">
                <a16:creationId xmlns:a16="http://schemas.microsoft.com/office/drawing/2014/main" id="{3C8A3ADE-2BCB-4F1D-8201-ADEDC16FED6B}"/>
              </a:ext>
            </a:extLst>
          </p:cNvPr>
          <p:cNvSpPr>
            <a:spLocks xmlns:a="http://schemas.openxmlformats.org/drawingml/2006/main" noGrp="1"/>
          </p:cNvSpPr>
          <p:nvPr/>
        </p:nvSpPr>
        <p:spPr>
          <a:xfrm xmlns:a="http://schemas.openxmlformats.org/drawingml/2006/main">
            <a:off x="4069080" y="3703320"/>
            <a:ext cx="1645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FFFFF"/>
                </a:solidFill>
                <a:latin typeface="Calibri"/>
                <a:ea typeface="Calibri"/>
                <a:cs typeface="Calibri"/>
              </a:rPr>
              <a:t>(bridge)</a:t>
            </a:r>
            <a:endParaRPr sz="900"/>
          </a:p>
        </p:txBody>
      </p:sp>
      <p:sp>
        <p:nvSpPr>
          <p:cNvPr id="22" name="Text 18">
            <a:extLst xmlns:a="http://schemas.openxmlformats.org/drawingml/2006/main">
              <a:ext uri="{FF2B5EF4-FFF2-40B4-BE49-F238E27FC236}">
                <a16:creationId xmlns:a16="http://schemas.microsoft.com/office/drawing/2014/main" id="{DE149D04-27CF-45B9-9C44-F249854875A0}"/>
              </a:ext>
            </a:extLst>
          </p:cNvPr>
          <p:cNvSpPr>
            <a:spLocks xmlns:a="http://schemas.openxmlformats.org/drawingml/2006/main" noGrp="1"/>
          </p:cNvSpPr>
          <p:nvPr/>
        </p:nvSpPr>
        <p:spPr>
          <a:xfrm xmlns:a="http://schemas.openxmlformats.org/drawingml/2006/main">
            <a:off x="4069080" y="4023360"/>
            <a:ext cx="1645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FFFFF"/>
                </a:solidFill>
                <a:latin typeface="Calibri"/>
                <a:ea typeface="Calibri"/>
                <a:cs typeface="Calibri"/>
              </a:rPr>
              <a:t>FastAPI</a:t>
            </a:r>
            <a:endParaRPr sz="900"/>
          </a:p>
        </p:txBody>
      </p:sp>
      <p:sp>
        <p:nvSpPr>
          <p:cNvPr id="23" name="Shape 19">
            <a:extLst xmlns:a="http://schemas.openxmlformats.org/drawingml/2006/main">
              <a:ext uri="{FF2B5EF4-FFF2-40B4-BE49-F238E27FC236}">
                <a16:creationId xmlns:a16="http://schemas.microsoft.com/office/drawing/2014/main" id="{164B740C-B4A6-42E5-A54F-BDE1D076DC64}"/>
              </a:ext>
            </a:extLst>
          </p:cNvPr>
          <p:cNvSpPr>
            <a:spLocks xmlns:a="http://schemas.openxmlformats.org/drawingml/2006/main" noGrp="1"/>
          </p:cNvSpPr>
          <p:nvPr/>
        </p:nvSpPr>
        <p:spPr>
          <a:xfrm xmlns:a="http://schemas.openxmlformats.org/drawingml/2006/main">
            <a:off x="6080760" y="2743200"/>
            <a:ext cx="5486400" cy="1828800"/>
          </a:xfrm>
          <a:prstGeom xmlns:a="http://schemas.openxmlformats.org/drawingml/2006/main" prst="rect">
            <a:avLst/>
          </a:prstGeom>
          <a:solidFill xmlns:a="http://schemas.openxmlformats.org/drawingml/2006/main">
            <a:srgbClr val="DCFCE7"/>
          </a:solidFill>
          <a:ln xmlns:a="http://schemas.openxmlformats.org/drawingml/2006/main" w="12700">
            <a:solidFill>
              <a:srgbClr val="059669"/>
            </a:solidFill>
            <a:prstDash val="dash"/>
          </a:ln>
        </p:spPr>
      </p:sp>
      <p:sp>
        <p:nvSpPr>
          <p:cNvPr id="24" name="Text 20">
            <a:extLst xmlns:a="http://schemas.openxmlformats.org/drawingml/2006/main">
              <a:ext uri="{FF2B5EF4-FFF2-40B4-BE49-F238E27FC236}">
                <a16:creationId xmlns:a16="http://schemas.microsoft.com/office/drawing/2014/main" id="{37C788E6-C949-4219-9522-D3816408877E}"/>
              </a:ext>
            </a:extLst>
          </p:cNvPr>
          <p:cNvSpPr>
            <a:spLocks xmlns:a="http://schemas.openxmlformats.org/drawingml/2006/main" noGrp="1"/>
          </p:cNvSpPr>
          <p:nvPr/>
        </p:nvSpPr>
        <p:spPr>
          <a:xfrm xmlns:a="http://schemas.openxmlformats.org/drawingml/2006/main">
            <a:off x="6080760" y="27432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i="1">
                <a:solidFill>
                  <a:srgbClr val="059669"/>
                </a:solidFill>
                <a:latin typeface="Calibri"/>
                <a:ea typeface="Calibri"/>
                <a:cs typeface="Calibri"/>
              </a:rPr>
              <a:t>backend network (internal only)</a:t>
            </a:r>
            <a:endParaRPr sz="1000"/>
          </a:p>
        </p:txBody>
      </p:sp>
      <p:sp>
        <p:nvSpPr>
          <p:cNvPr id="25" name="Shape 21">
            <a:extLst xmlns:a="http://schemas.openxmlformats.org/drawingml/2006/main">
              <a:ext uri="{FF2B5EF4-FFF2-40B4-BE49-F238E27FC236}">
                <a16:creationId xmlns:a16="http://schemas.microsoft.com/office/drawing/2014/main" id="{3CB10BA0-410A-4952-929A-089965B2ECE1}"/>
              </a:ext>
            </a:extLst>
          </p:cNvPr>
          <p:cNvSpPr>
            <a:spLocks xmlns:a="http://schemas.openxmlformats.org/drawingml/2006/main" noGrp="1"/>
          </p:cNvSpPr>
          <p:nvPr/>
        </p:nvSpPr>
        <p:spPr>
          <a:xfrm xmlns:a="http://schemas.openxmlformats.org/drawingml/2006/main">
            <a:off x="6858000" y="3246120"/>
            <a:ext cx="1645920" cy="109728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26" name="Text 22">
            <a:extLst xmlns:a="http://schemas.openxmlformats.org/drawingml/2006/main">
              <a:ext uri="{FF2B5EF4-FFF2-40B4-BE49-F238E27FC236}">
                <a16:creationId xmlns:a16="http://schemas.microsoft.com/office/drawing/2014/main" id="{855876D3-1BF6-486D-B569-E6F838A0EC95}"/>
              </a:ext>
            </a:extLst>
          </p:cNvPr>
          <p:cNvSpPr>
            <a:spLocks xmlns:a="http://schemas.openxmlformats.org/drawingml/2006/main" noGrp="1"/>
          </p:cNvSpPr>
          <p:nvPr/>
        </p:nvSpPr>
        <p:spPr>
          <a:xfrm xmlns:a="http://schemas.openxmlformats.org/drawingml/2006/main">
            <a:off x="6858000" y="3291840"/>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onsolas"/>
                <a:ea typeface="Consolas"/>
                <a:cs typeface="Consolas"/>
              </a:rPr>
              <a:t>db</a:t>
            </a:r>
            <a:endParaRPr sz="1200"/>
          </a:p>
        </p:txBody>
      </p:sp>
      <p:sp>
        <p:nvSpPr>
          <p:cNvPr id="27" name="Text 23">
            <a:extLst xmlns:a="http://schemas.openxmlformats.org/drawingml/2006/main">
              <a:ext uri="{FF2B5EF4-FFF2-40B4-BE49-F238E27FC236}">
                <a16:creationId xmlns:a16="http://schemas.microsoft.com/office/drawing/2014/main" id="{D1202D9B-CF2C-4066-8267-B412B35804D9}"/>
              </a:ext>
            </a:extLst>
          </p:cNvPr>
          <p:cNvSpPr>
            <a:spLocks xmlns:a="http://schemas.openxmlformats.org/drawingml/2006/main" noGrp="1"/>
          </p:cNvSpPr>
          <p:nvPr/>
        </p:nvSpPr>
        <p:spPr>
          <a:xfrm xmlns:a="http://schemas.openxmlformats.org/drawingml/2006/main">
            <a:off x="6858000" y="3703320"/>
            <a:ext cx="1645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FE0B2"/>
                </a:solidFill>
                <a:latin typeface="Calibri"/>
                <a:ea typeface="Calibri"/>
                <a:cs typeface="Calibri"/>
              </a:rPr>
              <a:t>Postgres</a:t>
            </a:r>
            <a:endParaRPr sz="900"/>
          </a:p>
        </p:txBody>
      </p:sp>
      <p:sp>
        <p:nvSpPr>
          <p:cNvPr id="28" name="Text 24">
            <a:extLst xmlns:a="http://schemas.openxmlformats.org/drawingml/2006/main">
              <a:ext uri="{FF2B5EF4-FFF2-40B4-BE49-F238E27FC236}">
                <a16:creationId xmlns:a16="http://schemas.microsoft.com/office/drawing/2014/main" id="{0CC7014A-5FE2-47A4-A5C3-8273912F2EA9}"/>
              </a:ext>
            </a:extLst>
          </p:cNvPr>
          <p:cNvSpPr>
            <a:spLocks xmlns:a="http://schemas.openxmlformats.org/drawingml/2006/main" noGrp="1"/>
          </p:cNvSpPr>
          <p:nvPr/>
        </p:nvSpPr>
        <p:spPr>
          <a:xfrm xmlns:a="http://schemas.openxmlformats.org/drawingml/2006/main">
            <a:off x="6858000" y="4023360"/>
            <a:ext cx="1645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FE0B2"/>
                </a:solidFill>
                <a:latin typeface="Calibri"/>
                <a:ea typeface="Calibri"/>
                <a:cs typeface="Calibri"/>
              </a:rPr>
              <a:t>no public port</a:t>
            </a:r>
            <a:endParaRPr sz="900"/>
          </a:p>
        </p:txBody>
      </p:sp>
      <p:sp>
        <p:nvSpPr>
          <p:cNvPr id="29" name="Shape 25">
            <a:extLst xmlns:a="http://schemas.openxmlformats.org/drawingml/2006/main">
              <a:ext uri="{FF2B5EF4-FFF2-40B4-BE49-F238E27FC236}">
                <a16:creationId xmlns:a16="http://schemas.microsoft.com/office/drawing/2014/main" id="{65AA4F31-0DF9-4352-B1C7-3B610FC6E4C1}"/>
              </a:ext>
            </a:extLst>
          </p:cNvPr>
          <p:cNvSpPr>
            <a:spLocks xmlns:a="http://schemas.openxmlformats.org/drawingml/2006/main" noGrp="1"/>
          </p:cNvSpPr>
          <p:nvPr/>
        </p:nvSpPr>
        <p:spPr>
          <a:xfrm xmlns:a="http://schemas.openxmlformats.org/drawingml/2006/main">
            <a:off x="9144000" y="3246120"/>
            <a:ext cx="1645920" cy="109728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sp>
      <p:sp>
        <p:nvSpPr>
          <p:cNvPr id="30" name="Text 26">
            <a:extLst xmlns:a="http://schemas.openxmlformats.org/drawingml/2006/main">
              <a:ext uri="{FF2B5EF4-FFF2-40B4-BE49-F238E27FC236}">
                <a16:creationId xmlns:a16="http://schemas.microsoft.com/office/drawing/2014/main" id="{CFA69BDB-1373-4481-A29C-EF6EABABC7B8}"/>
              </a:ext>
            </a:extLst>
          </p:cNvPr>
          <p:cNvSpPr>
            <a:spLocks xmlns:a="http://schemas.openxmlformats.org/drawingml/2006/main" noGrp="1"/>
          </p:cNvSpPr>
          <p:nvPr/>
        </p:nvSpPr>
        <p:spPr>
          <a:xfrm xmlns:a="http://schemas.openxmlformats.org/drawingml/2006/main">
            <a:off x="9144000" y="3291840"/>
            <a:ext cx="1645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onsolas"/>
                <a:ea typeface="Consolas"/>
                <a:cs typeface="Consolas"/>
              </a:rPr>
              <a:t>cache</a:t>
            </a:r>
            <a:endParaRPr sz="1200"/>
          </a:p>
        </p:txBody>
      </p:sp>
      <p:sp>
        <p:nvSpPr>
          <p:cNvPr id="31" name="Text 27">
            <a:extLst xmlns:a="http://schemas.openxmlformats.org/drawingml/2006/main">
              <a:ext uri="{FF2B5EF4-FFF2-40B4-BE49-F238E27FC236}">
                <a16:creationId xmlns:a16="http://schemas.microsoft.com/office/drawing/2014/main" id="{26FDB1C8-A8D7-4C9B-98FF-5421FDF987F9}"/>
              </a:ext>
            </a:extLst>
          </p:cNvPr>
          <p:cNvSpPr>
            <a:spLocks xmlns:a="http://schemas.openxmlformats.org/drawingml/2006/main" noGrp="1"/>
          </p:cNvSpPr>
          <p:nvPr/>
        </p:nvSpPr>
        <p:spPr>
          <a:xfrm xmlns:a="http://schemas.openxmlformats.org/drawingml/2006/main">
            <a:off x="9144000" y="3703320"/>
            <a:ext cx="1645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FE0B2"/>
                </a:solidFill>
                <a:latin typeface="Calibri"/>
                <a:ea typeface="Calibri"/>
                <a:cs typeface="Calibri"/>
              </a:rPr>
              <a:t>Redis</a:t>
            </a:r>
            <a:endParaRPr sz="900"/>
          </a:p>
        </p:txBody>
      </p:sp>
      <p:sp>
        <p:nvSpPr>
          <p:cNvPr id="32" name="Text 28">
            <a:extLst xmlns:a="http://schemas.openxmlformats.org/drawingml/2006/main">
              <a:ext uri="{FF2B5EF4-FFF2-40B4-BE49-F238E27FC236}">
                <a16:creationId xmlns:a16="http://schemas.microsoft.com/office/drawing/2014/main" id="{35F77C16-EA1F-4E8B-881F-6619AA9281D4}"/>
              </a:ext>
            </a:extLst>
          </p:cNvPr>
          <p:cNvSpPr>
            <a:spLocks xmlns:a="http://schemas.openxmlformats.org/drawingml/2006/main" noGrp="1"/>
          </p:cNvSpPr>
          <p:nvPr/>
        </p:nvSpPr>
        <p:spPr>
          <a:xfrm xmlns:a="http://schemas.openxmlformats.org/drawingml/2006/main">
            <a:off x="9144000" y="4023360"/>
            <a:ext cx="1645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i="1">
                <a:solidFill>
                  <a:srgbClr val="FFE0B2"/>
                </a:solidFill>
                <a:latin typeface="Calibri"/>
                <a:ea typeface="Calibri"/>
                <a:cs typeface="Calibri"/>
              </a:rPr>
              <a:t>no public port</a:t>
            </a:r>
            <a:endParaRPr sz="900"/>
          </a:p>
        </p:txBody>
      </p:sp>
      <p:sp>
        <p:nvSpPr>
          <p:cNvPr id="33" name="Shape 29">
            <a:extLst xmlns:a="http://schemas.openxmlformats.org/drawingml/2006/main">
              <a:ext uri="{FF2B5EF4-FFF2-40B4-BE49-F238E27FC236}">
                <a16:creationId xmlns:a16="http://schemas.microsoft.com/office/drawing/2014/main" id="{20E1DFA4-5890-4307-B45A-63E565D9B890}"/>
              </a:ext>
            </a:extLst>
          </p:cNvPr>
          <p:cNvSpPr>
            <a:spLocks xmlns:a="http://schemas.openxmlformats.org/drawingml/2006/main" noGrp="1"/>
          </p:cNvSpPr>
          <p:nvPr/>
        </p:nvSpPr>
        <p:spPr>
          <a:xfrm xmlns:a="http://schemas.openxmlformats.org/drawingml/2006/main">
            <a:off x="457200" y="5074920"/>
            <a:ext cx="11247120" cy="12344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34" name="Shape 30">
            <a:extLst xmlns:a="http://schemas.openxmlformats.org/drawingml/2006/main">
              <a:ext uri="{FF2B5EF4-FFF2-40B4-BE49-F238E27FC236}">
                <a16:creationId xmlns:a16="http://schemas.microsoft.com/office/drawing/2014/main" id="{A3D612A8-8612-46D9-9ED0-8EA993850DA9}"/>
              </a:ext>
            </a:extLst>
          </p:cNvPr>
          <p:cNvSpPr>
            <a:spLocks xmlns:a="http://schemas.openxmlformats.org/drawingml/2006/main" noGrp="1"/>
          </p:cNvSpPr>
          <p:nvPr/>
        </p:nvSpPr>
        <p:spPr>
          <a:xfrm xmlns:a="http://schemas.openxmlformats.org/drawingml/2006/main">
            <a:off x="457200" y="5074920"/>
            <a:ext cx="1124712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35" name="Shape 31">
            <a:extLst xmlns:a="http://schemas.openxmlformats.org/drawingml/2006/main">
              <a:ext uri="{FF2B5EF4-FFF2-40B4-BE49-F238E27FC236}">
                <a16:creationId xmlns:a16="http://schemas.microsoft.com/office/drawing/2014/main" id="{54390E77-2881-4702-B29A-962DDC5ADB04}"/>
              </a:ext>
            </a:extLst>
          </p:cNvPr>
          <p:cNvSpPr>
            <a:spLocks xmlns:a="http://schemas.openxmlformats.org/drawingml/2006/main" noGrp="1"/>
          </p:cNvSpPr>
          <p:nvPr/>
        </p:nvSpPr>
        <p:spPr>
          <a:xfrm xmlns:a="http://schemas.openxmlformats.org/drawingml/2006/main">
            <a:off x="548640" y="51572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36" name="Shape 32">
            <a:extLst xmlns:a="http://schemas.openxmlformats.org/drawingml/2006/main">
              <a:ext uri="{FF2B5EF4-FFF2-40B4-BE49-F238E27FC236}">
                <a16:creationId xmlns:a16="http://schemas.microsoft.com/office/drawing/2014/main" id="{323F9675-13FA-42B1-8FDB-E67E976BCDCC}"/>
              </a:ext>
            </a:extLst>
          </p:cNvPr>
          <p:cNvSpPr>
            <a:spLocks xmlns:a="http://schemas.openxmlformats.org/drawingml/2006/main" noGrp="1"/>
          </p:cNvSpPr>
          <p:nvPr/>
        </p:nvSpPr>
        <p:spPr>
          <a:xfrm xmlns:a="http://schemas.openxmlformats.org/drawingml/2006/main">
            <a:off x="685800" y="51572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37" name="Shape 33">
            <a:extLst xmlns:a="http://schemas.openxmlformats.org/drawingml/2006/main">
              <a:ext uri="{FF2B5EF4-FFF2-40B4-BE49-F238E27FC236}">
                <a16:creationId xmlns:a16="http://schemas.microsoft.com/office/drawing/2014/main" id="{711C00B2-D5AD-4782-BC67-92AB4E21B12B}"/>
              </a:ext>
            </a:extLst>
          </p:cNvPr>
          <p:cNvSpPr>
            <a:spLocks xmlns:a="http://schemas.openxmlformats.org/drawingml/2006/main" noGrp="1"/>
          </p:cNvSpPr>
          <p:nvPr/>
        </p:nvSpPr>
        <p:spPr>
          <a:xfrm xmlns:a="http://schemas.openxmlformats.org/drawingml/2006/main">
            <a:off x="822960" y="51572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8" name="Text 34">
            <a:extLst xmlns:a="http://schemas.openxmlformats.org/drawingml/2006/main">
              <a:ext uri="{FF2B5EF4-FFF2-40B4-BE49-F238E27FC236}">
                <a16:creationId xmlns:a16="http://schemas.microsoft.com/office/drawing/2014/main" id="{9FFEE9EA-ECCF-4563-888A-084B6AEEC9CF}"/>
              </a:ext>
            </a:extLst>
          </p:cNvPr>
          <p:cNvSpPr>
            <a:spLocks xmlns:a="http://schemas.openxmlformats.org/drawingml/2006/main" noGrp="1"/>
          </p:cNvSpPr>
          <p:nvPr/>
        </p:nvSpPr>
        <p:spPr>
          <a:xfrm xmlns:a="http://schemas.openxmlformats.org/drawingml/2006/main">
            <a:off x="1005840" y="507492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isolation network config</a:t>
            </a:r>
            <a:endParaRPr sz="900"/>
          </a:p>
        </p:txBody>
      </p:sp>
      <p:sp>
        <p:nvSpPr>
          <p:cNvPr id="39" name="Text 35">
            <a:extLst xmlns:a="http://schemas.openxmlformats.org/drawingml/2006/main">
              <a:ext uri="{FF2B5EF4-FFF2-40B4-BE49-F238E27FC236}">
                <a16:creationId xmlns:a16="http://schemas.microsoft.com/office/drawing/2014/main" id="{1D823BB7-6BB1-4FAA-AA7B-B086D703C246}"/>
              </a:ext>
            </a:extLst>
          </p:cNvPr>
          <p:cNvSpPr>
            <a:spLocks xmlns:a="http://schemas.openxmlformats.org/drawingml/2006/main" noGrp="1"/>
          </p:cNvSpPr>
          <p:nvPr/>
        </p:nvSpPr>
        <p:spPr>
          <a:xfrm xmlns:a="http://schemas.openxmlformats.org/drawingml/2006/main">
            <a:off x="594360" y="5440680"/>
            <a:ext cx="109728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000" b="1">
                <a:solidFill>
                  <a:srgbClr val="F37021"/>
                </a:solidFill>
                <a:latin typeface="Consolas"/>
                <a:ea typeface="Consolas"/>
                <a:cs typeface="Consolas"/>
              </a:rPr>
              <a:t>services:</a:t>
            </a:r>
            <a:endParaRPr sz="1000"/>
          </a:p>
          <a:p xmlns:a="http://schemas.openxmlformats.org/drawingml/2006/main">
            <a:pPr marL="0" indent="0">
              <a:spcAft>
                <a:spcPts val="200"/>
              </a:spcAft>
              <a:buNone/>
            </a:pPr>
            <a:r>
              <a:rPr sz="1000">
                <a:solidFill>
                  <a:srgbClr val="E2E8F0"/>
                </a:solidFill>
                <a:latin typeface="Consolas"/>
                <a:ea typeface="Consolas"/>
                <a:cs typeface="Consolas"/>
              </a:rPr>
              <a:t>  web:  { networks: [frontend] }</a:t>
            </a:r>
            <a:endParaRPr sz="1000"/>
          </a:p>
          <a:p xmlns:a="http://schemas.openxmlformats.org/drawingml/2006/main">
            <a:pPr marL="0" indent="0">
              <a:spcAft>
                <a:spcPts val="200"/>
              </a:spcAft>
              <a:buNone/>
            </a:pPr>
            <a:r>
              <a:rPr sz="1000" b="1">
                <a:solidFill>
                  <a:srgbClr val="10B981"/>
                </a:solidFill>
                <a:latin typeface="Consolas"/>
                <a:ea typeface="Consolas"/>
                <a:cs typeface="Consolas"/>
              </a:rPr>
              <a:t>  api:  { networks: [frontend, backend] }   # bridge</a:t>
            </a:r>
            <a:endParaRPr sz="1000"/>
          </a:p>
          <a:p xmlns:a="http://schemas.openxmlformats.org/drawingml/2006/main">
            <a:pPr marL="0" indent="0">
              <a:spcAft>
                <a:spcPts val="200"/>
              </a:spcAft>
              <a:buNone/>
            </a:pPr>
            <a:r>
              <a:rPr sz="1000">
                <a:solidFill>
                  <a:srgbClr val="10B981"/>
                </a:solidFill>
                <a:latin typeface="Consolas"/>
                <a:ea typeface="Consolas"/>
                <a:cs typeface="Consolas"/>
              </a:rPr>
              <a:t>  db:   { networks: [backend] }             # tidak bisa diakses dari frontend</a:t>
            </a:r>
            <a:endParaRPr sz="1000"/>
          </a:p>
          <a:p xmlns:a="http://schemas.openxmlformats.org/drawingml/2006/main">
            <a:pPr marL="0" indent="0">
              <a:spcAft>
                <a:spcPts val="200"/>
              </a:spcAft>
              <a:buNone/>
            </a:pPr>
            <a:r>
              <a:rPr sz="1000">
                <a:solidFill>
                  <a:srgbClr val="E2E8F0"/>
                </a:solidFill>
                <a:latin typeface="Consolas"/>
                <a:ea typeface="Consolas"/>
                <a:cs typeface="Consolas"/>
              </a:rPr>
              <a:t>networks: { frontend: {}, backend: { internal: true } }</a:t>
            </a:r>
            <a:endParaRPr sz="1000"/>
          </a:p>
        </p:txBody>
      </p:sp>
    </p:spTree>
    <p:extLst>
      <p:ext uri="{BB962C8B-B14F-4D97-AF65-F5344CB8AC3E}">
        <p14:creationId xmlns:p14="http://schemas.microsoft.com/office/powerpoint/2010/main" val="183748244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ABB714B-B13C-48E4-839D-A3258EF52546}"/>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109579F6-E5A6-466E-A456-EC20BD673625}"/>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21</a:t>
            </a:r>
            <a:endParaRPr sz="900"/>
          </a:p>
        </p:txBody>
      </p:sp>
      <p:sp>
        <p:nvSpPr>
          <p:cNvPr id="4" name="Shape 2">
            <a:extLst xmlns:a="http://schemas.openxmlformats.org/drawingml/2006/main">
              <a:ext uri="{FF2B5EF4-FFF2-40B4-BE49-F238E27FC236}">
                <a16:creationId xmlns:a16="http://schemas.microsoft.com/office/drawing/2014/main" id="{68ACAAC0-EF09-4B22-87B0-65E67059997B}"/>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7" name="Image 0">
            <a:extLst xmlns:a="http://schemas.openxmlformats.org/drawingml/2006/main">
              <a:ext uri="{FF2B5EF4-FFF2-40B4-BE49-F238E27FC236}">
                <a16:creationId xmlns:a16="http://schemas.microsoft.com/office/drawing/2014/main" id="{25D84E7D-01BB-46CF-B5FD-7C18658A74F0}"/>
              </a:ext>
            </a:extLst>
          </p:cNvPr>
          <p:cNvPicPr>
            <a:picLocks xmlns:a="http://schemas.openxmlformats.org/drawingml/2006/main" noChangeAspect="1"/>
          </p:cNvPicPr>
          <p:nvPr/>
        </p:nvPicPr>
        <p:blipFill>
          <a:blip xmlns:r="http://schemas.openxmlformats.org/officeDocument/2006/relationships" xmlns:a="http://schemas.openxmlformats.org/drawingml/2006/main" r:embed="R59101b979c3e4765"/>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8" name="Image 1">
            <a:extLst xmlns:a="http://schemas.openxmlformats.org/drawingml/2006/main">
              <a:ext uri="{FF2B5EF4-FFF2-40B4-BE49-F238E27FC236}">
                <a16:creationId xmlns:a16="http://schemas.microsoft.com/office/drawing/2014/main" id="{5B4BBB0F-16C0-4D1D-A534-3F9F9E72431F}"/>
              </a:ext>
            </a:extLst>
          </p:cNvPr>
          <p:cNvPicPr>
            <a:picLocks xmlns:a="http://schemas.openxmlformats.org/drawingml/2006/main" noChangeAspect="1"/>
          </p:cNvPicPr>
          <p:nvPr/>
        </p:nvPicPr>
        <p:blipFill>
          <a:blip xmlns:r="http://schemas.openxmlformats.org/officeDocument/2006/relationships" xmlns:a="http://schemas.openxmlformats.org/drawingml/2006/main" r:embed="Rd515492ed8a44867"/>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933BAD6-844C-4E85-AE45-7C10128BC82D}"/>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5BFD33AD-D45F-48FA-9041-84FA58B88598}"/>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Port Exposure - Internal vs External</a:t>
            </a:r>
            <a:endParaRPr sz="2200"/>
          </a:p>
        </p:txBody>
      </p:sp>
      <p:sp>
        <p:nvSpPr>
          <p:cNvPr id="9" name="Text 5">
            <a:extLst xmlns:a="http://schemas.openxmlformats.org/drawingml/2006/main">
              <a:ext uri="{FF2B5EF4-FFF2-40B4-BE49-F238E27FC236}">
                <a16:creationId xmlns:a16="http://schemas.microsoft.com/office/drawing/2014/main" id="{DFD04131-F349-4CBD-B98E-8A004D801AE9}"/>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ports: untuk publish ke host, expose: cuma untuk dokumentasi internal</a:t>
            </a:r>
            <a:endParaRPr sz="1200"/>
          </a:p>
        </p:txBody>
      </p:sp>
      <p:sp>
        <p:nvSpPr>
          <p:cNvPr id="10" name="Shape 6">
            <a:extLst xmlns:a="http://schemas.openxmlformats.org/drawingml/2006/main">
              <a:ext uri="{FF2B5EF4-FFF2-40B4-BE49-F238E27FC236}">
                <a16:creationId xmlns:a16="http://schemas.microsoft.com/office/drawing/2014/main" id="{67D085A1-F300-47E5-8333-176E8C1A7036}"/>
              </a:ext>
            </a:extLst>
          </p:cNvPr>
          <p:cNvSpPr>
            <a:spLocks xmlns:a="http://schemas.openxmlformats.org/drawingml/2006/main" noGrp="1"/>
          </p:cNvSpPr>
          <p:nvPr/>
        </p:nvSpPr>
        <p:spPr>
          <a:xfrm xmlns:a="http://schemas.openxmlformats.org/drawingml/2006/main">
            <a:off x="457200" y="1417320"/>
            <a:ext cx="557784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9405950D-BA78-4D08-9F2D-DD5B435BC8A0}"/>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3166DCAD-A0FF-4D6E-9B77-B9F799C6D49D}"/>
              </a:ext>
            </a:extLst>
          </p:cNvPr>
          <p:cNvSpPr>
            <a:spLocks xmlns:a="http://schemas.openxmlformats.org/drawingml/2006/main" noGrp="1"/>
          </p:cNvSpPr>
          <p:nvPr/>
        </p:nvSpPr>
        <p:spPr>
          <a:xfrm xmlns:a="http://schemas.openxmlformats.org/drawingml/2006/main">
            <a:off x="457200" y="1417320"/>
            <a:ext cx="5577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200">
                <a:solidFill>
                  <a:srgbClr val="FFFFFF"/>
                </a:solidFill>
                <a:latin typeface="Calibri"/>
                <a:ea typeface="Calibri"/>
                <a:cs typeface="Calibri"/>
              </a:rPr>
              <a:t>ports:  -  PUBLIC ke host</a:t>
            </a:r>
            <a:endParaRPr sz="1400"/>
          </a:p>
        </p:txBody>
      </p:sp>
      <p:sp>
        <p:nvSpPr>
          <p:cNvPr id="13" name="Text 9">
            <a:extLst xmlns:a="http://schemas.openxmlformats.org/drawingml/2006/main">
              <a:ext uri="{FF2B5EF4-FFF2-40B4-BE49-F238E27FC236}">
                <a16:creationId xmlns:a16="http://schemas.microsoft.com/office/drawing/2014/main" id="{1002D692-131A-4C66-B2CA-3862E6BBA351}"/>
              </a:ext>
            </a:extLst>
          </p:cNvPr>
          <p:cNvSpPr>
            <a:spLocks xmlns:a="http://schemas.openxmlformats.org/drawingml/2006/main" noGrp="1"/>
          </p:cNvSpPr>
          <p:nvPr/>
        </p:nvSpPr>
        <p:spPr>
          <a:xfrm xmlns:a="http://schemas.openxmlformats.org/drawingml/2006/main">
            <a:off x="640080" y="2148840"/>
            <a:ext cx="52120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1E293B"/>
                </a:solidFill>
                <a:latin typeface="Calibri"/>
                <a:ea typeface="Calibri"/>
                <a:cs typeface="Calibri"/>
              </a:rPr>
              <a:t>Port di-bind ke host - bisa diakses dari luar (browser, curl).</a:t>
            </a:r>
            <a:endParaRPr sz="1100"/>
          </a:p>
        </p:txBody>
      </p:sp>
      <p:sp>
        <p:nvSpPr>
          <p:cNvPr id="14" name="Shape 10">
            <a:extLst xmlns:a="http://schemas.openxmlformats.org/drawingml/2006/main">
              <a:ext uri="{FF2B5EF4-FFF2-40B4-BE49-F238E27FC236}">
                <a16:creationId xmlns:a16="http://schemas.microsoft.com/office/drawing/2014/main" id="{4741BF75-28C8-4BF4-A3A2-E586B1F5F749}"/>
              </a:ext>
            </a:extLst>
          </p:cNvPr>
          <p:cNvSpPr>
            <a:spLocks xmlns:a="http://schemas.openxmlformats.org/drawingml/2006/main" noGrp="1"/>
          </p:cNvSpPr>
          <p:nvPr/>
        </p:nvSpPr>
        <p:spPr>
          <a:xfrm xmlns:a="http://schemas.openxmlformats.org/drawingml/2006/main">
            <a:off x="640080" y="2697480"/>
            <a:ext cx="5212080" cy="342900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5" name="Shape 11">
            <a:extLst xmlns:a="http://schemas.openxmlformats.org/drawingml/2006/main">
              <a:ext uri="{FF2B5EF4-FFF2-40B4-BE49-F238E27FC236}">
                <a16:creationId xmlns:a16="http://schemas.microsoft.com/office/drawing/2014/main" id="{1A463F63-42FF-4884-9E9A-2402664F1D6E}"/>
              </a:ext>
            </a:extLst>
          </p:cNvPr>
          <p:cNvSpPr>
            <a:spLocks xmlns:a="http://schemas.openxmlformats.org/drawingml/2006/main" noGrp="1"/>
          </p:cNvSpPr>
          <p:nvPr/>
        </p:nvSpPr>
        <p:spPr>
          <a:xfrm xmlns:a="http://schemas.openxmlformats.org/drawingml/2006/main">
            <a:off x="640080" y="2697480"/>
            <a:ext cx="521208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6" name="Shape 12">
            <a:extLst xmlns:a="http://schemas.openxmlformats.org/drawingml/2006/main">
              <a:ext uri="{FF2B5EF4-FFF2-40B4-BE49-F238E27FC236}">
                <a16:creationId xmlns:a16="http://schemas.microsoft.com/office/drawing/2014/main" id="{0A00D076-AF49-417F-920A-77FDA5911AFC}"/>
              </a:ext>
            </a:extLst>
          </p:cNvPr>
          <p:cNvSpPr>
            <a:spLocks xmlns:a="http://schemas.openxmlformats.org/drawingml/2006/main" noGrp="1"/>
          </p:cNvSpPr>
          <p:nvPr/>
        </p:nvSpPr>
        <p:spPr>
          <a:xfrm xmlns:a="http://schemas.openxmlformats.org/drawingml/2006/main">
            <a:off x="731520" y="277977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7" name="Shape 13">
            <a:extLst xmlns:a="http://schemas.openxmlformats.org/drawingml/2006/main">
              <a:ext uri="{FF2B5EF4-FFF2-40B4-BE49-F238E27FC236}">
                <a16:creationId xmlns:a16="http://schemas.microsoft.com/office/drawing/2014/main" id="{1F18160A-CA43-491F-9339-D5BA5ACC1FC6}"/>
              </a:ext>
            </a:extLst>
          </p:cNvPr>
          <p:cNvSpPr>
            <a:spLocks xmlns:a="http://schemas.openxmlformats.org/drawingml/2006/main" noGrp="1"/>
          </p:cNvSpPr>
          <p:nvPr/>
        </p:nvSpPr>
        <p:spPr>
          <a:xfrm xmlns:a="http://schemas.openxmlformats.org/drawingml/2006/main">
            <a:off x="868680" y="277977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8" name="Shape 14">
            <a:extLst xmlns:a="http://schemas.openxmlformats.org/drawingml/2006/main">
              <a:ext uri="{FF2B5EF4-FFF2-40B4-BE49-F238E27FC236}">
                <a16:creationId xmlns:a16="http://schemas.microsoft.com/office/drawing/2014/main" id="{97F2309D-0363-4430-9A65-000376BFBCA5}"/>
              </a:ext>
            </a:extLst>
          </p:cNvPr>
          <p:cNvSpPr>
            <a:spLocks xmlns:a="http://schemas.openxmlformats.org/drawingml/2006/main" noGrp="1"/>
          </p:cNvSpPr>
          <p:nvPr/>
        </p:nvSpPr>
        <p:spPr>
          <a:xfrm xmlns:a="http://schemas.openxmlformats.org/drawingml/2006/main">
            <a:off x="1005840" y="277977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9" name="Text 15">
            <a:extLst xmlns:a="http://schemas.openxmlformats.org/drawingml/2006/main">
              <a:ext uri="{FF2B5EF4-FFF2-40B4-BE49-F238E27FC236}">
                <a16:creationId xmlns:a16="http://schemas.microsoft.com/office/drawing/2014/main" id="{858D48E8-A616-4029-B18C-52E5BDF0E88A}"/>
              </a:ext>
            </a:extLst>
          </p:cNvPr>
          <p:cNvSpPr>
            <a:spLocks xmlns:a="http://schemas.openxmlformats.org/drawingml/2006/main" noGrp="1"/>
          </p:cNvSpPr>
          <p:nvPr/>
        </p:nvSpPr>
        <p:spPr>
          <a:xfrm xmlns:a="http://schemas.openxmlformats.org/drawingml/2006/main">
            <a:off x="1188720" y="2697480"/>
            <a:ext cx="4480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ports: - publish</a:t>
            </a:r>
            <a:endParaRPr sz="900"/>
          </a:p>
        </p:txBody>
      </p:sp>
      <p:sp>
        <p:nvSpPr>
          <p:cNvPr id="20" name="Text 16">
            <a:extLst xmlns:a="http://schemas.openxmlformats.org/drawingml/2006/main">
              <a:ext uri="{FF2B5EF4-FFF2-40B4-BE49-F238E27FC236}">
                <a16:creationId xmlns:a16="http://schemas.microsoft.com/office/drawing/2014/main" id="{36E96856-2E38-42C1-ABA5-DE31298754FE}"/>
              </a:ext>
            </a:extLst>
          </p:cNvPr>
          <p:cNvSpPr>
            <a:spLocks xmlns:a="http://schemas.openxmlformats.org/drawingml/2006/main" noGrp="1"/>
          </p:cNvSpPr>
          <p:nvPr/>
        </p:nvSpPr>
        <p:spPr>
          <a:xfrm xmlns:a="http://schemas.openxmlformats.org/drawingml/2006/main">
            <a:off x="777240" y="3063240"/>
            <a:ext cx="4937760" cy="2971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web: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nginx</a:t>
            </a:r>
            <a:endParaRPr sz="1100"/>
          </a:p>
          <a:p xmlns:a="http://schemas.openxmlformats.org/drawingml/2006/main">
            <a:pPr marL="0" indent="0">
              <a:spcAft>
                <a:spcPts val="200"/>
              </a:spcAft>
              <a:buNone/>
            </a:pPr>
            <a:r>
              <a:rPr sz="1100">
                <a:solidFill>
                  <a:srgbClr val="E2E8F0"/>
                </a:solidFill>
                <a:latin typeface="Consolas"/>
                <a:ea typeface="Consolas"/>
                <a:cs typeface="Consolas"/>
              </a:rPr>
              <a:t>    ports:</a:t>
            </a:r>
            <a:endParaRPr sz="1100"/>
          </a:p>
          <a:p xmlns:a="http://schemas.openxmlformats.org/drawingml/2006/main">
            <a:pPr marL="0" indent="0">
              <a:spcAft>
                <a:spcPts val="200"/>
              </a:spcAft>
              <a:buNone/>
            </a:pPr>
            <a:r>
              <a:rPr sz="1100">
                <a:solidFill>
                  <a:srgbClr val="94A3B8"/>
                </a:solidFill>
                <a:latin typeface="Consolas"/>
                <a:ea typeface="Consolas"/>
                <a:cs typeface="Consolas"/>
              </a:rPr>
              <a:t>      # Format: HOST:CONTAINER</a:t>
            </a:r>
            <a:endParaRPr sz="1100"/>
          </a:p>
          <a:p xmlns:a="http://schemas.openxmlformats.org/drawingml/2006/main">
            <a:pPr marL="0" indent="0">
              <a:spcAft>
                <a:spcPts val="200"/>
              </a:spcAft>
              <a:buNone/>
            </a:pPr>
            <a:r>
              <a:rPr sz="1100">
                <a:solidFill>
                  <a:srgbClr val="10B981"/>
                </a:solidFill>
                <a:latin typeface="Consolas"/>
                <a:ea typeface="Consolas"/>
                <a:cs typeface="Consolas"/>
              </a:rPr>
              <a:t>      - "80:80"          # browser akses :80</a:t>
            </a:r>
            <a:endParaRPr sz="1100"/>
          </a:p>
          <a:p xmlns:a="http://schemas.openxmlformats.org/drawingml/2006/main">
            <a:pPr marL="0" indent="0">
              <a:spcAft>
                <a:spcPts val="200"/>
              </a:spcAft>
              <a:buNone/>
            </a:pPr>
            <a:r>
              <a:rPr sz="1100">
                <a:solidFill>
                  <a:srgbClr val="10B981"/>
                </a:solidFill>
                <a:latin typeface="Consolas"/>
                <a:ea typeface="Consolas"/>
                <a:cs typeface="Consolas"/>
              </a:rPr>
              <a:t>      - "443:443"        # HTTPS</a:t>
            </a:r>
            <a:endParaRPr sz="1100"/>
          </a:p>
          <a:p xmlns:a="http://schemas.openxmlformats.org/drawingml/2006/main">
            <a:pPr marL="0" indent="0">
              <a:spcAft>
                <a:spcPts val="200"/>
              </a:spcAft>
              <a:buNone/>
            </a:pPr>
            <a:r>
              <a:rPr sz="1100">
                <a:solidFill>
                  <a:srgbClr val="10B981"/>
                </a:solidFill>
                <a:latin typeface="Consolas"/>
                <a:ea typeface="Consolas"/>
                <a:cs typeface="Consolas"/>
              </a:rPr>
              <a:t>      - "127.0.0.1:5432:5432"</a:t>
            </a:r>
            <a:endParaRPr sz="1100"/>
          </a:p>
          <a:p xmlns:a="http://schemas.openxmlformats.org/drawingml/2006/main">
            <a:pPr marL="0" indent="0">
              <a:spcAft>
                <a:spcPts val="200"/>
              </a:spcAft>
              <a:buNone/>
            </a:pPr>
            <a:r>
              <a:rPr sz="1100">
                <a:solidFill>
                  <a:srgbClr val="94A3B8"/>
                </a:solidFill>
                <a:latin typeface="Consolas"/>
                <a:ea typeface="Consolas"/>
                <a:cs typeface="Consolas"/>
              </a:rPr>
              <a:t>      # ^ cuma terima dari localhost</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Sintaks long-form (kontrol lebih)</a:t>
            </a:r>
            <a:endParaRPr sz="1100"/>
          </a:p>
          <a:p xmlns:a="http://schemas.openxmlformats.org/drawingml/2006/main">
            <a:pPr marL="0" indent="0">
              <a:spcAft>
                <a:spcPts val="200"/>
              </a:spcAft>
              <a:buNone/>
            </a:pPr>
            <a:r>
              <a:rPr sz="1100">
                <a:solidFill>
                  <a:srgbClr val="E2E8F0"/>
                </a:solidFill>
                <a:latin typeface="Consolas"/>
                <a:ea typeface="Consolas"/>
                <a:cs typeface="Consolas"/>
              </a:rPr>
              <a:t>    ports:</a:t>
            </a:r>
            <a:endParaRPr sz="1100"/>
          </a:p>
          <a:p xmlns:a="http://schemas.openxmlformats.org/drawingml/2006/main">
            <a:pPr marL="0" indent="0">
              <a:spcAft>
                <a:spcPts val="200"/>
              </a:spcAft>
              <a:buNone/>
            </a:pPr>
            <a:r>
              <a:rPr sz="1100">
                <a:solidFill>
                  <a:srgbClr val="E2E8F0"/>
                </a:solidFill>
                <a:latin typeface="Consolas"/>
                <a:ea typeface="Consolas"/>
                <a:cs typeface="Consolas"/>
              </a:rPr>
              <a:t>      - target: 80</a:t>
            </a:r>
            <a:endParaRPr sz="1100"/>
          </a:p>
          <a:p xmlns:a="http://schemas.openxmlformats.org/drawingml/2006/main">
            <a:pPr marL="0" indent="0">
              <a:spcAft>
                <a:spcPts val="200"/>
              </a:spcAft>
              <a:buNone/>
            </a:pPr>
            <a:r>
              <a:rPr sz="1100">
                <a:solidFill>
                  <a:srgbClr val="E2E8F0"/>
                </a:solidFill>
                <a:latin typeface="Consolas"/>
                <a:ea typeface="Consolas"/>
                <a:cs typeface="Consolas"/>
              </a:rPr>
              <a:t>        published: 8080</a:t>
            </a:r>
            <a:endParaRPr sz="1100"/>
          </a:p>
          <a:p xmlns:a="http://schemas.openxmlformats.org/drawingml/2006/main">
            <a:pPr marL="0" indent="0">
              <a:spcAft>
                <a:spcPts val="200"/>
              </a:spcAft>
              <a:buNone/>
            </a:pPr>
            <a:r>
              <a:rPr sz="1100">
                <a:solidFill>
                  <a:srgbClr val="E2E8F0"/>
                </a:solidFill>
                <a:latin typeface="Consolas"/>
                <a:ea typeface="Consolas"/>
                <a:cs typeface="Consolas"/>
              </a:rPr>
              <a:t>        protocol: tcp</a:t>
            </a:r>
            <a:endParaRPr sz="1100"/>
          </a:p>
        </p:txBody>
      </p:sp>
      <p:sp>
        <p:nvSpPr>
          <p:cNvPr id="21" name="Shape 17">
            <a:extLst xmlns:a="http://schemas.openxmlformats.org/drawingml/2006/main">
              <a:ext uri="{FF2B5EF4-FFF2-40B4-BE49-F238E27FC236}">
                <a16:creationId xmlns:a16="http://schemas.microsoft.com/office/drawing/2014/main" id="{E5A19C5A-5514-47C8-9300-D60081F0E329}"/>
              </a:ext>
            </a:extLst>
          </p:cNvPr>
          <p:cNvSpPr>
            <a:spLocks xmlns:a="http://schemas.openxmlformats.org/drawingml/2006/main" noGrp="1"/>
          </p:cNvSpPr>
          <p:nvPr/>
        </p:nvSpPr>
        <p:spPr>
          <a:xfrm xmlns:a="http://schemas.openxmlformats.org/drawingml/2006/main">
            <a:off x="6217920" y="1417320"/>
            <a:ext cx="54864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2" name="Shape 18">
            <a:extLst xmlns:a="http://schemas.openxmlformats.org/drawingml/2006/main">
              <a:ext uri="{FF2B5EF4-FFF2-40B4-BE49-F238E27FC236}">
                <a16:creationId xmlns:a16="http://schemas.microsoft.com/office/drawing/2014/main" id="{7795DA35-DB06-4A1C-8B7A-5CBE70B7AF5B}"/>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23" name="Text 19">
            <a:extLst xmlns:a="http://schemas.openxmlformats.org/drawingml/2006/main">
              <a:ext uri="{FF2B5EF4-FFF2-40B4-BE49-F238E27FC236}">
                <a16:creationId xmlns:a16="http://schemas.microsoft.com/office/drawing/2014/main" id="{6FA1F454-A954-4CBE-B6A0-0C8AA36FBCC6}"/>
              </a:ext>
            </a:extLst>
          </p:cNvPr>
          <p:cNvSpPr>
            <a:spLocks xmlns:a="http://schemas.openxmlformats.org/drawingml/2006/main" noGrp="1"/>
          </p:cNvSpPr>
          <p:nvPr/>
        </p:nvSpPr>
        <p:spPr>
          <a:xfrm xmlns:a="http://schemas.openxmlformats.org/drawingml/2006/main">
            <a:off x="6217920" y="1417320"/>
            <a:ext cx="5486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spc="200">
                <a:solidFill>
                  <a:srgbClr val="FFFFFF"/>
                </a:solidFill>
                <a:latin typeface="Calibri"/>
                <a:ea typeface="Calibri"/>
                <a:cs typeface="Calibri"/>
              </a:rPr>
              <a:t>expose:  -  INTERNAL only</a:t>
            </a:r>
            <a:endParaRPr sz="1400"/>
          </a:p>
        </p:txBody>
      </p:sp>
      <p:sp>
        <p:nvSpPr>
          <p:cNvPr id="24" name="Text 20">
            <a:extLst xmlns:a="http://schemas.openxmlformats.org/drawingml/2006/main">
              <a:ext uri="{FF2B5EF4-FFF2-40B4-BE49-F238E27FC236}">
                <a16:creationId xmlns:a16="http://schemas.microsoft.com/office/drawing/2014/main" id="{FEA5BEF7-4C3F-4459-939C-2F69C8360F67}"/>
              </a:ext>
            </a:extLst>
          </p:cNvPr>
          <p:cNvSpPr>
            <a:spLocks xmlns:a="http://schemas.openxmlformats.org/drawingml/2006/main" noGrp="1"/>
          </p:cNvSpPr>
          <p:nvPr/>
        </p:nvSpPr>
        <p:spPr>
          <a:xfrm xmlns:a="http://schemas.openxmlformats.org/drawingml/2006/main">
            <a:off x="6400800" y="2148840"/>
            <a:ext cx="512064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1E293B"/>
                </a:solidFill>
                <a:latin typeface="Calibri"/>
                <a:ea typeface="Calibri"/>
                <a:cs typeface="Calibri"/>
              </a:rPr>
              <a:t>Cuma untuk dokumentasi inter-container. Tidak di-publish ke host.</a:t>
            </a:r>
            <a:endParaRPr sz="1100"/>
          </a:p>
        </p:txBody>
      </p:sp>
      <p:sp>
        <p:nvSpPr>
          <p:cNvPr id="25" name="Shape 21">
            <a:extLst xmlns:a="http://schemas.openxmlformats.org/drawingml/2006/main">
              <a:ext uri="{FF2B5EF4-FFF2-40B4-BE49-F238E27FC236}">
                <a16:creationId xmlns:a16="http://schemas.microsoft.com/office/drawing/2014/main" id="{3E100CC6-CDA6-43E5-BB93-049E778C44DA}"/>
              </a:ext>
            </a:extLst>
          </p:cNvPr>
          <p:cNvSpPr>
            <a:spLocks xmlns:a="http://schemas.openxmlformats.org/drawingml/2006/main" noGrp="1"/>
          </p:cNvSpPr>
          <p:nvPr/>
        </p:nvSpPr>
        <p:spPr>
          <a:xfrm xmlns:a="http://schemas.openxmlformats.org/drawingml/2006/main">
            <a:off x="6400800" y="2697480"/>
            <a:ext cx="5120640" cy="342900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6" name="Shape 22">
            <a:extLst xmlns:a="http://schemas.openxmlformats.org/drawingml/2006/main">
              <a:ext uri="{FF2B5EF4-FFF2-40B4-BE49-F238E27FC236}">
                <a16:creationId xmlns:a16="http://schemas.microsoft.com/office/drawing/2014/main" id="{7171E658-E1B2-4ECA-B378-988308F6C4C4}"/>
              </a:ext>
            </a:extLst>
          </p:cNvPr>
          <p:cNvSpPr>
            <a:spLocks xmlns:a="http://schemas.openxmlformats.org/drawingml/2006/main" noGrp="1"/>
          </p:cNvSpPr>
          <p:nvPr/>
        </p:nvSpPr>
        <p:spPr>
          <a:xfrm xmlns:a="http://schemas.openxmlformats.org/drawingml/2006/main">
            <a:off x="6400800" y="2697480"/>
            <a:ext cx="51206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7" name="Shape 23">
            <a:extLst xmlns:a="http://schemas.openxmlformats.org/drawingml/2006/main">
              <a:ext uri="{FF2B5EF4-FFF2-40B4-BE49-F238E27FC236}">
                <a16:creationId xmlns:a16="http://schemas.microsoft.com/office/drawing/2014/main" id="{9AADA21A-C6A7-42AB-8E57-C34057A4DA56}"/>
              </a:ext>
            </a:extLst>
          </p:cNvPr>
          <p:cNvSpPr>
            <a:spLocks xmlns:a="http://schemas.openxmlformats.org/drawingml/2006/main" noGrp="1"/>
          </p:cNvSpPr>
          <p:nvPr/>
        </p:nvSpPr>
        <p:spPr>
          <a:xfrm xmlns:a="http://schemas.openxmlformats.org/drawingml/2006/main">
            <a:off x="6492240" y="277977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8" name="Shape 24">
            <a:extLst xmlns:a="http://schemas.openxmlformats.org/drawingml/2006/main">
              <a:ext uri="{FF2B5EF4-FFF2-40B4-BE49-F238E27FC236}">
                <a16:creationId xmlns:a16="http://schemas.microsoft.com/office/drawing/2014/main" id="{630C99EE-6442-4094-9831-8D1048464C54}"/>
              </a:ext>
            </a:extLst>
          </p:cNvPr>
          <p:cNvSpPr>
            <a:spLocks xmlns:a="http://schemas.openxmlformats.org/drawingml/2006/main" noGrp="1"/>
          </p:cNvSpPr>
          <p:nvPr/>
        </p:nvSpPr>
        <p:spPr>
          <a:xfrm xmlns:a="http://schemas.openxmlformats.org/drawingml/2006/main">
            <a:off x="6629400" y="277977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9" name="Shape 25">
            <a:extLst xmlns:a="http://schemas.openxmlformats.org/drawingml/2006/main">
              <a:ext uri="{FF2B5EF4-FFF2-40B4-BE49-F238E27FC236}">
                <a16:creationId xmlns:a16="http://schemas.microsoft.com/office/drawing/2014/main" id="{A60CC6FD-2A7F-47DB-8204-08554BF00BE7}"/>
              </a:ext>
            </a:extLst>
          </p:cNvPr>
          <p:cNvSpPr>
            <a:spLocks xmlns:a="http://schemas.openxmlformats.org/drawingml/2006/main" noGrp="1"/>
          </p:cNvSpPr>
          <p:nvPr/>
        </p:nvSpPr>
        <p:spPr>
          <a:xfrm xmlns:a="http://schemas.openxmlformats.org/drawingml/2006/main">
            <a:off x="6766560" y="277977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30" name="Text 26">
            <a:extLst xmlns:a="http://schemas.openxmlformats.org/drawingml/2006/main">
              <a:ext uri="{FF2B5EF4-FFF2-40B4-BE49-F238E27FC236}">
                <a16:creationId xmlns:a16="http://schemas.microsoft.com/office/drawing/2014/main" id="{C81931F4-35DB-46CE-9FEF-66172994F7D3}"/>
              </a:ext>
            </a:extLst>
          </p:cNvPr>
          <p:cNvSpPr>
            <a:spLocks xmlns:a="http://schemas.openxmlformats.org/drawingml/2006/main" noGrp="1"/>
          </p:cNvSpPr>
          <p:nvPr/>
        </p:nvSpPr>
        <p:spPr>
          <a:xfrm xmlns:a="http://schemas.openxmlformats.org/drawingml/2006/main">
            <a:off x="6949440" y="2697480"/>
            <a:ext cx="4389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expose: - internal</a:t>
            </a:r>
            <a:endParaRPr sz="900"/>
          </a:p>
        </p:txBody>
      </p:sp>
      <p:sp>
        <p:nvSpPr>
          <p:cNvPr id="31" name="Text 27">
            <a:extLst xmlns:a="http://schemas.openxmlformats.org/drawingml/2006/main">
              <a:ext uri="{FF2B5EF4-FFF2-40B4-BE49-F238E27FC236}">
                <a16:creationId xmlns:a16="http://schemas.microsoft.com/office/drawing/2014/main" id="{27FE42E4-BB03-48B7-91B5-FAF42D1CAB00}"/>
              </a:ext>
            </a:extLst>
          </p:cNvPr>
          <p:cNvSpPr>
            <a:spLocks xmlns:a="http://schemas.openxmlformats.org/drawingml/2006/main" noGrp="1"/>
          </p:cNvSpPr>
          <p:nvPr/>
        </p:nvSpPr>
        <p:spPr>
          <a:xfrm xmlns:a="http://schemas.openxmlformats.org/drawingml/2006/main">
            <a:off x="6537960" y="3063240"/>
            <a:ext cx="4846320" cy="2971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postgres:15</a:t>
            </a:r>
            <a:endParaRPr sz="1100"/>
          </a:p>
          <a:p xmlns:a="http://schemas.openxmlformats.org/drawingml/2006/main">
            <a:pPr marL="0" indent="0">
              <a:spcAft>
                <a:spcPts val="200"/>
              </a:spcAft>
              <a:buNone/>
            </a:pPr>
            <a:r>
              <a:rPr sz="1100">
                <a:solidFill>
                  <a:srgbClr val="E2E8F0"/>
                </a:solidFill>
                <a:latin typeface="Consolas"/>
                <a:ea typeface="Consolas"/>
                <a:cs typeface="Consolas"/>
              </a:rPr>
              <a:t>    expose:</a:t>
            </a:r>
            <a:endParaRPr sz="1100"/>
          </a:p>
          <a:p xmlns:a="http://schemas.openxmlformats.org/drawingml/2006/main">
            <a:pPr marL="0" indent="0">
              <a:spcAft>
                <a:spcPts val="200"/>
              </a:spcAft>
              <a:buNone/>
            </a:pPr>
            <a:r>
              <a:rPr sz="1100">
                <a:solidFill>
                  <a:srgbClr val="10B981"/>
                </a:solidFill>
                <a:latin typeface="Consolas"/>
                <a:ea typeface="Consolas"/>
                <a:cs typeface="Consolas"/>
              </a:rPr>
              <a:t>      - "5432"          # cuma untuk doc</a:t>
            </a:r>
            <a:endParaRPr sz="1100"/>
          </a:p>
          <a:p xmlns:a="http://schemas.openxmlformats.org/drawingml/2006/main">
            <a:pPr marL="0" indent="0">
              <a:spcAft>
                <a:spcPts val="200"/>
              </a:spcAft>
              <a:buNone/>
            </a:pPr>
            <a:r>
              <a:rPr sz="1100">
                <a:solidFill>
                  <a:srgbClr val="94A3B8"/>
                </a:solidFill>
                <a:latin typeface="Consolas"/>
                <a:ea typeface="Consolas"/>
                <a:cs typeface="Consolas"/>
              </a:rPr>
              <a:t>    # TIDAK ada 'ports:'</a:t>
            </a:r>
            <a:endParaRPr sz="1100"/>
          </a:p>
          <a:p xmlns:a="http://schemas.openxmlformats.org/drawingml/2006/main">
            <a:pPr marL="0" indent="0">
              <a:spcAft>
                <a:spcPts val="200"/>
              </a:spcAft>
              <a:buNone/>
            </a:pPr>
            <a:r>
              <a:rPr sz="1100">
                <a:solidFill>
                  <a:srgbClr val="94A3B8"/>
                </a:solidFill>
                <a:latin typeface="Consolas"/>
                <a:ea typeface="Consolas"/>
                <a:cs typeface="Consolas"/>
              </a:rPr>
              <a:t>    # -&gt; 5432 tidak ke-publish ke host</a:t>
            </a:r>
            <a:endParaRPr sz="1100"/>
          </a:p>
          <a:p xmlns:a="http://schemas.openxmlformats.org/drawingml/2006/main">
            <a:pPr marL="0" indent="0">
              <a:spcAft>
                <a:spcPts val="200"/>
              </a:spcAft>
              <a:buNone/>
            </a:pPr>
            <a:r>
              <a:rPr sz="1100">
                <a:solidFill>
                  <a:srgbClr val="94A3B8"/>
                </a:solidFill>
                <a:latin typeface="Consolas"/>
                <a:ea typeface="Consolas"/>
                <a:cs typeface="Consolas"/>
              </a:rPr>
              <a:t>    # -&gt; tidak bisa di-akses dari browser</a:t>
            </a:r>
            <a:endParaRPr sz="1100"/>
          </a:p>
          <a:p xmlns:a="http://schemas.openxmlformats.org/drawingml/2006/main">
            <a:pPr marL="0" indent="0">
              <a:spcAft>
                <a:spcPts val="200"/>
              </a:spcAft>
              <a:buNone/>
            </a:pPr>
            <a:r>
              <a:rPr sz="1100">
                <a:solidFill>
                  <a:srgbClr val="94A3B8"/>
                </a:solidFill>
                <a:latin typeface="Consolas"/>
                <a:ea typeface="Consolas"/>
                <a:cs typeface="Consolas"/>
              </a:rPr>
              <a:t>    # -&gt; tetap bisa di-akses api lewat</a:t>
            </a:r>
            <a:endParaRPr sz="1100"/>
          </a:p>
          <a:p xmlns:a="http://schemas.openxmlformats.org/drawingml/2006/main">
            <a:pPr marL="0" indent="0">
              <a:spcAft>
                <a:spcPts val="200"/>
              </a:spcAft>
              <a:buNone/>
            </a:pPr>
            <a:r>
              <a:rPr sz="1100">
                <a:solidFill>
                  <a:srgbClr val="94A3B8"/>
                </a:solidFill>
                <a:latin typeface="Consolas"/>
                <a:ea typeface="Consolas"/>
                <a:cs typeface="Consolas"/>
              </a:rPr>
              <a:t>    #    network internal (db:5432)</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Rule: db / cache / internal service</a:t>
            </a:r>
            <a:endParaRPr sz="1100"/>
          </a:p>
          <a:p xmlns:a="http://schemas.openxmlformats.org/drawingml/2006/main">
            <a:pPr marL="0" indent="0">
              <a:spcAft>
                <a:spcPts val="200"/>
              </a:spcAft>
              <a:buNone/>
            </a:pPr>
            <a:r>
              <a:rPr sz="1100">
                <a:solidFill>
                  <a:srgbClr val="10B981"/>
                </a:solidFill>
                <a:latin typeface="Consolas"/>
                <a:ea typeface="Consolas"/>
                <a:cs typeface="Consolas"/>
              </a:rPr>
              <a:t># JANGAN expose ke host. Pakai 'expose:'</a:t>
            </a:r>
            <a:endParaRPr sz="1100"/>
          </a:p>
          <a:p xmlns:a="http://schemas.openxmlformats.org/drawingml/2006/main">
            <a:pPr marL="0" indent="0">
              <a:spcAft>
                <a:spcPts val="200"/>
              </a:spcAft>
              <a:buNone/>
            </a:pPr>
            <a:r>
              <a:rPr sz="1100">
                <a:solidFill>
                  <a:srgbClr val="10B981"/>
                </a:solidFill>
                <a:latin typeface="Consolas"/>
                <a:ea typeface="Consolas"/>
                <a:cs typeface="Consolas"/>
              </a:rPr>
              <a:t># atau skip semua (default already internal)</a:t>
            </a:r>
            <a:endParaRPr sz="1100"/>
          </a:p>
        </p:txBody>
      </p:sp>
    </p:spTree>
    <p:extLst>
      <p:ext uri="{BB962C8B-B14F-4D97-AF65-F5344CB8AC3E}">
        <p14:creationId xmlns:p14="http://schemas.microsoft.com/office/powerpoint/2010/main" val="874215459"/>
      </p:ext>
    </p:extLst>
  </p:cSld>
</p:sld>
</file>

<file path=ppt/slides/slide22.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F278F59-5C09-4B55-9EAE-D5F088F2B6AA}"/>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610668C0-042C-4BA5-9820-1B376EA5DDBD}"/>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24C403B6-80DC-457C-B62A-CC30CEAD3A06}"/>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2E685B8B-F5E3-4E36-83FB-772CA5647105}"/>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A3AAA56E-469A-45E7-9C00-A4BA0D5DE1D0}"/>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90E06E2C-6AE3-465B-90AE-3C7DBE7DF02B}"/>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79348BCD-8373-48AA-8352-45C7C4AC142D}"/>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3F15BE97-52F6-4575-AA43-D001F4A150B6}"/>
              </a:ext>
            </a:extLst>
          </p:cNvPr>
          <p:cNvPicPr>
            <a:picLocks xmlns:a="http://schemas.openxmlformats.org/drawingml/2006/main" noChangeAspect="1"/>
          </p:cNvPicPr>
          <p:nvPr/>
        </p:nvPicPr>
        <p:blipFill>
          <a:blip xmlns:r="http://schemas.openxmlformats.org/officeDocument/2006/relationships" xmlns:a="http://schemas.openxmlformats.org/drawingml/2006/main" r:embed="Rba1b1785828a450b"/>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8A7D9BB9-166A-47EC-8323-68BA2A2E86B7}"/>
              </a:ext>
            </a:extLst>
          </p:cNvPr>
          <p:cNvPicPr>
            <a:picLocks xmlns:a="http://schemas.openxmlformats.org/drawingml/2006/main" noChangeAspect="1"/>
          </p:cNvPicPr>
          <p:nvPr/>
        </p:nvPicPr>
        <p:blipFill>
          <a:blip xmlns:r="http://schemas.openxmlformats.org/officeDocument/2006/relationships" xmlns:a="http://schemas.openxmlformats.org/drawingml/2006/main" r:embed="R08eddf8f52584291"/>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44561502-9450-494A-938E-CBB943C5F873}"/>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05</a:t>
            </a:r>
            <a:endParaRPr sz="1600"/>
          </a:p>
        </p:txBody>
      </p:sp>
      <p:sp>
        <p:nvSpPr>
          <p:cNvPr id="12" name="Text 8">
            <a:extLst xmlns:a="http://schemas.openxmlformats.org/drawingml/2006/main">
              <a:ext uri="{FF2B5EF4-FFF2-40B4-BE49-F238E27FC236}">
                <a16:creationId xmlns:a16="http://schemas.microsoft.com/office/drawing/2014/main" id="{F7E5FF0C-8113-49D1-945A-48B3D2E387D1}"/>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Volumes</a:t>
            </a:r>
            <a:endParaRPr sz="5200"/>
          </a:p>
          <a:p xmlns:a="http://schemas.openxmlformats.org/drawingml/2006/main">
            <a:pPr marL="0" indent="0" algn="ctr">
              <a:buNone/>
            </a:pPr>
            <a:r>
              <a:rPr sz="5200" b="1">
                <a:solidFill>
                  <a:srgbClr val="FFFFFF"/>
                </a:solidFill>
                <a:latin typeface="Calibri"/>
                <a:ea typeface="Calibri"/>
                <a:cs typeface="Calibri"/>
              </a:rPr>
              <a:t>&amp; Data</a:t>
            </a:r>
            <a:endParaRPr sz="5200"/>
          </a:p>
        </p:txBody>
      </p:sp>
      <p:sp>
        <p:nvSpPr>
          <p:cNvPr id="13" name="Shape 9">
            <a:extLst xmlns:a="http://schemas.openxmlformats.org/drawingml/2006/main">
              <a:ext uri="{FF2B5EF4-FFF2-40B4-BE49-F238E27FC236}">
                <a16:creationId xmlns:a16="http://schemas.microsoft.com/office/drawing/2014/main" id="{206F4E61-AFB8-48E2-B1AD-308347703463}"/>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415C4499-14CC-4861-BEA2-B794D8312F22}"/>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Persistent storage strategy - production vs development.</a:t>
            </a:r>
            <a:endParaRPr sz="1400"/>
          </a:p>
        </p:txBody>
      </p:sp>
    </p:spTree>
    <p:extLst>
      <p:ext uri="{BB962C8B-B14F-4D97-AF65-F5344CB8AC3E}">
        <p14:creationId xmlns:p14="http://schemas.microsoft.com/office/powerpoint/2010/main" val="2819142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3A5F1A-3F7B-46DC-869E-40E0AF18929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7583B41F-BE99-43C9-BF1B-AB483746182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23</a:t>
            </a:r>
            <a:endParaRPr sz="900"/>
          </a:p>
        </p:txBody>
      </p:sp>
      <p:sp>
        <p:nvSpPr>
          <p:cNvPr id="4" name="Shape 2">
            <a:extLst xmlns:a="http://schemas.openxmlformats.org/drawingml/2006/main">
              <a:ext uri="{FF2B5EF4-FFF2-40B4-BE49-F238E27FC236}">
                <a16:creationId xmlns:a16="http://schemas.microsoft.com/office/drawing/2014/main" id="{B66DE1A8-0C60-4C73-BCC6-E17433211E60}"/>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2" name="Image 0">
            <a:extLst xmlns:a="http://schemas.openxmlformats.org/drawingml/2006/main">
              <a:ext uri="{FF2B5EF4-FFF2-40B4-BE49-F238E27FC236}">
                <a16:creationId xmlns:a16="http://schemas.microsoft.com/office/drawing/2014/main" id="{22BA2244-2DD6-4E07-8F2D-EF750719C48B}"/>
              </a:ext>
            </a:extLst>
          </p:cNvPr>
          <p:cNvPicPr>
            <a:picLocks xmlns:a="http://schemas.openxmlformats.org/drawingml/2006/main" noChangeAspect="1"/>
          </p:cNvPicPr>
          <p:nvPr/>
        </p:nvPicPr>
        <p:blipFill>
          <a:blip xmlns:r="http://schemas.openxmlformats.org/officeDocument/2006/relationships" xmlns:a="http://schemas.openxmlformats.org/drawingml/2006/main" r:embed="R95661b1547ca427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3" name="Image 1">
            <a:extLst xmlns:a="http://schemas.openxmlformats.org/drawingml/2006/main">
              <a:ext uri="{FF2B5EF4-FFF2-40B4-BE49-F238E27FC236}">
                <a16:creationId xmlns:a16="http://schemas.microsoft.com/office/drawing/2014/main" id="{4481D855-56EA-4E3E-AD50-AE1BCB471F9E}"/>
              </a:ext>
            </a:extLst>
          </p:cNvPr>
          <p:cNvPicPr>
            <a:picLocks xmlns:a="http://schemas.openxmlformats.org/drawingml/2006/main" noChangeAspect="1"/>
          </p:cNvPicPr>
          <p:nvPr/>
        </p:nvPicPr>
        <p:blipFill>
          <a:blip xmlns:r="http://schemas.openxmlformats.org/officeDocument/2006/relationships" xmlns:a="http://schemas.openxmlformats.org/drawingml/2006/main" r:embed="Rd5658cc7653447a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AA79735-081A-476B-A674-3D1E33510083}"/>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50CECB69-4BF8-4D2D-AAA4-BC614599EBAD}"/>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Named Volumes - Database Persistence</a:t>
            </a:r>
            <a:endParaRPr sz="2200"/>
          </a:p>
        </p:txBody>
      </p:sp>
      <p:sp>
        <p:nvSpPr>
          <p:cNvPr id="9" name="Text 5">
            <a:extLst xmlns:a="http://schemas.openxmlformats.org/drawingml/2006/main">
              <a:ext uri="{FF2B5EF4-FFF2-40B4-BE49-F238E27FC236}">
                <a16:creationId xmlns:a16="http://schemas.microsoft.com/office/drawing/2014/main" id="{5E76C7BF-97DA-4A54-A50D-4E662EFEDE6E}"/>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Pattern paling sering dipakai untuk Postgres, MySQL, MongoDB</a:t>
            </a:r>
            <a:endParaRPr sz="1200"/>
          </a:p>
        </p:txBody>
      </p:sp>
      <p:sp>
        <p:nvSpPr>
          <p:cNvPr id="10" name="Shape 6">
            <a:extLst xmlns:a="http://schemas.openxmlformats.org/drawingml/2006/main">
              <a:ext uri="{FF2B5EF4-FFF2-40B4-BE49-F238E27FC236}">
                <a16:creationId xmlns:a16="http://schemas.microsoft.com/office/drawing/2014/main" id="{90C0F855-E359-4653-B584-773628766406}"/>
              </a:ext>
            </a:extLst>
          </p:cNvPr>
          <p:cNvSpPr>
            <a:spLocks xmlns:a="http://schemas.openxmlformats.org/drawingml/2006/main" noGrp="1"/>
          </p:cNvSpPr>
          <p:nvPr/>
        </p:nvSpPr>
        <p:spPr>
          <a:xfrm xmlns:a="http://schemas.openxmlformats.org/drawingml/2006/main">
            <a:off x="457200" y="1417320"/>
            <a:ext cx="5029200" cy="47548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Text 7">
            <a:extLst xmlns:a="http://schemas.openxmlformats.org/drawingml/2006/main">
              <a:ext uri="{FF2B5EF4-FFF2-40B4-BE49-F238E27FC236}">
                <a16:creationId xmlns:a16="http://schemas.microsoft.com/office/drawing/2014/main" id="{41A26AD5-7934-4F99-A680-D3E96A910E50}"/>
              </a:ext>
            </a:extLst>
          </p:cNvPr>
          <p:cNvSpPr>
            <a:spLocks xmlns:a="http://schemas.openxmlformats.org/drawingml/2006/main" noGrp="1"/>
          </p:cNvSpPr>
          <p:nvPr/>
        </p:nvSpPr>
        <p:spPr>
          <a:xfrm xmlns:a="http://schemas.openxmlformats.org/drawingml/2006/main">
            <a:off x="640080" y="1554480"/>
            <a:ext cx="46634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Kenapa Named Volume untuk DB?</a:t>
            </a:r>
            <a:endParaRPr sz="1400"/>
          </a:p>
        </p:txBody>
      </p:sp>
      <p:pic>
        <p:nvPicPr>
          <p:cNvPr id="49" name="Image 2">
            <a:extLst xmlns:a="http://schemas.openxmlformats.org/drawingml/2006/main">
              <a:ext uri="{FF2B5EF4-FFF2-40B4-BE49-F238E27FC236}">
                <a16:creationId xmlns:a16="http://schemas.microsoft.com/office/drawing/2014/main" id="{273183AA-9A94-464A-AC9C-9D34703ED97C}"/>
              </a:ext>
            </a:extLst>
          </p:cNvPr>
          <p:cNvPicPr>
            <a:picLocks xmlns:a="http://schemas.openxmlformats.org/drawingml/2006/main" noChangeAspect="1"/>
          </p:cNvPicPr>
          <p:nvPr/>
        </p:nvPicPr>
        <p:blipFill>
          <a:blip xmlns:r="http://schemas.openxmlformats.org/officeDocument/2006/relationships" xmlns:a="http://schemas.openxmlformats.org/drawingml/2006/main" r:embed="Rf2cb171445f2443b"/>
          <a:stretch xmlns:a="http://schemas.openxmlformats.org/drawingml/2006/main">
            <a:fillRect l="0" t="0" r="0" b="0"/>
          </a:stretch>
        </p:blipFill>
        <p:spPr>
          <a:xfrm xmlns:a="http://schemas.openxmlformats.org/drawingml/2006/main">
            <a:off x="777240" y="2103120"/>
            <a:ext cx="320040" cy="32004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4CE1A18E-7A7C-4FD4-A09F-F1BF6C03BE9C}"/>
              </a:ext>
            </a:extLst>
          </p:cNvPr>
          <p:cNvSpPr>
            <a:spLocks xmlns:a="http://schemas.openxmlformats.org/drawingml/2006/main" noGrp="1"/>
          </p:cNvSpPr>
          <p:nvPr/>
        </p:nvSpPr>
        <p:spPr>
          <a:xfrm xmlns:a="http://schemas.openxmlformats.org/drawingml/2006/main">
            <a:off x="1234440" y="201168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Data persist saat container di-recreate</a:t>
            </a:r>
            <a:endParaRPr sz="1100"/>
          </a:p>
        </p:txBody>
      </p:sp>
      <p:pic>
        <p:nvPicPr>
          <p:cNvPr id="51" name="Image 3">
            <a:extLst xmlns:a="http://schemas.openxmlformats.org/drawingml/2006/main">
              <a:ext uri="{FF2B5EF4-FFF2-40B4-BE49-F238E27FC236}">
                <a16:creationId xmlns:a16="http://schemas.microsoft.com/office/drawing/2014/main" id="{8842F7F4-33BE-478A-AD19-DFD566FC5F21}"/>
              </a:ext>
            </a:extLst>
          </p:cNvPr>
          <p:cNvPicPr>
            <a:picLocks xmlns:a="http://schemas.openxmlformats.org/drawingml/2006/main" noChangeAspect="1"/>
          </p:cNvPicPr>
          <p:nvPr/>
        </p:nvPicPr>
        <p:blipFill>
          <a:blip xmlns:r="http://schemas.openxmlformats.org/officeDocument/2006/relationships" xmlns:a="http://schemas.openxmlformats.org/drawingml/2006/main" r:embed="Rf2cb171445f2443b"/>
          <a:stretch xmlns:a="http://schemas.openxmlformats.org/drawingml/2006/main">
            <a:fillRect l="0" t="0" r="0" b="0"/>
          </a:stretch>
        </p:blipFill>
        <p:spPr>
          <a:xfrm xmlns:a="http://schemas.openxmlformats.org/drawingml/2006/main">
            <a:off x="777240" y="2743200"/>
            <a:ext cx="320040" cy="320040"/>
          </a:xfrm>
          <a:prstGeom xmlns:a="http://schemas.openxmlformats.org/drawingml/2006/main" prst="rect">
            <a:avLst/>
          </a:prstGeom>
        </p:spPr>
      </p:pic>
      <p:sp>
        <p:nvSpPr>
          <p:cNvPr id="15" name="Text 9">
            <a:extLst xmlns:a="http://schemas.openxmlformats.org/drawingml/2006/main">
              <a:ext uri="{FF2B5EF4-FFF2-40B4-BE49-F238E27FC236}">
                <a16:creationId xmlns:a16="http://schemas.microsoft.com/office/drawing/2014/main" id="{317EA05D-788C-43B9-84D2-6B583BDD0E7A}"/>
              </a:ext>
            </a:extLst>
          </p:cNvPr>
          <p:cNvSpPr>
            <a:spLocks xmlns:a="http://schemas.openxmlformats.org/drawingml/2006/main" noGrp="1"/>
          </p:cNvSpPr>
          <p:nvPr/>
        </p:nvSpPr>
        <p:spPr>
          <a:xfrm xmlns:a="http://schemas.openxmlformats.org/drawingml/2006/main">
            <a:off x="1234440" y="265176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Performance bagus (storage driver native)</a:t>
            </a:r>
            <a:endParaRPr sz="1100"/>
          </a:p>
        </p:txBody>
      </p:sp>
      <p:pic>
        <p:nvPicPr>
          <p:cNvPr id="53" name="Image 4">
            <a:extLst xmlns:a="http://schemas.openxmlformats.org/drawingml/2006/main">
              <a:ext uri="{FF2B5EF4-FFF2-40B4-BE49-F238E27FC236}">
                <a16:creationId xmlns:a16="http://schemas.microsoft.com/office/drawing/2014/main" id="{D651C06C-445E-4BDF-A55D-3BD6D3C527B7}"/>
              </a:ext>
            </a:extLst>
          </p:cNvPr>
          <p:cNvPicPr>
            <a:picLocks xmlns:a="http://schemas.openxmlformats.org/drawingml/2006/main" noChangeAspect="1"/>
          </p:cNvPicPr>
          <p:nvPr/>
        </p:nvPicPr>
        <p:blipFill>
          <a:blip xmlns:r="http://schemas.openxmlformats.org/officeDocument/2006/relationships" xmlns:a="http://schemas.openxmlformats.org/drawingml/2006/main" r:embed="Rf2cb171445f2443b"/>
          <a:stretch xmlns:a="http://schemas.openxmlformats.org/drawingml/2006/main">
            <a:fillRect l="0" t="0" r="0" b="0"/>
          </a:stretch>
        </p:blipFill>
        <p:spPr>
          <a:xfrm xmlns:a="http://schemas.openxmlformats.org/drawingml/2006/main">
            <a:off x="777240" y="3383280"/>
            <a:ext cx="320040" cy="320040"/>
          </a:xfrm>
          <a:prstGeom xmlns:a="http://schemas.openxmlformats.org/drawingml/2006/main" prst="rect">
            <a:avLst/>
          </a:prstGeom>
        </p:spPr>
      </p:pic>
      <p:sp>
        <p:nvSpPr>
          <p:cNvPr id="17" name="Text 10">
            <a:extLst xmlns:a="http://schemas.openxmlformats.org/drawingml/2006/main">
              <a:ext uri="{FF2B5EF4-FFF2-40B4-BE49-F238E27FC236}">
                <a16:creationId xmlns:a16="http://schemas.microsoft.com/office/drawing/2014/main" id="{7C3C3077-C782-4656-A433-A0A4EE90B620}"/>
              </a:ext>
            </a:extLst>
          </p:cNvPr>
          <p:cNvSpPr>
            <a:spLocks xmlns:a="http://schemas.openxmlformats.org/drawingml/2006/main" noGrp="1"/>
          </p:cNvSpPr>
          <p:nvPr/>
        </p:nvSpPr>
        <p:spPr>
          <a:xfrm xmlns:a="http://schemas.openxmlformats.org/drawingml/2006/main">
            <a:off x="1234440" y="329184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Backup/restore mudah dengan docker volume</a:t>
            </a:r>
            <a:endParaRPr sz="1100"/>
          </a:p>
        </p:txBody>
      </p:sp>
      <p:pic>
        <p:nvPicPr>
          <p:cNvPr id="55" name="Image 5">
            <a:extLst xmlns:a="http://schemas.openxmlformats.org/drawingml/2006/main">
              <a:ext uri="{FF2B5EF4-FFF2-40B4-BE49-F238E27FC236}">
                <a16:creationId xmlns:a16="http://schemas.microsoft.com/office/drawing/2014/main" id="{A17843F2-07DD-4FF9-B618-208F8594CED0}"/>
              </a:ext>
            </a:extLst>
          </p:cNvPr>
          <p:cNvPicPr>
            <a:picLocks xmlns:a="http://schemas.openxmlformats.org/drawingml/2006/main" noChangeAspect="1"/>
          </p:cNvPicPr>
          <p:nvPr/>
        </p:nvPicPr>
        <p:blipFill>
          <a:blip xmlns:r="http://schemas.openxmlformats.org/officeDocument/2006/relationships" xmlns:a="http://schemas.openxmlformats.org/drawingml/2006/main" r:embed="Rf2cb171445f2443b"/>
          <a:stretch xmlns:a="http://schemas.openxmlformats.org/drawingml/2006/main">
            <a:fillRect l="0" t="0" r="0" b="0"/>
          </a:stretch>
        </p:blipFill>
        <p:spPr>
          <a:xfrm xmlns:a="http://schemas.openxmlformats.org/drawingml/2006/main">
            <a:off x="777240" y="4023360"/>
            <a:ext cx="320040" cy="320040"/>
          </a:xfrm>
          <a:prstGeom xmlns:a="http://schemas.openxmlformats.org/drawingml/2006/main" prst="rect">
            <a:avLst/>
          </a:prstGeom>
        </p:spPr>
      </p:pic>
      <p:sp>
        <p:nvSpPr>
          <p:cNvPr id="19" name="Text 11">
            <a:extLst xmlns:a="http://schemas.openxmlformats.org/drawingml/2006/main">
              <a:ext uri="{FF2B5EF4-FFF2-40B4-BE49-F238E27FC236}">
                <a16:creationId xmlns:a16="http://schemas.microsoft.com/office/drawing/2014/main" id="{F434A2E7-1A31-4C06-B690-52102097E303}"/>
              </a:ext>
            </a:extLst>
          </p:cNvPr>
          <p:cNvSpPr>
            <a:spLocks xmlns:a="http://schemas.openxmlformats.org/drawingml/2006/main" noGrp="1"/>
          </p:cNvSpPr>
          <p:nvPr/>
        </p:nvSpPr>
        <p:spPr>
          <a:xfrm xmlns:a="http://schemas.openxmlformats.org/drawingml/2006/main">
            <a:off x="1234440" y="393192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Tidak depend OS path (portable)</a:t>
            </a:r>
            <a:endParaRPr sz="1100"/>
          </a:p>
        </p:txBody>
      </p:sp>
      <p:pic>
        <p:nvPicPr>
          <p:cNvPr id="57" name="Image 6">
            <a:extLst xmlns:a="http://schemas.openxmlformats.org/drawingml/2006/main">
              <a:ext uri="{FF2B5EF4-FFF2-40B4-BE49-F238E27FC236}">
                <a16:creationId xmlns:a16="http://schemas.microsoft.com/office/drawing/2014/main" id="{55F8C4F1-9951-4927-BC83-758E73FB5773}"/>
              </a:ext>
            </a:extLst>
          </p:cNvPr>
          <p:cNvPicPr>
            <a:picLocks xmlns:a="http://schemas.openxmlformats.org/drawingml/2006/main" noChangeAspect="1"/>
          </p:cNvPicPr>
          <p:nvPr/>
        </p:nvPicPr>
        <p:blipFill>
          <a:blip xmlns:r="http://schemas.openxmlformats.org/officeDocument/2006/relationships" xmlns:a="http://schemas.openxmlformats.org/drawingml/2006/main" r:embed="Rcba6d6009e8b412f"/>
          <a:stretch xmlns:a="http://schemas.openxmlformats.org/drawingml/2006/main">
            <a:fillRect l="0" t="0" r="0" b="0"/>
          </a:stretch>
        </p:blipFill>
        <p:spPr>
          <a:xfrm xmlns:a="http://schemas.openxmlformats.org/drawingml/2006/main">
            <a:off x="777240" y="4663440"/>
            <a:ext cx="320040" cy="320040"/>
          </a:xfrm>
          <a:prstGeom xmlns:a="http://schemas.openxmlformats.org/drawingml/2006/main" prst="rect">
            <a:avLst/>
          </a:prstGeom>
        </p:spPr>
      </p:pic>
      <p:sp>
        <p:nvSpPr>
          <p:cNvPr id="21" name="Text 12">
            <a:extLst xmlns:a="http://schemas.openxmlformats.org/drawingml/2006/main">
              <a:ext uri="{FF2B5EF4-FFF2-40B4-BE49-F238E27FC236}">
                <a16:creationId xmlns:a16="http://schemas.microsoft.com/office/drawing/2014/main" id="{6A64F2DC-F0B4-4356-8984-7AF43950F8D0}"/>
              </a:ext>
            </a:extLst>
          </p:cNvPr>
          <p:cNvSpPr>
            <a:spLocks xmlns:a="http://schemas.openxmlformats.org/drawingml/2006/main" noGrp="1"/>
          </p:cNvSpPr>
          <p:nvPr/>
        </p:nvSpPr>
        <p:spPr>
          <a:xfrm xmlns:a="http://schemas.openxmlformats.org/drawingml/2006/main">
            <a:off x="1234440" y="457200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Compose rm: data TIDAK hilang otomatis</a:t>
            </a:r>
            <a:endParaRPr sz="1100"/>
          </a:p>
        </p:txBody>
      </p:sp>
      <p:pic>
        <p:nvPicPr>
          <p:cNvPr id="59" name="Image 7">
            <a:extLst xmlns:a="http://schemas.openxmlformats.org/drawingml/2006/main">
              <a:ext uri="{FF2B5EF4-FFF2-40B4-BE49-F238E27FC236}">
                <a16:creationId xmlns:a16="http://schemas.microsoft.com/office/drawing/2014/main" id="{153CE28D-40B3-4A36-B37F-63079C3746FC}"/>
              </a:ext>
            </a:extLst>
          </p:cNvPr>
          <p:cNvPicPr>
            <a:picLocks xmlns:a="http://schemas.openxmlformats.org/drawingml/2006/main" noChangeAspect="1"/>
          </p:cNvPicPr>
          <p:nvPr/>
        </p:nvPicPr>
        <p:blipFill>
          <a:blip xmlns:r="http://schemas.openxmlformats.org/officeDocument/2006/relationships" xmlns:a="http://schemas.openxmlformats.org/drawingml/2006/main" r:embed="Rcba6d6009e8b412f"/>
          <a:stretch xmlns:a="http://schemas.openxmlformats.org/drawingml/2006/main">
            <a:fillRect l="0" t="0" r="0" b="0"/>
          </a:stretch>
        </p:blipFill>
        <p:spPr>
          <a:xfrm xmlns:a="http://schemas.openxmlformats.org/drawingml/2006/main">
            <a:off x="777240" y="5303520"/>
            <a:ext cx="320040" cy="320040"/>
          </a:xfrm>
          <a:prstGeom xmlns:a="http://schemas.openxmlformats.org/drawingml/2006/main" prst="rect">
            <a:avLst/>
          </a:prstGeom>
        </p:spPr>
      </p:pic>
      <p:sp>
        <p:nvSpPr>
          <p:cNvPr id="23" name="Text 13">
            <a:extLst xmlns:a="http://schemas.openxmlformats.org/drawingml/2006/main">
              <a:ext uri="{FF2B5EF4-FFF2-40B4-BE49-F238E27FC236}">
                <a16:creationId xmlns:a16="http://schemas.microsoft.com/office/drawing/2014/main" id="{BEBF0C55-6106-4AC0-AAD2-963A94712C93}"/>
              </a:ext>
            </a:extLst>
          </p:cNvPr>
          <p:cNvSpPr>
            <a:spLocks xmlns:a="http://schemas.openxmlformats.org/drawingml/2006/main" noGrp="1"/>
          </p:cNvSpPr>
          <p:nvPr/>
        </p:nvSpPr>
        <p:spPr>
          <a:xfrm xmlns:a="http://schemas.openxmlformats.org/drawingml/2006/main">
            <a:off x="1234440" y="521208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1E293B"/>
                </a:solidFill>
                <a:latin typeface="Calibri"/>
                <a:ea typeface="Calibri"/>
                <a:cs typeface="Calibri"/>
              </a:rPr>
              <a:t>compose down -v BARU hapus volume!</a:t>
            </a:r>
            <a:endParaRPr sz="1100"/>
          </a:p>
        </p:txBody>
      </p:sp>
      <p:sp>
        <p:nvSpPr>
          <p:cNvPr id="24" name="Shape 14">
            <a:extLst xmlns:a="http://schemas.openxmlformats.org/drawingml/2006/main">
              <a:ext uri="{FF2B5EF4-FFF2-40B4-BE49-F238E27FC236}">
                <a16:creationId xmlns:a16="http://schemas.microsoft.com/office/drawing/2014/main" id="{79EDA4A5-DF72-4891-B9BE-CBEB1D5DC112}"/>
              </a:ext>
            </a:extLst>
          </p:cNvPr>
          <p:cNvSpPr>
            <a:spLocks xmlns:a="http://schemas.openxmlformats.org/drawingml/2006/main" noGrp="1"/>
          </p:cNvSpPr>
          <p:nvPr/>
        </p:nvSpPr>
        <p:spPr>
          <a:xfrm xmlns:a="http://schemas.openxmlformats.org/drawingml/2006/main">
            <a:off x="5760720" y="1417320"/>
            <a:ext cx="5943600" cy="475488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5" name="Shape 15">
            <a:extLst xmlns:a="http://schemas.openxmlformats.org/drawingml/2006/main">
              <a:ext uri="{FF2B5EF4-FFF2-40B4-BE49-F238E27FC236}">
                <a16:creationId xmlns:a16="http://schemas.microsoft.com/office/drawing/2014/main" id="{F7E02A50-9A5D-4E9B-BE60-B3557B0FF318}"/>
              </a:ext>
            </a:extLst>
          </p:cNvPr>
          <p:cNvSpPr>
            <a:spLocks xmlns:a="http://schemas.openxmlformats.org/drawingml/2006/main" noGrp="1"/>
          </p:cNvSpPr>
          <p:nvPr/>
        </p:nvSpPr>
        <p:spPr>
          <a:xfrm xmlns:a="http://schemas.openxmlformats.org/drawingml/2006/main">
            <a:off x="5760720" y="1417320"/>
            <a:ext cx="59436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6" name="Shape 16">
            <a:extLst xmlns:a="http://schemas.openxmlformats.org/drawingml/2006/main">
              <a:ext uri="{FF2B5EF4-FFF2-40B4-BE49-F238E27FC236}">
                <a16:creationId xmlns:a16="http://schemas.microsoft.com/office/drawing/2014/main" id="{58FB04B8-DCF3-42DA-B531-D08B4C2C5C36}"/>
              </a:ext>
            </a:extLst>
          </p:cNvPr>
          <p:cNvSpPr>
            <a:spLocks xmlns:a="http://schemas.openxmlformats.org/drawingml/2006/main" noGrp="1"/>
          </p:cNvSpPr>
          <p:nvPr/>
        </p:nvSpPr>
        <p:spPr>
          <a:xfrm xmlns:a="http://schemas.openxmlformats.org/drawingml/2006/main">
            <a:off x="5852160" y="14996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7" name="Shape 17">
            <a:extLst xmlns:a="http://schemas.openxmlformats.org/drawingml/2006/main">
              <a:ext uri="{FF2B5EF4-FFF2-40B4-BE49-F238E27FC236}">
                <a16:creationId xmlns:a16="http://schemas.microsoft.com/office/drawing/2014/main" id="{8DB9B6BB-C483-4031-B54F-CC0471F75C9E}"/>
              </a:ext>
            </a:extLst>
          </p:cNvPr>
          <p:cNvSpPr>
            <a:spLocks xmlns:a="http://schemas.openxmlformats.org/drawingml/2006/main" noGrp="1"/>
          </p:cNvSpPr>
          <p:nvPr/>
        </p:nvSpPr>
        <p:spPr>
          <a:xfrm xmlns:a="http://schemas.openxmlformats.org/drawingml/2006/main">
            <a:off x="5989320" y="14996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8" name="Shape 18">
            <a:extLst xmlns:a="http://schemas.openxmlformats.org/drawingml/2006/main">
              <a:ext uri="{FF2B5EF4-FFF2-40B4-BE49-F238E27FC236}">
                <a16:creationId xmlns:a16="http://schemas.microsoft.com/office/drawing/2014/main" id="{9D7F51CE-7E5F-4781-A87F-403DD518B138}"/>
              </a:ext>
            </a:extLst>
          </p:cNvPr>
          <p:cNvSpPr>
            <a:spLocks xmlns:a="http://schemas.openxmlformats.org/drawingml/2006/main" noGrp="1"/>
          </p:cNvSpPr>
          <p:nvPr/>
        </p:nvSpPr>
        <p:spPr>
          <a:xfrm xmlns:a="http://schemas.openxmlformats.org/drawingml/2006/main">
            <a:off x="6126480" y="14996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9" name="Text 19">
            <a:extLst xmlns:a="http://schemas.openxmlformats.org/drawingml/2006/main">
              <a:ext uri="{FF2B5EF4-FFF2-40B4-BE49-F238E27FC236}">
                <a16:creationId xmlns:a16="http://schemas.microsoft.com/office/drawing/2014/main" id="{824BB542-9D3E-411D-957F-55B4DB695FCF}"/>
              </a:ext>
            </a:extLst>
          </p:cNvPr>
          <p:cNvSpPr>
            <a:spLocks xmlns:a="http://schemas.openxmlformats.org/drawingml/2006/main" noGrp="1"/>
          </p:cNvSpPr>
          <p:nvPr/>
        </p:nvSpPr>
        <p:spPr>
          <a:xfrm xmlns:a="http://schemas.openxmlformats.org/drawingml/2006/main">
            <a:off x="6309360" y="1417320"/>
            <a:ext cx="5212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production db setup</a:t>
            </a:r>
            <a:endParaRPr sz="900"/>
          </a:p>
        </p:txBody>
      </p:sp>
      <p:sp>
        <p:nvSpPr>
          <p:cNvPr id="30" name="Text 20">
            <a:extLst xmlns:a="http://schemas.openxmlformats.org/drawingml/2006/main">
              <a:ext uri="{FF2B5EF4-FFF2-40B4-BE49-F238E27FC236}">
                <a16:creationId xmlns:a16="http://schemas.microsoft.com/office/drawing/2014/main" id="{0966D265-669F-43C9-A3D8-DA78D160E860}"/>
              </a:ext>
            </a:extLst>
          </p:cNvPr>
          <p:cNvSpPr>
            <a:spLocks xmlns:a="http://schemas.openxmlformats.org/drawingml/2006/main" noGrp="1"/>
          </p:cNvSpPr>
          <p:nvPr/>
        </p:nvSpPr>
        <p:spPr>
          <a:xfrm xmlns:a="http://schemas.openxmlformats.org/drawingml/2006/main">
            <a:off x="5897880" y="1783080"/>
            <a:ext cx="5669280" cy="4297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postgres:15-alpine</a:t>
            </a:r>
            <a:endParaRPr sz="1100"/>
          </a:p>
          <a:p xmlns:a="http://schemas.openxmlformats.org/drawingml/2006/main">
            <a:pPr marL="0" indent="0">
              <a:spcAft>
                <a:spcPts val="200"/>
              </a:spcAft>
              <a:buNone/>
            </a:pPr>
            <a:r>
              <a:rPr sz="1100">
                <a:solidFill>
                  <a:srgbClr val="E2E8F0"/>
                </a:solidFill>
                <a:latin typeface="Consolas"/>
                <a:ea typeface="Consolas"/>
                <a:cs typeface="Consolas"/>
              </a:rPr>
              <a:t>    volumes:</a:t>
            </a:r>
            <a:endParaRPr sz="1100"/>
          </a:p>
          <a:p xmlns:a="http://schemas.openxmlformats.org/drawingml/2006/main">
            <a:pPr marL="0" indent="0">
              <a:spcAft>
                <a:spcPts val="200"/>
              </a:spcAft>
              <a:buNone/>
            </a:pPr>
            <a:r>
              <a:rPr sz="1100" b="1">
                <a:solidFill>
                  <a:srgbClr val="10B981"/>
                </a:solidFill>
                <a:latin typeface="Consolas"/>
                <a:ea typeface="Consolas"/>
                <a:cs typeface="Consolas"/>
              </a:rPr>
              <a:t>      - db-data:/var/lib/postgresql/data</a:t>
            </a:r>
            <a:endParaRPr sz="1100"/>
          </a:p>
          <a:p xmlns:a="http://schemas.openxmlformats.org/drawingml/2006/main">
            <a:pPr marL="0" indent="0">
              <a:spcAft>
                <a:spcPts val="200"/>
              </a:spcAft>
              <a:buNone/>
            </a:pPr>
            <a:r>
              <a:rPr sz="1100">
                <a:solidFill>
                  <a:srgbClr val="E2E8F0"/>
                </a:solidFill>
                <a:latin typeface="Consolas"/>
                <a:ea typeface="Consolas"/>
                <a:cs typeface="Consolas"/>
              </a:rPr>
              <a:t>    restart: unless-stopped</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F37021"/>
                </a:solidFill>
                <a:latin typeface="Consolas"/>
                <a:ea typeface="Consolas"/>
                <a:cs typeface="Consolas"/>
              </a:rPr>
              <a:t>volumes: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db-data:</a:t>
            </a:r>
            <a:endParaRPr sz="1100"/>
          </a:p>
          <a:p xmlns:a="http://schemas.openxmlformats.org/drawingml/2006/main">
            <a:pPr marL="0" indent="0">
              <a:spcAft>
                <a:spcPts val="200"/>
              </a:spcAft>
              <a:buNone/>
            </a:pPr>
            <a:r>
              <a:rPr sz="1100">
                <a:solidFill>
                  <a:srgbClr val="E2E8F0"/>
                </a:solidFill>
                <a:latin typeface="Consolas"/>
                <a:ea typeface="Consolas"/>
                <a:cs typeface="Consolas"/>
              </a:rPr>
              <a:t>    name: myapp_postgres_data</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Cek di host - lokasi fisik volume</a:t>
            </a:r>
            <a:endParaRPr sz="1100"/>
          </a:p>
          <a:p xmlns:a="http://schemas.openxmlformats.org/drawingml/2006/main">
            <a:pPr marL="0" indent="0">
              <a:spcAft>
                <a:spcPts val="200"/>
              </a:spcAft>
              <a:buNone/>
            </a:pPr>
            <a:r>
              <a:rPr sz="1100">
                <a:solidFill>
                  <a:srgbClr val="10B981"/>
                </a:solidFill>
                <a:latin typeface="Consolas"/>
                <a:ea typeface="Consolas"/>
                <a:cs typeface="Consolas"/>
              </a:rPr>
              <a:t>$ docker volume inspect myapp_postgres_data</a:t>
            </a:r>
            <a:endParaRPr sz="1100"/>
          </a:p>
          <a:p xmlns:a="http://schemas.openxmlformats.org/drawingml/2006/main">
            <a:pPr marL="0" indent="0">
              <a:spcAft>
                <a:spcPts val="200"/>
              </a:spcAft>
              <a:buNone/>
            </a:pPr>
            <a:r>
              <a:rPr sz="1100">
                <a:solidFill>
                  <a:srgbClr val="E2E8F0"/>
                </a:solidFill>
                <a:latin typeface="Consolas"/>
                <a:ea typeface="Consolas"/>
                <a:cs typeface="Consolas"/>
              </a:rPr>
              <a:t>[</a:t>
            </a:r>
            <a:endParaRPr sz="1100"/>
          </a:p>
          <a:p xmlns:a="http://schemas.openxmlformats.org/drawingml/2006/main">
            <a:pPr marL="0" indent="0">
              <a:spcAft>
                <a:spcPts val="200"/>
              </a:spcAft>
              <a:buNone/>
            </a:pPr>
            <a:r>
              <a:rPr sz="1100">
                <a:solidFill>
                  <a:srgbClr val="E2E8F0"/>
                </a:solidFill>
                <a:latin typeface="Consolas"/>
                <a:ea typeface="Consolas"/>
                <a:cs typeface="Consolas"/>
              </a:rPr>
              <a:t>  {</a:t>
            </a:r>
            <a:endParaRPr sz="1100"/>
          </a:p>
          <a:p xmlns:a="http://schemas.openxmlformats.org/drawingml/2006/main">
            <a:pPr marL="0" indent="0">
              <a:spcAft>
                <a:spcPts val="200"/>
              </a:spcAft>
              <a:buNone/>
            </a:pPr>
            <a:r>
              <a:rPr sz="1100">
                <a:solidFill>
                  <a:srgbClr val="E2E8F0"/>
                </a:solidFill>
                <a:latin typeface="Consolas"/>
                <a:ea typeface="Consolas"/>
                <a:cs typeface="Consolas"/>
              </a:rPr>
              <a:t>    "Mountpoint":</a:t>
            </a:r>
            <a:endParaRPr sz="1100"/>
          </a:p>
          <a:p xmlns:a="http://schemas.openxmlformats.org/drawingml/2006/main">
            <a:pPr marL="0" indent="0">
              <a:spcAft>
                <a:spcPts val="200"/>
              </a:spcAft>
              <a:buNone/>
            </a:pPr>
            <a:r>
              <a:rPr sz="1100">
                <a:solidFill>
                  <a:srgbClr val="10B981"/>
                </a:solidFill>
                <a:latin typeface="Consolas"/>
                <a:ea typeface="Consolas"/>
                <a:cs typeface="Consolas"/>
              </a:rPr>
              <a:t>      "/var/lib/docker/volumes/</a:t>
            </a:r>
            <a:endParaRPr sz="1100"/>
          </a:p>
          <a:p xmlns:a="http://schemas.openxmlformats.org/drawingml/2006/main">
            <a:pPr marL="0" indent="0">
              <a:spcAft>
                <a:spcPts val="200"/>
              </a:spcAft>
              <a:buNone/>
            </a:pPr>
            <a:r>
              <a:rPr sz="1100">
                <a:solidFill>
                  <a:srgbClr val="10B981"/>
                </a:solidFill>
                <a:latin typeface="Consolas"/>
                <a:ea typeface="Consolas"/>
                <a:cs typeface="Consolas"/>
              </a:rPr>
              <a:t>       myapp_postgres_data/_data"</a:t>
            </a:r>
            <a:endParaRPr sz="1100"/>
          </a:p>
          <a:p xmlns:a="http://schemas.openxmlformats.org/drawingml/2006/main">
            <a:pPr marL="0" indent="0">
              <a:spcAft>
                <a:spcPts val="200"/>
              </a:spcAft>
              <a:buNone/>
            </a:pPr>
            <a:r>
              <a:rPr sz="1100">
                <a:solidFill>
                  <a:srgbClr val="E2E8F0"/>
                </a:solidFill>
                <a:latin typeface="Consolas"/>
                <a:ea typeface="Consolas"/>
                <a:cs typeface="Consolas"/>
              </a:rPr>
              <a:t>  }</a:t>
            </a:r>
            <a:endParaRPr sz="1100"/>
          </a:p>
          <a:p xmlns:a="http://schemas.openxmlformats.org/drawingml/2006/main">
            <a:pPr marL="0" indent="0">
              <a:spcAft>
                <a:spcPts val="200"/>
              </a:spcAft>
              <a:buNone/>
            </a:pPr>
            <a:r>
              <a:rPr sz="1100">
                <a:solidFill>
                  <a:srgbClr val="E2E8F0"/>
                </a:solidFill>
                <a:latin typeface="Consolas"/>
                <a:ea typeface="Consolas"/>
                <a:cs typeface="Consolas"/>
              </a:rPr>
              <a:t>]</a:t>
            </a:r>
            <a:endParaRPr sz="1100"/>
          </a:p>
        </p:txBody>
      </p:sp>
    </p:spTree>
    <p:extLst>
      <p:ext uri="{BB962C8B-B14F-4D97-AF65-F5344CB8AC3E}">
        <p14:creationId xmlns:p14="http://schemas.microsoft.com/office/powerpoint/2010/main" val="11088006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232CAF-677B-4B6C-9D13-3D77FCBD5EF1}"/>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099249D4-EDE6-45A4-A4DE-D95220FCF713}"/>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24</a:t>
            </a:r>
            <a:endParaRPr sz="900"/>
          </a:p>
        </p:txBody>
      </p:sp>
      <p:sp>
        <p:nvSpPr>
          <p:cNvPr id="4" name="Shape 2">
            <a:extLst xmlns:a="http://schemas.openxmlformats.org/drawingml/2006/main">
              <a:ext uri="{FF2B5EF4-FFF2-40B4-BE49-F238E27FC236}">
                <a16:creationId xmlns:a16="http://schemas.microsoft.com/office/drawing/2014/main" id="{6AB62718-4D6A-4A62-B954-C1941DD9A30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1" name="Image 0">
            <a:extLst xmlns:a="http://schemas.openxmlformats.org/drawingml/2006/main">
              <a:ext uri="{FF2B5EF4-FFF2-40B4-BE49-F238E27FC236}">
                <a16:creationId xmlns:a16="http://schemas.microsoft.com/office/drawing/2014/main" id="{819718D9-0EA5-4FAC-951A-0F070C5604D3}"/>
              </a:ext>
            </a:extLst>
          </p:cNvPr>
          <p:cNvPicPr>
            <a:picLocks xmlns:a="http://schemas.openxmlformats.org/drawingml/2006/main" noChangeAspect="1"/>
          </p:cNvPicPr>
          <p:nvPr/>
        </p:nvPicPr>
        <p:blipFill>
          <a:blip xmlns:r="http://schemas.openxmlformats.org/officeDocument/2006/relationships" xmlns:a="http://schemas.openxmlformats.org/drawingml/2006/main" r:embed="Ra96d34f8e8254417"/>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2" name="Image 1">
            <a:extLst xmlns:a="http://schemas.openxmlformats.org/drawingml/2006/main">
              <a:ext uri="{FF2B5EF4-FFF2-40B4-BE49-F238E27FC236}">
                <a16:creationId xmlns:a16="http://schemas.microsoft.com/office/drawing/2014/main" id="{97B8F285-BB56-4D9E-AA15-1FB59A0E5E08}"/>
              </a:ext>
            </a:extLst>
          </p:cNvPr>
          <p:cNvPicPr>
            <a:picLocks xmlns:a="http://schemas.openxmlformats.org/drawingml/2006/main" noChangeAspect="1"/>
          </p:cNvPicPr>
          <p:nvPr/>
        </p:nvPicPr>
        <p:blipFill>
          <a:blip xmlns:r="http://schemas.openxmlformats.org/officeDocument/2006/relationships" xmlns:a="http://schemas.openxmlformats.org/drawingml/2006/main" r:embed="R4def9a7825394e08"/>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9A0E8060-FBD0-41DB-A240-3861CCE75805}"/>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B34A95FC-5B9A-4FF7-ABBD-FE8F5F22B8E3}"/>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Bind Mounts - Dev Hot-Reload</a:t>
            </a:r>
            <a:endParaRPr sz="2200"/>
          </a:p>
        </p:txBody>
      </p:sp>
      <p:sp>
        <p:nvSpPr>
          <p:cNvPr id="9" name="Text 5">
            <a:extLst xmlns:a="http://schemas.openxmlformats.org/drawingml/2006/main">
              <a:ext uri="{FF2B5EF4-FFF2-40B4-BE49-F238E27FC236}">
                <a16:creationId xmlns:a16="http://schemas.microsoft.com/office/drawing/2014/main" id="{96C097EE-3221-448B-B366-A569BF3FB59B}"/>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Edit code di host, container auto-reload - workflow paling efisien</a:t>
            </a:r>
            <a:endParaRPr sz="1200"/>
          </a:p>
        </p:txBody>
      </p:sp>
      <p:sp>
        <p:nvSpPr>
          <p:cNvPr id="10" name="Shape 6">
            <a:extLst xmlns:a="http://schemas.openxmlformats.org/drawingml/2006/main">
              <a:ext uri="{FF2B5EF4-FFF2-40B4-BE49-F238E27FC236}">
                <a16:creationId xmlns:a16="http://schemas.microsoft.com/office/drawing/2014/main" id="{6F7A2938-BC4B-4B58-9BC7-7962BD8750D4}"/>
              </a:ext>
            </a:extLst>
          </p:cNvPr>
          <p:cNvSpPr>
            <a:spLocks xmlns:a="http://schemas.openxmlformats.org/drawingml/2006/main" noGrp="1"/>
          </p:cNvSpPr>
          <p:nvPr/>
        </p:nvSpPr>
        <p:spPr>
          <a:xfrm xmlns:a="http://schemas.openxmlformats.org/drawingml/2006/main">
            <a:off x="457200" y="1417320"/>
            <a:ext cx="11247120" cy="8229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C5E02417-4916-4648-82FA-0DBFE7FBFF64}"/>
              </a:ext>
            </a:extLst>
          </p:cNvPr>
          <p:cNvSpPr>
            <a:spLocks xmlns:a="http://schemas.openxmlformats.org/drawingml/2006/main" noGrp="1"/>
          </p:cNvSpPr>
          <p:nvPr/>
        </p:nvSpPr>
        <p:spPr>
          <a:xfrm xmlns:a="http://schemas.openxmlformats.org/drawingml/2006/main">
            <a:off x="685800" y="1508760"/>
            <a:ext cx="107899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Magic dev workflow: </a:t>
            </a:r>
            <a:r>
              <a:rPr sz="1200">
                <a:solidFill>
                  <a:srgbClr val="FFFFFF"/>
                </a:solidFill>
                <a:latin typeface="Calibri"/>
                <a:ea typeface="Calibri"/>
                <a:cs typeface="Calibri"/>
              </a:rPr>
              <a:t>mount ./src ke /app di container + tool dev (nodemon, vite, uvicorn --reload) auto-restart.</a:t>
            </a:r>
            <a:endParaRPr sz="1300"/>
          </a:p>
        </p:txBody>
      </p:sp>
      <p:sp>
        <p:nvSpPr>
          <p:cNvPr id="12" name="Shape 8">
            <a:extLst xmlns:a="http://schemas.openxmlformats.org/drawingml/2006/main">
              <a:ext uri="{FF2B5EF4-FFF2-40B4-BE49-F238E27FC236}">
                <a16:creationId xmlns:a16="http://schemas.microsoft.com/office/drawing/2014/main" id="{91618E45-D05B-44A4-BED9-FD824D6DAF31}"/>
              </a:ext>
            </a:extLst>
          </p:cNvPr>
          <p:cNvSpPr>
            <a:spLocks xmlns:a="http://schemas.openxmlformats.org/drawingml/2006/main" noGrp="1"/>
          </p:cNvSpPr>
          <p:nvPr/>
        </p:nvSpPr>
        <p:spPr>
          <a:xfrm xmlns:a="http://schemas.openxmlformats.org/drawingml/2006/main">
            <a:off x="457200" y="2377440"/>
            <a:ext cx="5577840" cy="39319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3" name="Shape 9">
            <a:extLst xmlns:a="http://schemas.openxmlformats.org/drawingml/2006/main">
              <a:ext uri="{FF2B5EF4-FFF2-40B4-BE49-F238E27FC236}">
                <a16:creationId xmlns:a16="http://schemas.microsoft.com/office/drawing/2014/main" id="{91BECA6C-AAD9-4B7D-A918-B5FE4807B258}"/>
              </a:ext>
            </a:extLst>
          </p:cNvPr>
          <p:cNvSpPr>
            <a:spLocks xmlns:a="http://schemas.openxmlformats.org/drawingml/2006/main" noGrp="1"/>
          </p:cNvSpPr>
          <p:nvPr/>
        </p:nvSpPr>
        <p:spPr>
          <a:xfrm xmlns:a="http://schemas.openxmlformats.org/drawingml/2006/main">
            <a:off x="457200" y="2377440"/>
            <a:ext cx="55778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4" name="Shape 10">
            <a:extLst xmlns:a="http://schemas.openxmlformats.org/drawingml/2006/main">
              <a:ext uri="{FF2B5EF4-FFF2-40B4-BE49-F238E27FC236}">
                <a16:creationId xmlns:a16="http://schemas.microsoft.com/office/drawing/2014/main" id="{21C133F9-A03D-437F-887B-702AE974F156}"/>
              </a:ext>
            </a:extLst>
          </p:cNvPr>
          <p:cNvSpPr>
            <a:spLocks xmlns:a="http://schemas.openxmlformats.org/drawingml/2006/main" noGrp="1"/>
          </p:cNvSpPr>
          <p:nvPr/>
        </p:nvSpPr>
        <p:spPr>
          <a:xfrm xmlns:a="http://schemas.openxmlformats.org/drawingml/2006/main">
            <a:off x="548640" y="24597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5" name="Shape 11">
            <a:extLst xmlns:a="http://schemas.openxmlformats.org/drawingml/2006/main">
              <a:ext uri="{FF2B5EF4-FFF2-40B4-BE49-F238E27FC236}">
                <a16:creationId xmlns:a16="http://schemas.microsoft.com/office/drawing/2014/main" id="{091FFE3C-1AB4-4575-82BF-C4671CD23918}"/>
              </a:ext>
            </a:extLst>
          </p:cNvPr>
          <p:cNvSpPr>
            <a:spLocks xmlns:a="http://schemas.openxmlformats.org/drawingml/2006/main" noGrp="1"/>
          </p:cNvSpPr>
          <p:nvPr/>
        </p:nvSpPr>
        <p:spPr>
          <a:xfrm xmlns:a="http://schemas.openxmlformats.org/drawingml/2006/main">
            <a:off x="685800" y="24597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6" name="Shape 12">
            <a:extLst xmlns:a="http://schemas.openxmlformats.org/drawingml/2006/main">
              <a:ext uri="{FF2B5EF4-FFF2-40B4-BE49-F238E27FC236}">
                <a16:creationId xmlns:a16="http://schemas.microsoft.com/office/drawing/2014/main" id="{0F06AFC3-BEFB-4A17-B153-102A6AD34480}"/>
              </a:ext>
            </a:extLst>
          </p:cNvPr>
          <p:cNvSpPr>
            <a:spLocks xmlns:a="http://schemas.openxmlformats.org/drawingml/2006/main" noGrp="1"/>
          </p:cNvSpPr>
          <p:nvPr/>
        </p:nvSpPr>
        <p:spPr>
          <a:xfrm xmlns:a="http://schemas.openxmlformats.org/drawingml/2006/main">
            <a:off x="822960" y="24597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7" name="Text 13">
            <a:extLst xmlns:a="http://schemas.openxmlformats.org/drawingml/2006/main">
              <a:ext uri="{FF2B5EF4-FFF2-40B4-BE49-F238E27FC236}">
                <a16:creationId xmlns:a16="http://schemas.microsoft.com/office/drawing/2014/main" id="{D27FF23C-DD6B-47D3-8EE5-88430A14D7D3}"/>
              </a:ext>
            </a:extLst>
          </p:cNvPr>
          <p:cNvSpPr>
            <a:spLocks xmlns:a="http://schemas.openxmlformats.org/drawingml/2006/main" noGrp="1"/>
          </p:cNvSpPr>
          <p:nvPr/>
        </p:nvSpPr>
        <p:spPr>
          <a:xfrm xmlns:a="http://schemas.openxmlformats.org/drawingml/2006/main">
            <a:off x="1005840" y="237744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Node.js dev workflow</a:t>
            </a:r>
            <a:endParaRPr sz="900"/>
          </a:p>
        </p:txBody>
      </p:sp>
      <p:sp>
        <p:nvSpPr>
          <p:cNvPr id="18" name="Text 14">
            <a:extLst xmlns:a="http://schemas.openxmlformats.org/drawingml/2006/main">
              <a:ext uri="{FF2B5EF4-FFF2-40B4-BE49-F238E27FC236}">
                <a16:creationId xmlns:a16="http://schemas.microsoft.com/office/drawing/2014/main" id="{F46D5010-EE2A-4597-A2FF-600036F3ACB0}"/>
              </a:ext>
            </a:extLst>
          </p:cNvPr>
          <p:cNvSpPr>
            <a:spLocks xmlns:a="http://schemas.openxmlformats.org/drawingml/2006/main" noGrp="1"/>
          </p:cNvSpPr>
          <p:nvPr/>
        </p:nvSpPr>
        <p:spPr>
          <a:xfrm xmlns:a="http://schemas.openxmlformats.org/drawingml/2006/main">
            <a:off x="594360" y="2743200"/>
            <a:ext cx="530352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build:</a:t>
            </a:r>
            <a:endParaRPr sz="1100"/>
          </a:p>
          <a:p xmlns:a="http://schemas.openxmlformats.org/drawingml/2006/main">
            <a:pPr marL="0" indent="0">
              <a:spcAft>
                <a:spcPts val="200"/>
              </a:spcAft>
              <a:buNone/>
            </a:pPr>
            <a:r>
              <a:rPr sz="1100">
                <a:solidFill>
                  <a:srgbClr val="E2E8F0"/>
                </a:solidFill>
                <a:latin typeface="Consolas"/>
                <a:ea typeface="Consolas"/>
                <a:cs typeface="Consolas"/>
              </a:rPr>
              <a:t>      context: .</a:t>
            </a:r>
            <a:endParaRPr sz="1100"/>
          </a:p>
          <a:p xmlns:a="http://schemas.openxmlformats.org/drawingml/2006/main">
            <a:pPr marL="0" indent="0">
              <a:spcAft>
                <a:spcPts val="200"/>
              </a:spcAft>
              <a:buNone/>
            </a:pPr>
            <a:r>
              <a:rPr sz="1100">
                <a:solidFill>
                  <a:srgbClr val="E2E8F0"/>
                </a:solidFill>
                <a:latin typeface="Consolas"/>
                <a:ea typeface="Consolas"/>
                <a:cs typeface="Consolas"/>
              </a:rPr>
              <a:t>      target: dev   # multi-stage</a:t>
            </a:r>
            <a:endParaRPr sz="1100"/>
          </a:p>
          <a:p xmlns:a="http://schemas.openxmlformats.org/drawingml/2006/main">
            <a:pPr marL="0" indent="0">
              <a:spcAft>
                <a:spcPts val="200"/>
              </a:spcAft>
              <a:buNone/>
            </a:pPr>
            <a:r>
              <a:rPr sz="1100">
                <a:solidFill>
                  <a:srgbClr val="E2E8F0"/>
                </a:solidFill>
                <a:latin typeface="Consolas"/>
                <a:ea typeface="Consolas"/>
                <a:cs typeface="Consolas"/>
              </a:rPr>
              <a:t>    volumes:</a:t>
            </a:r>
            <a:endParaRPr sz="1100"/>
          </a:p>
          <a:p xmlns:a="http://schemas.openxmlformats.org/drawingml/2006/main">
            <a:pPr marL="0" indent="0">
              <a:spcAft>
                <a:spcPts val="200"/>
              </a:spcAft>
              <a:buNone/>
            </a:pPr>
            <a:r>
              <a:rPr sz="1100">
                <a:solidFill>
                  <a:srgbClr val="94A3B8"/>
                </a:solidFill>
                <a:latin typeface="Consolas"/>
                <a:ea typeface="Consolas"/>
                <a:cs typeface="Consolas"/>
              </a:rPr>
              <a:t>      # Mount source code</a:t>
            </a:r>
            <a:endParaRPr sz="1100"/>
          </a:p>
          <a:p xmlns:a="http://schemas.openxmlformats.org/drawingml/2006/main">
            <a:pPr marL="0" indent="0">
              <a:spcAft>
                <a:spcPts val="200"/>
              </a:spcAft>
              <a:buNone/>
            </a:pPr>
            <a:r>
              <a:rPr sz="1100" b="1">
                <a:solidFill>
                  <a:srgbClr val="10B981"/>
                </a:solidFill>
                <a:latin typeface="Consolas"/>
                <a:ea typeface="Consolas"/>
                <a:cs typeface="Consolas"/>
              </a:rPr>
              <a:t>      - ./src:/app/src</a:t>
            </a:r>
            <a:endParaRPr sz="1100"/>
          </a:p>
          <a:p xmlns:a="http://schemas.openxmlformats.org/drawingml/2006/main">
            <a:pPr marL="0" indent="0">
              <a:spcAft>
                <a:spcPts val="200"/>
              </a:spcAft>
              <a:buNone/>
            </a:pPr>
            <a:r>
              <a:rPr sz="1100">
                <a:solidFill>
                  <a:srgbClr val="94A3B8"/>
                </a:solidFill>
                <a:latin typeface="Consolas"/>
                <a:ea typeface="Consolas"/>
                <a:cs typeface="Consolas"/>
              </a:rPr>
              <a:t>      # Anonymous volume cegah</a:t>
            </a:r>
            <a:endParaRPr sz="1100"/>
          </a:p>
          <a:p xmlns:a="http://schemas.openxmlformats.org/drawingml/2006/main">
            <a:pPr marL="0" indent="0">
              <a:spcAft>
                <a:spcPts val="200"/>
              </a:spcAft>
              <a:buNone/>
            </a:pPr>
            <a:r>
              <a:rPr sz="1100">
                <a:solidFill>
                  <a:srgbClr val="94A3B8"/>
                </a:solidFill>
                <a:latin typeface="Consolas"/>
                <a:ea typeface="Consolas"/>
                <a:cs typeface="Consolas"/>
              </a:rPr>
              <a:t>      # node_modules host overwrite</a:t>
            </a:r>
            <a:endParaRPr sz="1100"/>
          </a:p>
          <a:p xmlns:a="http://schemas.openxmlformats.org/drawingml/2006/main">
            <a:pPr marL="0" indent="0">
              <a:spcAft>
                <a:spcPts val="200"/>
              </a:spcAft>
              <a:buNone/>
            </a:pPr>
            <a:r>
              <a:rPr sz="1100">
                <a:solidFill>
                  <a:srgbClr val="10B981"/>
                </a:solidFill>
                <a:latin typeface="Consolas"/>
                <a:ea typeface="Consolas"/>
                <a:cs typeface="Consolas"/>
              </a:rPr>
              <a:t>      - /app/node_modules</a:t>
            </a:r>
            <a:endParaRPr sz="1100"/>
          </a:p>
          <a:p xmlns:a="http://schemas.openxmlformats.org/drawingml/2006/main">
            <a:pPr marL="0" indent="0">
              <a:spcAft>
                <a:spcPts val="200"/>
              </a:spcAft>
              <a:buNone/>
            </a:pPr>
            <a:r>
              <a:rPr sz="1100">
                <a:solidFill>
                  <a:srgbClr val="E2E8F0"/>
                </a:solidFill>
                <a:latin typeface="Consolas"/>
                <a:ea typeface="Consolas"/>
                <a:cs typeface="Consolas"/>
              </a:rPr>
              <a:t>    command: npm run dev</a:t>
            </a:r>
            <a:endParaRPr sz="1100"/>
          </a:p>
          <a:p xmlns:a="http://schemas.openxmlformats.org/drawingml/2006/main">
            <a:pPr marL="0" indent="0">
              <a:spcAft>
                <a:spcPts val="200"/>
              </a:spcAft>
              <a:buNone/>
            </a:pPr>
            <a:r>
              <a:rPr sz="1100">
                <a:solidFill>
                  <a:srgbClr val="E2E8F0"/>
                </a:solidFill>
                <a:latin typeface="Consolas"/>
                <a:ea typeface="Consolas"/>
                <a:cs typeface="Consolas"/>
              </a:rPr>
              <a:t>    environment:</a:t>
            </a:r>
            <a:endParaRPr sz="1100"/>
          </a:p>
          <a:p xmlns:a="http://schemas.openxmlformats.org/drawingml/2006/main">
            <a:pPr marL="0" indent="0">
              <a:spcAft>
                <a:spcPts val="200"/>
              </a:spcAft>
              <a:buNone/>
            </a:pPr>
            <a:r>
              <a:rPr sz="1100">
                <a:solidFill>
                  <a:srgbClr val="E2E8F0"/>
                </a:solidFill>
                <a:latin typeface="Consolas"/>
                <a:ea typeface="Consolas"/>
                <a:cs typeface="Consolas"/>
              </a:rPr>
              <a:t>      NODE_ENV: development</a:t>
            </a:r>
            <a:endParaRPr sz="1100"/>
          </a:p>
          <a:p xmlns:a="http://schemas.openxmlformats.org/drawingml/2006/main">
            <a:pPr marL="0" indent="0">
              <a:spcAft>
                <a:spcPts val="200"/>
              </a:spcAft>
              <a:buNone/>
            </a:pPr>
            <a:r>
              <a:rPr sz="1100">
                <a:solidFill>
                  <a:srgbClr val="10B981"/>
                </a:solidFill>
                <a:latin typeface="Consolas"/>
                <a:ea typeface="Consolas"/>
                <a:cs typeface="Consolas"/>
              </a:rPr>
              <a:t>      CHOKIDAR_USEPOLLING: "true"</a:t>
            </a:r>
            <a:endParaRPr sz="1100"/>
          </a:p>
          <a:p xmlns:a="http://schemas.openxmlformats.org/drawingml/2006/main">
            <a:pPr marL="0" indent="0">
              <a:spcAft>
                <a:spcPts val="200"/>
              </a:spcAft>
              <a:buNone/>
            </a:pPr>
            <a:r>
              <a:rPr sz="1100">
                <a:solidFill>
                  <a:srgbClr val="94A3B8"/>
                </a:solidFill>
                <a:latin typeface="Consolas"/>
                <a:ea typeface="Consolas"/>
                <a:cs typeface="Consolas"/>
              </a:rPr>
              <a:t>      # ^ untuk Windows/Mac host</a:t>
            </a:r>
            <a:endParaRPr sz="1100"/>
          </a:p>
        </p:txBody>
      </p:sp>
      <p:sp>
        <p:nvSpPr>
          <p:cNvPr id="19" name="Shape 15">
            <a:extLst xmlns:a="http://schemas.openxmlformats.org/drawingml/2006/main">
              <a:ext uri="{FF2B5EF4-FFF2-40B4-BE49-F238E27FC236}">
                <a16:creationId xmlns:a16="http://schemas.microsoft.com/office/drawing/2014/main" id="{6A055716-BB2E-4DD3-8F21-E5A73CC9E964}"/>
              </a:ext>
            </a:extLst>
          </p:cNvPr>
          <p:cNvSpPr>
            <a:spLocks xmlns:a="http://schemas.openxmlformats.org/drawingml/2006/main" noGrp="1"/>
          </p:cNvSpPr>
          <p:nvPr/>
        </p:nvSpPr>
        <p:spPr>
          <a:xfrm xmlns:a="http://schemas.openxmlformats.org/drawingml/2006/main">
            <a:off x="6217920" y="2377440"/>
            <a:ext cx="5486400" cy="39319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0" name="Shape 16">
            <a:extLst xmlns:a="http://schemas.openxmlformats.org/drawingml/2006/main">
              <a:ext uri="{FF2B5EF4-FFF2-40B4-BE49-F238E27FC236}">
                <a16:creationId xmlns:a16="http://schemas.microsoft.com/office/drawing/2014/main" id="{9CD02B20-105A-4724-AEDC-850D1C8BDD46}"/>
              </a:ext>
            </a:extLst>
          </p:cNvPr>
          <p:cNvSpPr>
            <a:spLocks xmlns:a="http://schemas.openxmlformats.org/drawingml/2006/main" noGrp="1"/>
          </p:cNvSpPr>
          <p:nvPr/>
        </p:nvSpPr>
        <p:spPr>
          <a:xfrm xmlns:a="http://schemas.openxmlformats.org/drawingml/2006/main">
            <a:off x="6217920" y="2377440"/>
            <a:ext cx="54864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1" name="Shape 17">
            <a:extLst xmlns:a="http://schemas.openxmlformats.org/drawingml/2006/main">
              <a:ext uri="{FF2B5EF4-FFF2-40B4-BE49-F238E27FC236}">
                <a16:creationId xmlns:a16="http://schemas.microsoft.com/office/drawing/2014/main" id="{049AB24B-621B-4EA4-BD8E-9FFE6BDD94E8}"/>
              </a:ext>
            </a:extLst>
          </p:cNvPr>
          <p:cNvSpPr>
            <a:spLocks xmlns:a="http://schemas.openxmlformats.org/drawingml/2006/main" noGrp="1"/>
          </p:cNvSpPr>
          <p:nvPr/>
        </p:nvSpPr>
        <p:spPr>
          <a:xfrm xmlns:a="http://schemas.openxmlformats.org/drawingml/2006/main">
            <a:off x="6309360" y="245973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2" name="Shape 18">
            <a:extLst xmlns:a="http://schemas.openxmlformats.org/drawingml/2006/main">
              <a:ext uri="{FF2B5EF4-FFF2-40B4-BE49-F238E27FC236}">
                <a16:creationId xmlns:a16="http://schemas.microsoft.com/office/drawing/2014/main" id="{CB1333CA-CC02-48EF-898E-6200A0050263}"/>
              </a:ext>
            </a:extLst>
          </p:cNvPr>
          <p:cNvSpPr>
            <a:spLocks xmlns:a="http://schemas.openxmlformats.org/drawingml/2006/main" noGrp="1"/>
          </p:cNvSpPr>
          <p:nvPr/>
        </p:nvSpPr>
        <p:spPr>
          <a:xfrm xmlns:a="http://schemas.openxmlformats.org/drawingml/2006/main">
            <a:off x="6446520" y="245973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3" name="Shape 19">
            <a:extLst xmlns:a="http://schemas.openxmlformats.org/drawingml/2006/main">
              <a:ext uri="{FF2B5EF4-FFF2-40B4-BE49-F238E27FC236}">
                <a16:creationId xmlns:a16="http://schemas.microsoft.com/office/drawing/2014/main" id="{05EBF5D5-104F-4EA9-9FDD-62D78040254C}"/>
              </a:ext>
            </a:extLst>
          </p:cNvPr>
          <p:cNvSpPr>
            <a:spLocks xmlns:a="http://schemas.openxmlformats.org/drawingml/2006/main" noGrp="1"/>
          </p:cNvSpPr>
          <p:nvPr/>
        </p:nvSpPr>
        <p:spPr>
          <a:xfrm xmlns:a="http://schemas.openxmlformats.org/drawingml/2006/main">
            <a:off x="6583680" y="245973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4" name="Text 20">
            <a:extLst xmlns:a="http://schemas.openxmlformats.org/drawingml/2006/main">
              <a:ext uri="{FF2B5EF4-FFF2-40B4-BE49-F238E27FC236}">
                <a16:creationId xmlns:a16="http://schemas.microsoft.com/office/drawing/2014/main" id="{EED2C649-0092-49FB-8A41-6E2A6EF10FEC}"/>
              </a:ext>
            </a:extLst>
          </p:cNvPr>
          <p:cNvSpPr>
            <a:spLocks xmlns:a="http://schemas.openxmlformats.org/drawingml/2006/main" noGrp="1"/>
          </p:cNvSpPr>
          <p:nvPr/>
        </p:nvSpPr>
        <p:spPr>
          <a:xfrm xmlns:a="http://schemas.openxmlformats.org/drawingml/2006/main">
            <a:off x="6766560" y="237744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Python FastAPI dev workflow</a:t>
            </a:r>
            <a:endParaRPr sz="900"/>
          </a:p>
        </p:txBody>
      </p:sp>
      <p:sp>
        <p:nvSpPr>
          <p:cNvPr id="25" name="Text 21">
            <a:extLst xmlns:a="http://schemas.openxmlformats.org/drawingml/2006/main">
              <a:ext uri="{FF2B5EF4-FFF2-40B4-BE49-F238E27FC236}">
                <a16:creationId xmlns:a16="http://schemas.microsoft.com/office/drawing/2014/main" id="{7991EEB7-F661-4455-8A54-05A3788DDBC1}"/>
              </a:ext>
            </a:extLst>
          </p:cNvPr>
          <p:cNvSpPr>
            <a:spLocks xmlns:a="http://schemas.openxmlformats.org/drawingml/2006/main" noGrp="1"/>
          </p:cNvSpPr>
          <p:nvPr/>
        </p:nvSpPr>
        <p:spPr>
          <a:xfrm xmlns:a="http://schemas.openxmlformats.org/drawingml/2006/main">
            <a:off x="6355080" y="2743200"/>
            <a:ext cx="521208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build: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volumes:</a:t>
            </a:r>
            <a:endParaRPr sz="1100"/>
          </a:p>
          <a:p xmlns:a="http://schemas.openxmlformats.org/drawingml/2006/main">
            <a:pPr marL="0" indent="0">
              <a:spcAft>
                <a:spcPts val="200"/>
              </a:spcAft>
              <a:buNone/>
            </a:pPr>
            <a:r>
              <a:rPr sz="1100" b="1">
                <a:solidFill>
                  <a:srgbClr val="10B981"/>
                </a:solidFill>
                <a:latin typeface="Consolas"/>
                <a:ea typeface="Consolas"/>
                <a:cs typeface="Consolas"/>
              </a:rPr>
              <a:t>      - ./api:/app</a:t>
            </a:r>
            <a:endParaRPr sz="1100"/>
          </a:p>
          <a:p xmlns:a="http://schemas.openxmlformats.org/drawingml/2006/main">
            <a:pPr marL="0" indent="0">
              <a:spcAft>
                <a:spcPts val="200"/>
              </a:spcAft>
              <a:buNone/>
            </a:pPr>
            <a:r>
              <a:rPr sz="1100">
                <a:solidFill>
                  <a:srgbClr val="E2E8F0"/>
                </a:solidFill>
                <a:latin typeface="Consolas"/>
                <a:ea typeface="Consolas"/>
                <a:cs typeface="Consolas"/>
              </a:rPr>
              <a:t>    command: &gt;</a:t>
            </a:r>
            <a:endParaRPr sz="1100"/>
          </a:p>
          <a:p xmlns:a="http://schemas.openxmlformats.org/drawingml/2006/main">
            <a:pPr marL="0" indent="0">
              <a:spcAft>
                <a:spcPts val="200"/>
              </a:spcAft>
              <a:buNone/>
            </a:pPr>
            <a:r>
              <a:rPr sz="1100">
                <a:solidFill>
                  <a:srgbClr val="E2E8F0"/>
                </a:solidFill>
                <a:latin typeface="Consolas"/>
                <a:ea typeface="Consolas"/>
                <a:cs typeface="Consolas"/>
              </a:rPr>
              <a:t>      uvicorn main:app</a:t>
            </a:r>
            <a:endParaRPr sz="1100"/>
          </a:p>
          <a:p xmlns:a="http://schemas.openxmlformats.org/drawingml/2006/main">
            <a:pPr marL="0" indent="0">
              <a:spcAft>
                <a:spcPts val="200"/>
              </a:spcAft>
              <a:buNone/>
            </a:pPr>
            <a:r>
              <a:rPr sz="1100">
                <a:solidFill>
                  <a:srgbClr val="E2E8F0"/>
                </a:solidFill>
                <a:latin typeface="Consolas"/>
                <a:ea typeface="Consolas"/>
                <a:cs typeface="Consolas"/>
              </a:rPr>
              <a:t>      --host 0.0.0.0 --port 8000</a:t>
            </a:r>
            <a:endParaRPr sz="1100"/>
          </a:p>
          <a:p xmlns:a="http://schemas.openxmlformats.org/drawingml/2006/main">
            <a:pPr marL="0" indent="0">
              <a:spcAft>
                <a:spcPts val="200"/>
              </a:spcAft>
              <a:buNone/>
            </a:pPr>
            <a:r>
              <a:rPr sz="1100" b="1">
                <a:solidFill>
                  <a:srgbClr val="10B981"/>
                </a:solidFill>
                <a:latin typeface="Consolas"/>
                <a:ea typeface="Consolas"/>
                <a:cs typeface="Consolas"/>
              </a:rPr>
              <a:t>      --reload   # auto-reload!</a:t>
            </a:r>
            <a:endParaRPr sz="1100"/>
          </a:p>
          <a:p xmlns:a="http://schemas.openxmlformats.org/drawingml/2006/main">
            <a:pPr marL="0" indent="0">
              <a:spcAft>
                <a:spcPts val="200"/>
              </a:spcAft>
              <a:buNone/>
            </a:pPr>
            <a:r>
              <a:rPr sz="1100">
                <a:solidFill>
                  <a:srgbClr val="E2E8F0"/>
                </a:solidFill>
                <a:latin typeface="Consolas"/>
                <a:ea typeface="Consolas"/>
                <a:cs typeface="Consolas"/>
              </a:rPr>
              <a:t>    ports: ["8000:8000"]</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Edit main.py di VS Code host</a:t>
            </a:r>
            <a:endParaRPr sz="1100"/>
          </a:p>
          <a:p xmlns:a="http://schemas.openxmlformats.org/drawingml/2006/main">
            <a:pPr marL="0" indent="0">
              <a:spcAft>
                <a:spcPts val="200"/>
              </a:spcAft>
              <a:buNone/>
            </a:pPr>
            <a:r>
              <a:rPr sz="1100">
                <a:solidFill>
                  <a:srgbClr val="94A3B8"/>
                </a:solidFill>
                <a:latin typeface="Consolas"/>
                <a:ea typeface="Consolas"/>
                <a:cs typeface="Consolas"/>
              </a:rPr>
              <a:t># -&gt; save</a:t>
            </a:r>
            <a:endParaRPr sz="1100"/>
          </a:p>
          <a:p xmlns:a="http://schemas.openxmlformats.org/drawingml/2006/main">
            <a:pPr marL="0" indent="0">
              <a:spcAft>
                <a:spcPts val="200"/>
              </a:spcAft>
              <a:buNone/>
            </a:pPr>
            <a:r>
              <a:rPr sz="1100">
                <a:solidFill>
                  <a:srgbClr val="94A3B8"/>
                </a:solidFill>
                <a:latin typeface="Consolas"/>
                <a:ea typeface="Consolas"/>
                <a:cs typeface="Consolas"/>
              </a:rPr>
              <a:t># -&gt; uvicorn detect change</a:t>
            </a:r>
            <a:endParaRPr sz="1100"/>
          </a:p>
          <a:p xmlns:a="http://schemas.openxmlformats.org/drawingml/2006/main">
            <a:pPr marL="0" indent="0">
              <a:spcAft>
                <a:spcPts val="200"/>
              </a:spcAft>
              <a:buNone/>
            </a:pPr>
            <a:r>
              <a:rPr sz="1100">
                <a:solidFill>
                  <a:srgbClr val="10B981"/>
                </a:solidFill>
                <a:latin typeface="Consolas"/>
                <a:ea typeface="Consolas"/>
                <a:cs typeface="Consolas"/>
              </a:rPr>
              <a:t># </a:t>
            </a:r>
            <a:r>
              <a:rPr sz="1100">
                <a:solidFill>
                  <a:srgbClr val="10B981"/>
                </a:solidFill>
                <a:latin typeface="Consolas"/>
                <a:ea typeface="Consolas"/>
                <a:cs typeface="Consolas"/>
              </a:rPr>
              <a:t>-&gt; reload setelah perubahan terdeteksi</a:t>
            </a:r>
            <a:endParaRPr sz="1100"/>
          </a:p>
          <a:p xmlns:a="http://schemas.openxmlformats.org/drawingml/2006/main">
            <a:pPr marL="0" indent="0">
              <a:spcAft>
                <a:spcPts val="200"/>
              </a:spcAft>
              <a:buNone/>
            </a:pPr>
            <a:r>
              <a:rPr sz="1100">
                <a:solidFill>
                  <a:srgbClr val="10B981"/>
                </a:solidFill>
                <a:latin typeface="Consolas"/>
                <a:ea typeface="Consolas"/>
                <a:cs typeface="Consolas"/>
              </a:rPr>
              <a:t># -&gt; browser refresh, perubahan terlihat</a:t>
            </a:r>
            <a:endParaRPr sz="1100"/>
          </a:p>
        </p:txBody>
      </p:sp>
    </p:spTree>
    <p:extLst>
      <p:ext uri="{BB962C8B-B14F-4D97-AF65-F5344CB8AC3E}">
        <p14:creationId xmlns:p14="http://schemas.microsoft.com/office/powerpoint/2010/main" val="100589474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85D91A-3625-4F65-BC28-DE409F77FE7F}"/>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9A3F95ED-1B68-4A0D-A093-A0AA0E387EA0}"/>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25</a:t>
            </a:r>
            <a:endParaRPr sz="900"/>
          </a:p>
        </p:txBody>
      </p:sp>
      <p:sp>
        <p:nvSpPr>
          <p:cNvPr id="4" name="Shape 2">
            <a:extLst xmlns:a="http://schemas.openxmlformats.org/drawingml/2006/main">
              <a:ext uri="{FF2B5EF4-FFF2-40B4-BE49-F238E27FC236}">
                <a16:creationId xmlns:a16="http://schemas.microsoft.com/office/drawing/2014/main" id="{BA4C720A-0D4F-4247-BBF3-F8BFED46997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22" name="Image 0">
            <a:extLst xmlns:a="http://schemas.openxmlformats.org/drawingml/2006/main">
              <a:ext uri="{FF2B5EF4-FFF2-40B4-BE49-F238E27FC236}">
                <a16:creationId xmlns:a16="http://schemas.microsoft.com/office/drawing/2014/main" id="{0A8B58BC-B8E6-45DE-875C-981DB17B0353}"/>
              </a:ext>
            </a:extLst>
          </p:cNvPr>
          <p:cNvPicPr>
            <a:picLocks xmlns:a="http://schemas.openxmlformats.org/drawingml/2006/main" noChangeAspect="1"/>
          </p:cNvPicPr>
          <p:nvPr/>
        </p:nvPicPr>
        <p:blipFill>
          <a:blip xmlns:r="http://schemas.openxmlformats.org/officeDocument/2006/relationships" xmlns:a="http://schemas.openxmlformats.org/drawingml/2006/main" r:embed="Re4bbf0d3bc754254"/>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23" name="Image 1">
            <a:extLst xmlns:a="http://schemas.openxmlformats.org/drawingml/2006/main">
              <a:ext uri="{FF2B5EF4-FFF2-40B4-BE49-F238E27FC236}">
                <a16:creationId xmlns:a16="http://schemas.microsoft.com/office/drawing/2014/main" id="{3B50954C-B226-4A28-9D59-D568FFFF83B6}"/>
              </a:ext>
            </a:extLst>
          </p:cNvPr>
          <p:cNvPicPr>
            <a:picLocks xmlns:a="http://schemas.openxmlformats.org/drawingml/2006/main" noChangeAspect="1"/>
          </p:cNvPicPr>
          <p:nvPr/>
        </p:nvPicPr>
        <p:blipFill>
          <a:blip xmlns:r="http://schemas.openxmlformats.org/officeDocument/2006/relationships" xmlns:a="http://schemas.openxmlformats.org/drawingml/2006/main" r:embed="Rac7dfa86fe3d4142"/>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26C92B5B-0CB8-4957-BF16-0CF4A532B6A4}"/>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7C36BEC8-3787-4DCA-ACAF-5DCBED740AF6}"/>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Backup PostgreSQL dan Uji Restore</a:t>
            </a:r>
            <a:endParaRPr sz="2200"/>
          </a:p>
        </p:txBody>
      </p:sp>
      <p:sp>
        <p:nvSpPr>
          <p:cNvPr id="9" name="Text 5">
            <a:extLst xmlns:a="http://schemas.openxmlformats.org/drawingml/2006/main">
              <a:ext uri="{FF2B5EF4-FFF2-40B4-BE49-F238E27FC236}">
                <a16:creationId xmlns:a16="http://schemas.microsoft.com/office/drawing/2014/main" id="{281B594A-6626-4C4E-81E4-C784152A22C7}"/>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pg_dump membuat backup logis. Uji restore pada database baru.</a:t>
            </a:r>
            <a:endParaRPr sz="1200"/>
          </a:p>
        </p:txBody>
      </p:sp>
      <p:sp>
        <p:nvSpPr>
          <p:cNvPr id="10" name="Shape 6">
            <a:extLst xmlns:a="http://schemas.openxmlformats.org/drawingml/2006/main">
              <a:ext uri="{FF2B5EF4-FFF2-40B4-BE49-F238E27FC236}">
                <a16:creationId xmlns:a16="http://schemas.microsoft.com/office/drawing/2014/main" id="{AEA23B7B-65E6-43B1-9A78-DB183CA2B6B8}"/>
              </a:ext>
            </a:extLst>
          </p:cNvPr>
          <p:cNvSpPr>
            <a:spLocks xmlns:a="http://schemas.openxmlformats.org/drawingml/2006/main" noGrp="1"/>
          </p:cNvSpPr>
          <p:nvPr/>
        </p:nvSpPr>
        <p:spPr>
          <a:xfrm xmlns:a="http://schemas.openxmlformats.org/drawingml/2006/main">
            <a:off x="457200" y="1417320"/>
            <a:ext cx="11247120" cy="484632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1" name="Shape 7">
            <a:extLst xmlns:a="http://schemas.openxmlformats.org/drawingml/2006/main">
              <a:ext uri="{FF2B5EF4-FFF2-40B4-BE49-F238E27FC236}">
                <a16:creationId xmlns:a16="http://schemas.microsoft.com/office/drawing/2014/main" id="{7F96A0B8-B23D-445C-BD78-BD2EA382623E}"/>
              </a:ext>
            </a:extLst>
          </p:cNvPr>
          <p:cNvSpPr>
            <a:spLocks xmlns:a="http://schemas.openxmlformats.org/drawingml/2006/main" noGrp="1"/>
          </p:cNvSpPr>
          <p:nvPr/>
        </p:nvSpPr>
        <p:spPr>
          <a:xfrm xmlns:a="http://schemas.openxmlformats.org/drawingml/2006/main">
            <a:off x="457200" y="1417320"/>
            <a:ext cx="1124712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2" name="Shape 8">
            <a:extLst xmlns:a="http://schemas.openxmlformats.org/drawingml/2006/main">
              <a:ext uri="{FF2B5EF4-FFF2-40B4-BE49-F238E27FC236}">
                <a16:creationId xmlns:a16="http://schemas.microsoft.com/office/drawing/2014/main" id="{1441365B-1587-4FDD-93E0-C359E4008586}"/>
              </a:ext>
            </a:extLst>
          </p:cNvPr>
          <p:cNvSpPr>
            <a:spLocks xmlns:a="http://schemas.openxmlformats.org/drawingml/2006/main" noGrp="1"/>
          </p:cNvSpPr>
          <p:nvPr/>
        </p:nvSpPr>
        <p:spPr>
          <a:xfrm xmlns:a="http://schemas.openxmlformats.org/drawingml/2006/main">
            <a:off x="548640" y="149961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3" name="Shape 9">
            <a:extLst xmlns:a="http://schemas.openxmlformats.org/drawingml/2006/main">
              <a:ext uri="{FF2B5EF4-FFF2-40B4-BE49-F238E27FC236}">
                <a16:creationId xmlns:a16="http://schemas.microsoft.com/office/drawing/2014/main" id="{5D94EF23-3251-46FF-ADF4-388B440C17F3}"/>
              </a:ext>
            </a:extLst>
          </p:cNvPr>
          <p:cNvSpPr>
            <a:spLocks xmlns:a="http://schemas.openxmlformats.org/drawingml/2006/main" noGrp="1"/>
          </p:cNvSpPr>
          <p:nvPr/>
        </p:nvSpPr>
        <p:spPr>
          <a:xfrm xmlns:a="http://schemas.openxmlformats.org/drawingml/2006/main">
            <a:off x="685800" y="149961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4" name="Shape 10">
            <a:extLst xmlns:a="http://schemas.openxmlformats.org/drawingml/2006/main">
              <a:ext uri="{FF2B5EF4-FFF2-40B4-BE49-F238E27FC236}">
                <a16:creationId xmlns:a16="http://schemas.microsoft.com/office/drawing/2014/main" id="{27B6E74D-2FC0-4D59-AF02-52787E8B9F5A}"/>
              </a:ext>
            </a:extLst>
          </p:cNvPr>
          <p:cNvSpPr>
            <a:spLocks xmlns:a="http://schemas.openxmlformats.org/drawingml/2006/main" noGrp="1"/>
          </p:cNvSpPr>
          <p:nvPr/>
        </p:nvSpPr>
        <p:spPr>
          <a:xfrm xmlns:a="http://schemas.openxmlformats.org/drawingml/2006/main">
            <a:off x="822960" y="149961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5" name="Text 11">
            <a:extLst xmlns:a="http://schemas.openxmlformats.org/drawingml/2006/main">
              <a:ext uri="{FF2B5EF4-FFF2-40B4-BE49-F238E27FC236}">
                <a16:creationId xmlns:a16="http://schemas.microsoft.com/office/drawing/2014/main" id="{6641A132-EAE3-4D09-B9D2-4769E360B88F}"/>
              </a:ext>
            </a:extLst>
          </p:cNvPr>
          <p:cNvSpPr>
            <a:spLocks xmlns:a="http://schemas.openxmlformats.org/drawingml/2006/main" noGrp="1"/>
          </p:cNvSpPr>
          <p:nvPr/>
        </p:nvSpPr>
        <p:spPr>
          <a:xfrm xmlns:a="http://schemas.openxmlformats.org/drawingml/2006/main">
            <a:off x="1005840" y="1417320"/>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Bash, root Lab 06, database sumber tetap ada</a:t>
            </a:r>
            <a:endParaRPr sz="900"/>
          </a:p>
        </p:txBody>
      </p:sp>
      <p:sp>
        <p:nvSpPr>
          <p:cNvPr id="16" name="Text 12">
            <a:extLst xmlns:a="http://schemas.openxmlformats.org/drawingml/2006/main">
              <a:ext uri="{FF2B5EF4-FFF2-40B4-BE49-F238E27FC236}">
                <a16:creationId xmlns:a16="http://schemas.microsoft.com/office/drawing/2014/main" id="{6263B041-8FD6-4573-8BC7-EDB1FE0E46B7}"/>
              </a:ext>
            </a:extLst>
          </p:cNvPr>
          <p:cNvSpPr>
            <a:spLocks xmlns:a="http://schemas.openxmlformats.org/drawingml/2006/main" noGrp="1"/>
          </p:cNvSpPr>
          <p:nvPr/>
        </p:nvSpPr>
        <p:spPr>
          <a:xfrm xmlns:a="http://schemas.openxmlformats.org/drawingml/2006/main">
            <a:off x="594360" y="1783080"/>
            <a:ext cx="10972800" cy="4389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1. Backup saat DB Lab 06 sedang berjalan</a:t>
            </a:r>
            <a:endParaRPr sz="1100"/>
          </a:p>
          <a:p xmlns:a="http://schemas.openxmlformats.org/drawingml/2006/main">
            <a:pPr marL="0" indent="0">
              <a:spcAft>
                <a:spcPts val="200"/>
              </a:spcAft>
              <a:buNone/>
            </a:pPr>
            <a:r>
              <a:rPr sz="1100">
                <a:solidFill>
                  <a:srgbClr val="94A3B8"/>
                </a:solidFill>
                <a:latin typeface="Consolas"/>
                <a:ea typeface="Consolas"/>
                <a:cs typeface="Consolas"/>
              </a:rPr>
              <a:t>mkdir -p "./backups"</a:t>
            </a:r>
          </a:p>
          <a:p xmlns:a="http://schemas.openxmlformats.org/drawingml/2006/main">
            <a:pPr marL="0" indent="0">
              <a:spcAft>
                <a:spcPts val="200"/>
              </a:spcAft>
              <a:buNone/>
            </a:pPr>
            <a:r>
              <a:rPr sz="1100">
                <a:solidFill>
                  <a:srgbClr val="94A3B8"/>
                </a:solidFill>
                <a:latin typeface="Consolas"/>
                <a:ea typeface="Consolas"/>
                <a:cs typeface="Consolas"/>
              </a:rPr>
              <a:t>docker compose exec -T db pg_dump -U clouduser -d cloudnotes \</a:t>
            </a:r>
          </a:p>
          <a:p xmlns:a="http://schemas.openxmlformats.org/drawingml/2006/main">
            <a:pPr marL="0" indent="0">
              <a:spcAft>
                <a:spcPts val="200"/>
              </a:spcAft>
              <a:buNone/>
            </a:pPr>
            <a:r>
              <a:rPr sz="1100">
                <a:solidFill>
                  <a:srgbClr val="94A3B8"/>
                </a:solidFill>
                <a:latin typeface="Consolas"/>
                <a:ea typeface="Consolas"/>
                <a:cs typeface="Consolas"/>
              </a:rPr>
              <a:t>  -Fc -f /tmp/cloudnotes.dump</a:t>
            </a:r>
          </a:p>
          <a:p xmlns:a="http://schemas.openxmlformats.org/drawingml/2006/main">
            <a:pPr marL="0" indent="0">
              <a:spcAft>
                <a:spcPts val="200"/>
              </a:spcAft>
              <a:buNone/>
            </a:pPr>
            <a:r>
              <a:rPr sz="1100">
                <a:solidFill>
                  <a:srgbClr val="94A3B8"/>
                </a:solidFill>
                <a:latin typeface="Consolas"/>
                <a:ea typeface="Consolas"/>
                <a:cs typeface="Consolas"/>
              </a:rPr>
              <a:t>docker compose cp db:/tmp/cloudnotes.dump "./backups/cloudnotes.dump"</a:t>
            </a:r>
          </a:p>
          <a:p xmlns:a="http://schemas.openxmlformats.org/drawingml/2006/main">
            <a:pPr marL="0" indent="0">
              <a:spcAft>
                <a:spcPts val="200"/>
              </a:spcAft>
              <a:buNone/>
            </a:pPr>
          </a:p>
          <a:p xmlns:a="http://schemas.openxmlformats.org/drawingml/2006/main">
            <a:pPr marL="0" indent="0">
              <a:spcAft>
                <a:spcPts val="200"/>
              </a:spcAft>
              <a:buNone/>
            </a:pPr>
            <a:r>
              <a:rPr sz="1100">
                <a:solidFill>
                  <a:srgbClr val="94A3B8"/>
                </a:solidFill>
                <a:latin typeface="Consolas"/>
                <a:ea typeface="Consolas"/>
                <a:cs typeface="Consolas"/>
              </a:rPr>
              <a:t># 2. Uji arsip. Periksa exit status 0 setelah setiap command.</a:t>
            </a:r>
          </a:p>
          <a:p xmlns:a="http://schemas.openxmlformats.org/drawingml/2006/main">
            <a:pPr marL="0" indent="0">
              <a:spcAft>
                <a:spcPts val="200"/>
              </a:spcAft>
              <a:buNone/>
            </a:pPr>
            <a:r>
              <a:rPr sz="1100">
                <a:solidFill>
                  <a:srgbClr val="94A3B8"/>
                </a:solidFill>
                <a:latin typeface="Consolas"/>
                <a:ea typeface="Consolas"/>
                <a:cs typeface="Consolas"/>
              </a:rPr>
              <a:t>docker compose exec -T db pg_restore -l /tmp/cloudnotes.dump</a:t>
            </a:r>
          </a:p>
          <a:p xmlns:a="http://schemas.openxmlformats.org/drawingml/2006/main">
            <a:pPr marL="0" indent="0">
              <a:spcAft>
                <a:spcPts val="200"/>
              </a:spcAft>
              <a:buNone/>
            </a:pPr>
          </a:p>
          <a:p xmlns:a="http://schemas.openxmlformats.org/drawingml/2006/main">
            <a:pPr marL="0" indent="0">
              <a:spcAft>
                <a:spcPts val="200"/>
              </a:spcAft>
              <a:buNone/>
            </a:pPr>
            <a:r>
              <a:rPr sz="1100">
                <a:solidFill>
                  <a:srgbClr val="94A3B8"/>
                </a:solidFill>
                <a:latin typeface="Consolas"/>
                <a:ea typeface="Consolas"/>
                <a:cs typeface="Consolas"/>
              </a:rPr>
              <a:t># 3. Restore ke database BARU (nama belum pernah dipakai)</a:t>
            </a:r>
          </a:p>
          <a:p xmlns:a="http://schemas.openxmlformats.org/drawingml/2006/main">
            <a:pPr marL="0" indent="0">
              <a:spcAft>
                <a:spcPts val="200"/>
              </a:spcAft>
              <a:buNone/>
            </a:pPr>
            <a:r>
              <a:rPr sz="1100">
                <a:solidFill>
                  <a:srgbClr val="94A3B8"/>
                </a:solidFill>
                <a:latin typeface="Consolas"/>
                <a:ea typeface="Consolas"/>
                <a:cs typeface="Consolas"/>
              </a:rPr>
              <a:t>docker compose exec -T db createdb -U clouduser cloudnotes_restore_check</a:t>
            </a:r>
          </a:p>
          <a:p xmlns:a="http://schemas.openxmlformats.org/drawingml/2006/main">
            <a:pPr marL="0" indent="0">
              <a:spcAft>
                <a:spcPts val="200"/>
              </a:spcAft>
              <a:buNone/>
            </a:pPr>
            <a:r>
              <a:rPr sz="1100">
                <a:solidFill>
                  <a:srgbClr val="94A3B8"/>
                </a:solidFill>
                <a:latin typeface="Consolas"/>
                <a:ea typeface="Consolas"/>
                <a:cs typeface="Consolas"/>
              </a:rPr>
              <a:t>docker compose exec -T db </a:t>
            </a:r>
            <a:r>
              <a:rPr sz="1100">
                <a:solidFill>
                  <a:srgbClr val="94A3B8"/>
                </a:solidFill>
                <a:latin typeface="Consolas"/>
                <a:ea typeface="Consolas"/>
                <a:cs typeface="Consolas"/>
              </a:rPr>
              <a:t>pg_restore --exit-on-error -U clouduser</a:t>
            </a:r>
            <a:r>
              <a:rPr sz="1100">
                <a:solidFill>
                  <a:srgbClr val="94A3B8"/>
                </a:solidFill>
                <a:latin typeface="Consolas"/>
                <a:ea typeface="Consolas"/>
                <a:cs typeface="Consolas"/>
              </a:rPr>
              <a:t> \</a:t>
            </a:r>
          </a:p>
          <a:p xmlns:a="http://schemas.openxmlformats.org/drawingml/2006/main">
            <a:pPr marL="0" indent="0">
              <a:spcAft>
                <a:spcPts val="200"/>
              </a:spcAft>
              <a:buNone/>
            </a:pPr>
            <a:r>
              <a:rPr sz="1100">
                <a:solidFill>
                  <a:srgbClr val="94A3B8"/>
                </a:solidFill>
                <a:latin typeface="Consolas"/>
                <a:ea typeface="Consolas"/>
                <a:cs typeface="Consolas"/>
              </a:rPr>
              <a:t>  -d cloudnotes_restore_check /tmp/cloudnotes.dump</a:t>
            </a:r>
          </a:p>
          <a:p xmlns:a="http://schemas.openxmlformats.org/drawingml/2006/main">
            <a:pPr marL="0" indent="0">
              <a:spcAft>
                <a:spcPts val="200"/>
              </a:spcAft>
              <a:buNone/>
            </a:pPr>
          </a:p>
          <a:p xmlns:a="http://schemas.openxmlformats.org/drawingml/2006/main">
            <a:pPr marL="0" indent="0">
              <a:spcAft>
                <a:spcPts val="200"/>
              </a:spcAft>
              <a:buNone/>
            </a:pPr>
            <a:r>
              <a:rPr sz="1100">
                <a:solidFill>
                  <a:srgbClr val="94A3B8"/>
                </a:solidFill>
                <a:latin typeface="Consolas"/>
                <a:ea typeface="Consolas"/>
                <a:cs typeface="Consolas"/>
              </a:rPr>
              <a:t># 4. Cocokkan jumlah dan isi baris dengan database sumber</a:t>
            </a:r>
          </a:p>
          <a:p xmlns:a="http://schemas.openxmlformats.org/drawingml/2006/main">
            <a:pPr marL="0" indent="0">
              <a:spcAft>
                <a:spcPts val="200"/>
              </a:spcAft>
              <a:buNone/>
            </a:pPr>
            <a:r>
              <a:rPr sz="1100">
                <a:solidFill>
                  <a:srgbClr val="94A3B8"/>
                </a:solidFill>
                <a:latin typeface="Consolas"/>
                <a:ea typeface="Consolas"/>
                <a:cs typeface="Consolas"/>
              </a:rPr>
              <a:t>docker compose exec -T db psql -U clouduser -d cloudnotes_restore_check \</a:t>
            </a:r>
          </a:p>
          <a:p xmlns:a="http://schemas.openxmlformats.org/drawingml/2006/main">
            <a:pPr marL="0" indent="0">
              <a:spcAft>
                <a:spcPts val="200"/>
              </a:spcAft>
              <a:buNone/>
            </a:pPr>
            <a:r>
              <a:rPr sz="1100">
                <a:solidFill>
                  <a:srgbClr val="94A3B8"/>
                </a:solidFill>
                <a:latin typeface="Consolas"/>
                <a:ea typeface="Consolas"/>
                <a:cs typeface="Consolas"/>
              </a:rPr>
              <a:t>  -c "SELECT id, title FROM notes;"</a:t>
            </a:r>
          </a:p>
          <a:p xmlns:a="http://schemas.openxmlformats.org/drawingml/2006/main">
            <a:pPr marL="0" indent="0">
              <a:spcAft>
                <a:spcPts val="200"/>
              </a:spcAft>
              <a:buNone/>
            </a:pPr>
          </a:p>
          <a:p xmlns:a="http://schemas.openxmlformats.org/drawingml/2006/main">
            <a:pPr marL="0" indent="0">
              <a:spcAft>
                <a:spcPts val="200"/>
              </a:spcAft>
              <a:buNone/>
            </a:pPr>
            <a:r>
              <a:rPr sz="1100">
                <a:solidFill>
                  <a:srgbClr val="94A3B8"/>
                </a:solidFill>
                <a:latin typeface="Consolas"/>
                <a:ea typeface="Consolas"/>
                <a:cs typeface="Consolas"/>
              </a:rPr>
              <a:t># Sumber cloudnotes dan named volume tetap ada.</a:t>
            </a:r>
          </a:p>
          <a:p xmlns:a="http://schemas.openxmlformats.org/drawingml/2006/main">
            <a:pPr marL="0" indent="0">
              <a:spcAft>
                <a:spcPts val="200"/>
              </a:spcAft>
              <a:buNone/>
            </a:pPr>
            <a:r>
              <a:rPr sz="1100">
                <a:solidFill>
                  <a:srgbClr val="94A3B8"/>
                </a:solidFill>
                <a:latin typeface="Consolas"/>
                <a:ea typeface="Consolas"/>
                <a:cs typeface="Consolas"/>
              </a:rPr>
              <a:t># Panduan teori memuat bentuk PowerShell dan cek kegagalan.</a:t>
            </a:r>
          </a:p>
        </p:txBody>
      </p:sp>
    </p:spTree>
    <p:extLst>
      <p:ext uri="{BB962C8B-B14F-4D97-AF65-F5344CB8AC3E}">
        <p14:creationId xmlns:p14="http://schemas.microsoft.com/office/powerpoint/2010/main" val="1725056182"/>
      </p:ext>
    </p:extLst>
  </p:cSld>
</p:sld>
</file>

<file path=ppt/slides/slide26.xml><?xml version="1.0" encoding="utf-8"?>
<p:sld xmlns:p="http://schemas.openxmlformats.org/presentationml/2006/main">
  <p:cSld>
    <p:bg>
      <p:bgPr>
        <a:solidFill xmlns:a="http://schemas.openxmlformats.org/drawingml/2006/main">
          <a:srgbClr val="0D47A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02D1EFD-3F2E-4F28-96D3-94CF498EEDCE}"/>
              </a:ext>
            </a:extLst>
          </p:cNvPr>
          <p:cNvSpPr>
            <a:spLocks xmlns:a="http://schemas.openxmlformats.org/drawingml/2006/main" noGrp="1"/>
          </p:cNvSpPr>
          <p:nvPr/>
        </p:nvSpPr>
        <p:spPr>
          <a:xfrm xmlns:a="http://schemas.openxmlformats.org/drawingml/2006/main">
            <a:off x="-1828800" y="3657600"/>
            <a:ext cx="6400800" cy="6400800"/>
          </a:xfrm>
          <a:prstGeom xmlns:a="http://schemas.openxmlformats.org/drawingml/2006/main" prst="ellipse">
            <a:avLst/>
          </a:prstGeom>
          <a:solidFill xmlns:a="http://schemas.openxmlformats.org/drawingml/2006/main">
            <a:srgbClr val="1565C0">
              <a:alpha val="25000"/>
            </a:srgbClr>
          </a:solidFill>
          <a:ln xmlns:a="http://schemas.openxmlformats.org/drawingml/2006/main" w="12700">
            <a:solidFill>
              <a:srgbClr val="1565C0">
                <a:alpha val="0"/>
              </a:srgbClr>
            </a:solidFill>
            <a:prstDash val="solid"/>
          </a:ln>
        </p:spPr>
      </p:sp>
      <p:sp>
        <p:nvSpPr>
          <p:cNvPr id="3" name="Shape 1">
            <a:extLst xmlns:a="http://schemas.openxmlformats.org/drawingml/2006/main">
              <a:ext uri="{FF2B5EF4-FFF2-40B4-BE49-F238E27FC236}">
                <a16:creationId xmlns:a16="http://schemas.microsoft.com/office/drawing/2014/main" id="{A207180E-D0D0-4298-B074-F0C4B90344F2}"/>
              </a:ext>
            </a:extLst>
          </p:cNvPr>
          <p:cNvSpPr>
            <a:spLocks xmlns:a="http://schemas.openxmlformats.org/drawingml/2006/main" noGrp="1"/>
          </p:cNvSpPr>
          <p:nvPr/>
        </p:nvSpPr>
        <p:spPr>
          <a:xfrm xmlns:a="http://schemas.openxmlformats.org/drawingml/2006/main">
            <a:off x="7315200" y="-914400"/>
            <a:ext cx="7315200" cy="7315200"/>
          </a:xfrm>
          <a:prstGeom xmlns:a="http://schemas.openxmlformats.org/drawingml/2006/main" prst="ellipse">
            <a:avLst/>
          </a:prstGeom>
          <a:solidFill xmlns:a="http://schemas.openxmlformats.org/drawingml/2006/main">
            <a:srgbClr val="1976D2">
              <a:alpha val="20000"/>
            </a:srgbClr>
          </a:solidFill>
          <a:ln xmlns:a="http://schemas.openxmlformats.org/drawingml/2006/main" w="12700">
            <a:solidFill>
              <a:srgbClr val="1976D2">
                <a:alpha val="0"/>
              </a:srgbClr>
            </a:solidFill>
            <a:prstDash val="solid"/>
          </a:ln>
        </p:spPr>
      </p:sp>
      <p:sp>
        <p:nvSpPr>
          <p:cNvPr id="4" name="Shape 2">
            <a:extLst xmlns:a="http://schemas.openxmlformats.org/drawingml/2006/main">
              <a:ext uri="{FF2B5EF4-FFF2-40B4-BE49-F238E27FC236}">
                <a16:creationId xmlns:a16="http://schemas.microsoft.com/office/drawing/2014/main" id="{DAEFF9E7-9FBF-4D28-A46D-A330FBC75944}"/>
              </a:ext>
            </a:extLst>
          </p:cNvPr>
          <p:cNvSpPr>
            <a:spLocks xmlns:a="http://schemas.openxmlformats.org/drawingml/2006/main" noGrp="1"/>
          </p:cNvSpPr>
          <p:nvPr/>
        </p:nvSpPr>
        <p:spPr>
          <a:xfrm xmlns:a="http://schemas.openxmlformats.org/drawingml/2006/main" rot="8100000">
            <a:off x="5852160" y="-182880"/>
            <a:ext cx="1188720" cy="1188720"/>
          </a:xfrm>
          <a:prstGeom xmlns:a="http://schemas.openxmlformats.org/drawingml/2006/main" prst="rtTriangle">
            <a:avLst/>
          </a:prstGeom>
          <a:solidFill xmlns:a="http://schemas.openxmlformats.org/drawingml/2006/main">
            <a:srgbClr val="F37021"/>
          </a:solidFill>
          <a:ln xmlns:a="http://schemas.openxmlformats.org/drawingml/2006/main" w="12700">
            <a:solidFill>
              <a:srgbClr val="F37021"/>
            </a:solidFill>
            <a:prstDash val="solid"/>
          </a:ln>
        </p:spPr>
      </p:sp>
      <p:sp>
        <p:nvSpPr>
          <p:cNvPr id="5" name="Shape 3">
            <a:extLst xmlns:a="http://schemas.openxmlformats.org/drawingml/2006/main">
              <a:ext uri="{FF2B5EF4-FFF2-40B4-BE49-F238E27FC236}">
                <a16:creationId xmlns:a16="http://schemas.microsoft.com/office/drawing/2014/main" id="{1E6F1308-5656-45B7-836A-43ACDB64A130}"/>
              </a:ext>
            </a:extLst>
          </p:cNvPr>
          <p:cNvSpPr>
            <a:spLocks xmlns:a="http://schemas.openxmlformats.org/drawingml/2006/main" noGrp="1"/>
          </p:cNvSpPr>
          <p:nvPr/>
        </p:nvSpPr>
        <p:spPr>
          <a:xfrm xmlns:a="http://schemas.openxmlformats.org/drawingml/2006/main">
            <a:off x="6355080"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6" name="Shape 4">
            <a:extLst xmlns:a="http://schemas.openxmlformats.org/drawingml/2006/main">
              <a:ext uri="{FF2B5EF4-FFF2-40B4-BE49-F238E27FC236}">
                <a16:creationId xmlns:a16="http://schemas.microsoft.com/office/drawing/2014/main" id="{B52FF055-233B-449B-9140-0D76EB14561D}"/>
              </a:ext>
            </a:extLst>
          </p:cNvPr>
          <p:cNvSpPr>
            <a:spLocks xmlns:a="http://schemas.openxmlformats.org/drawingml/2006/main" noGrp="1"/>
          </p:cNvSpPr>
          <p:nvPr/>
        </p:nvSpPr>
        <p:spPr>
          <a:xfrm xmlns:a="http://schemas.openxmlformats.org/drawingml/2006/main">
            <a:off x="6556248"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7" name="Shape 5">
            <a:extLst xmlns:a="http://schemas.openxmlformats.org/drawingml/2006/main">
              <a:ext uri="{FF2B5EF4-FFF2-40B4-BE49-F238E27FC236}">
                <a16:creationId xmlns:a16="http://schemas.microsoft.com/office/drawing/2014/main" id="{566AA1EE-99B6-4790-9B81-1EAAD7D9F715}"/>
              </a:ext>
            </a:extLst>
          </p:cNvPr>
          <p:cNvSpPr>
            <a:spLocks xmlns:a="http://schemas.openxmlformats.org/drawingml/2006/main" noGrp="1"/>
          </p:cNvSpPr>
          <p:nvPr/>
        </p:nvSpPr>
        <p:spPr>
          <a:xfrm xmlns:a="http://schemas.openxmlformats.org/drawingml/2006/main">
            <a:off x="6757416" y="45720"/>
            <a:ext cx="73152" cy="73152"/>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8" name="Shape 6">
            <a:extLst xmlns:a="http://schemas.openxmlformats.org/drawingml/2006/main">
              <a:ext uri="{FF2B5EF4-FFF2-40B4-BE49-F238E27FC236}">
                <a16:creationId xmlns:a16="http://schemas.microsoft.com/office/drawing/2014/main" id="{568A05FF-0D6F-45A7-BD05-716390709B70}"/>
              </a:ext>
            </a:extLst>
          </p:cNvPr>
          <p:cNvSpPr>
            <a:spLocks xmlns:a="http://schemas.openxmlformats.org/drawingml/2006/main" noGrp="1"/>
          </p:cNvSpPr>
          <p:nvPr/>
        </p:nvSpPr>
        <p:spPr>
          <a:xfrm xmlns:a="http://schemas.openxmlformats.org/drawingml/2006/main" flipV="1">
            <a:off x="457200" y="4114800"/>
            <a:ext cx="3657600" cy="1828800"/>
          </a:xfrm>
          <a:prstGeom xmlns:a="http://schemas.openxmlformats.org/drawingml/2006/main" prst="line">
            <a:avLst/>
          </a:prstGeom>
          <a:noFill xmlns:a="http://schemas.openxmlformats.org/drawingml/2006/main"/>
          <a:ln xmlns:a="http://schemas.openxmlformats.org/drawingml/2006/main" w="12700">
            <a:solidFill>
              <a:srgbClr val="FFFFFF">
                <a:alpha val="40000"/>
              </a:srgbClr>
            </a:solidFill>
            <a:prstDash val="dash"/>
          </a:ln>
        </p:spPr>
      </p:sp>
      <p:pic>
        <p:nvPicPr>
          <p:cNvPr id="24" name="Image 0">
            <a:extLst xmlns:a="http://schemas.openxmlformats.org/drawingml/2006/main">
              <a:ext uri="{FF2B5EF4-FFF2-40B4-BE49-F238E27FC236}">
                <a16:creationId xmlns:a16="http://schemas.microsoft.com/office/drawing/2014/main" id="{B3BECDDA-2BBD-4AF0-A067-9762A2233409}"/>
              </a:ext>
            </a:extLst>
          </p:cNvPr>
          <p:cNvPicPr>
            <a:picLocks xmlns:a="http://schemas.openxmlformats.org/drawingml/2006/main" noChangeAspect="1"/>
          </p:cNvPicPr>
          <p:nvPr/>
        </p:nvPicPr>
        <p:blipFill>
          <a:blip xmlns:r="http://schemas.openxmlformats.org/officeDocument/2006/relationships" xmlns:a="http://schemas.openxmlformats.org/drawingml/2006/main" r:embed="R7b19160caa984091"/>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25" name="Image 1">
            <a:extLst xmlns:a="http://schemas.openxmlformats.org/drawingml/2006/main">
              <a:ext uri="{FF2B5EF4-FFF2-40B4-BE49-F238E27FC236}">
                <a16:creationId xmlns:a16="http://schemas.microsoft.com/office/drawing/2014/main" id="{31E8E845-C589-4B91-A85F-9B21E471CB72}"/>
              </a:ext>
            </a:extLst>
          </p:cNvPr>
          <p:cNvPicPr>
            <a:picLocks xmlns:a="http://schemas.openxmlformats.org/drawingml/2006/main" noChangeAspect="1"/>
          </p:cNvPicPr>
          <p:nvPr/>
        </p:nvPicPr>
        <p:blipFill>
          <a:blip xmlns:r="http://schemas.openxmlformats.org/officeDocument/2006/relationships" xmlns:a="http://schemas.openxmlformats.org/drawingml/2006/main" r:embed="R111e6cc5743f42ea"/>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FADA5749-D778-44BE-935B-2CAE2C5DEAE1}"/>
              </a:ext>
            </a:extLst>
          </p:cNvPr>
          <p:cNvSpPr>
            <a:spLocks xmlns:a="http://schemas.openxmlformats.org/drawingml/2006/main" noGrp="1"/>
          </p:cNvSpPr>
          <p:nvPr/>
        </p:nvSpPr>
        <p:spPr>
          <a:xfrm xmlns:a="http://schemas.openxmlformats.org/drawingml/2006/main">
            <a:off x="457200" y="256032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spc="600">
                <a:solidFill>
                  <a:srgbClr val="F37021"/>
                </a:solidFill>
                <a:latin typeface="Calibri"/>
                <a:ea typeface="Calibri"/>
                <a:cs typeface="Calibri"/>
              </a:rPr>
              <a:t>BAGIAN 06</a:t>
            </a:r>
            <a:endParaRPr sz="1600"/>
          </a:p>
        </p:txBody>
      </p:sp>
      <p:sp>
        <p:nvSpPr>
          <p:cNvPr id="12" name="Text 8">
            <a:extLst xmlns:a="http://schemas.openxmlformats.org/drawingml/2006/main">
              <a:ext uri="{FF2B5EF4-FFF2-40B4-BE49-F238E27FC236}">
                <a16:creationId xmlns:a16="http://schemas.microsoft.com/office/drawing/2014/main" id="{E2C3ADDC-D517-46A7-9083-4BED5FE12BEC}"/>
              </a:ext>
            </a:extLst>
          </p:cNvPr>
          <p:cNvSpPr>
            <a:spLocks xmlns:a="http://schemas.openxmlformats.org/drawingml/2006/main" noGrp="1"/>
          </p:cNvSpPr>
          <p:nvPr/>
        </p:nvSpPr>
        <p:spPr>
          <a:xfrm xmlns:a="http://schemas.openxmlformats.org/drawingml/2006/main">
            <a:off x="457200" y="3017520"/>
            <a:ext cx="11247120" cy="1828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FFFFFF"/>
                </a:solidFill>
                <a:latin typeface="Calibri"/>
                <a:ea typeface="Calibri"/>
                <a:cs typeface="Calibri"/>
              </a:rPr>
              <a:t>Production</a:t>
            </a:r>
            <a:endParaRPr sz="5200"/>
          </a:p>
          <a:p xmlns:a="http://schemas.openxmlformats.org/drawingml/2006/main">
            <a:pPr marL="0" indent="0" algn="ctr">
              <a:buNone/>
            </a:pPr>
            <a:r>
              <a:rPr sz="5200" b="1">
                <a:solidFill>
                  <a:srgbClr val="FFFFFF"/>
                </a:solidFill>
                <a:latin typeface="Calibri"/>
                <a:ea typeface="Calibri"/>
                <a:cs typeface="Calibri"/>
              </a:rPr>
              <a:t>Tips</a:t>
            </a:r>
            <a:endParaRPr sz="5200"/>
          </a:p>
        </p:txBody>
      </p:sp>
      <p:sp>
        <p:nvSpPr>
          <p:cNvPr id="13" name="Shape 9">
            <a:extLst xmlns:a="http://schemas.openxmlformats.org/drawingml/2006/main">
              <a:ext uri="{FF2B5EF4-FFF2-40B4-BE49-F238E27FC236}">
                <a16:creationId xmlns:a16="http://schemas.microsoft.com/office/drawing/2014/main" id="{91D98A6B-1E90-4723-A400-DB0DD155ADBB}"/>
              </a:ext>
            </a:extLst>
          </p:cNvPr>
          <p:cNvSpPr>
            <a:spLocks xmlns:a="http://schemas.openxmlformats.org/drawingml/2006/main" noGrp="1"/>
          </p:cNvSpPr>
          <p:nvPr/>
        </p:nvSpPr>
        <p:spPr>
          <a:xfrm xmlns:a="http://schemas.openxmlformats.org/drawingml/2006/main">
            <a:off x="5715000" y="50292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4" name="Text 10">
            <a:extLst xmlns:a="http://schemas.openxmlformats.org/drawingml/2006/main">
              <a:ext uri="{FF2B5EF4-FFF2-40B4-BE49-F238E27FC236}">
                <a16:creationId xmlns:a16="http://schemas.microsoft.com/office/drawing/2014/main" id="{A2FBD0BE-EB55-47F7-BBD9-EC5F1ACF8CF6}"/>
              </a:ext>
            </a:extLst>
          </p:cNvPr>
          <p:cNvSpPr>
            <a:spLocks xmlns:a="http://schemas.openxmlformats.org/drawingml/2006/main" noGrp="1"/>
          </p:cNvSpPr>
          <p:nvPr/>
        </p:nvSpPr>
        <p:spPr>
          <a:xfrm xmlns:a="http://schemas.openxmlformats.org/drawingml/2006/main">
            <a:off x="457200" y="5212080"/>
            <a:ext cx="11247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i="1">
                <a:solidFill>
                  <a:srgbClr val="FED7AA"/>
                </a:solidFill>
                <a:latin typeface="Calibri"/>
                <a:ea typeface="Calibri"/>
                <a:cs typeface="Calibri"/>
              </a:rPr>
              <a:t>Override files, secrets, dan pitfalls yang sering bikin pusing.</a:t>
            </a:r>
            <a:endParaRPr sz="1400"/>
          </a:p>
        </p:txBody>
      </p:sp>
    </p:spTree>
    <p:extLst>
      <p:ext uri="{BB962C8B-B14F-4D97-AF65-F5344CB8AC3E}">
        <p14:creationId xmlns:p14="http://schemas.microsoft.com/office/powerpoint/2010/main" val="57311180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2B11F2-701F-4A4B-9D5C-0316FFB1E65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1D75666C-9ABF-4693-9282-C89DBAB5CA2B}"/>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27</a:t>
            </a:r>
            <a:endParaRPr sz="900"/>
          </a:p>
        </p:txBody>
      </p:sp>
      <p:sp>
        <p:nvSpPr>
          <p:cNvPr id="4" name="Shape 2">
            <a:extLst xmlns:a="http://schemas.openxmlformats.org/drawingml/2006/main">
              <a:ext uri="{FF2B5EF4-FFF2-40B4-BE49-F238E27FC236}">
                <a16:creationId xmlns:a16="http://schemas.microsoft.com/office/drawing/2014/main" id="{84C191A1-DA99-43AA-8130-FD1CF59CF034}"/>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1" name="Image 0">
            <a:extLst xmlns:a="http://schemas.openxmlformats.org/drawingml/2006/main">
              <a:ext uri="{FF2B5EF4-FFF2-40B4-BE49-F238E27FC236}">
                <a16:creationId xmlns:a16="http://schemas.microsoft.com/office/drawing/2014/main" id="{71BB4D26-FA35-43C4-9AC0-45BB6B67B0FB}"/>
              </a:ext>
            </a:extLst>
          </p:cNvPr>
          <p:cNvPicPr>
            <a:picLocks xmlns:a="http://schemas.openxmlformats.org/drawingml/2006/main" noChangeAspect="1"/>
          </p:cNvPicPr>
          <p:nvPr/>
        </p:nvPicPr>
        <p:blipFill>
          <a:blip xmlns:r="http://schemas.openxmlformats.org/officeDocument/2006/relationships" xmlns:a="http://schemas.openxmlformats.org/drawingml/2006/main" r:embed="Re540f253f9bb467a"/>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2" name="Image 1">
            <a:extLst xmlns:a="http://schemas.openxmlformats.org/drawingml/2006/main">
              <a:ext uri="{FF2B5EF4-FFF2-40B4-BE49-F238E27FC236}">
                <a16:creationId xmlns:a16="http://schemas.microsoft.com/office/drawing/2014/main" id="{6C220890-4EE1-4C07-8C8B-0336FD4E09A7}"/>
              </a:ext>
            </a:extLst>
          </p:cNvPr>
          <p:cNvPicPr>
            <a:picLocks xmlns:a="http://schemas.openxmlformats.org/drawingml/2006/main" noChangeAspect="1"/>
          </p:cNvPicPr>
          <p:nvPr/>
        </p:nvPicPr>
        <p:blipFill>
          <a:blip xmlns:r="http://schemas.openxmlformats.org/officeDocument/2006/relationships" xmlns:a="http://schemas.openxmlformats.org/drawingml/2006/main" r:embed="R03dd375649064925"/>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095C5677-48D8-4798-B336-560A9FB44C9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F146B61D-FE91-4CCE-9904-543C1E1A9B73}"/>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Multi-Environment - Override Files</a:t>
            </a:r>
            <a:endParaRPr sz="2200"/>
          </a:p>
        </p:txBody>
      </p:sp>
      <p:sp>
        <p:nvSpPr>
          <p:cNvPr id="9" name="Text 5">
            <a:extLst xmlns:a="http://schemas.openxmlformats.org/drawingml/2006/main">
              <a:ext uri="{FF2B5EF4-FFF2-40B4-BE49-F238E27FC236}">
                <a16:creationId xmlns:a16="http://schemas.microsoft.com/office/drawing/2014/main" id="{DB3A3464-AF1A-4668-AE59-9B90B1FBF658}"/>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compose.yml base + compose.override.yml dev + compose.prod.yml</a:t>
            </a:r>
            <a:endParaRPr sz="1200"/>
          </a:p>
        </p:txBody>
      </p:sp>
      <p:sp>
        <p:nvSpPr>
          <p:cNvPr id="10" name="Shape 6">
            <a:extLst xmlns:a="http://schemas.openxmlformats.org/drawingml/2006/main">
              <a:ext uri="{FF2B5EF4-FFF2-40B4-BE49-F238E27FC236}">
                <a16:creationId xmlns:a16="http://schemas.microsoft.com/office/drawing/2014/main" id="{40EF75F0-CC25-4C77-8544-8CB27030F22D}"/>
              </a:ext>
            </a:extLst>
          </p:cNvPr>
          <p:cNvSpPr>
            <a:spLocks xmlns:a="http://schemas.openxmlformats.org/drawingml/2006/main" noGrp="1"/>
          </p:cNvSpPr>
          <p:nvPr/>
        </p:nvSpPr>
        <p:spPr>
          <a:xfrm xmlns:a="http://schemas.openxmlformats.org/drawingml/2006/main">
            <a:off x="457200" y="1417320"/>
            <a:ext cx="11247120" cy="91440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1" name="Text 7">
            <a:extLst xmlns:a="http://schemas.openxmlformats.org/drawingml/2006/main">
              <a:ext uri="{FF2B5EF4-FFF2-40B4-BE49-F238E27FC236}">
                <a16:creationId xmlns:a16="http://schemas.microsoft.com/office/drawing/2014/main" id="{D25169AD-41CE-4551-A7D3-FB56414EEC86}"/>
              </a:ext>
            </a:extLst>
          </p:cNvPr>
          <p:cNvSpPr>
            <a:spLocks xmlns:a="http://schemas.openxmlformats.org/drawingml/2006/main" noGrp="1"/>
          </p:cNvSpPr>
          <p:nvPr/>
        </p:nvSpPr>
        <p:spPr>
          <a:xfrm xmlns:a="http://schemas.openxmlformats.org/drawingml/2006/main">
            <a:off x="685800" y="1508760"/>
            <a:ext cx="107899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37021"/>
                </a:solidFill>
                <a:latin typeface="Calibri"/>
                <a:ea typeface="Calibri"/>
                <a:cs typeface="Calibri"/>
              </a:rPr>
              <a:t>Auto-merge: </a:t>
            </a:r>
            <a:r>
              <a:rPr sz="1200">
                <a:solidFill>
                  <a:srgbClr val="FFFFFF"/>
                </a:solidFill>
                <a:latin typeface="Calibri"/>
                <a:ea typeface="Calibri"/>
                <a:cs typeface="Calibri"/>
              </a:rPr>
              <a:t>Compose otomatis merge compose.yml + compose.override.yml. Override file 'menimpa' setting base.</a:t>
            </a:r>
            <a:endParaRPr sz="1300"/>
          </a:p>
          <a:p xmlns:a="http://schemas.openxmlformats.org/drawingml/2006/main">
            <a:pPr marL="0" indent="0">
              <a:buNone/>
            </a:pPr>
            <a:r>
              <a:rPr sz="1100" i="1">
                <a:solidFill>
                  <a:srgbClr val="FFE0B2"/>
                </a:solidFill>
                <a:latin typeface="Calibri"/>
                <a:ea typeface="Calibri"/>
                <a:cs typeface="Calibri"/>
              </a:rPr>
              <a:t>Pattern: base config di compose.yml, dev settings di compose.override.yml, prod di compose.prod.yml.</a:t>
            </a:r>
            <a:endParaRPr sz="1300"/>
          </a:p>
        </p:txBody>
      </p:sp>
      <p:sp>
        <p:nvSpPr>
          <p:cNvPr id="12" name="Shape 8">
            <a:extLst xmlns:a="http://schemas.openxmlformats.org/drawingml/2006/main">
              <a:ext uri="{FF2B5EF4-FFF2-40B4-BE49-F238E27FC236}">
                <a16:creationId xmlns:a16="http://schemas.microsoft.com/office/drawing/2014/main" id="{C8CD95A1-AF4E-4B23-ADE9-347B64F9EB25}"/>
              </a:ext>
            </a:extLst>
          </p:cNvPr>
          <p:cNvSpPr>
            <a:spLocks xmlns:a="http://schemas.openxmlformats.org/drawingml/2006/main" noGrp="1"/>
          </p:cNvSpPr>
          <p:nvPr/>
        </p:nvSpPr>
        <p:spPr>
          <a:xfrm xmlns:a="http://schemas.openxmlformats.org/drawingml/2006/main">
            <a:off x="457200" y="2514600"/>
            <a:ext cx="5577840" cy="37490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3" name="Shape 9">
            <a:extLst xmlns:a="http://schemas.openxmlformats.org/drawingml/2006/main">
              <a:ext uri="{FF2B5EF4-FFF2-40B4-BE49-F238E27FC236}">
                <a16:creationId xmlns:a16="http://schemas.microsoft.com/office/drawing/2014/main" id="{0F746ACE-5B38-4A3C-9E04-32ADE84513C3}"/>
              </a:ext>
            </a:extLst>
          </p:cNvPr>
          <p:cNvSpPr>
            <a:spLocks xmlns:a="http://schemas.openxmlformats.org/drawingml/2006/main" noGrp="1"/>
          </p:cNvSpPr>
          <p:nvPr/>
        </p:nvSpPr>
        <p:spPr>
          <a:xfrm xmlns:a="http://schemas.openxmlformats.org/drawingml/2006/main">
            <a:off x="457200" y="2514600"/>
            <a:ext cx="55778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4" name="Shape 10">
            <a:extLst xmlns:a="http://schemas.openxmlformats.org/drawingml/2006/main">
              <a:ext uri="{FF2B5EF4-FFF2-40B4-BE49-F238E27FC236}">
                <a16:creationId xmlns:a16="http://schemas.microsoft.com/office/drawing/2014/main" id="{50D53A6E-0913-4E9A-96E8-5E5112FFD820}"/>
              </a:ext>
            </a:extLst>
          </p:cNvPr>
          <p:cNvSpPr>
            <a:spLocks xmlns:a="http://schemas.openxmlformats.org/drawingml/2006/main" noGrp="1"/>
          </p:cNvSpPr>
          <p:nvPr/>
        </p:nvSpPr>
        <p:spPr>
          <a:xfrm xmlns:a="http://schemas.openxmlformats.org/drawingml/2006/main">
            <a:off x="548640" y="259689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5" name="Shape 11">
            <a:extLst xmlns:a="http://schemas.openxmlformats.org/drawingml/2006/main">
              <a:ext uri="{FF2B5EF4-FFF2-40B4-BE49-F238E27FC236}">
                <a16:creationId xmlns:a16="http://schemas.microsoft.com/office/drawing/2014/main" id="{D24C1DBD-AB55-47F4-9204-CED5943FBEA6}"/>
              </a:ext>
            </a:extLst>
          </p:cNvPr>
          <p:cNvSpPr>
            <a:spLocks xmlns:a="http://schemas.openxmlformats.org/drawingml/2006/main" noGrp="1"/>
          </p:cNvSpPr>
          <p:nvPr/>
        </p:nvSpPr>
        <p:spPr>
          <a:xfrm xmlns:a="http://schemas.openxmlformats.org/drawingml/2006/main">
            <a:off x="685800" y="259689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6" name="Shape 12">
            <a:extLst xmlns:a="http://schemas.openxmlformats.org/drawingml/2006/main">
              <a:ext uri="{FF2B5EF4-FFF2-40B4-BE49-F238E27FC236}">
                <a16:creationId xmlns:a16="http://schemas.microsoft.com/office/drawing/2014/main" id="{BC43F51E-5230-4075-8727-50B35CD2631A}"/>
              </a:ext>
            </a:extLst>
          </p:cNvPr>
          <p:cNvSpPr>
            <a:spLocks xmlns:a="http://schemas.openxmlformats.org/drawingml/2006/main" noGrp="1"/>
          </p:cNvSpPr>
          <p:nvPr/>
        </p:nvSpPr>
        <p:spPr>
          <a:xfrm xmlns:a="http://schemas.openxmlformats.org/drawingml/2006/main">
            <a:off x="822960" y="259689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7" name="Text 13">
            <a:extLst xmlns:a="http://schemas.openxmlformats.org/drawingml/2006/main">
              <a:ext uri="{FF2B5EF4-FFF2-40B4-BE49-F238E27FC236}">
                <a16:creationId xmlns:a16="http://schemas.microsoft.com/office/drawing/2014/main" id="{A9DD2399-5BBA-4987-87A6-B75EA94A768A}"/>
              </a:ext>
            </a:extLst>
          </p:cNvPr>
          <p:cNvSpPr>
            <a:spLocks xmlns:a="http://schemas.openxmlformats.org/drawingml/2006/main" noGrp="1"/>
          </p:cNvSpPr>
          <p:nvPr/>
        </p:nvSpPr>
        <p:spPr>
          <a:xfrm xmlns:a="http://schemas.openxmlformats.org/drawingml/2006/main">
            <a:off x="1005840" y="251460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compose.yml - base</a:t>
            </a:r>
            <a:endParaRPr sz="900"/>
          </a:p>
        </p:txBody>
      </p:sp>
      <p:sp>
        <p:nvSpPr>
          <p:cNvPr id="18" name="Text 14">
            <a:extLst xmlns:a="http://schemas.openxmlformats.org/drawingml/2006/main">
              <a:ext uri="{FF2B5EF4-FFF2-40B4-BE49-F238E27FC236}">
                <a16:creationId xmlns:a16="http://schemas.microsoft.com/office/drawing/2014/main" id="{3613F3BB-203A-4D3A-B517-8D7734BAB2B8}"/>
              </a:ext>
            </a:extLst>
          </p:cNvPr>
          <p:cNvSpPr>
            <a:spLocks xmlns:a="http://schemas.openxmlformats.org/drawingml/2006/main" noGrp="1"/>
          </p:cNvSpPr>
          <p:nvPr/>
        </p:nvSpPr>
        <p:spPr>
          <a:xfrm xmlns:a="http://schemas.openxmlformats.org/drawingml/2006/main">
            <a:off x="594360" y="2880360"/>
            <a:ext cx="530352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compose.yml (shared base)</a:t>
            </a:r>
            <a:endParaRPr sz="1100"/>
          </a:p>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myapp/api:1.0</a:t>
            </a:r>
            <a:endParaRPr sz="1100"/>
          </a:p>
          <a:p xmlns:a="http://schemas.openxmlformats.org/drawingml/2006/main">
            <a:pPr marL="0" indent="0">
              <a:spcAft>
                <a:spcPts val="200"/>
              </a:spcAft>
              <a:buNone/>
            </a:pPr>
            <a:r>
              <a:rPr sz="1100">
                <a:solidFill>
                  <a:srgbClr val="E2E8F0"/>
                </a:solidFill>
                <a:latin typeface="Consolas"/>
                <a:ea typeface="Consolas"/>
                <a:cs typeface="Consolas"/>
              </a:rPr>
              <a:t>    ports: ["3000:3000"]</a:t>
            </a:r>
            <a:endParaRPr sz="1100"/>
          </a:p>
          <a:p xmlns:a="http://schemas.openxmlformats.org/drawingml/2006/main">
            <a:pPr marL="0" indent="0">
              <a:spcAft>
                <a:spcPts val="200"/>
              </a:spcAft>
              <a:buNone/>
            </a:pPr>
            <a:r>
              <a:rPr sz="1100">
                <a:solidFill>
                  <a:srgbClr val="E2E8F0"/>
                </a:solidFill>
                <a:latin typeface="Consolas"/>
                <a:ea typeface="Consolas"/>
                <a:cs typeface="Consolas"/>
              </a:rPr>
              <a:t>    depends_on: [db]</a:t>
            </a:r>
            <a:endParaRPr sz="1100"/>
          </a:p>
          <a:p xmlns:a="http://schemas.openxmlformats.org/drawingml/2006/main">
            <a:pPr marL="0" indent="0">
              <a:spcAft>
                <a:spcPts val="200"/>
              </a:spcAft>
              <a:buNone/>
            </a:pPr>
            <a:r>
              <a:rPr sz="1100" b="1">
                <a:solidFill>
                  <a:srgbClr val="60A5FA"/>
                </a:solidFill>
                <a:latin typeface="Consolas"/>
                <a:ea typeface="Consolas"/>
                <a:cs typeface="Consolas"/>
              </a:rPr>
              <a: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postgres:15-alpine</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10B981"/>
                </a:solidFill>
                <a:latin typeface="Consolas"/>
                <a:ea typeface="Consolas"/>
                <a:cs typeface="Consolas"/>
              </a:rPr>
              <a:t># compose.override.yml (DEV - auto-loaded)</a:t>
            </a:r>
            <a:endParaRPr sz="1100"/>
          </a:p>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10B981"/>
                </a:solidFill>
                <a:latin typeface="Consolas"/>
                <a:ea typeface="Consolas"/>
                <a:cs typeface="Consolas"/>
              </a:rPr>
              <a:t>    build: ./api  # build local!</a:t>
            </a:r>
            <a:endParaRPr sz="1100"/>
          </a:p>
          <a:p xmlns:a="http://schemas.openxmlformats.org/drawingml/2006/main">
            <a:pPr marL="0" indent="0">
              <a:spcAft>
                <a:spcPts val="200"/>
              </a:spcAft>
              <a:buNone/>
            </a:pPr>
            <a:r>
              <a:rPr sz="1100">
                <a:solidFill>
                  <a:srgbClr val="10B981"/>
                </a:solidFill>
                <a:latin typeface="Consolas"/>
                <a:ea typeface="Consolas"/>
                <a:cs typeface="Consolas"/>
              </a:rPr>
              <a:t>    volumes: ["./api/src:/app/src"]</a:t>
            </a:r>
            <a:endParaRPr sz="1100"/>
          </a:p>
          <a:p xmlns:a="http://schemas.openxmlformats.org/drawingml/2006/main">
            <a:pPr marL="0" indent="0">
              <a:spcAft>
                <a:spcPts val="200"/>
              </a:spcAft>
              <a:buNone/>
            </a:pPr>
            <a:r>
              <a:rPr sz="1100">
                <a:solidFill>
                  <a:srgbClr val="E2E8F0"/>
                </a:solidFill>
                <a:latin typeface="Consolas"/>
                <a:ea typeface="Consolas"/>
                <a:cs typeface="Consolas"/>
              </a:rPr>
              <a:t>    environment:</a:t>
            </a:r>
            <a:endParaRPr sz="1100"/>
          </a:p>
          <a:p xmlns:a="http://schemas.openxmlformats.org/drawingml/2006/main">
            <a:pPr marL="0" indent="0">
              <a:spcAft>
                <a:spcPts val="200"/>
              </a:spcAft>
              <a:buNone/>
            </a:pPr>
            <a:r>
              <a:rPr sz="1100">
                <a:solidFill>
                  <a:srgbClr val="10B981"/>
                </a:solidFill>
                <a:latin typeface="Consolas"/>
                <a:ea typeface="Consolas"/>
                <a:cs typeface="Consolas"/>
              </a:rPr>
              <a:t>      DEBUG: "true"</a:t>
            </a:r>
            <a:endParaRPr sz="1100"/>
          </a:p>
        </p:txBody>
      </p:sp>
      <p:sp>
        <p:nvSpPr>
          <p:cNvPr id="19" name="Shape 15">
            <a:extLst xmlns:a="http://schemas.openxmlformats.org/drawingml/2006/main">
              <a:ext uri="{FF2B5EF4-FFF2-40B4-BE49-F238E27FC236}">
                <a16:creationId xmlns:a16="http://schemas.microsoft.com/office/drawing/2014/main" id="{CA53A21A-1782-4DE3-B43B-F775A49B5D1B}"/>
              </a:ext>
            </a:extLst>
          </p:cNvPr>
          <p:cNvSpPr>
            <a:spLocks xmlns:a="http://schemas.openxmlformats.org/drawingml/2006/main" noGrp="1"/>
          </p:cNvSpPr>
          <p:nvPr/>
        </p:nvSpPr>
        <p:spPr>
          <a:xfrm xmlns:a="http://schemas.openxmlformats.org/drawingml/2006/main">
            <a:off x="6217920" y="2514600"/>
            <a:ext cx="5486400" cy="37490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0" name="Shape 16">
            <a:extLst xmlns:a="http://schemas.openxmlformats.org/drawingml/2006/main">
              <a:ext uri="{FF2B5EF4-FFF2-40B4-BE49-F238E27FC236}">
                <a16:creationId xmlns:a16="http://schemas.microsoft.com/office/drawing/2014/main" id="{D3E0F1E1-32A6-450F-9908-8F73FD69635D}"/>
              </a:ext>
            </a:extLst>
          </p:cNvPr>
          <p:cNvSpPr>
            <a:spLocks xmlns:a="http://schemas.openxmlformats.org/drawingml/2006/main" noGrp="1"/>
          </p:cNvSpPr>
          <p:nvPr/>
        </p:nvSpPr>
        <p:spPr>
          <a:xfrm xmlns:a="http://schemas.openxmlformats.org/drawingml/2006/main">
            <a:off x="6217920" y="2514600"/>
            <a:ext cx="54864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1" name="Shape 17">
            <a:extLst xmlns:a="http://schemas.openxmlformats.org/drawingml/2006/main">
              <a:ext uri="{FF2B5EF4-FFF2-40B4-BE49-F238E27FC236}">
                <a16:creationId xmlns:a16="http://schemas.microsoft.com/office/drawing/2014/main" id="{ABBA046E-337C-4EC2-8E39-1C7E69E00F87}"/>
              </a:ext>
            </a:extLst>
          </p:cNvPr>
          <p:cNvSpPr>
            <a:spLocks xmlns:a="http://schemas.openxmlformats.org/drawingml/2006/main" noGrp="1"/>
          </p:cNvSpPr>
          <p:nvPr/>
        </p:nvSpPr>
        <p:spPr>
          <a:xfrm xmlns:a="http://schemas.openxmlformats.org/drawingml/2006/main">
            <a:off x="6309360" y="259689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2" name="Shape 18">
            <a:extLst xmlns:a="http://schemas.openxmlformats.org/drawingml/2006/main">
              <a:ext uri="{FF2B5EF4-FFF2-40B4-BE49-F238E27FC236}">
                <a16:creationId xmlns:a16="http://schemas.microsoft.com/office/drawing/2014/main" id="{DE7C6164-E6F0-451D-9ED3-222BCF3C3C8F}"/>
              </a:ext>
            </a:extLst>
          </p:cNvPr>
          <p:cNvSpPr>
            <a:spLocks xmlns:a="http://schemas.openxmlformats.org/drawingml/2006/main" noGrp="1"/>
          </p:cNvSpPr>
          <p:nvPr/>
        </p:nvSpPr>
        <p:spPr>
          <a:xfrm xmlns:a="http://schemas.openxmlformats.org/drawingml/2006/main">
            <a:off x="6446520" y="259689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3" name="Shape 19">
            <a:extLst xmlns:a="http://schemas.openxmlformats.org/drawingml/2006/main">
              <a:ext uri="{FF2B5EF4-FFF2-40B4-BE49-F238E27FC236}">
                <a16:creationId xmlns:a16="http://schemas.microsoft.com/office/drawing/2014/main" id="{51AB5ED2-85C8-4E15-866F-B92816931958}"/>
              </a:ext>
            </a:extLst>
          </p:cNvPr>
          <p:cNvSpPr>
            <a:spLocks xmlns:a="http://schemas.openxmlformats.org/drawingml/2006/main" noGrp="1"/>
          </p:cNvSpPr>
          <p:nvPr/>
        </p:nvSpPr>
        <p:spPr>
          <a:xfrm xmlns:a="http://schemas.openxmlformats.org/drawingml/2006/main">
            <a:off x="6583680" y="259689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4" name="Text 20">
            <a:extLst xmlns:a="http://schemas.openxmlformats.org/drawingml/2006/main">
              <a:ext uri="{FF2B5EF4-FFF2-40B4-BE49-F238E27FC236}">
                <a16:creationId xmlns:a16="http://schemas.microsoft.com/office/drawing/2014/main" id="{829B265E-F76D-477B-B1FD-5E7AB5FC825C}"/>
              </a:ext>
            </a:extLst>
          </p:cNvPr>
          <p:cNvSpPr>
            <a:spLocks xmlns:a="http://schemas.openxmlformats.org/drawingml/2006/main" noGrp="1"/>
          </p:cNvSpPr>
          <p:nvPr/>
        </p:nvSpPr>
        <p:spPr>
          <a:xfrm xmlns:a="http://schemas.openxmlformats.org/drawingml/2006/main">
            <a:off x="6766560" y="251460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compose.prod.yml + jalankan</a:t>
            </a:r>
            <a:endParaRPr sz="900"/>
          </a:p>
        </p:txBody>
      </p:sp>
      <p:sp>
        <p:nvSpPr>
          <p:cNvPr id="25" name="Text 21">
            <a:extLst xmlns:a="http://schemas.openxmlformats.org/drawingml/2006/main">
              <a:ext uri="{FF2B5EF4-FFF2-40B4-BE49-F238E27FC236}">
                <a16:creationId xmlns:a16="http://schemas.microsoft.com/office/drawing/2014/main" id="{5BE005DF-4B43-4C5E-A80B-134C34F2A528}"/>
              </a:ext>
            </a:extLst>
          </p:cNvPr>
          <p:cNvSpPr>
            <a:spLocks xmlns:a="http://schemas.openxmlformats.org/drawingml/2006/main" noGrp="1"/>
          </p:cNvSpPr>
          <p:nvPr/>
        </p:nvSpPr>
        <p:spPr>
          <a:xfrm xmlns:a="http://schemas.openxmlformats.org/drawingml/2006/main">
            <a:off x="6355080" y="2880360"/>
            <a:ext cx="521208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a:solidFill>
                  <a:srgbClr val="94A3B8"/>
                </a:solidFill>
                <a:latin typeface="Consolas"/>
                <a:ea typeface="Consolas"/>
                <a:cs typeface="Consolas"/>
              </a:rPr>
              <a:t># compose.prod.yml (PROD - explicit)</a:t>
            </a:r>
            <a:endParaRPr sz="1100"/>
          </a:p>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api:</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myapp/api:1.0   # pakai registry</a:t>
            </a:r>
            <a:endParaRPr sz="1100"/>
          </a:p>
          <a:p xmlns:a="http://schemas.openxmlformats.org/drawingml/2006/main">
            <a:pPr marL="0" indent="0">
              <a:spcAft>
                <a:spcPts val="200"/>
              </a:spcAft>
              <a:buNone/>
            </a:pPr>
            <a:r>
              <a:rPr sz="1100">
                <a:solidFill>
                  <a:srgbClr val="10B981"/>
                </a:solidFill>
                <a:latin typeface="Consolas"/>
                <a:ea typeface="Consolas"/>
                <a:cs typeface="Consolas"/>
              </a:rPr>
              <a:t>    restart: unless-stopped</a:t>
            </a:r>
            <a:endParaRPr sz="1100"/>
          </a:p>
          <a:p xmlns:a="http://schemas.openxmlformats.org/drawingml/2006/main">
            <a:pPr marL="0" indent="0">
              <a:spcAft>
                <a:spcPts val="200"/>
              </a:spcAft>
              <a:buNone/>
            </a:pPr>
            <a:r>
              <a:rPr sz="1100">
                <a:solidFill>
                  <a:srgbClr val="E2E8F0"/>
                </a:solidFill>
                <a:latin typeface="Consolas"/>
                <a:ea typeface="Consolas"/>
                <a:cs typeface="Consolas"/>
              </a:rPr>
              <a:t>    deploy:</a:t>
            </a:r>
            <a:endParaRPr sz="1100"/>
          </a:p>
          <a:p xmlns:a="http://schemas.openxmlformats.org/drawingml/2006/main">
            <a:pPr marL="0" indent="0">
              <a:spcAft>
                <a:spcPts val="200"/>
              </a:spcAft>
              <a:buNone/>
            </a:pPr>
            <a:r>
              <a:rPr sz="1100">
                <a:solidFill>
                  <a:srgbClr val="10B981"/>
                </a:solidFill>
                <a:latin typeface="Consolas"/>
                <a:ea typeface="Consolas"/>
                <a:cs typeface="Consolas"/>
              </a:rPr>
              <a:t>      replicas: 1  # fixed host port di contoh ini</a:t>
            </a:r>
            <a:endParaRPr sz="1100"/>
          </a:p>
          <a:p xmlns:a="http://schemas.openxmlformats.org/drawingml/2006/main">
            <a:pPr marL="0" indent="0">
              <a:spcAft>
                <a:spcPts val="200"/>
              </a:spcAft>
              <a:buNone/>
            </a:pPr>
            <a:r>
              <a:rPr sz="1100">
                <a:solidFill>
                  <a:srgbClr val="E2E8F0"/>
                </a:solidFill>
                <a:latin typeface="Consolas"/>
                <a:ea typeface="Consolas"/>
                <a:cs typeface="Consolas"/>
              </a:rPr>
              <a:t>      resources:</a:t>
            </a:r>
            <a:endParaRPr sz="1100"/>
          </a:p>
          <a:p xmlns:a="http://schemas.openxmlformats.org/drawingml/2006/main">
            <a:pPr marL="0" indent="0">
              <a:spcAft>
                <a:spcPts val="200"/>
              </a:spcAft>
              <a:buNone/>
            </a:pPr>
            <a:r>
              <a:rPr sz="1100">
                <a:solidFill>
                  <a:srgbClr val="10B981"/>
                </a:solidFill>
                <a:latin typeface="Consolas"/>
                <a:ea typeface="Consolas"/>
                <a:cs typeface="Consolas"/>
              </a:rPr>
              <a:t>        limits: { memory: 512M }</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Dev memakai base dan override</a:t>
            </a:r>
            <a:endParaRPr sz="1100"/>
          </a:p>
          <a:p xmlns:a="http://schemas.openxmlformats.org/drawingml/2006/main">
            <a:pPr marL="0" indent="0">
              <a:spcAft>
                <a:spcPts val="200"/>
              </a:spcAft>
              <a:buNone/>
            </a:pPr>
            <a:r>
              <a:rPr sz="1100">
                <a:solidFill>
                  <a:srgbClr val="94A3B8"/>
                </a:solidFill>
                <a:latin typeface="Consolas"/>
                <a:ea typeface="Consolas"/>
                <a:cs typeface="Consolas"/>
              </a:rPr>
              <a:t>$ docker compose up -d</a:t>
            </a:r>
          </a:p>
          <a:p xmlns:a="http://schemas.openxmlformats.org/drawingml/2006/main">
            <a:pPr marL="0" indent="0">
              <a:spcAft>
                <a:spcPts val="200"/>
              </a:spcAft>
              <a:buNone/>
            </a:pPr>
          </a:p>
          <a:p xmlns:a="http://schemas.openxmlformats.org/drawingml/2006/main">
            <a:pPr marL="0" indent="0">
              <a:spcAft>
                <a:spcPts val="200"/>
              </a:spcAft>
              <a:buNone/>
            </a:pPr>
            <a:r>
              <a:rPr sz="1100">
                <a:solidFill>
                  <a:srgbClr val="94A3B8"/>
                </a:solidFill>
                <a:latin typeface="Consolas"/>
                <a:ea typeface="Consolas"/>
                <a:cs typeface="Consolas"/>
              </a:rPr>
              <a:t># Prod memakai file yang ditentukan</a:t>
            </a:r>
          </a:p>
          <a:p xmlns:a="http://schemas.openxmlformats.org/drawingml/2006/main">
            <a:pPr marL="0" indent="0">
              <a:spcAft>
                <a:spcPts val="200"/>
              </a:spcAft>
              <a:buNone/>
            </a:pPr>
            <a:r>
              <a:rPr sz="1100">
                <a:solidFill>
                  <a:srgbClr val="94A3B8"/>
                </a:solidFill>
                <a:latin typeface="Consolas"/>
                <a:ea typeface="Consolas"/>
                <a:cs typeface="Consolas"/>
              </a:rPr>
              <a:t>$ docker compose -f compose.yml \</a:t>
            </a:r>
          </a:p>
          <a:p xmlns:a="http://schemas.openxmlformats.org/drawingml/2006/main">
            <a:pPr marL="0" indent="0">
              <a:spcAft>
                <a:spcPts val="200"/>
              </a:spcAft>
              <a:buNone/>
            </a:pPr>
            <a:r>
              <a:rPr sz="1100">
                <a:solidFill>
                  <a:srgbClr val="94A3B8"/>
                </a:solidFill>
                <a:latin typeface="Consolas"/>
                <a:ea typeface="Consolas"/>
                <a:cs typeface="Consolas"/>
              </a:rPr>
              <a:t>  -f compose.prod.yml up -d</a:t>
            </a:r>
          </a:p>
        </p:txBody>
      </p:sp>
    </p:spTree>
    <p:extLst>
      <p:ext uri="{BB962C8B-B14F-4D97-AF65-F5344CB8AC3E}">
        <p14:creationId xmlns:p14="http://schemas.microsoft.com/office/powerpoint/2010/main" val="144218601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B1A5D4C-6F89-45AF-BC9D-92C5CAFB469B}"/>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9B7CF8E6-139F-4B2B-A000-DEB71BE573DC}"/>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28</a:t>
            </a:r>
            <a:endParaRPr sz="900"/>
          </a:p>
        </p:txBody>
      </p:sp>
      <p:sp>
        <p:nvSpPr>
          <p:cNvPr id="4" name="Shape 2">
            <a:extLst xmlns:a="http://schemas.openxmlformats.org/drawingml/2006/main">
              <a:ext uri="{FF2B5EF4-FFF2-40B4-BE49-F238E27FC236}">
                <a16:creationId xmlns:a16="http://schemas.microsoft.com/office/drawing/2014/main" id="{944D9A03-B6F0-4FC0-809E-E204BED0B63D}"/>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35" name="Image 0">
            <a:extLst xmlns:a="http://schemas.openxmlformats.org/drawingml/2006/main">
              <a:ext uri="{FF2B5EF4-FFF2-40B4-BE49-F238E27FC236}">
                <a16:creationId xmlns:a16="http://schemas.microsoft.com/office/drawing/2014/main" id="{557B7F82-C429-4D73-9B81-F151DF4ADF07}"/>
              </a:ext>
            </a:extLst>
          </p:cNvPr>
          <p:cNvPicPr>
            <a:picLocks xmlns:a="http://schemas.openxmlformats.org/drawingml/2006/main" noChangeAspect="1"/>
          </p:cNvPicPr>
          <p:nvPr/>
        </p:nvPicPr>
        <p:blipFill>
          <a:blip xmlns:r="http://schemas.openxmlformats.org/officeDocument/2006/relationships" xmlns:a="http://schemas.openxmlformats.org/drawingml/2006/main" r:embed="Rbbde7262bdb8461b"/>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6" name="Image 1">
            <a:extLst xmlns:a="http://schemas.openxmlformats.org/drawingml/2006/main">
              <a:ext uri="{FF2B5EF4-FFF2-40B4-BE49-F238E27FC236}">
                <a16:creationId xmlns:a16="http://schemas.microsoft.com/office/drawing/2014/main" id="{6DC4E784-4A3B-4CC1-BE2E-63BB0178DC49}"/>
              </a:ext>
            </a:extLst>
          </p:cNvPr>
          <p:cNvPicPr>
            <a:picLocks xmlns:a="http://schemas.openxmlformats.org/drawingml/2006/main" noChangeAspect="1"/>
          </p:cNvPicPr>
          <p:nvPr/>
        </p:nvPicPr>
        <p:blipFill>
          <a:blip xmlns:r="http://schemas.openxmlformats.org/officeDocument/2006/relationships" xmlns:a="http://schemas.openxmlformats.org/drawingml/2006/main" r:embed="Rafdb5601c84e4a25"/>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69D15B12-A913-4A87-93D7-18BCA3BCC357}"/>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332FE9FB-2C38-4111-BBC2-3C0507E0767B}"/>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Secrets melalui File Lokal</a:t>
            </a:r>
            <a:endParaRPr sz="2200"/>
          </a:p>
        </p:txBody>
      </p:sp>
      <p:sp>
        <p:nvSpPr>
          <p:cNvPr id="9" name="Text 5">
            <a:extLst xmlns:a="http://schemas.openxmlformats.org/drawingml/2006/main">
              <a:ext uri="{FF2B5EF4-FFF2-40B4-BE49-F238E27FC236}">
                <a16:creationId xmlns:a16="http://schemas.microsoft.com/office/drawing/2014/main" id="{3CB5C464-74F4-48B4-9862-7A0F38D23C89}"/>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File secret lokal dan perlindungan kredensial</a:t>
            </a:r>
            <a:endParaRPr sz="1200"/>
          </a:p>
        </p:txBody>
      </p:sp>
      <p:sp>
        <p:nvSpPr>
          <p:cNvPr id="10" name="Shape 6">
            <a:extLst xmlns:a="http://schemas.openxmlformats.org/drawingml/2006/main">
              <a:ext uri="{FF2B5EF4-FFF2-40B4-BE49-F238E27FC236}">
                <a16:creationId xmlns:a16="http://schemas.microsoft.com/office/drawing/2014/main" id="{C848ED0C-0869-4F72-B459-E7E30E213130}"/>
              </a:ext>
            </a:extLst>
          </p:cNvPr>
          <p:cNvSpPr>
            <a:spLocks xmlns:a="http://schemas.openxmlformats.org/drawingml/2006/main" noGrp="1"/>
          </p:cNvSpPr>
          <p:nvPr/>
        </p:nvSpPr>
        <p:spPr>
          <a:xfrm xmlns:a="http://schemas.openxmlformats.org/drawingml/2006/main">
            <a:off x="457200" y="1417320"/>
            <a:ext cx="11247120" cy="914400"/>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pic>
        <p:nvPicPr>
          <p:cNvPr id="41" name="Image 2">
            <a:extLst xmlns:a="http://schemas.openxmlformats.org/drawingml/2006/main">
              <a:ext uri="{FF2B5EF4-FFF2-40B4-BE49-F238E27FC236}">
                <a16:creationId xmlns:a16="http://schemas.microsoft.com/office/drawing/2014/main" id="{740B6754-6658-494A-9EED-0B80D39D166C}"/>
              </a:ext>
            </a:extLst>
          </p:cNvPr>
          <p:cNvPicPr>
            <a:picLocks xmlns:a="http://schemas.openxmlformats.org/drawingml/2006/main" noChangeAspect="1"/>
          </p:cNvPicPr>
          <p:nvPr/>
        </p:nvPicPr>
        <p:blipFill>
          <a:blip xmlns:r="http://schemas.openxmlformats.org/officeDocument/2006/relationships" xmlns:a="http://schemas.openxmlformats.org/drawingml/2006/main" r:embed="R9f6d277782ab4bc4"/>
          <a:stretch xmlns:a="http://schemas.openxmlformats.org/drawingml/2006/main">
            <a:fillRect l="0" t="0" r="0" b="0"/>
          </a:stretch>
        </p:blipFill>
        <p:spPr>
          <a:xfrm xmlns:a="http://schemas.openxmlformats.org/drawingml/2006/main">
            <a:off x="777240" y="1600200"/>
            <a:ext cx="548640" cy="54864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BECD806E-0CCF-4981-B961-216CFC9E1BA6}"/>
              </a:ext>
            </a:extLst>
          </p:cNvPr>
          <p:cNvSpPr>
            <a:spLocks xmlns:a="http://schemas.openxmlformats.org/drawingml/2006/main" noGrp="1"/>
          </p:cNvSpPr>
          <p:nvPr/>
        </p:nvSpPr>
        <p:spPr>
          <a:xfrm xmlns:a="http://schemas.openxmlformats.org/drawingml/2006/main">
            <a:off x="1508760" y="150876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BAHAYA: </a:t>
            </a:r>
            <a:endParaRPr sz="1400"/>
          </a:p>
        </p:txBody>
      </p:sp>
      <p:sp>
        <p:nvSpPr>
          <p:cNvPr id="13" name="Text 8">
            <a:extLst xmlns:a="http://schemas.openxmlformats.org/drawingml/2006/main">
              <a:ext uri="{FF2B5EF4-FFF2-40B4-BE49-F238E27FC236}">
                <a16:creationId xmlns:a16="http://schemas.microsoft.com/office/drawing/2014/main" id="{563BC832-D9E8-42E8-9E3B-D12CE0AACB9B}"/>
              </a:ext>
            </a:extLst>
          </p:cNvPr>
          <p:cNvSpPr>
            <a:spLocks xmlns:a="http://schemas.openxmlformats.org/drawingml/2006/main" noGrp="1"/>
          </p:cNvSpPr>
          <p:nvPr/>
        </p:nvSpPr>
        <p:spPr>
          <a:xfrm xmlns:a="http://schemas.openxmlformats.org/drawingml/2006/main">
            <a:off x="2743200" y="1508760"/>
            <a:ext cx="8778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nilai password di environment dapat terlihat melalui inspect/config. Batasi akses ke Docker dan file lokal.</a:t>
            </a:r>
            <a:endParaRPr sz="1300"/>
          </a:p>
        </p:txBody>
      </p:sp>
      <p:sp>
        <p:nvSpPr>
          <p:cNvPr id="14" name="Text 9">
            <a:extLst xmlns:a="http://schemas.openxmlformats.org/drawingml/2006/main">
              <a:ext uri="{FF2B5EF4-FFF2-40B4-BE49-F238E27FC236}">
                <a16:creationId xmlns:a16="http://schemas.microsoft.com/office/drawing/2014/main" id="{1E91ADE1-244A-4C61-B9C3-A58E84486108}"/>
              </a:ext>
            </a:extLst>
          </p:cNvPr>
          <p:cNvSpPr>
            <a:spLocks xmlns:a="http://schemas.openxmlformats.org/drawingml/2006/main" noGrp="1"/>
          </p:cNvSpPr>
          <p:nvPr/>
        </p:nvSpPr>
        <p:spPr>
          <a:xfrm xmlns:a="http://schemas.openxmlformats.org/drawingml/2006/main">
            <a:off x="1508760" y="18745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FFE0B2"/>
                </a:solidFill>
                <a:latin typeface="Calibri"/>
                <a:ea typeface="Calibri"/>
                <a:cs typeface="Calibri"/>
              </a:rPr>
              <a:t>Untuk production: pakai docker secrets (Swarm) atau external manager (Vault, AWS Secrets Manager).</a:t>
            </a:r>
            <a:endParaRPr sz="1100"/>
          </a:p>
        </p:txBody>
      </p:sp>
      <p:sp>
        <p:nvSpPr>
          <p:cNvPr id="15" name="Shape 10">
            <a:extLst xmlns:a="http://schemas.openxmlformats.org/drawingml/2006/main">
              <a:ext uri="{FF2B5EF4-FFF2-40B4-BE49-F238E27FC236}">
                <a16:creationId xmlns:a16="http://schemas.microsoft.com/office/drawing/2014/main" id="{8BBAB8AF-1C69-4659-91F4-2B395591A730}"/>
              </a:ext>
            </a:extLst>
          </p:cNvPr>
          <p:cNvSpPr>
            <a:spLocks xmlns:a="http://schemas.openxmlformats.org/drawingml/2006/main" noGrp="1"/>
          </p:cNvSpPr>
          <p:nvPr/>
        </p:nvSpPr>
        <p:spPr>
          <a:xfrm xmlns:a="http://schemas.openxmlformats.org/drawingml/2006/main">
            <a:off x="457200" y="2514600"/>
            <a:ext cx="5577840" cy="37490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16" name="Shape 11">
            <a:extLst xmlns:a="http://schemas.openxmlformats.org/drawingml/2006/main">
              <a:ext uri="{FF2B5EF4-FFF2-40B4-BE49-F238E27FC236}">
                <a16:creationId xmlns:a16="http://schemas.microsoft.com/office/drawing/2014/main" id="{AB45DD8C-3848-4F04-898D-5D7ACB71A698}"/>
              </a:ext>
            </a:extLst>
          </p:cNvPr>
          <p:cNvSpPr>
            <a:spLocks xmlns:a="http://schemas.openxmlformats.org/drawingml/2006/main" noGrp="1"/>
          </p:cNvSpPr>
          <p:nvPr/>
        </p:nvSpPr>
        <p:spPr>
          <a:xfrm xmlns:a="http://schemas.openxmlformats.org/drawingml/2006/main">
            <a:off x="457200" y="2514600"/>
            <a:ext cx="557784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17" name="Shape 12">
            <a:extLst xmlns:a="http://schemas.openxmlformats.org/drawingml/2006/main">
              <a:ext uri="{FF2B5EF4-FFF2-40B4-BE49-F238E27FC236}">
                <a16:creationId xmlns:a16="http://schemas.microsoft.com/office/drawing/2014/main" id="{D2A7D0C6-09D5-4A47-90E7-8C350756D2BB}"/>
              </a:ext>
            </a:extLst>
          </p:cNvPr>
          <p:cNvSpPr>
            <a:spLocks xmlns:a="http://schemas.openxmlformats.org/drawingml/2006/main" noGrp="1"/>
          </p:cNvSpPr>
          <p:nvPr/>
        </p:nvSpPr>
        <p:spPr>
          <a:xfrm xmlns:a="http://schemas.openxmlformats.org/drawingml/2006/main">
            <a:off x="548640" y="259689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8" name="Shape 13">
            <a:extLst xmlns:a="http://schemas.openxmlformats.org/drawingml/2006/main">
              <a:ext uri="{FF2B5EF4-FFF2-40B4-BE49-F238E27FC236}">
                <a16:creationId xmlns:a16="http://schemas.microsoft.com/office/drawing/2014/main" id="{61EF60AF-B4C3-4D49-B0EF-156D926D73B6}"/>
              </a:ext>
            </a:extLst>
          </p:cNvPr>
          <p:cNvSpPr>
            <a:spLocks xmlns:a="http://schemas.openxmlformats.org/drawingml/2006/main" noGrp="1"/>
          </p:cNvSpPr>
          <p:nvPr/>
        </p:nvSpPr>
        <p:spPr>
          <a:xfrm xmlns:a="http://schemas.openxmlformats.org/drawingml/2006/main">
            <a:off x="685800" y="259689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9" name="Shape 14">
            <a:extLst xmlns:a="http://schemas.openxmlformats.org/drawingml/2006/main">
              <a:ext uri="{FF2B5EF4-FFF2-40B4-BE49-F238E27FC236}">
                <a16:creationId xmlns:a16="http://schemas.microsoft.com/office/drawing/2014/main" id="{3C61DE61-13AF-4113-A100-064BF43FB7F7}"/>
              </a:ext>
            </a:extLst>
          </p:cNvPr>
          <p:cNvSpPr>
            <a:spLocks xmlns:a="http://schemas.openxmlformats.org/drawingml/2006/main" noGrp="1"/>
          </p:cNvSpPr>
          <p:nvPr/>
        </p:nvSpPr>
        <p:spPr>
          <a:xfrm xmlns:a="http://schemas.openxmlformats.org/drawingml/2006/main">
            <a:off x="822960" y="259689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0" name="Text 15">
            <a:extLst xmlns:a="http://schemas.openxmlformats.org/drawingml/2006/main">
              <a:ext uri="{FF2B5EF4-FFF2-40B4-BE49-F238E27FC236}">
                <a16:creationId xmlns:a16="http://schemas.microsoft.com/office/drawing/2014/main" id="{ECF2AD50-DA83-451B-B6C0-3245698713C7}"/>
              </a:ext>
            </a:extLst>
          </p:cNvPr>
          <p:cNvSpPr>
            <a:spLocks xmlns:a="http://schemas.openxmlformats.org/drawingml/2006/main" noGrp="1"/>
          </p:cNvSpPr>
          <p:nvPr/>
        </p:nvSpPr>
        <p:spPr>
          <a:xfrm xmlns:a="http://schemas.openxmlformats.org/drawingml/2006/main">
            <a:off x="1005840" y="2514600"/>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BAD - password di env</a:t>
            </a:r>
            <a:endParaRPr sz="900"/>
          </a:p>
        </p:txBody>
      </p:sp>
      <p:sp>
        <p:nvSpPr>
          <p:cNvPr id="21" name="Text 16">
            <a:extLst xmlns:a="http://schemas.openxmlformats.org/drawingml/2006/main">
              <a:ext uri="{FF2B5EF4-FFF2-40B4-BE49-F238E27FC236}">
                <a16:creationId xmlns:a16="http://schemas.microsoft.com/office/drawing/2014/main" id="{2DEC3498-D4AD-455D-8FCE-F24591C51818}"/>
              </a:ext>
            </a:extLst>
          </p:cNvPr>
          <p:cNvSpPr>
            <a:spLocks xmlns:a="http://schemas.openxmlformats.org/drawingml/2006/main" noGrp="1"/>
          </p:cNvSpPr>
          <p:nvPr/>
        </p:nvSpPr>
        <p:spPr>
          <a:xfrm xmlns:a="http://schemas.openxmlformats.org/drawingml/2006/main">
            <a:off x="594360" y="2880360"/>
            <a:ext cx="530352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postgres:15</a:t>
            </a:r>
            <a:endParaRPr sz="1100"/>
          </a:p>
          <a:p xmlns:a="http://schemas.openxmlformats.org/drawingml/2006/main">
            <a:pPr marL="0" indent="0">
              <a:spcAft>
                <a:spcPts val="200"/>
              </a:spcAft>
              <a:buNone/>
            </a:pPr>
            <a:r>
              <a:rPr sz="1100">
                <a:solidFill>
                  <a:srgbClr val="E2E8F0"/>
                </a:solidFill>
                <a:latin typeface="Consolas"/>
                <a:ea typeface="Consolas"/>
                <a:cs typeface="Consolas"/>
              </a:rPr>
              <a:t>    environment:</a:t>
            </a:r>
            <a:endParaRPr sz="1100"/>
          </a:p>
          <a:p xmlns:a="http://schemas.openxmlformats.org/drawingml/2006/main">
            <a:pPr marL="0" indent="0">
              <a:spcAft>
                <a:spcPts val="200"/>
              </a:spcAft>
              <a:buNone/>
            </a:pPr>
            <a:r>
              <a:rPr sz="1100" b="1">
                <a:solidFill>
                  <a:srgbClr val="EF4444"/>
                </a:solidFill>
                <a:latin typeface="Consolas"/>
                <a:ea typeface="Consolas"/>
                <a:cs typeface="Consolas"/>
              </a:rPr>
              <a:t>      POSTGRES_PASSWORD: my-secret-pw</a:t>
            </a:r>
            <a:endParaRPr sz="1100"/>
          </a:p>
          <a:p xmlns:a="http://schemas.openxmlformats.org/drawingml/2006/main">
            <a:pPr marL="0" indent="0">
              <a:spcAft>
                <a:spcPts val="200"/>
              </a:spcAft>
              <a:buNone/>
            </a:pPr>
            <a:r>
              <a:rPr sz="1100">
                <a:solidFill>
                  <a:srgbClr val="94A3B8"/>
                </a:solidFill>
                <a:latin typeface="Consolas"/>
                <a:ea typeface="Consolas"/>
                <a:cs typeface="Consolas"/>
              </a:rPr>
              <a:t>      # ^ visible di:</a:t>
            </a:r>
            <a:endParaRPr sz="1100"/>
          </a:p>
          <a:p xmlns:a="http://schemas.openxmlformats.org/drawingml/2006/main">
            <a:pPr marL="0" indent="0">
              <a:spcAft>
                <a:spcPts val="200"/>
              </a:spcAft>
              <a:buNone/>
            </a:pPr>
            <a:r>
              <a:rPr sz="1100">
                <a:solidFill>
                  <a:srgbClr val="94A3B8"/>
                </a:solidFill>
                <a:latin typeface="Consolas"/>
                <a:ea typeface="Consolas"/>
                <a:cs typeface="Consolas"/>
              </a:rPr>
              <a:t>      # - docker inspect</a:t>
            </a:r>
            <a:endParaRPr sz="1100"/>
          </a:p>
          <a:p xmlns:a="http://schemas.openxmlformats.org/drawingml/2006/main">
            <a:pPr marL="0" indent="0">
              <a:spcAft>
                <a:spcPts val="200"/>
              </a:spcAft>
              <a:buNone/>
            </a:pPr>
            <a:r>
              <a:rPr sz="1100">
                <a:solidFill>
                  <a:srgbClr val="94A3B8"/>
                </a:solidFill>
                <a:latin typeface="Consolas"/>
                <a:ea typeface="Consolas"/>
                <a:cs typeface="Consolas"/>
              </a:rPr>
              <a:t>      # - docker compose config</a:t>
            </a:r>
            <a:endParaRPr sz="1100"/>
          </a:p>
          <a:p xmlns:a="http://schemas.openxmlformats.org/drawingml/2006/main">
            <a:pPr marL="0" indent="0">
              <a:spcAft>
                <a:spcPts val="200"/>
              </a:spcAft>
              <a:buNone/>
            </a:pPr>
            <a:r>
              <a:rPr sz="1100">
                <a:solidFill>
                  <a:srgbClr val="94A3B8"/>
                </a:solidFill>
                <a:latin typeface="Consolas"/>
                <a:ea typeface="Consolas"/>
                <a:cs typeface="Consolas"/>
              </a:rPr>
              <a:t>      # - process listing /proc/</a:t>
            </a:r>
            <a:endParaRPr sz="1100"/>
          </a:p>
          <a:p xmlns:a="http://schemas.openxmlformats.org/drawingml/2006/main">
            <a:pPr marL="0" indent="0">
              <a:spcAft>
                <a:spcPts val="200"/>
              </a:spcAft>
              <a:buNone/>
            </a:pPr>
            <a:r>
              <a:rPr sz="1100">
                <a:solidFill>
                  <a:srgbClr val="94A3B8"/>
                </a:solidFill>
                <a:latin typeface="Consolas"/>
                <a:ea typeface="Consolas"/>
                <a:cs typeface="Consolas"/>
              </a:rPr>
              <a:t>      # - logs (kalau di-print)</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EF4444"/>
                </a:solidFill>
                <a:latin typeface="Consolas"/>
                <a:ea typeface="Consolas"/>
                <a:cs typeface="Consolas"/>
              </a:rPr>
              <a:t># Worse: commit compose.yml ke git!</a:t>
            </a:r>
            <a:endParaRPr sz="1100"/>
          </a:p>
          <a:p xmlns:a="http://schemas.openxmlformats.org/drawingml/2006/main">
            <a:pPr marL="0" indent="0">
              <a:spcAft>
                <a:spcPts val="200"/>
              </a:spcAft>
              <a:buNone/>
            </a:pPr>
            <a:r>
              <a:rPr sz="1100">
                <a:solidFill>
                  <a:srgbClr val="EF4444"/>
                </a:solidFill>
                <a:latin typeface="Consolas"/>
                <a:ea typeface="Consolas"/>
                <a:cs typeface="Consolas"/>
              </a:rPr>
              <a:t># Password jadi public selamanya.</a:t>
            </a:r>
            <a:endParaRPr sz="1100"/>
          </a:p>
        </p:txBody>
      </p:sp>
      <p:sp>
        <p:nvSpPr>
          <p:cNvPr id="22" name="Shape 17">
            <a:extLst xmlns:a="http://schemas.openxmlformats.org/drawingml/2006/main">
              <a:ext uri="{FF2B5EF4-FFF2-40B4-BE49-F238E27FC236}">
                <a16:creationId xmlns:a16="http://schemas.microsoft.com/office/drawing/2014/main" id="{77C33CC5-666C-43FC-B017-6D094EDCC402}"/>
              </a:ext>
            </a:extLst>
          </p:cNvPr>
          <p:cNvSpPr>
            <a:spLocks xmlns:a="http://schemas.openxmlformats.org/drawingml/2006/main" noGrp="1"/>
          </p:cNvSpPr>
          <p:nvPr/>
        </p:nvSpPr>
        <p:spPr>
          <a:xfrm xmlns:a="http://schemas.openxmlformats.org/drawingml/2006/main">
            <a:off x="6217920" y="2514600"/>
            <a:ext cx="5486400" cy="3749040"/>
          </a:xfrm>
          <a:prstGeom xmlns:a="http://schemas.openxmlformats.org/drawingml/2006/main" prst="rect">
            <a:avLst/>
          </a:prstGeom>
          <a:solidFill xmlns:a="http://schemas.openxmlformats.org/drawingml/2006/main">
            <a:srgbClr val="1E293B"/>
          </a:solidFill>
          <a:ln xmlns:a="http://schemas.openxmlformats.org/drawingml/2006/main" w="12700">
            <a:solidFill>
              <a:srgbClr val="0F172A"/>
            </a:solidFill>
            <a:prstDash val="solid"/>
          </a:ln>
        </p:spPr>
      </p:sp>
      <p:sp>
        <p:nvSpPr>
          <p:cNvPr id="23" name="Shape 18">
            <a:extLst xmlns:a="http://schemas.openxmlformats.org/drawingml/2006/main">
              <a:ext uri="{FF2B5EF4-FFF2-40B4-BE49-F238E27FC236}">
                <a16:creationId xmlns:a16="http://schemas.microsoft.com/office/drawing/2014/main" id="{1A86CD24-683B-43B7-B8DC-C0D14FC44DA5}"/>
              </a:ext>
            </a:extLst>
          </p:cNvPr>
          <p:cNvSpPr>
            <a:spLocks xmlns:a="http://schemas.openxmlformats.org/drawingml/2006/main" noGrp="1"/>
          </p:cNvSpPr>
          <p:nvPr/>
        </p:nvSpPr>
        <p:spPr>
          <a:xfrm xmlns:a="http://schemas.openxmlformats.org/drawingml/2006/main">
            <a:off x="6217920" y="2514600"/>
            <a:ext cx="5486400" cy="274320"/>
          </a:xfrm>
          <a:prstGeom xmlns:a="http://schemas.openxmlformats.org/drawingml/2006/main" prst="rect">
            <a:avLst/>
          </a:prstGeom>
          <a:solidFill xmlns:a="http://schemas.openxmlformats.org/drawingml/2006/main">
            <a:srgbClr val="0F172A"/>
          </a:solidFill>
          <a:ln xmlns:a="http://schemas.openxmlformats.org/drawingml/2006/main" w="12700">
            <a:solidFill>
              <a:srgbClr val="0F172A"/>
            </a:solidFill>
            <a:prstDash val="solid"/>
          </a:ln>
        </p:spPr>
      </p:sp>
      <p:sp>
        <p:nvSpPr>
          <p:cNvPr id="24" name="Shape 19">
            <a:extLst xmlns:a="http://schemas.openxmlformats.org/drawingml/2006/main">
              <a:ext uri="{FF2B5EF4-FFF2-40B4-BE49-F238E27FC236}">
                <a16:creationId xmlns:a16="http://schemas.microsoft.com/office/drawing/2014/main" id="{EA91EE80-205F-45A3-BC4C-37EB001E39DC}"/>
              </a:ext>
            </a:extLst>
          </p:cNvPr>
          <p:cNvSpPr>
            <a:spLocks xmlns:a="http://schemas.openxmlformats.org/drawingml/2006/main" noGrp="1"/>
          </p:cNvSpPr>
          <p:nvPr/>
        </p:nvSpPr>
        <p:spPr>
          <a:xfrm xmlns:a="http://schemas.openxmlformats.org/drawingml/2006/main">
            <a:off x="6309360" y="2596896"/>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25" name="Shape 20">
            <a:extLst xmlns:a="http://schemas.openxmlformats.org/drawingml/2006/main">
              <a:ext uri="{FF2B5EF4-FFF2-40B4-BE49-F238E27FC236}">
                <a16:creationId xmlns:a16="http://schemas.microsoft.com/office/drawing/2014/main" id="{0FE9380B-DD1B-451A-8596-2F8FF69814F1}"/>
              </a:ext>
            </a:extLst>
          </p:cNvPr>
          <p:cNvSpPr>
            <a:spLocks xmlns:a="http://schemas.openxmlformats.org/drawingml/2006/main" noGrp="1"/>
          </p:cNvSpPr>
          <p:nvPr/>
        </p:nvSpPr>
        <p:spPr>
          <a:xfrm xmlns:a="http://schemas.openxmlformats.org/drawingml/2006/main">
            <a:off x="6446520" y="2596896"/>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6" name="Shape 21">
            <a:extLst xmlns:a="http://schemas.openxmlformats.org/drawingml/2006/main">
              <a:ext uri="{FF2B5EF4-FFF2-40B4-BE49-F238E27FC236}">
                <a16:creationId xmlns:a16="http://schemas.microsoft.com/office/drawing/2014/main" id="{280CCC9F-8CE3-4682-8D5F-CA24554CB686}"/>
              </a:ext>
            </a:extLst>
          </p:cNvPr>
          <p:cNvSpPr>
            <a:spLocks xmlns:a="http://schemas.openxmlformats.org/drawingml/2006/main" noGrp="1"/>
          </p:cNvSpPr>
          <p:nvPr/>
        </p:nvSpPr>
        <p:spPr>
          <a:xfrm xmlns:a="http://schemas.openxmlformats.org/drawingml/2006/main">
            <a:off x="6583680" y="2596896"/>
            <a:ext cx="109728" cy="109728"/>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27" name="Text 22">
            <a:extLst xmlns:a="http://schemas.openxmlformats.org/drawingml/2006/main">
              <a:ext uri="{FF2B5EF4-FFF2-40B4-BE49-F238E27FC236}">
                <a16:creationId xmlns:a16="http://schemas.microsoft.com/office/drawing/2014/main" id="{FFB62F0A-5B29-4909-9C04-AAD2FB1F818F}"/>
              </a:ext>
            </a:extLst>
          </p:cNvPr>
          <p:cNvSpPr>
            <a:spLocks xmlns:a="http://schemas.openxmlformats.org/drawingml/2006/main" noGrp="1"/>
          </p:cNvSpPr>
          <p:nvPr/>
        </p:nvSpPr>
        <p:spPr>
          <a:xfrm xmlns:a="http://schemas.openxmlformats.org/drawingml/2006/main">
            <a:off x="6766560" y="251460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Consolas"/>
                <a:ea typeface="Consolas"/>
                <a:cs typeface="Consolas"/>
              </a:rPr>
              <a:t>GOOD - pakai secrets via file</a:t>
            </a:r>
            <a:endParaRPr sz="900"/>
          </a:p>
        </p:txBody>
      </p:sp>
      <p:sp>
        <p:nvSpPr>
          <p:cNvPr id="28" name="Text 23">
            <a:extLst xmlns:a="http://schemas.openxmlformats.org/drawingml/2006/main">
              <a:ext uri="{FF2B5EF4-FFF2-40B4-BE49-F238E27FC236}">
                <a16:creationId xmlns:a16="http://schemas.microsoft.com/office/drawing/2014/main" id="{2BFE4448-6D76-4569-A653-49EED19A8388}"/>
              </a:ext>
            </a:extLst>
          </p:cNvPr>
          <p:cNvSpPr>
            <a:spLocks xmlns:a="http://schemas.openxmlformats.org/drawingml/2006/main" noGrp="1"/>
          </p:cNvSpPr>
          <p:nvPr/>
        </p:nvSpPr>
        <p:spPr>
          <a:xfrm xmlns:a="http://schemas.openxmlformats.org/drawingml/2006/main">
            <a:off x="6355080" y="2880360"/>
            <a:ext cx="521208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200"/>
              </a:spcAft>
              <a:buNone/>
            </a:pPr>
            <a:r>
              <a:rPr sz="1100" b="1">
                <a:solidFill>
                  <a:srgbClr val="F37021"/>
                </a:solidFill>
                <a:latin typeface="Consolas"/>
                <a:ea typeface="Consolas"/>
                <a:cs typeface="Consolas"/>
              </a:rPr>
              <a:t>services:</a:t>
            </a:r>
            <a:endParaRPr sz="1100"/>
          </a:p>
          <a:p xmlns:a="http://schemas.openxmlformats.org/drawingml/2006/main">
            <a:pPr marL="0" indent="0">
              <a:spcAft>
                <a:spcPts val="200"/>
              </a:spcAft>
              <a:buNone/>
            </a:pPr>
            <a:r>
              <a:rPr sz="1100" b="1">
                <a:solidFill>
                  <a:srgbClr val="60A5FA"/>
                </a:solidFill>
                <a:latin typeface="Consolas"/>
                <a:ea typeface="Consolas"/>
                <a:cs typeface="Consolas"/>
              </a:rPr>
              <a:t>  db:</a:t>
            </a:r>
            <a:endParaRPr sz="1100"/>
          </a:p>
          <a:p xmlns:a="http://schemas.openxmlformats.org/drawingml/2006/main">
            <a:pPr marL="0" indent="0">
              <a:spcAft>
                <a:spcPts val="200"/>
              </a:spcAft>
              <a:buNone/>
            </a:pPr>
            <a:r>
              <a:rPr sz="1100">
                <a:solidFill>
                  <a:srgbClr val="E2E8F0"/>
                </a:solidFill>
                <a:latin typeface="Consolas"/>
                <a:ea typeface="Consolas"/>
                <a:cs typeface="Consolas"/>
              </a:rPr>
              <a:t>    image: postgres:15</a:t>
            </a:r>
            <a:endParaRPr sz="1100"/>
          </a:p>
          <a:p xmlns:a="http://schemas.openxmlformats.org/drawingml/2006/main">
            <a:pPr marL="0" indent="0">
              <a:spcAft>
                <a:spcPts val="200"/>
              </a:spcAft>
              <a:buNone/>
            </a:pPr>
            <a:r>
              <a:rPr sz="1100">
                <a:solidFill>
                  <a:srgbClr val="E2E8F0"/>
                </a:solidFill>
                <a:latin typeface="Consolas"/>
                <a:ea typeface="Consolas"/>
                <a:cs typeface="Consolas"/>
              </a:rPr>
              <a:t>    environment:</a:t>
            </a:r>
            <a:endParaRPr sz="1100"/>
          </a:p>
          <a:p xmlns:a="http://schemas.openxmlformats.org/drawingml/2006/main">
            <a:pPr marL="0" indent="0">
              <a:spcAft>
                <a:spcPts val="200"/>
              </a:spcAft>
              <a:buNone/>
            </a:pPr>
            <a:r>
              <a:rPr sz="1100" b="1">
                <a:solidFill>
                  <a:srgbClr val="10B981"/>
                </a:solidFill>
                <a:latin typeface="Consolas"/>
                <a:ea typeface="Consolas"/>
                <a:cs typeface="Consolas"/>
              </a:rPr>
              <a:t>      POSTGRES_PASSWORD_FILE: /run/secrets/db_pw</a:t>
            </a:r>
            <a:endParaRPr sz="1100"/>
          </a:p>
          <a:p xmlns:a="http://schemas.openxmlformats.org/drawingml/2006/main">
            <a:pPr marL="0" indent="0">
              <a:spcAft>
                <a:spcPts val="200"/>
              </a:spcAft>
              <a:buNone/>
            </a:pPr>
            <a:r>
              <a:rPr sz="1100" b="1">
                <a:solidFill>
                  <a:srgbClr val="10B981"/>
                </a:solidFill>
                <a:latin typeface="Consolas"/>
                <a:ea typeface="Consolas"/>
                <a:cs typeface="Consolas"/>
              </a:rPr>
              <a:t>    secrets: [db_pw]</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b="1">
                <a:solidFill>
                  <a:srgbClr val="F37021"/>
                </a:solidFill>
                <a:latin typeface="Consolas"/>
                <a:ea typeface="Consolas"/>
                <a:cs typeface="Consolas"/>
              </a:rPr>
              <a:t>secrets:</a:t>
            </a:r>
            <a:endParaRPr sz="1100"/>
          </a:p>
          <a:p xmlns:a="http://schemas.openxmlformats.org/drawingml/2006/main">
            <a:pPr marL="0" indent="0">
              <a:spcAft>
                <a:spcPts val="200"/>
              </a:spcAft>
              <a:buNone/>
            </a:pPr>
            <a:r>
              <a:rPr sz="1100">
                <a:solidFill>
                  <a:srgbClr val="60A5FA"/>
                </a:solidFill>
                <a:latin typeface="Consolas"/>
                <a:ea typeface="Consolas"/>
                <a:cs typeface="Consolas"/>
              </a:rPr>
              <a:t>  db_pw:</a:t>
            </a:r>
            <a:endParaRPr sz="1100"/>
          </a:p>
          <a:p xmlns:a="http://schemas.openxmlformats.org/drawingml/2006/main">
            <a:pPr marL="0" indent="0">
              <a:spcAft>
                <a:spcPts val="200"/>
              </a:spcAft>
              <a:buNone/>
            </a:pPr>
            <a:r>
              <a:rPr sz="1100">
                <a:solidFill>
                  <a:srgbClr val="10B981"/>
                </a:solidFill>
                <a:latin typeface="Consolas"/>
                <a:ea typeface="Consolas"/>
                <a:cs typeface="Consolas"/>
              </a:rPr>
              <a:t>    file: ./secrets/db_password.txt</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.gitignore harus include:</a:t>
            </a:r>
            <a:endParaRPr sz="1100"/>
          </a:p>
          <a:p xmlns:a="http://schemas.openxmlformats.org/drawingml/2006/main">
            <a:pPr marL="0" indent="0">
              <a:spcAft>
                <a:spcPts val="200"/>
              </a:spcAft>
              <a:buNone/>
            </a:pPr>
            <a:r>
              <a:rPr sz="1100">
                <a:solidFill>
                  <a:srgbClr val="10B981"/>
                </a:solidFill>
                <a:latin typeface="Consolas"/>
                <a:ea typeface="Consolas"/>
                <a:cs typeface="Consolas"/>
              </a:rPr>
              <a:t>secrets/</a:t>
            </a:r>
            <a:endParaRPr sz="1100"/>
          </a:p>
          <a:p xmlns:a="http://schemas.openxmlformats.org/drawingml/2006/main">
            <a:pPr marL="0" indent="0">
              <a:spcAft>
                <a:spcPts val="200"/>
              </a:spcAft>
              <a:buNone/>
            </a:pPr>
            <a:r>
              <a:rPr sz="1100">
                <a:solidFill>
                  <a:srgbClr val="10B981"/>
                </a:solidFill>
                <a:latin typeface="Consolas"/>
                <a:ea typeface="Consolas"/>
                <a:cs typeface="Consolas"/>
              </a:rPr>
              <a:t>*.env</a:t>
            </a:r>
            <a:endParaRPr sz="1100"/>
          </a:p>
          <a:p xmlns:a="http://schemas.openxmlformats.org/drawingml/2006/main">
            <a:pPr marL="0" indent="0">
              <a:spcAft>
                <a:spcPts val="200"/>
              </a:spcAft>
              <a:buNone/>
            </a:pPr>
            <a:endParaRPr sz="1100"/>
          </a:p>
          <a:p xmlns:a="http://schemas.openxmlformats.org/drawingml/2006/main">
            <a:pPr marL="0" indent="0">
              <a:spcAft>
                <a:spcPts val="200"/>
              </a:spcAft>
              <a:buNone/>
            </a:pPr>
            <a:r>
              <a:rPr sz="1100">
                <a:solidFill>
                  <a:srgbClr val="94A3B8"/>
                </a:solidFill>
                <a:latin typeface="Consolas"/>
                <a:ea typeface="Consolas"/>
                <a:cs typeface="Consolas"/>
              </a:rPr>
              <a:t># Mount file ke /run/secrets/db_pw</a:t>
            </a:r>
            <a:endParaRPr sz="1100"/>
          </a:p>
          <a:p xmlns:a="http://schemas.openxmlformats.org/drawingml/2006/main">
            <a:pPr marL="0" indent="0">
              <a:spcAft>
                <a:spcPts val="200"/>
              </a:spcAft>
              <a:buNone/>
            </a:pPr>
            <a:r>
              <a:rPr sz="1100">
                <a:solidFill>
                  <a:srgbClr val="94A3B8"/>
                </a:solidFill>
                <a:latin typeface="Consolas"/>
                <a:ea typeface="Consolas"/>
                <a:cs typeface="Consolas"/>
              </a:rPr>
              <a:t># File tetap sensitif, lindungi aksesnya.</a:t>
            </a:r>
          </a:p>
        </p:txBody>
      </p:sp>
    </p:spTree>
    <p:extLst>
      <p:ext uri="{BB962C8B-B14F-4D97-AF65-F5344CB8AC3E}">
        <p14:creationId xmlns:p14="http://schemas.microsoft.com/office/powerpoint/2010/main" val="145323603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46F35EC-18EF-45FC-9261-06616553FD1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71936E11-1ECE-4E44-80E0-37388096BEDE}"/>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29</a:t>
            </a:r>
            <a:endParaRPr sz="900"/>
          </a:p>
        </p:txBody>
      </p:sp>
      <p:sp>
        <p:nvSpPr>
          <p:cNvPr id="4" name="Shape 2">
            <a:extLst xmlns:a="http://schemas.openxmlformats.org/drawingml/2006/main">
              <a:ext uri="{FF2B5EF4-FFF2-40B4-BE49-F238E27FC236}">
                <a16:creationId xmlns:a16="http://schemas.microsoft.com/office/drawing/2014/main" id="{7BF7E8BF-2A8B-423C-9112-C55EC46A35B7}"/>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1" name="Image 0">
            <a:extLst xmlns:a="http://schemas.openxmlformats.org/drawingml/2006/main">
              <a:ext uri="{FF2B5EF4-FFF2-40B4-BE49-F238E27FC236}">
                <a16:creationId xmlns:a16="http://schemas.microsoft.com/office/drawing/2014/main" id="{7A1077D5-1562-45F5-9352-8A31879C4FBD}"/>
              </a:ext>
            </a:extLst>
          </p:cNvPr>
          <p:cNvPicPr>
            <a:picLocks xmlns:a="http://schemas.openxmlformats.org/drawingml/2006/main" noChangeAspect="1"/>
          </p:cNvPicPr>
          <p:nvPr/>
        </p:nvPicPr>
        <p:blipFill>
          <a:blip xmlns:r="http://schemas.openxmlformats.org/officeDocument/2006/relationships" xmlns:a="http://schemas.openxmlformats.org/drawingml/2006/main" r:embed="R3246c430318d4387"/>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2" name="Image 1">
            <a:extLst xmlns:a="http://schemas.openxmlformats.org/drawingml/2006/main">
              <a:ext uri="{FF2B5EF4-FFF2-40B4-BE49-F238E27FC236}">
                <a16:creationId xmlns:a16="http://schemas.microsoft.com/office/drawing/2014/main" id="{0B5F8AA3-A4A4-4740-A9EB-DEC9F66A2B7F}"/>
              </a:ext>
            </a:extLst>
          </p:cNvPr>
          <p:cNvPicPr>
            <a:picLocks xmlns:a="http://schemas.openxmlformats.org/drawingml/2006/main" noChangeAspect="1"/>
          </p:cNvPicPr>
          <p:nvPr/>
        </p:nvPicPr>
        <p:blipFill>
          <a:blip xmlns:r="http://schemas.openxmlformats.org/officeDocument/2006/relationships" xmlns:a="http://schemas.openxmlformats.org/drawingml/2006/main" r:embed="R5ab55fafc7764d8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CD3602EA-FE51-42B5-9916-5FC28C00BA26}"/>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BBF7D8B5-AFF6-4F6F-A094-89A5CB1F05F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Common Pitfalls + Troubleshooting</a:t>
            </a:r>
            <a:endParaRPr sz="2200"/>
          </a:p>
        </p:txBody>
      </p:sp>
      <p:sp>
        <p:nvSpPr>
          <p:cNvPr id="9" name="Text 5">
            <a:extLst xmlns:a="http://schemas.openxmlformats.org/drawingml/2006/main">
              <a:ext uri="{FF2B5EF4-FFF2-40B4-BE49-F238E27FC236}">
                <a16:creationId xmlns:a16="http://schemas.microsoft.com/office/drawing/2014/main" id="{4A2B5862-E7EE-464B-A10F-38884E0A7313}"/>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Masalah yang akan Anda temui - dan cara fix-nya</a:t>
            </a:r>
            <a:endParaRPr sz="1200"/>
          </a:p>
        </p:txBody>
      </p:sp>
      <p:sp>
        <p:nvSpPr>
          <p:cNvPr id="10" name="Shape 6">
            <a:extLst xmlns:a="http://schemas.openxmlformats.org/drawingml/2006/main">
              <a:ext uri="{FF2B5EF4-FFF2-40B4-BE49-F238E27FC236}">
                <a16:creationId xmlns:a16="http://schemas.microsoft.com/office/drawing/2014/main" id="{25D93C67-F01F-4060-98BA-E930854288FC}"/>
              </a:ext>
            </a:extLst>
          </p:cNvPr>
          <p:cNvSpPr>
            <a:spLocks xmlns:a="http://schemas.openxmlformats.org/drawingml/2006/main" noGrp="1"/>
          </p:cNvSpPr>
          <p:nvPr/>
        </p:nvSpPr>
        <p:spPr>
          <a:xfrm xmlns:a="http://schemas.openxmlformats.org/drawingml/2006/main">
            <a:off x="457200" y="1417320"/>
            <a:ext cx="3703320" cy="22402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EB9F6C99-8C3F-47F6-8563-A2B49E7CBB45}"/>
              </a:ext>
            </a:extLst>
          </p:cNvPr>
          <p:cNvSpPr>
            <a:spLocks xmlns:a="http://schemas.openxmlformats.org/drawingml/2006/main" noGrp="1"/>
          </p:cNvSpPr>
          <p:nvPr/>
        </p:nvSpPr>
        <p:spPr>
          <a:xfrm xmlns:a="http://schemas.openxmlformats.org/drawingml/2006/main">
            <a:off x="457200" y="1417320"/>
            <a:ext cx="3703320" cy="457200"/>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sp>
        <p:nvSpPr>
          <p:cNvPr id="12" name="Text 8">
            <a:extLst xmlns:a="http://schemas.openxmlformats.org/drawingml/2006/main">
              <a:ext uri="{FF2B5EF4-FFF2-40B4-BE49-F238E27FC236}">
                <a16:creationId xmlns:a16="http://schemas.microsoft.com/office/drawing/2014/main" id="{8F77FD3E-ACF1-474C-ACBB-3BBC939BF602}"/>
              </a:ext>
            </a:extLst>
          </p:cNvPr>
          <p:cNvSpPr>
            <a:spLocks xmlns:a="http://schemas.openxmlformats.org/drawingml/2006/main" noGrp="1"/>
          </p:cNvSpPr>
          <p:nvPr/>
        </p:nvSpPr>
        <p:spPr>
          <a:xfrm xmlns:a="http://schemas.openxmlformats.org/drawingml/2006/main">
            <a:off x="594360" y="1417320"/>
            <a:ext cx="3429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ECONNREFUSED to db</a:t>
            </a:r>
            <a:endParaRPr sz="1200"/>
          </a:p>
        </p:txBody>
      </p:sp>
      <p:sp>
        <p:nvSpPr>
          <p:cNvPr id="13" name="Text 9">
            <a:extLst xmlns:a="http://schemas.openxmlformats.org/drawingml/2006/main">
              <a:ext uri="{FF2B5EF4-FFF2-40B4-BE49-F238E27FC236}">
                <a16:creationId xmlns:a16="http://schemas.microsoft.com/office/drawing/2014/main" id="{CB46A4C7-20FB-4B4B-9E81-F0635D5F646F}"/>
              </a:ext>
            </a:extLst>
          </p:cNvPr>
          <p:cNvSpPr>
            <a:spLocks xmlns:a="http://schemas.openxmlformats.org/drawingml/2006/main" noGrp="1"/>
          </p:cNvSpPr>
          <p:nvPr/>
        </p:nvSpPr>
        <p:spPr>
          <a:xfrm xmlns:a="http://schemas.openxmlformats.org/drawingml/2006/main">
            <a:off x="640080" y="1965960"/>
            <a:ext cx="333756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API start sebelum DB siap. Race condition.</a:t>
            </a:r>
            <a:endParaRPr sz="1050"/>
          </a:p>
        </p:txBody>
      </p:sp>
      <p:sp>
        <p:nvSpPr>
          <p:cNvPr id="14" name="Shape 10">
            <a:extLst xmlns:a="http://schemas.openxmlformats.org/drawingml/2006/main">
              <a:ext uri="{FF2B5EF4-FFF2-40B4-BE49-F238E27FC236}">
                <a16:creationId xmlns:a16="http://schemas.microsoft.com/office/drawing/2014/main" id="{51628CEC-40F1-497B-ACC7-3C26E44EED44}"/>
              </a:ext>
            </a:extLst>
          </p:cNvPr>
          <p:cNvSpPr>
            <a:spLocks xmlns:a="http://schemas.openxmlformats.org/drawingml/2006/main" noGrp="1"/>
          </p:cNvSpPr>
          <p:nvPr/>
        </p:nvSpPr>
        <p:spPr>
          <a:xfrm xmlns:a="http://schemas.openxmlformats.org/drawingml/2006/main">
            <a:off x="640080" y="2880360"/>
            <a:ext cx="3337560" cy="685800"/>
          </a:xfrm>
          <a:prstGeom xmlns:a="http://schemas.openxmlformats.org/drawingml/2006/main" prst="rect">
            <a:avLst/>
          </a:prstGeom>
          <a:solidFill xmlns:a="http://schemas.openxmlformats.org/drawingml/2006/main">
            <a:srgbClr val="DCFCE7"/>
          </a:solidFill>
          <a:ln xmlns:a="http://schemas.openxmlformats.org/drawingml/2006/main" w="12700">
            <a:solidFill>
              <a:srgbClr val="059669"/>
            </a:solidFill>
            <a:prstDash val="solid"/>
          </a:ln>
        </p:spPr>
      </p:sp>
      <p:sp>
        <p:nvSpPr>
          <p:cNvPr id="15" name="Text 11">
            <a:extLst xmlns:a="http://schemas.openxmlformats.org/drawingml/2006/main">
              <a:ext uri="{FF2B5EF4-FFF2-40B4-BE49-F238E27FC236}">
                <a16:creationId xmlns:a16="http://schemas.microsoft.com/office/drawing/2014/main" id="{B6F62BCC-2D72-4D07-9354-64719515B38F}"/>
              </a:ext>
            </a:extLst>
          </p:cNvPr>
          <p:cNvSpPr>
            <a:spLocks xmlns:a="http://schemas.openxmlformats.org/drawingml/2006/main" noGrp="1"/>
          </p:cNvSpPr>
          <p:nvPr/>
        </p:nvSpPr>
        <p:spPr>
          <a:xfrm xmlns:a="http://schemas.openxmlformats.org/drawingml/2006/main">
            <a:off x="731520" y="2926080"/>
            <a:ext cx="31546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FIX: </a:t>
            </a:r>
            <a:r>
              <a:rPr sz="1000">
                <a:solidFill>
                  <a:srgbClr val="1E293B"/>
                </a:solidFill>
                <a:latin typeface="Calibri"/>
                <a:ea typeface="Calibri"/>
                <a:cs typeface="Calibri"/>
              </a:rPr>
              <a:t>Pakai healthcheck + depends_on: condition: service_healthy</a:t>
            </a:r>
            <a:endParaRPr sz="1000"/>
          </a:p>
        </p:txBody>
      </p:sp>
      <p:sp>
        <p:nvSpPr>
          <p:cNvPr id="16" name="Shape 12">
            <a:extLst xmlns:a="http://schemas.openxmlformats.org/drawingml/2006/main">
              <a:ext uri="{FF2B5EF4-FFF2-40B4-BE49-F238E27FC236}">
                <a16:creationId xmlns:a16="http://schemas.microsoft.com/office/drawing/2014/main" id="{55724495-C1BF-41E6-A4C6-47DAF9C032C7}"/>
              </a:ext>
            </a:extLst>
          </p:cNvPr>
          <p:cNvSpPr>
            <a:spLocks xmlns:a="http://schemas.openxmlformats.org/drawingml/2006/main" noGrp="1"/>
          </p:cNvSpPr>
          <p:nvPr/>
        </p:nvSpPr>
        <p:spPr>
          <a:xfrm xmlns:a="http://schemas.openxmlformats.org/drawingml/2006/main">
            <a:off x="4297680" y="1417320"/>
            <a:ext cx="3703320" cy="22402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7" name="Shape 13">
            <a:extLst xmlns:a="http://schemas.openxmlformats.org/drawingml/2006/main">
              <a:ext uri="{FF2B5EF4-FFF2-40B4-BE49-F238E27FC236}">
                <a16:creationId xmlns:a16="http://schemas.microsoft.com/office/drawing/2014/main" id="{D75994EA-9395-4C2E-B28E-C727A34C45E7}"/>
              </a:ext>
            </a:extLst>
          </p:cNvPr>
          <p:cNvSpPr>
            <a:spLocks xmlns:a="http://schemas.openxmlformats.org/drawingml/2006/main" noGrp="1"/>
          </p:cNvSpPr>
          <p:nvPr/>
        </p:nvSpPr>
        <p:spPr>
          <a:xfrm xmlns:a="http://schemas.openxmlformats.org/drawingml/2006/main">
            <a:off x="4297680" y="1417320"/>
            <a:ext cx="3703320" cy="457200"/>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sp>
        <p:nvSpPr>
          <p:cNvPr id="18" name="Text 14">
            <a:extLst xmlns:a="http://schemas.openxmlformats.org/drawingml/2006/main">
              <a:ext uri="{FF2B5EF4-FFF2-40B4-BE49-F238E27FC236}">
                <a16:creationId xmlns:a16="http://schemas.microsoft.com/office/drawing/2014/main" id="{D6AE0092-B8DF-435B-AD6D-0EC59258A4BA}"/>
              </a:ext>
            </a:extLst>
          </p:cNvPr>
          <p:cNvSpPr>
            <a:spLocks xmlns:a="http://schemas.openxmlformats.org/drawingml/2006/main" noGrp="1"/>
          </p:cNvSpPr>
          <p:nvPr/>
        </p:nvSpPr>
        <p:spPr>
          <a:xfrm xmlns:a="http://schemas.openxmlformats.org/drawingml/2006/main">
            <a:off x="4434840" y="1417320"/>
            <a:ext cx="3429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Volume data hilang</a:t>
            </a:r>
            <a:endParaRPr sz="1200"/>
          </a:p>
        </p:txBody>
      </p:sp>
      <p:sp>
        <p:nvSpPr>
          <p:cNvPr id="19" name="Text 15">
            <a:extLst xmlns:a="http://schemas.openxmlformats.org/drawingml/2006/main">
              <a:ext uri="{FF2B5EF4-FFF2-40B4-BE49-F238E27FC236}">
                <a16:creationId xmlns:a16="http://schemas.microsoft.com/office/drawing/2014/main" id="{FAB60830-0820-46BF-ACC0-83F68B7EE6C0}"/>
              </a:ext>
            </a:extLst>
          </p:cNvPr>
          <p:cNvSpPr>
            <a:spLocks xmlns:a="http://schemas.openxmlformats.org/drawingml/2006/main" noGrp="1"/>
          </p:cNvSpPr>
          <p:nvPr/>
        </p:nvSpPr>
        <p:spPr>
          <a:xfrm xmlns:a="http://schemas.openxmlformats.org/drawingml/2006/main">
            <a:off x="4480560" y="1965960"/>
            <a:ext cx="333756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compose down -v auto-hapus volume - intentional tapi sering kelolosan.</a:t>
            </a:r>
            <a:endParaRPr sz="1050"/>
          </a:p>
        </p:txBody>
      </p:sp>
      <p:sp>
        <p:nvSpPr>
          <p:cNvPr id="20" name="Shape 16">
            <a:extLst xmlns:a="http://schemas.openxmlformats.org/drawingml/2006/main">
              <a:ext uri="{FF2B5EF4-FFF2-40B4-BE49-F238E27FC236}">
                <a16:creationId xmlns:a16="http://schemas.microsoft.com/office/drawing/2014/main" id="{DB94AE2B-4BB4-4233-98E4-D3A955A258C1}"/>
              </a:ext>
            </a:extLst>
          </p:cNvPr>
          <p:cNvSpPr>
            <a:spLocks xmlns:a="http://schemas.openxmlformats.org/drawingml/2006/main" noGrp="1"/>
          </p:cNvSpPr>
          <p:nvPr/>
        </p:nvSpPr>
        <p:spPr>
          <a:xfrm xmlns:a="http://schemas.openxmlformats.org/drawingml/2006/main">
            <a:off x="4480560" y="2880360"/>
            <a:ext cx="3337560" cy="685800"/>
          </a:xfrm>
          <a:prstGeom xmlns:a="http://schemas.openxmlformats.org/drawingml/2006/main" prst="rect">
            <a:avLst/>
          </a:prstGeom>
          <a:solidFill xmlns:a="http://schemas.openxmlformats.org/drawingml/2006/main">
            <a:srgbClr val="DCFCE7"/>
          </a:solidFill>
          <a:ln xmlns:a="http://schemas.openxmlformats.org/drawingml/2006/main" w="12700">
            <a:solidFill>
              <a:srgbClr val="059669"/>
            </a:solidFill>
            <a:prstDash val="solid"/>
          </a:ln>
        </p:spPr>
      </p:sp>
      <p:sp>
        <p:nvSpPr>
          <p:cNvPr id="21" name="Text 17">
            <a:extLst xmlns:a="http://schemas.openxmlformats.org/drawingml/2006/main">
              <a:ext uri="{FF2B5EF4-FFF2-40B4-BE49-F238E27FC236}">
                <a16:creationId xmlns:a16="http://schemas.microsoft.com/office/drawing/2014/main" id="{93B66E65-6774-4440-B63B-01C4F91C4B92}"/>
              </a:ext>
            </a:extLst>
          </p:cNvPr>
          <p:cNvSpPr>
            <a:spLocks xmlns:a="http://schemas.openxmlformats.org/drawingml/2006/main" noGrp="1"/>
          </p:cNvSpPr>
          <p:nvPr/>
        </p:nvSpPr>
        <p:spPr>
          <a:xfrm xmlns:a="http://schemas.openxmlformats.org/drawingml/2006/main">
            <a:off x="4572000" y="2926080"/>
            <a:ext cx="31546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FIX: </a:t>
            </a:r>
            <a:r>
              <a:rPr sz="1000">
                <a:solidFill>
                  <a:srgbClr val="1E293B"/>
                </a:solidFill>
                <a:latin typeface="Calibri"/>
                <a:ea typeface="Calibri"/>
                <a:cs typeface="Calibri"/>
              </a:rPr>
              <a:t>Gunakan down tanpa -v. Uji backup dengan restore ke DB baru.</a:t>
            </a:r>
            <a:endParaRPr sz="1000"/>
          </a:p>
        </p:txBody>
      </p:sp>
      <p:sp>
        <p:nvSpPr>
          <p:cNvPr id="22" name="Shape 18">
            <a:extLst xmlns:a="http://schemas.openxmlformats.org/drawingml/2006/main">
              <a:ext uri="{FF2B5EF4-FFF2-40B4-BE49-F238E27FC236}">
                <a16:creationId xmlns:a16="http://schemas.microsoft.com/office/drawing/2014/main" id="{A0BA232F-CDAD-4B4B-A086-BF40A4E0CA06}"/>
              </a:ext>
            </a:extLst>
          </p:cNvPr>
          <p:cNvSpPr>
            <a:spLocks xmlns:a="http://schemas.openxmlformats.org/drawingml/2006/main" noGrp="1"/>
          </p:cNvSpPr>
          <p:nvPr/>
        </p:nvSpPr>
        <p:spPr>
          <a:xfrm xmlns:a="http://schemas.openxmlformats.org/drawingml/2006/main">
            <a:off x="8138160" y="1417320"/>
            <a:ext cx="3703320" cy="22402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E9981214-5304-4E60-9BEE-79AFFD0DEF8D}"/>
              </a:ext>
            </a:extLst>
          </p:cNvPr>
          <p:cNvSpPr>
            <a:spLocks xmlns:a="http://schemas.openxmlformats.org/drawingml/2006/main" noGrp="1"/>
          </p:cNvSpPr>
          <p:nvPr/>
        </p:nvSpPr>
        <p:spPr>
          <a:xfrm xmlns:a="http://schemas.openxmlformats.org/drawingml/2006/main">
            <a:off x="8138160" y="1417320"/>
            <a:ext cx="3703320" cy="457200"/>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sp>
        <p:nvSpPr>
          <p:cNvPr id="24" name="Text 20">
            <a:extLst xmlns:a="http://schemas.openxmlformats.org/drawingml/2006/main">
              <a:ext uri="{FF2B5EF4-FFF2-40B4-BE49-F238E27FC236}">
                <a16:creationId xmlns:a16="http://schemas.microsoft.com/office/drawing/2014/main" id="{21832AFC-76BE-405B-867A-FBF327B4C5CC}"/>
              </a:ext>
            </a:extLst>
          </p:cNvPr>
          <p:cNvSpPr>
            <a:spLocks xmlns:a="http://schemas.openxmlformats.org/drawingml/2006/main" noGrp="1"/>
          </p:cNvSpPr>
          <p:nvPr/>
        </p:nvSpPr>
        <p:spPr>
          <a:xfrm xmlns:a="http://schemas.openxmlformats.org/drawingml/2006/main">
            <a:off x="8275320" y="1417320"/>
            <a:ext cx="3429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Bind mount kosong</a:t>
            </a:r>
            <a:endParaRPr sz="1200"/>
          </a:p>
        </p:txBody>
      </p:sp>
      <p:sp>
        <p:nvSpPr>
          <p:cNvPr id="25" name="Text 21">
            <a:extLst xmlns:a="http://schemas.openxmlformats.org/drawingml/2006/main">
              <a:ext uri="{FF2B5EF4-FFF2-40B4-BE49-F238E27FC236}">
                <a16:creationId xmlns:a16="http://schemas.microsoft.com/office/drawing/2014/main" id="{A83F6E56-5FDD-4B52-A976-7E61046682D3}"/>
              </a:ext>
            </a:extLst>
          </p:cNvPr>
          <p:cNvSpPr>
            <a:spLocks xmlns:a="http://schemas.openxmlformats.org/drawingml/2006/main" noGrp="1"/>
          </p:cNvSpPr>
          <p:nvPr/>
        </p:nvSpPr>
        <p:spPr>
          <a:xfrm xmlns:a="http://schemas.openxmlformats.org/drawingml/2006/main">
            <a:off x="8321040" y="1965960"/>
            <a:ext cx="333756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Mount ./src ke /app overwrite isi /app dari image (node_modules hilang).</a:t>
            </a:r>
            <a:endParaRPr sz="1050"/>
          </a:p>
        </p:txBody>
      </p:sp>
      <p:sp>
        <p:nvSpPr>
          <p:cNvPr id="26" name="Shape 22">
            <a:extLst xmlns:a="http://schemas.openxmlformats.org/drawingml/2006/main">
              <a:ext uri="{FF2B5EF4-FFF2-40B4-BE49-F238E27FC236}">
                <a16:creationId xmlns:a16="http://schemas.microsoft.com/office/drawing/2014/main" id="{0A39033D-19D1-46E2-AD71-029645AD25E9}"/>
              </a:ext>
            </a:extLst>
          </p:cNvPr>
          <p:cNvSpPr>
            <a:spLocks xmlns:a="http://schemas.openxmlformats.org/drawingml/2006/main" noGrp="1"/>
          </p:cNvSpPr>
          <p:nvPr/>
        </p:nvSpPr>
        <p:spPr>
          <a:xfrm xmlns:a="http://schemas.openxmlformats.org/drawingml/2006/main">
            <a:off x="8321040" y="2880360"/>
            <a:ext cx="3337560" cy="685800"/>
          </a:xfrm>
          <a:prstGeom xmlns:a="http://schemas.openxmlformats.org/drawingml/2006/main" prst="rect">
            <a:avLst/>
          </a:prstGeom>
          <a:solidFill xmlns:a="http://schemas.openxmlformats.org/drawingml/2006/main">
            <a:srgbClr val="DCFCE7"/>
          </a:solidFill>
          <a:ln xmlns:a="http://schemas.openxmlformats.org/drawingml/2006/main" w="12700">
            <a:solidFill>
              <a:srgbClr val="059669"/>
            </a:solidFill>
            <a:prstDash val="solid"/>
          </a:ln>
        </p:spPr>
      </p:sp>
      <p:sp>
        <p:nvSpPr>
          <p:cNvPr id="27" name="Text 23">
            <a:extLst xmlns:a="http://schemas.openxmlformats.org/drawingml/2006/main">
              <a:ext uri="{FF2B5EF4-FFF2-40B4-BE49-F238E27FC236}">
                <a16:creationId xmlns:a16="http://schemas.microsoft.com/office/drawing/2014/main" id="{7A8131E7-779C-4E1F-8DF5-D217FADE7B82}"/>
              </a:ext>
            </a:extLst>
          </p:cNvPr>
          <p:cNvSpPr>
            <a:spLocks xmlns:a="http://schemas.openxmlformats.org/drawingml/2006/main" noGrp="1"/>
          </p:cNvSpPr>
          <p:nvPr/>
        </p:nvSpPr>
        <p:spPr>
          <a:xfrm xmlns:a="http://schemas.openxmlformats.org/drawingml/2006/main">
            <a:off x="8412480" y="2926080"/>
            <a:ext cx="31546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FIX: </a:t>
            </a:r>
            <a:r>
              <a:rPr sz="1000">
                <a:solidFill>
                  <a:srgbClr val="1E293B"/>
                </a:solidFill>
                <a:latin typeface="Calibri"/>
                <a:ea typeface="Calibri"/>
                <a:cs typeface="Calibri"/>
              </a:rPr>
              <a:t>Tambah anonymous volume: '- /app/node_modules'</a:t>
            </a:r>
            <a:endParaRPr sz="1000"/>
          </a:p>
        </p:txBody>
      </p:sp>
      <p:sp>
        <p:nvSpPr>
          <p:cNvPr id="28" name="Shape 24">
            <a:extLst xmlns:a="http://schemas.openxmlformats.org/drawingml/2006/main">
              <a:ext uri="{FF2B5EF4-FFF2-40B4-BE49-F238E27FC236}">
                <a16:creationId xmlns:a16="http://schemas.microsoft.com/office/drawing/2014/main" id="{69740837-9DC8-4957-831E-8A1346778286}"/>
              </a:ext>
            </a:extLst>
          </p:cNvPr>
          <p:cNvSpPr>
            <a:spLocks xmlns:a="http://schemas.openxmlformats.org/drawingml/2006/main" noGrp="1"/>
          </p:cNvSpPr>
          <p:nvPr/>
        </p:nvSpPr>
        <p:spPr>
          <a:xfrm xmlns:a="http://schemas.openxmlformats.org/drawingml/2006/main">
            <a:off x="457200" y="3794760"/>
            <a:ext cx="3703320" cy="22402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9" name="Shape 25">
            <a:extLst xmlns:a="http://schemas.openxmlformats.org/drawingml/2006/main">
              <a:ext uri="{FF2B5EF4-FFF2-40B4-BE49-F238E27FC236}">
                <a16:creationId xmlns:a16="http://schemas.microsoft.com/office/drawing/2014/main" id="{968151C8-0D11-4603-8911-56420B1E8E00}"/>
              </a:ext>
            </a:extLst>
          </p:cNvPr>
          <p:cNvSpPr>
            <a:spLocks xmlns:a="http://schemas.openxmlformats.org/drawingml/2006/main" noGrp="1"/>
          </p:cNvSpPr>
          <p:nvPr/>
        </p:nvSpPr>
        <p:spPr>
          <a:xfrm xmlns:a="http://schemas.openxmlformats.org/drawingml/2006/main">
            <a:off x="457200" y="3794760"/>
            <a:ext cx="3703320" cy="457200"/>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sp>
        <p:nvSpPr>
          <p:cNvPr id="30" name="Text 26">
            <a:extLst xmlns:a="http://schemas.openxmlformats.org/drawingml/2006/main">
              <a:ext uri="{FF2B5EF4-FFF2-40B4-BE49-F238E27FC236}">
                <a16:creationId xmlns:a16="http://schemas.microsoft.com/office/drawing/2014/main" id="{14D48334-6D96-4C5A-851E-F7367704A07B}"/>
              </a:ext>
            </a:extLst>
          </p:cNvPr>
          <p:cNvSpPr>
            <a:spLocks xmlns:a="http://schemas.openxmlformats.org/drawingml/2006/main" noGrp="1"/>
          </p:cNvSpPr>
          <p:nvPr/>
        </p:nvSpPr>
        <p:spPr>
          <a:xfrm xmlns:a="http://schemas.openxmlformats.org/drawingml/2006/main">
            <a:off x="594360" y="3794760"/>
            <a:ext cx="3429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Port already in use</a:t>
            </a:r>
            <a:endParaRPr sz="1200"/>
          </a:p>
        </p:txBody>
      </p:sp>
      <p:sp>
        <p:nvSpPr>
          <p:cNvPr id="31" name="Text 27">
            <a:extLst xmlns:a="http://schemas.openxmlformats.org/drawingml/2006/main">
              <a:ext uri="{FF2B5EF4-FFF2-40B4-BE49-F238E27FC236}">
                <a16:creationId xmlns:a16="http://schemas.microsoft.com/office/drawing/2014/main" id="{CD996094-D7AC-433E-B628-0A941E674706}"/>
              </a:ext>
            </a:extLst>
          </p:cNvPr>
          <p:cNvSpPr>
            <a:spLocks xmlns:a="http://schemas.openxmlformats.org/drawingml/2006/main" noGrp="1"/>
          </p:cNvSpPr>
          <p:nvPr/>
        </p:nvSpPr>
        <p:spPr>
          <a:xfrm xmlns:a="http://schemas.openxmlformats.org/drawingml/2006/main">
            <a:off x="640080" y="4343400"/>
            <a:ext cx="333756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Host port dipakai proses atau container lain.</a:t>
            </a:r>
            <a:endParaRPr sz="1050"/>
          </a:p>
        </p:txBody>
      </p:sp>
      <p:sp>
        <p:nvSpPr>
          <p:cNvPr id="32" name="Shape 28">
            <a:extLst xmlns:a="http://schemas.openxmlformats.org/drawingml/2006/main">
              <a:ext uri="{FF2B5EF4-FFF2-40B4-BE49-F238E27FC236}">
                <a16:creationId xmlns:a16="http://schemas.microsoft.com/office/drawing/2014/main" id="{16863746-AB5D-407A-A09D-77DD415DD8E4}"/>
              </a:ext>
            </a:extLst>
          </p:cNvPr>
          <p:cNvSpPr>
            <a:spLocks xmlns:a="http://schemas.openxmlformats.org/drawingml/2006/main" noGrp="1"/>
          </p:cNvSpPr>
          <p:nvPr/>
        </p:nvSpPr>
        <p:spPr>
          <a:xfrm xmlns:a="http://schemas.openxmlformats.org/drawingml/2006/main">
            <a:off x="640080" y="5257800"/>
            <a:ext cx="3337560" cy="685800"/>
          </a:xfrm>
          <a:prstGeom xmlns:a="http://schemas.openxmlformats.org/drawingml/2006/main" prst="rect">
            <a:avLst/>
          </a:prstGeom>
          <a:solidFill xmlns:a="http://schemas.openxmlformats.org/drawingml/2006/main">
            <a:srgbClr val="DCFCE7"/>
          </a:solidFill>
          <a:ln xmlns:a="http://schemas.openxmlformats.org/drawingml/2006/main" w="12700">
            <a:solidFill>
              <a:srgbClr val="059669"/>
            </a:solidFill>
            <a:prstDash val="solid"/>
          </a:ln>
        </p:spPr>
      </p:sp>
      <p:sp>
        <p:nvSpPr>
          <p:cNvPr id="33" name="Text 29">
            <a:extLst xmlns:a="http://schemas.openxmlformats.org/drawingml/2006/main">
              <a:ext uri="{FF2B5EF4-FFF2-40B4-BE49-F238E27FC236}">
                <a16:creationId xmlns:a16="http://schemas.microsoft.com/office/drawing/2014/main" id="{FA1BBEDE-423F-4DB7-9841-C1185D49B4DF}"/>
              </a:ext>
            </a:extLst>
          </p:cNvPr>
          <p:cNvSpPr>
            <a:spLocks xmlns:a="http://schemas.openxmlformats.org/drawingml/2006/main" noGrp="1"/>
          </p:cNvSpPr>
          <p:nvPr/>
        </p:nvSpPr>
        <p:spPr>
          <a:xfrm xmlns:a="http://schemas.openxmlformats.org/drawingml/2006/main">
            <a:off x="731520" y="5303520"/>
            <a:ext cx="31546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FIX: </a:t>
            </a:r>
            <a:r>
              <a:rPr sz="1000">
                <a:solidFill>
                  <a:srgbClr val="1E293B"/>
                </a:solidFill>
                <a:latin typeface="Calibri"/>
                <a:ea typeface="Calibri"/>
                <a:cs typeface="Calibri"/>
              </a:rPr>
              <a:t>Cari pemilik port. Hentikan lab terkait atau ubah host port.</a:t>
            </a:r>
            <a:endParaRPr sz="1000"/>
          </a:p>
        </p:txBody>
      </p:sp>
      <p:sp>
        <p:nvSpPr>
          <p:cNvPr id="34" name="Shape 30">
            <a:extLst xmlns:a="http://schemas.openxmlformats.org/drawingml/2006/main">
              <a:ext uri="{FF2B5EF4-FFF2-40B4-BE49-F238E27FC236}">
                <a16:creationId xmlns:a16="http://schemas.microsoft.com/office/drawing/2014/main" id="{CF15C694-97B0-4473-81CA-CD07AE8B617A}"/>
              </a:ext>
            </a:extLst>
          </p:cNvPr>
          <p:cNvSpPr>
            <a:spLocks xmlns:a="http://schemas.openxmlformats.org/drawingml/2006/main" noGrp="1"/>
          </p:cNvSpPr>
          <p:nvPr/>
        </p:nvSpPr>
        <p:spPr>
          <a:xfrm xmlns:a="http://schemas.openxmlformats.org/drawingml/2006/main">
            <a:off x="4297680" y="3794760"/>
            <a:ext cx="3703320" cy="22402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5" name="Shape 31">
            <a:extLst xmlns:a="http://schemas.openxmlformats.org/drawingml/2006/main">
              <a:ext uri="{FF2B5EF4-FFF2-40B4-BE49-F238E27FC236}">
                <a16:creationId xmlns:a16="http://schemas.microsoft.com/office/drawing/2014/main" id="{8F4AC350-327F-4A38-B74B-3FF5765C9CF2}"/>
              </a:ext>
            </a:extLst>
          </p:cNvPr>
          <p:cNvSpPr>
            <a:spLocks xmlns:a="http://schemas.openxmlformats.org/drawingml/2006/main" noGrp="1"/>
          </p:cNvSpPr>
          <p:nvPr/>
        </p:nvSpPr>
        <p:spPr>
          <a:xfrm xmlns:a="http://schemas.openxmlformats.org/drawingml/2006/main">
            <a:off x="4297680" y="3794760"/>
            <a:ext cx="3703320" cy="457200"/>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sp>
        <p:nvSpPr>
          <p:cNvPr id="36" name="Text 32">
            <a:extLst xmlns:a="http://schemas.openxmlformats.org/drawingml/2006/main">
              <a:ext uri="{FF2B5EF4-FFF2-40B4-BE49-F238E27FC236}">
                <a16:creationId xmlns:a16="http://schemas.microsoft.com/office/drawing/2014/main" id="{74A74809-361D-4FD1-AB19-8CC80DE59517}"/>
              </a:ext>
            </a:extLst>
          </p:cNvPr>
          <p:cNvSpPr>
            <a:spLocks xmlns:a="http://schemas.openxmlformats.org/drawingml/2006/main" noGrp="1"/>
          </p:cNvSpPr>
          <p:nvPr/>
        </p:nvSpPr>
        <p:spPr>
          <a:xfrm xmlns:a="http://schemas.openxmlformats.org/drawingml/2006/main">
            <a:off x="4434840" y="3794760"/>
            <a:ext cx="3429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DNS resolve fail</a:t>
            </a:r>
            <a:endParaRPr sz="1200"/>
          </a:p>
        </p:txBody>
      </p:sp>
      <p:sp>
        <p:nvSpPr>
          <p:cNvPr id="37" name="Text 33">
            <a:extLst xmlns:a="http://schemas.openxmlformats.org/drawingml/2006/main">
              <a:ext uri="{FF2B5EF4-FFF2-40B4-BE49-F238E27FC236}">
                <a16:creationId xmlns:a16="http://schemas.microsoft.com/office/drawing/2014/main" id="{B787E3C1-0574-4E72-8C49-83D39E6D1608}"/>
              </a:ext>
            </a:extLst>
          </p:cNvPr>
          <p:cNvSpPr>
            <a:spLocks xmlns:a="http://schemas.openxmlformats.org/drawingml/2006/main" noGrp="1"/>
          </p:cNvSpPr>
          <p:nvPr/>
        </p:nvSpPr>
        <p:spPr>
          <a:xfrm xmlns:a="http://schemas.openxmlformats.org/drawingml/2006/main">
            <a:off x="4480560" y="4343400"/>
            <a:ext cx="333756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Service di network yang beda - tidak bisa kontak satu sama lain.</a:t>
            </a:r>
            <a:endParaRPr sz="1050"/>
          </a:p>
        </p:txBody>
      </p:sp>
      <p:sp>
        <p:nvSpPr>
          <p:cNvPr id="38" name="Shape 34">
            <a:extLst xmlns:a="http://schemas.openxmlformats.org/drawingml/2006/main">
              <a:ext uri="{FF2B5EF4-FFF2-40B4-BE49-F238E27FC236}">
                <a16:creationId xmlns:a16="http://schemas.microsoft.com/office/drawing/2014/main" id="{E02DB47E-0575-47D0-8D4F-02323BF777E1}"/>
              </a:ext>
            </a:extLst>
          </p:cNvPr>
          <p:cNvSpPr>
            <a:spLocks xmlns:a="http://schemas.openxmlformats.org/drawingml/2006/main" noGrp="1"/>
          </p:cNvSpPr>
          <p:nvPr/>
        </p:nvSpPr>
        <p:spPr>
          <a:xfrm xmlns:a="http://schemas.openxmlformats.org/drawingml/2006/main">
            <a:off x="4480560" y="5257800"/>
            <a:ext cx="3337560" cy="685800"/>
          </a:xfrm>
          <a:prstGeom xmlns:a="http://schemas.openxmlformats.org/drawingml/2006/main" prst="rect">
            <a:avLst/>
          </a:prstGeom>
          <a:solidFill xmlns:a="http://schemas.openxmlformats.org/drawingml/2006/main">
            <a:srgbClr val="DCFCE7"/>
          </a:solidFill>
          <a:ln xmlns:a="http://schemas.openxmlformats.org/drawingml/2006/main" w="12700">
            <a:solidFill>
              <a:srgbClr val="059669"/>
            </a:solidFill>
            <a:prstDash val="solid"/>
          </a:ln>
        </p:spPr>
      </p:sp>
      <p:sp>
        <p:nvSpPr>
          <p:cNvPr id="39" name="Text 35">
            <a:extLst xmlns:a="http://schemas.openxmlformats.org/drawingml/2006/main">
              <a:ext uri="{FF2B5EF4-FFF2-40B4-BE49-F238E27FC236}">
                <a16:creationId xmlns:a16="http://schemas.microsoft.com/office/drawing/2014/main" id="{11DF948E-8AFD-48FE-BA19-0E33A25C903A}"/>
              </a:ext>
            </a:extLst>
          </p:cNvPr>
          <p:cNvSpPr>
            <a:spLocks xmlns:a="http://schemas.openxmlformats.org/drawingml/2006/main" noGrp="1"/>
          </p:cNvSpPr>
          <p:nvPr/>
        </p:nvSpPr>
        <p:spPr>
          <a:xfrm xmlns:a="http://schemas.openxmlformats.org/drawingml/2006/main">
            <a:off x="4572000" y="5303520"/>
            <a:ext cx="31546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FIX: </a:t>
            </a:r>
            <a:r>
              <a:rPr sz="1000">
                <a:solidFill>
                  <a:srgbClr val="1E293B"/>
                </a:solidFill>
                <a:latin typeface="Calibri"/>
                <a:ea typeface="Calibri"/>
                <a:cs typeface="Calibri"/>
              </a:rPr>
              <a:t>Cek networks: section. Service harus di network yang sama</a:t>
            </a:r>
            <a:endParaRPr sz="1000"/>
          </a:p>
        </p:txBody>
      </p:sp>
      <p:sp>
        <p:nvSpPr>
          <p:cNvPr id="40" name="Shape 36">
            <a:extLst xmlns:a="http://schemas.openxmlformats.org/drawingml/2006/main">
              <a:ext uri="{FF2B5EF4-FFF2-40B4-BE49-F238E27FC236}">
                <a16:creationId xmlns:a16="http://schemas.microsoft.com/office/drawing/2014/main" id="{5CB68146-EEC4-4887-BB55-81AE416297F3}"/>
              </a:ext>
            </a:extLst>
          </p:cNvPr>
          <p:cNvSpPr>
            <a:spLocks xmlns:a="http://schemas.openxmlformats.org/drawingml/2006/main" noGrp="1"/>
          </p:cNvSpPr>
          <p:nvPr/>
        </p:nvSpPr>
        <p:spPr>
          <a:xfrm xmlns:a="http://schemas.openxmlformats.org/drawingml/2006/main">
            <a:off x="8138160" y="3794760"/>
            <a:ext cx="3703320" cy="224028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41" name="Shape 37">
            <a:extLst xmlns:a="http://schemas.openxmlformats.org/drawingml/2006/main">
              <a:ext uri="{FF2B5EF4-FFF2-40B4-BE49-F238E27FC236}">
                <a16:creationId xmlns:a16="http://schemas.microsoft.com/office/drawing/2014/main" id="{9F18FE36-4934-457B-ABE1-4599A50DFB9D}"/>
              </a:ext>
            </a:extLst>
          </p:cNvPr>
          <p:cNvSpPr>
            <a:spLocks xmlns:a="http://schemas.openxmlformats.org/drawingml/2006/main" noGrp="1"/>
          </p:cNvSpPr>
          <p:nvPr/>
        </p:nvSpPr>
        <p:spPr>
          <a:xfrm xmlns:a="http://schemas.openxmlformats.org/drawingml/2006/main">
            <a:off x="8138160" y="3794760"/>
            <a:ext cx="3703320" cy="457200"/>
          </a:xfrm>
          <a:prstGeom xmlns:a="http://schemas.openxmlformats.org/drawingml/2006/main" prst="rect">
            <a:avLst/>
          </a:prstGeom>
          <a:solidFill xmlns:a="http://schemas.openxmlformats.org/drawingml/2006/main">
            <a:srgbClr val="DC2626"/>
          </a:solidFill>
          <a:ln xmlns:a="http://schemas.openxmlformats.org/drawingml/2006/main" w="12700">
            <a:solidFill>
              <a:srgbClr val="DC2626"/>
            </a:solidFill>
            <a:prstDash val="solid"/>
          </a:ln>
        </p:spPr>
      </p:sp>
      <p:sp>
        <p:nvSpPr>
          <p:cNvPr id="42" name="Text 38">
            <a:extLst xmlns:a="http://schemas.openxmlformats.org/drawingml/2006/main">
              <a:ext uri="{FF2B5EF4-FFF2-40B4-BE49-F238E27FC236}">
                <a16:creationId xmlns:a16="http://schemas.microsoft.com/office/drawing/2014/main" id="{BC3CE06F-4D9B-4E53-8AFC-B76224513A8D}"/>
              </a:ext>
            </a:extLst>
          </p:cNvPr>
          <p:cNvSpPr>
            <a:spLocks xmlns:a="http://schemas.openxmlformats.org/drawingml/2006/main" noGrp="1"/>
          </p:cNvSpPr>
          <p:nvPr/>
        </p:nvSpPr>
        <p:spPr>
          <a:xfrm xmlns:a="http://schemas.openxmlformats.org/drawingml/2006/main">
            <a:off x="8275320" y="3794760"/>
            <a:ext cx="3429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Calibri"/>
                <a:ea typeface="Calibri"/>
                <a:cs typeface="Calibri"/>
              </a:rPr>
              <a:t>Build cache stale</a:t>
            </a:r>
            <a:endParaRPr sz="1200"/>
          </a:p>
        </p:txBody>
      </p:sp>
      <p:sp>
        <p:nvSpPr>
          <p:cNvPr id="43" name="Text 39">
            <a:extLst xmlns:a="http://schemas.openxmlformats.org/drawingml/2006/main">
              <a:ext uri="{FF2B5EF4-FFF2-40B4-BE49-F238E27FC236}">
                <a16:creationId xmlns:a16="http://schemas.microsoft.com/office/drawing/2014/main" id="{2E532FEC-27F1-4447-8741-7BB9746E84A2}"/>
              </a:ext>
            </a:extLst>
          </p:cNvPr>
          <p:cNvSpPr>
            <a:spLocks xmlns:a="http://schemas.openxmlformats.org/drawingml/2006/main" noGrp="1"/>
          </p:cNvSpPr>
          <p:nvPr/>
        </p:nvSpPr>
        <p:spPr>
          <a:xfrm xmlns:a="http://schemas.openxmlformats.org/drawingml/2006/main">
            <a:off x="8321040" y="4343400"/>
            <a:ext cx="333756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a:solidFill>
                  <a:srgbClr val="1E293B"/>
                </a:solidFill>
                <a:latin typeface="Calibri"/>
                <a:ea typeface="Calibri"/>
                <a:cs typeface="Calibri"/>
              </a:rPr>
              <a:t>Edit Dockerfile tapi 'compose up' tetap pakai image lama.</a:t>
            </a:r>
            <a:endParaRPr sz="1050"/>
          </a:p>
        </p:txBody>
      </p:sp>
      <p:sp>
        <p:nvSpPr>
          <p:cNvPr id="44" name="Shape 40">
            <a:extLst xmlns:a="http://schemas.openxmlformats.org/drawingml/2006/main">
              <a:ext uri="{FF2B5EF4-FFF2-40B4-BE49-F238E27FC236}">
                <a16:creationId xmlns:a16="http://schemas.microsoft.com/office/drawing/2014/main" id="{319904D2-F046-4C19-8BD2-4E76BA22B182}"/>
              </a:ext>
            </a:extLst>
          </p:cNvPr>
          <p:cNvSpPr>
            <a:spLocks xmlns:a="http://schemas.openxmlformats.org/drawingml/2006/main" noGrp="1"/>
          </p:cNvSpPr>
          <p:nvPr/>
        </p:nvSpPr>
        <p:spPr>
          <a:xfrm xmlns:a="http://schemas.openxmlformats.org/drawingml/2006/main">
            <a:off x="8321040" y="5257800"/>
            <a:ext cx="3337560" cy="685800"/>
          </a:xfrm>
          <a:prstGeom xmlns:a="http://schemas.openxmlformats.org/drawingml/2006/main" prst="rect">
            <a:avLst/>
          </a:prstGeom>
          <a:solidFill xmlns:a="http://schemas.openxmlformats.org/drawingml/2006/main">
            <a:srgbClr val="DCFCE7"/>
          </a:solidFill>
          <a:ln xmlns:a="http://schemas.openxmlformats.org/drawingml/2006/main" w="12700">
            <a:solidFill>
              <a:srgbClr val="059669"/>
            </a:solidFill>
            <a:prstDash val="solid"/>
          </a:ln>
        </p:spPr>
      </p:sp>
      <p:sp>
        <p:nvSpPr>
          <p:cNvPr id="45" name="Text 41">
            <a:extLst xmlns:a="http://schemas.openxmlformats.org/drawingml/2006/main">
              <a:ext uri="{FF2B5EF4-FFF2-40B4-BE49-F238E27FC236}">
                <a16:creationId xmlns:a16="http://schemas.microsoft.com/office/drawing/2014/main" id="{8DBB2AF6-00A8-4477-B87E-479133C4C641}"/>
              </a:ext>
            </a:extLst>
          </p:cNvPr>
          <p:cNvSpPr>
            <a:spLocks xmlns:a="http://schemas.openxmlformats.org/drawingml/2006/main" noGrp="1"/>
          </p:cNvSpPr>
          <p:nvPr/>
        </p:nvSpPr>
        <p:spPr>
          <a:xfrm xmlns:a="http://schemas.openxmlformats.org/drawingml/2006/main">
            <a:off x="8412480" y="5303520"/>
            <a:ext cx="315468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a:solidFill>
                  <a:srgbClr val="059669"/>
                </a:solidFill>
                <a:latin typeface="Calibri"/>
                <a:ea typeface="Calibri"/>
                <a:cs typeface="Calibri"/>
              </a:rPr>
              <a:t>FIX: </a:t>
            </a:r>
            <a:r>
              <a:rPr sz="1000">
                <a:solidFill>
                  <a:srgbClr val="1E293B"/>
                </a:solidFill>
                <a:latin typeface="Calibri"/>
                <a:ea typeface="Calibri"/>
                <a:cs typeface="Calibri"/>
              </a:rPr>
              <a:t>compose build --no-cache, atau compose up --build</a:t>
            </a:r>
            <a:endParaRPr sz="1000"/>
          </a:p>
        </p:txBody>
      </p:sp>
    </p:spTree>
    <p:extLst>
      <p:ext uri="{BB962C8B-B14F-4D97-AF65-F5344CB8AC3E}">
        <p14:creationId xmlns:p14="http://schemas.microsoft.com/office/powerpoint/2010/main" val="8294299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55134F-F766-426B-A14E-F3ADE144AC4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60B3B781-4151-4470-87E2-8BFD7F03C38D}"/>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30</a:t>
            </a:r>
            <a:endParaRPr sz="900"/>
          </a:p>
        </p:txBody>
      </p:sp>
      <p:sp>
        <p:nvSpPr>
          <p:cNvPr id="4" name="Shape 2">
            <a:extLst xmlns:a="http://schemas.openxmlformats.org/drawingml/2006/main">
              <a:ext uri="{FF2B5EF4-FFF2-40B4-BE49-F238E27FC236}">
                <a16:creationId xmlns:a16="http://schemas.microsoft.com/office/drawing/2014/main" id="{7E924183-E0EC-4E1E-8CF2-CABFBB759586}"/>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47" name="Image 0">
            <a:extLst xmlns:a="http://schemas.openxmlformats.org/drawingml/2006/main">
              <a:ext uri="{FF2B5EF4-FFF2-40B4-BE49-F238E27FC236}">
                <a16:creationId xmlns:a16="http://schemas.microsoft.com/office/drawing/2014/main" id="{CAF4A79E-FABB-4963-A05D-31B87E196085}"/>
              </a:ext>
            </a:extLst>
          </p:cNvPr>
          <p:cNvPicPr>
            <a:picLocks xmlns:a="http://schemas.openxmlformats.org/drawingml/2006/main" noChangeAspect="1"/>
          </p:cNvPicPr>
          <p:nvPr/>
        </p:nvPicPr>
        <p:blipFill>
          <a:blip xmlns:r="http://schemas.openxmlformats.org/officeDocument/2006/relationships" xmlns:a="http://schemas.openxmlformats.org/drawingml/2006/main" r:embed="R3527f5b3c6b6474d"/>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48" name="Image 1">
            <a:extLst xmlns:a="http://schemas.openxmlformats.org/drawingml/2006/main">
              <a:ext uri="{FF2B5EF4-FFF2-40B4-BE49-F238E27FC236}">
                <a16:creationId xmlns:a16="http://schemas.microsoft.com/office/drawing/2014/main" id="{55D5C846-14AC-4848-ADAE-2839F0100BF4}"/>
              </a:ext>
            </a:extLst>
          </p:cNvPr>
          <p:cNvPicPr>
            <a:picLocks xmlns:a="http://schemas.openxmlformats.org/drawingml/2006/main" noChangeAspect="1"/>
          </p:cNvPicPr>
          <p:nvPr/>
        </p:nvPicPr>
        <p:blipFill>
          <a:blip xmlns:r="http://schemas.openxmlformats.org/officeDocument/2006/relationships" xmlns:a="http://schemas.openxmlformats.org/drawingml/2006/main" r:embed="Re2b556f5f3ac400c"/>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B7D6130-FA6B-4EC8-8F1C-D33A5CFBF7DC}"/>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7C3B0C8D-E496-4E5A-87DF-3065AF8B85A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Cheat Sheet - Docker Compose</a:t>
            </a:r>
            <a:endParaRPr sz="2200"/>
          </a:p>
        </p:txBody>
      </p:sp>
      <p:sp>
        <p:nvSpPr>
          <p:cNvPr id="9" name="Text 5">
            <a:extLst xmlns:a="http://schemas.openxmlformats.org/drawingml/2006/main">
              <a:ext uri="{FF2B5EF4-FFF2-40B4-BE49-F238E27FC236}">
                <a16:creationId xmlns:a16="http://schemas.microsoft.com/office/drawing/2014/main" id="{A076BCD9-50A5-4F26-824F-51F5CA4EAE0F}"/>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Print, tempel di samping laptop</a:t>
            </a:r>
            <a:endParaRPr sz="1200"/>
          </a:p>
        </p:txBody>
      </p:sp>
      <p:sp>
        <p:nvSpPr>
          <p:cNvPr id="10" name="Shape 6">
            <a:extLst xmlns:a="http://schemas.openxmlformats.org/drawingml/2006/main">
              <a:ext uri="{FF2B5EF4-FFF2-40B4-BE49-F238E27FC236}">
                <a16:creationId xmlns:a16="http://schemas.microsoft.com/office/drawing/2014/main" id="{86ED803D-D9B8-45E6-B083-D5424D1FB926}"/>
              </a:ext>
            </a:extLst>
          </p:cNvPr>
          <p:cNvSpPr>
            <a:spLocks xmlns:a="http://schemas.openxmlformats.org/drawingml/2006/main" noGrp="1"/>
          </p:cNvSpPr>
          <p:nvPr/>
        </p:nvSpPr>
        <p:spPr>
          <a:xfrm xmlns:a="http://schemas.openxmlformats.org/drawingml/2006/main">
            <a:off x="457200"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1" name="Shape 7">
            <a:extLst xmlns:a="http://schemas.openxmlformats.org/drawingml/2006/main">
              <a:ext uri="{FF2B5EF4-FFF2-40B4-BE49-F238E27FC236}">
                <a16:creationId xmlns:a16="http://schemas.microsoft.com/office/drawing/2014/main" id="{533582FA-1179-4536-9AF6-376DF21E5E58}"/>
              </a:ext>
            </a:extLst>
          </p:cNvPr>
          <p:cNvSpPr>
            <a:spLocks xmlns:a="http://schemas.openxmlformats.org/drawingml/2006/main" noGrp="1"/>
          </p:cNvSpPr>
          <p:nvPr/>
        </p:nvSpPr>
        <p:spPr>
          <a:xfrm xmlns:a="http://schemas.openxmlformats.org/drawingml/2006/main">
            <a:off x="457200" y="1417320"/>
            <a:ext cx="2788920" cy="3657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12" name="Text 8">
            <a:extLst xmlns:a="http://schemas.openxmlformats.org/drawingml/2006/main">
              <a:ext uri="{FF2B5EF4-FFF2-40B4-BE49-F238E27FC236}">
                <a16:creationId xmlns:a16="http://schemas.microsoft.com/office/drawing/2014/main" id="{DC3735DA-6C10-4729-82DF-3003B6D890D8}"/>
              </a:ext>
            </a:extLst>
          </p:cNvPr>
          <p:cNvSpPr>
            <a:spLocks xmlns:a="http://schemas.openxmlformats.org/drawingml/2006/main" noGrp="1"/>
          </p:cNvSpPr>
          <p:nvPr/>
        </p:nvSpPr>
        <p:spPr>
          <a:xfrm xmlns:a="http://schemas.openxmlformats.org/drawingml/2006/main">
            <a:off x="457200"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Lifecycle</a:t>
            </a:r>
            <a:endParaRPr sz="1300"/>
          </a:p>
        </p:txBody>
      </p:sp>
      <p:sp>
        <p:nvSpPr>
          <p:cNvPr id="13" name="Text 9">
            <a:extLst xmlns:a="http://schemas.openxmlformats.org/drawingml/2006/main">
              <a:ext uri="{FF2B5EF4-FFF2-40B4-BE49-F238E27FC236}">
                <a16:creationId xmlns:a16="http://schemas.microsoft.com/office/drawing/2014/main" id="{BC6498AF-CF85-4D01-9DBF-5C773DC3CF73}"/>
              </a:ext>
            </a:extLst>
          </p:cNvPr>
          <p:cNvSpPr>
            <a:spLocks xmlns:a="http://schemas.openxmlformats.org/drawingml/2006/main" noGrp="1"/>
          </p:cNvSpPr>
          <p:nvPr/>
        </p:nvSpPr>
        <p:spPr>
          <a:xfrm xmlns:a="http://schemas.openxmlformats.org/drawingml/2006/main">
            <a:off x="640080"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docker compose up -d</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compose down</a:t>
            </a:r>
          </a:p>
          <a:p xmlns:a="http://schemas.openxmlformats.org/drawingml/2006/main">
            <a:pPr marL="0" indent="0">
              <a:spcAft>
                <a:spcPts val="300"/>
              </a:spcAft>
              <a:buNone/>
            </a:pPr>
            <a:r>
              <a:rPr sz="1100">
                <a:solidFill>
                  <a:srgbClr val="1E293B"/>
                </a:solidFill>
                <a:latin typeface="Consolas"/>
                <a:ea typeface="Consolas"/>
                <a:cs typeface="Consolas"/>
              </a:rPr>
              <a:t>docker compose restart api</a:t>
            </a:r>
          </a:p>
          <a:p xmlns:a="http://schemas.openxmlformats.org/drawingml/2006/main">
            <a:pPr marL="0" indent="0">
              <a:spcAft>
                <a:spcPts val="300"/>
              </a:spcAft>
              <a:buNone/>
            </a:pPr>
            <a:r>
              <a:rPr sz="1100">
                <a:solidFill>
                  <a:srgbClr val="1E293B"/>
                </a:solidFill>
                <a:latin typeface="Consolas"/>
                <a:ea typeface="Consolas"/>
                <a:cs typeface="Consolas"/>
              </a:rPr>
              <a:t>docker compose stop api</a:t>
            </a:r>
          </a:p>
          <a:p xmlns:a="http://schemas.openxmlformats.org/drawingml/2006/main">
            <a:pPr marL="0" indent="0">
              <a:spcAft>
                <a:spcPts val="300"/>
              </a:spcAft>
              <a:buNone/>
            </a:pPr>
            <a:r>
              <a:rPr sz="1100">
                <a:solidFill>
                  <a:srgbClr val="1E293B"/>
                </a:solidFill>
                <a:latin typeface="Consolas"/>
                <a:ea typeface="Consolas"/>
                <a:cs typeface="Consolas"/>
              </a:rPr>
              <a:t>docker compose ps</a:t>
            </a:r>
          </a:p>
          <a:p xmlns:a="http://schemas.openxmlformats.org/drawingml/2006/main">
            <a:pPr marL="0" indent="0">
              <a:spcAft>
                <a:spcPts val="300"/>
              </a:spcAft>
              <a:buNone/>
            </a:pPr>
            <a:r>
              <a:rPr sz="1100">
                <a:solidFill>
                  <a:srgbClr val="1E293B"/>
                </a:solidFill>
                <a:latin typeface="Consolas"/>
                <a:ea typeface="Consolas"/>
                <a:cs typeface="Consolas"/>
              </a:rPr>
              <a:t>-v menghapus volume</a:t>
            </a:r>
          </a:p>
        </p:txBody>
      </p:sp>
      <p:sp>
        <p:nvSpPr>
          <p:cNvPr id="14" name="Shape 10">
            <a:extLst xmlns:a="http://schemas.openxmlformats.org/drawingml/2006/main">
              <a:ext uri="{FF2B5EF4-FFF2-40B4-BE49-F238E27FC236}">
                <a16:creationId xmlns:a16="http://schemas.microsoft.com/office/drawing/2014/main" id="{4C3C1F34-30E7-45FA-95E2-C140280B2BB0}"/>
              </a:ext>
            </a:extLst>
          </p:cNvPr>
          <p:cNvSpPr>
            <a:spLocks xmlns:a="http://schemas.openxmlformats.org/drawingml/2006/main" noGrp="1"/>
          </p:cNvSpPr>
          <p:nvPr/>
        </p:nvSpPr>
        <p:spPr>
          <a:xfrm xmlns:a="http://schemas.openxmlformats.org/drawingml/2006/main">
            <a:off x="3364992"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5" name="Shape 11">
            <a:extLst xmlns:a="http://schemas.openxmlformats.org/drawingml/2006/main">
              <a:ext uri="{FF2B5EF4-FFF2-40B4-BE49-F238E27FC236}">
                <a16:creationId xmlns:a16="http://schemas.microsoft.com/office/drawing/2014/main" id="{2B61644A-74B3-46F1-A8D8-97389729AE89}"/>
              </a:ext>
            </a:extLst>
          </p:cNvPr>
          <p:cNvSpPr>
            <a:spLocks xmlns:a="http://schemas.openxmlformats.org/drawingml/2006/main" noGrp="1"/>
          </p:cNvSpPr>
          <p:nvPr/>
        </p:nvSpPr>
        <p:spPr>
          <a:xfrm xmlns:a="http://schemas.openxmlformats.org/drawingml/2006/main">
            <a:off x="3364992" y="1417320"/>
            <a:ext cx="278892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16" name="Text 12">
            <a:extLst xmlns:a="http://schemas.openxmlformats.org/drawingml/2006/main">
              <a:ext uri="{FF2B5EF4-FFF2-40B4-BE49-F238E27FC236}">
                <a16:creationId xmlns:a16="http://schemas.microsoft.com/office/drawing/2014/main" id="{BB81824D-35EB-4CA5-8FF5-1F6FE752D9E9}"/>
              </a:ext>
            </a:extLst>
          </p:cNvPr>
          <p:cNvSpPr>
            <a:spLocks xmlns:a="http://schemas.openxmlformats.org/drawingml/2006/main" noGrp="1"/>
          </p:cNvSpPr>
          <p:nvPr/>
        </p:nvSpPr>
        <p:spPr>
          <a:xfrm xmlns:a="http://schemas.openxmlformats.org/drawingml/2006/main">
            <a:off x="3364992"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Debug</a:t>
            </a:r>
            <a:endParaRPr sz="1300"/>
          </a:p>
        </p:txBody>
      </p:sp>
      <p:sp>
        <p:nvSpPr>
          <p:cNvPr id="17" name="Text 13">
            <a:extLst xmlns:a="http://schemas.openxmlformats.org/drawingml/2006/main">
              <a:ext uri="{FF2B5EF4-FFF2-40B4-BE49-F238E27FC236}">
                <a16:creationId xmlns:a16="http://schemas.microsoft.com/office/drawing/2014/main" id="{44F1CE82-7C3E-4C1B-B74D-D995D8E6D7C5}"/>
              </a:ext>
            </a:extLst>
          </p:cNvPr>
          <p:cNvSpPr>
            <a:spLocks xmlns:a="http://schemas.openxmlformats.org/drawingml/2006/main" noGrp="1"/>
          </p:cNvSpPr>
          <p:nvPr/>
        </p:nvSpPr>
        <p:spPr>
          <a:xfrm xmlns:a="http://schemas.openxmlformats.org/drawingml/2006/main">
            <a:off x="3547872"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docker compose logs -f</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compose logs api</a:t>
            </a:r>
          </a:p>
          <a:p xmlns:a="http://schemas.openxmlformats.org/drawingml/2006/main">
            <a:pPr marL="0" indent="0">
              <a:spcAft>
                <a:spcPts val="300"/>
              </a:spcAft>
              <a:buNone/>
            </a:pPr>
            <a:r>
              <a:rPr sz="1100">
                <a:solidFill>
                  <a:srgbClr val="1E293B"/>
                </a:solidFill>
                <a:latin typeface="Consolas"/>
                <a:ea typeface="Consolas"/>
                <a:cs typeface="Consolas"/>
              </a:rPr>
              <a:t>docker compose exec api sh</a:t>
            </a:r>
          </a:p>
          <a:p xmlns:a="http://schemas.openxmlformats.org/drawingml/2006/main">
            <a:pPr marL="0" indent="0">
              <a:spcAft>
                <a:spcPts val="300"/>
              </a:spcAft>
              <a:buNone/>
            </a:pPr>
            <a:r>
              <a:rPr sz="1100">
                <a:solidFill>
                  <a:srgbClr val="1E293B"/>
                </a:solidFill>
                <a:latin typeface="Consolas"/>
                <a:ea typeface="Consolas"/>
                <a:cs typeface="Consolas"/>
              </a:rPr>
              <a:t>docker compose top</a:t>
            </a:r>
          </a:p>
          <a:p xmlns:a="http://schemas.openxmlformats.org/drawingml/2006/main">
            <a:pPr marL="0" indent="0">
              <a:spcAft>
                <a:spcPts val="300"/>
              </a:spcAft>
              <a:buNone/>
            </a:pPr>
            <a:r>
              <a:rPr sz="1100">
                <a:solidFill>
                  <a:srgbClr val="1E293B"/>
                </a:solidFill>
                <a:latin typeface="Consolas"/>
                <a:ea typeface="Consolas"/>
                <a:cs typeface="Consolas"/>
              </a:rPr>
              <a:t>docker compose port api 8000</a:t>
            </a:r>
          </a:p>
          <a:p xmlns:a="http://schemas.openxmlformats.org/drawingml/2006/main">
            <a:pPr marL="0" indent="0">
              <a:spcAft>
                <a:spcPts val="300"/>
              </a:spcAft>
              <a:buNone/>
            </a:pPr>
            <a:r>
              <a:rPr sz="1100">
                <a:solidFill>
                  <a:srgbClr val="1E293B"/>
                </a:solidFill>
                <a:latin typeface="Consolas"/>
                <a:ea typeface="Consolas"/>
                <a:cs typeface="Consolas"/>
              </a:rPr>
              <a:t>docker compose config -q</a:t>
            </a:r>
          </a:p>
        </p:txBody>
      </p:sp>
      <p:sp>
        <p:nvSpPr>
          <p:cNvPr id="18" name="Shape 14">
            <a:extLst xmlns:a="http://schemas.openxmlformats.org/drawingml/2006/main">
              <a:ext uri="{FF2B5EF4-FFF2-40B4-BE49-F238E27FC236}">
                <a16:creationId xmlns:a16="http://schemas.microsoft.com/office/drawing/2014/main" id="{35E1C8CA-669D-494A-9B88-371EF2BE5FAA}"/>
              </a:ext>
            </a:extLst>
          </p:cNvPr>
          <p:cNvSpPr>
            <a:spLocks xmlns:a="http://schemas.openxmlformats.org/drawingml/2006/main" noGrp="1"/>
          </p:cNvSpPr>
          <p:nvPr/>
        </p:nvSpPr>
        <p:spPr>
          <a:xfrm xmlns:a="http://schemas.openxmlformats.org/drawingml/2006/main">
            <a:off x="6272784"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19" name="Shape 15">
            <a:extLst xmlns:a="http://schemas.openxmlformats.org/drawingml/2006/main">
              <a:ext uri="{FF2B5EF4-FFF2-40B4-BE49-F238E27FC236}">
                <a16:creationId xmlns:a16="http://schemas.microsoft.com/office/drawing/2014/main" id="{58CF79E7-0D9E-4C4C-8718-859E100F8E5C}"/>
              </a:ext>
            </a:extLst>
          </p:cNvPr>
          <p:cNvSpPr>
            <a:spLocks xmlns:a="http://schemas.openxmlformats.org/drawingml/2006/main" noGrp="1"/>
          </p:cNvSpPr>
          <p:nvPr/>
        </p:nvSpPr>
        <p:spPr>
          <a:xfrm xmlns:a="http://schemas.openxmlformats.org/drawingml/2006/main">
            <a:off x="6272784" y="1417320"/>
            <a:ext cx="2788920" cy="3657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20" name="Text 16">
            <a:extLst xmlns:a="http://schemas.openxmlformats.org/drawingml/2006/main">
              <a:ext uri="{FF2B5EF4-FFF2-40B4-BE49-F238E27FC236}">
                <a16:creationId xmlns:a16="http://schemas.microsoft.com/office/drawing/2014/main" id="{1070178A-AA42-4124-A27B-956970F106F9}"/>
              </a:ext>
            </a:extLst>
          </p:cNvPr>
          <p:cNvSpPr>
            <a:spLocks xmlns:a="http://schemas.openxmlformats.org/drawingml/2006/main" noGrp="1"/>
          </p:cNvSpPr>
          <p:nvPr/>
        </p:nvSpPr>
        <p:spPr>
          <a:xfrm xmlns:a="http://schemas.openxmlformats.org/drawingml/2006/main">
            <a:off x="6272784"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Build</a:t>
            </a:r>
            <a:endParaRPr sz="1300"/>
          </a:p>
        </p:txBody>
      </p:sp>
      <p:sp>
        <p:nvSpPr>
          <p:cNvPr id="21" name="Text 17">
            <a:extLst xmlns:a="http://schemas.openxmlformats.org/drawingml/2006/main">
              <a:ext uri="{FF2B5EF4-FFF2-40B4-BE49-F238E27FC236}">
                <a16:creationId xmlns:a16="http://schemas.microsoft.com/office/drawing/2014/main" id="{0B1139BE-C942-48B3-A085-803160B5F6A5}"/>
              </a:ext>
            </a:extLst>
          </p:cNvPr>
          <p:cNvSpPr>
            <a:spLocks xmlns:a="http://schemas.openxmlformats.org/drawingml/2006/main" noGrp="1"/>
          </p:cNvSpPr>
          <p:nvPr/>
        </p:nvSpPr>
        <p:spPr>
          <a:xfrm xmlns:a="http://schemas.openxmlformats.org/drawingml/2006/main">
            <a:off x="6455664"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build: ./api</a:t>
            </a:r>
            <a:endParaRPr sz="1100"/>
          </a:p>
          <a:p xmlns:a="http://schemas.openxmlformats.org/drawingml/2006/main">
            <a:pPr marL="0" indent="0">
              <a:spcAft>
                <a:spcPts val="300"/>
              </a:spcAft>
              <a:buNone/>
            </a:pPr>
            <a:r>
              <a:rPr sz="1100">
                <a:solidFill>
                  <a:srgbClr val="1E293B"/>
                </a:solidFill>
                <a:latin typeface="Consolas"/>
                <a:ea typeface="Consolas"/>
                <a:cs typeface="Consolas"/>
              </a:rPr>
              <a:t>docker compose build</a:t>
            </a:r>
          </a:p>
          <a:p xmlns:a="http://schemas.openxmlformats.org/drawingml/2006/main">
            <a:pPr marL="0" indent="0">
              <a:spcAft>
                <a:spcPts val="300"/>
              </a:spcAft>
              <a:buNone/>
            </a:pPr>
            <a:r>
              <a:rPr sz="1100">
                <a:solidFill>
                  <a:srgbClr val="1E293B"/>
                </a:solidFill>
                <a:latin typeface="Consolas"/>
                <a:ea typeface="Consolas"/>
                <a:cs typeface="Consolas"/>
              </a:rPr>
              <a:t>docker compose up --build</a:t>
            </a:r>
          </a:p>
          <a:p xmlns:a="http://schemas.openxmlformats.org/drawingml/2006/main">
            <a:pPr marL="0" indent="0">
              <a:spcAft>
                <a:spcPts val="300"/>
              </a:spcAft>
              <a:buNone/>
            </a:pPr>
            <a:r>
              <a:rPr sz="1100">
                <a:solidFill>
                  <a:srgbClr val="1E293B"/>
                </a:solidFill>
                <a:latin typeface="Consolas"/>
                <a:ea typeface="Consolas"/>
                <a:cs typeface="Consolas"/>
              </a:rPr>
              <a:t>docker compose pull</a:t>
            </a:r>
          </a:p>
          <a:p xmlns:a="http://schemas.openxmlformats.org/drawingml/2006/main">
            <a:pPr marL="0" indent="0">
              <a:spcAft>
                <a:spcPts val="300"/>
              </a:spcAft>
              <a:buNone/>
            </a:pPr>
            <a:r>
              <a:rPr sz="1100">
                <a:solidFill>
                  <a:srgbClr val="1E293B"/>
                </a:solidFill>
                <a:latin typeface="Consolas"/>
                <a:ea typeface="Consolas"/>
                <a:cs typeface="Consolas"/>
              </a:rPr>
              <a:t>image: name:tag</a:t>
            </a:r>
          </a:p>
          <a:p xmlns:a="http://schemas.openxmlformats.org/drawingml/2006/main">
            <a:pPr marL="0" indent="0">
              <a:spcAft>
                <a:spcPts val="300"/>
              </a:spcAft>
              <a:buNone/>
            </a:pPr>
            <a:r>
              <a:rPr sz="1100">
                <a:solidFill>
                  <a:srgbClr val="1E293B"/>
                </a:solidFill>
                <a:latin typeface="Consolas"/>
                <a:ea typeface="Consolas"/>
                <a:cs typeface="Consolas"/>
              </a:rPr>
              <a:t>Ukur hasil docker images</a:t>
            </a:r>
          </a:p>
        </p:txBody>
      </p:sp>
      <p:sp>
        <p:nvSpPr>
          <p:cNvPr id="22" name="Shape 18">
            <a:extLst xmlns:a="http://schemas.openxmlformats.org/drawingml/2006/main">
              <a:ext uri="{FF2B5EF4-FFF2-40B4-BE49-F238E27FC236}">
                <a16:creationId xmlns:a16="http://schemas.microsoft.com/office/drawing/2014/main" id="{2117BD45-34AD-421B-9230-37FCE9EEF10A}"/>
              </a:ext>
            </a:extLst>
          </p:cNvPr>
          <p:cNvSpPr>
            <a:spLocks xmlns:a="http://schemas.openxmlformats.org/drawingml/2006/main" noGrp="1"/>
          </p:cNvSpPr>
          <p:nvPr/>
        </p:nvSpPr>
        <p:spPr>
          <a:xfrm xmlns:a="http://schemas.openxmlformats.org/drawingml/2006/main">
            <a:off x="9180576" y="141732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3" name="Shape 19">
            <a:extLst xmlns:a="http://schemas.openxmlformats.org/drawingml/2006/main">
              <a:ext uri="{FF2B5EF4-FFF2-40B4-BE49-F238E27FC236}">
                <a16:creationId xmlns:a16="http://schemas.microsoft.com/office/drawing/2014/main" id="{3912017F-5B1D-49A4-98EC-A1169CF0CB46}"/>
              </a:ext>
            </a:extLst>
          </p:cNvPr>
          <p:cNvSpPr>
            <a:spLocks xmlns:a="http://schemas.openxmlformats.org/drawingml/2006/main" noGrp="1"/>
          </p:cNvSpPr>
          <p:nvPr/>
        </p:nvSpPr>
        <p:spPr>
          <a:xfrm xmlns:a="http://schemas.openxmlformats.org/drawingml/2006/main">
            <a:off x="9180576" y="1417320"/>
            <a:ext cx="278892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20">
            <a:extLst xmlns:a="http://schemas.openxmlformats.org/drawingml/2006/main">
              <a:ext uri="{FF2B5EF4-FFF2-40B4-BE49-F238E27FC236}">
                <a16:creationId xmlns:a16="http://schemas.microsoft.com/office/drawing/2014/main" id="{7CEB8603-75DB-4E92-88B2-DE96C5674834}"/>
              </a:ext>
            </a:extLst>
          </p:cNvPr>
          <p:cNvSpPr>
            <a:spLocks xmlns:a="http://schemas.openxmlformats.org/drawingml/2006/main" noGrp="1"/>
          </p:cNvSpPr>
          <p:nvPr/>
        </p:nvSpPr>
        <p:spPr>
          <a:xfrm xmlns:a="http://schemas.openxmlformats.org/drawingml/2006/main">
            <a:off x="9180576" y="141732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Volumes</a:t>
            </a:r>
            <a:endParaRPr sz="1300"/>
          </a:p>
        </p:txBody>
      </p:sp>
      <p:sp>
        <p:nvSpPr>
          <p:cNvPr id="25" name="Text 21">
            <a:extLst xmlns:a="http://schemas.openxmlformats.org/drawingml/2006/main">
              <a:ext uri="{FF2B5EF4-FFF2-40B4-BE49-F238E27FC236}">
                <a16:creationId xmlns:a16="http://schemas.microsoft.com/office/drawing/2014/main" id="{F282E79C-F973-4554-A3A0-D00C75601CA2}"/>
              </a:ext>
            </a:extLst>
          </p:cNvPr>
          <p:cNvSpPr>
            <a:spLocks xmlns:a="http://schemas.openxmlformats.org/drawingml/2006/main" noGrp="1"/>
          </p:cNvSpPr>
          <p:nvPr/>
        </p:nvSpPr>
        <p:spPr>
          <a:xfrm xmlns:a="http://schemas.openxmlformats.org/drawingml/2006/main">
            <a:off x="9363456" y="187452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db_data:/var/lib/...</a:t>
            </a:r>
            <a:endParaRPr sz="1100"/>
          </a:p>
          <a:p xmlns:a="http://schemas.openxmlformats.org/drawingml/2006/main">
            <a:pPr marL="0" indent="0">
              <a:spcAft>
                <a:spcPts val="300"/>
              </a:spcAft>
              <a:buNone/>
            </a:pPr>
            <a:r>
              <a:rPr sz="1100">
                <a:solidFill>
                  <a:srgbClr val="1E293B"/>
                </a:solidFill>
                <a:latin typeface="Consolas"/>
                <a:ea typeface="Consolas"/>
                <a:cs typeface="Consolas"/>
              </a:rPr>
              <a:t>./src:/app/src</a:t>
            </a:r>
          </a:p>
          <a:p xmlns:a="http://schemas.openxmlformats.org/drawingml/2006/main">
            <a:pPr marL="0" indent="0">
              <a:spcAft>
                <a:spcPts val="300"/>
              </a:spcAft>
              <a:buNone/>
            </a:pPr>
            <a:r>
              <a:rPr sz="1100">
                <a:solidFill>
                  <a:srgbClr val="1E293B"/>
                </a:solidFill>
                <a:latin typeface="Consolas"/>
                <a:ea typeface="Consolas"/>
                <a:cs typeface="Consolas"/>
              </a:rPr>
              <a:t>./conf.yml:/cfg:ro</a:t>
            </a:r>
          </a:p>
          <a:p xmlns:a="http://schemas.openxmlformats.org/drawingml/2006/main">
            <a:pPr marL="0" indent="0">
              <a:spcAft>
                <a:spcPts val="300"/>
              </a:spcAft>
              <a:buNone/>
            </a:pPr>
            <a:r>
              <a:rPr sz="1100">
                <a:solidFill>
                  <a:srgbClr val="1E293B"/>
                </a:solidFill>
                <a:latin typeface="Consolas"/>
                <a:ea typeface="Consolas"/>
                <a:cs typeface="Consolas"/>
              </a:rPr>
              <a:t>docker volume ls</a:t>
            </a:r>
          </a:p>
          <a:p xmlns:a="http://schemas.openxmlformats.org/drawingml/2006/main">
            <a:pPr marL="0" indent="0">
              <a:spcAft>
                <a:spcPts val="300"/>
              </a:spcAft>
              <a:buNone/>
            </a:pPr>
            <a:r>
              <a:rPr sz="1100">
                <a:solidFill>
                  <a:srgbClr val="1E293B"/>
                </a:solidFill>
                <a:latin typeface="Consolas"/>
                <a:ea typeface="Consolas"/>
                <a:cs typeface="Consolas"/>
              </a:rPr>
              <a:t>docker volume inspect &lt;v&gt;</a:t>
            </a:r>
          </a:p>
          <a:p xmlns:a="http://schemas.openxmlformats.org/drawingml/2006/main">
            <a:pPr marL="0" indent="0">
              <a:spcAft>
                <a:spcPts val="300"/>
              </a:spcAft>
              <a:buNone/>
            </a:pPr>
            <a:r>
              <a:rPr sz="1100">
                <a:solidFill>
                  <a:srgbClr val="1E293B"/>
                </a:solidFill>
                <a:latin typeface="Consolas"/>
                <a:ea typeface="Consolas"/>
                <a:cs typeface="Consolas"/>
              </a:rPr>
              <a:t>down menjaga named volume</a:t>
            </a:r>
          </a:p>
        </p:txBody>
      </p:sp>
      <p:sp>
        <p:nvSpPr>
          <p:cNvPr id="26" name="Shape 22">
            <a:extLst xmlns:a="http://schemas.openxmlformats.org/drawingml/2006/main">
              <a:ext uri="{FF2B5EF4-FFF2-40B4-BE49-F238E27FC236}">
                <a16:creationId xmlns:a16="http://schemas.microsoft.com/office/drawing/2014/main" id="{42DF7883-4B8D-4505-89A7-D14EF41D64CB}"/>
              </a:ext>
            </a:extLst>
          </p:cNvPr>
          <p:cNvSpPr>
            <a:spLocks xmlns:a="http://schemas.openxmlformats.org/drawingml/2006/main" noGrp="1"/>
          </p:cNvSpPr>
          <p:nvPr/>
        </p:nvSpPr>
        <p:spPr>
          <a:xfrm xmlns:a="http://schemas.openxmlformats.org/drawingml/2006/main">
            <a:off x="457200"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27" name="Shape 23">
            <a:extLst xmlns:a="http://schemas.openxmlformats.org/drawingml/2006/main">
              <a:ext uri="{FF2B5EF4-FFF2-40B4-BE49-F238E27FC236}">
                <a16:creationId xmlns:a16="http://schemas.microsoft.com/office/drawing/2014/main" id="{EEA0EC78-2D61-45B6-A23A-69E3CA91DB2A}"/>
              </a:ext>
            </a:extLst>
          </p:cNvPr>
          <p:cNvSpPr>
            <a:spLocks xmlns:a="http://schemas.openxmlformats.org/drawingml/2006/main" noGrp="1"/>
          </p:cNvSpPr>
          <p:nvPr/>
        </p:nvSpPr>
        <p:spPr>
          <a:xfrm xmlns:a="http://schemas.openxmlformats.org/drawingml/2006/main">
            <a:off x="457200" y="3886200"/>
            <a:ext cx="2788920" cy="3657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28" name="Text 24">
            <a:extLst xmlns:a="http://schemas.openxmlformats.org/drawingml/2006/main">
              <a:ext uri="{FF2B5EF4-FFF2-40B4-BE49-F238E27FC236}">
                <a16:creationId xmlns:a16="http://schemas.microsoft.com/office/drawing/2014/main" id="{812924BC-885A-4389-89A6-43B37CE435C5}"/>
              </a:ext>
            </a:extLst>
          </p:cNvPr>
          <p:cNvSpPr>
            <a:spLocks xmlns:a="http://schemas.openxmlformats.org/drawingml/2006/main" noGrp="1"/>
          </p:cNvSpPr>
          <p:nvPr/>
        </p:nvSpPr>
        <p:spPr>
          <a:xfrm xmlns:a="http://schemas.openxmlformats.org/drawingml/2006/main">
            <a:off x="457200"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Networks</a:t>
            </a:r>
            <a:endParaRPr sz="1300"/>
          </a:p>
        </p:txBody>
      </p:sp>
      <p:sp>
        <p:nvSpPr>
          <p:cNvPr id="29" name="Text 25">
            <a:extLst xmlns:a="http://schemas.openxmlformats.org/drawingml/2006/main">
              <a:ext uri="{FF2B5EF4-FFF2-40B4-BE49-F238E27FC236}">
                <a16:creationId xmlns:a16="http://schemas.microsoft.com/office/drawing/2014/main" id="{A4C0092C-E614-4F36-998A-F7B38A9B1DD6}"/>
              </a:ext>
            </a:extLst>
          </p:cNvPr>
          <p:cNvSpPr>
            <a:spLocks xmlns:a="http://schemas.openxmlformats.org/drawingml/2006/main" noGrp="1"/>
          </p:cNvSpPr>
          <p:nvPr/>
        </p:nvSpPr>
        <p:spPr>
          <a:xfrm xmlns:a="http://schemas.openxmlformats.org/drawingml/2006/main">
            <a:off x="640080"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Nama service menjadi DNS</a:t>
            </a:r>
            <a:endParaRPr sz="1100"/>
          </a:p>
          <a:p xmlns:a="http://schemas.openxmlformats.org/drawingml/2006/main">
            <a:pPr marL="0" indent="0">
              <a:spcAft>
                <a:spcPts val="300"/>
              </a:spcAft>
              <a:buNone/>
            </a:pPr>
            <a:r>
              <a:rPr sz="1100">
                <a:solidFill>
                  <a:srgbClr val="1E293B"/>
                </a:solidFill>
                <a:latin typeface="Consolas"/>
                <a:ea typeface="Consolas"/>
                <a:cs typeface="Consolas"/>
              </a:rPr>
              <a:t>networks: [frontend]</a:t>
            </a:r>
          </a:p>
          <a:p xmlns:a="http://schemas.openxmlformats.org/drawingml/2006/main">
            <a:pPr marL="0" indent="0">
              <a:spcAft>
                <a:spcPts val="300"/>
              </a:spcAft>
              <a:buNone/>
            </a:pPr>
            <a:r>
              <a:rPr sz="1100">
                <a:solidFill>
                  <a:srgbClr val="1E293B"/>
                </a:solidFill>
                <a:latin typeface="Consolas"/>
                <a:ea typeface="Consolas"/>
                <a:cs typeface="Consolas"/>
              </a:rPr>
              <a:t>internal: true</a:t>
            </a:r>
          </a:p>
          <a:p xmlns:a="http://schemas.openxmlformats.org/drawingml/2006/main">
            <a:pPr marL="0" indent="0">
              <a:spcAft>
                <a:spcPts val="300"/>
              </a:spcAft>
              <a:buNone/>
            </a:pPr>
            <a:r>
              <a:rPr sz="1100">
                <a:solidFill>
                  <a:srgbClr val="1E293B"/>
                </a:solidFill>
                <a:latin typeface="Consolas"/>
                <a:ea typeface="Consolas"/>
                <a:cs typeface="Consolas"/>
              </a:rPr>
              <a:t>docker network ls</a:t>
            </a:r>
          </a:p>
          <a:p xmlns:a="http://schemas.openxmlformats.org/drawingml/2006/main">
            <a:pPr marL="0" indent="0">
              <a:spcAft>
                <a:spcPts val="300"/>
              </a:spcAft>
              <a:buNone/>
            </a:pPr>
            <a:r>
              <a:rPr sz="1100">
                <a:solidFill>
                  <a:srgbClr val="1E293B"/>
                </a:solidFill>
                <a:latin typeface="Consolas"/>
                <a:ea typeface="Consolas"/>
                <a:cs typeface="Consolas"/>
              </a:rPr>
              <a:t>docker network inspect &lt;n&gt;</a:t>
            </a:r>
          </a:p>
          <a:p xmlns:a="http://schemas.openxmlformats.org/drawingml/2006/main">
            <a:pPr marL="0" indent="0">
              <a:spcAft>
                <a:spcPts val="300"/>
              </a:spcAft>
              <a:buNone/>
            </a:pPr>
            <a:r>
              <a:rPr sz="1100">
                <a:solidFill>
                  <a:srgbClr val="1E293B"/>
                </a:solidFill>
                <a:latin typeface="Consolas"/>
                <a:ea typeface="Consolas"/>
                <a:cs typeface="Consolas"/>
              </a:rPr>
              <a:t>Replica perlu proxy</a:t>
            </a:r>
          </a:p>
        </p:txBody>
      </p:sp>
      <p:sp>
        <p:nvSpPr>
          <p:cNvPr id="30" name="Shape 26">
            <a:extLst xmlns:a="http://schemas.openxmlformats.org/drawingml/2006/main">
              <a:ext uri="{FF2B5EF4-FFF2-40B4-BE49-F238E27FC236}">
                <a16:creationId xmlns:a16="http://schemas.microsoft.com/office/drawing/2014/main" id="{BDF67D82-7580-4FDD-AACF-EBC5116D22B3}"/>
              </a:ext>
            </a:extLst>
          </p:cNvPr>
          <p:cNvSpPr>
            <a:spLocks xmlns:a="http://schemas.openxmlformats.org/drawingml/2006/main" noGrp="1"/>
          </p:cNvSpPr>
          <p:nvPr/>
        </p:nvSpPr>
        <p:spPr>
          <a:xfrm xmlns:a="http://schemas.openxmlformats.org/drawingml/2006/main">
            <a:off x="3364992"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1" name="Shape 27">
            <a:extLst xmlns:a="http://schemas.openxmlformats.org/drawingml/2006/main">
              <a:ext uri="{FF2B5EF4-FFF2-40B4-BE49-F238E27FC236}">
                <a16:creationId xmlns:a16="http://schemas.microsoft.com/office/drawing/2014/main" id="{D6F7ACB0-EB69-495E-A506-CAF4C4A8C41D}"/>
              </a:ext>
            </a:extLst>
          </p:cNvPr>
          <p:cNvSpPr>
            <a:spLocks xmlns:a="http://schemas.openxmlformats.org/drawingml/2006/main" noGrp="1"/>
          </p:cNvSpPr>
          <p:nvPr/>
        </p:nvSpPr>
        <p:spPr>
          <a:xfrm xmlns:a="http://schemas.openxmlformats.org/drawingml/2006/main">
            <a:off x="3364992" y="3886200"/>
            <a:ext cx="2788920" cy="36576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sp>
        <p:nvSpPr>
          <p:cNvPr id="32" name="Text 28">
            <a:extLst xmlns:a="http://schemas.openxmlformats.org/drawingml/2006/main">
              <a:ext uri="{FF2B5EF4-FFF2-40B4-BE49-F238E27FC236}">
                <a16:creationId xmlns:a16="http://schemas.microsoft.com/office/drawing/2014/main" id="{44531F66-278D-442F-A6E5-B1FD7CE69AD6}"/>
              </a:ext>
            </a:extLst>
          </p:cNvPr>
          <p:cNvSpPr>
            <a:spLocks xmlns:a="http://schemas.openxmlformats.org/drawingml/2006/main" noGrp="1"/>
          </p:cNvSpPr>
          <p:nvPr/>
        </p:nvSpPr>
        <p:spPr>
          <a:xfrm xmlns:a="http://schemas.openxmlformats.org/drawingml/2006/main">
            <a:off x="3364992"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Env</a:t>
            </a:r>
            <a:endParaRPr sz="1300"/>
          </a:p>
        </p:txBody>
      </p:sp>
      <p:sp>
        <p:nvSpPr>
          <p:cNvPr id="33" name="Text 29">
            <a:extLst xmlns:a="http://schemas.openxmlformats.org/drawingml/2006/main">
              <a:ext uri="{FF2B5EF4-FFF2-40B4-BE49-F238E27FC236}">
                <a16:creationId xmlns:a16="http://schemas.microsoft.com/office/drawing/2014/main" id="{0544C1B8-8F4B-4277-97D7-9BA08F1A47D6}"/>
              </a:ext>
            </a:extLst>
          </p:cNvPr>
          <p:cNvSpPr>
            <a:spLocks xmlns:a="http://schemas.openxmlformats.org/drawingml/2006/main" noGrp="1"/>
          </p:cNvSpPr>
          <p:nvPr/>
        </p:nvSpPr>
        <p:spPr>
          <a:xfrm xmlns:a="http://schemas.openxmlformats.org/drawingml/2006/main">
            <a:off x="3547872"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environment: K: V</a:t>
            </a:r>
            <a:endParaRPr sz="1100"/>
          </a:p>
          <a:p xmlns:a="http://schemas.openxmlformats.org/drawingml/2006/main">
            <a:pPr marL="0" indent="0">
              <a:spcAft>
                <a:spcPts val="300"/>
              </a:spcAft>
              <a:buNone/>
            </a:pPr>
            <a:r>
              <a:rPr sz="1100">
                <a:solidFill>
                  <a:srgbClr val="1E293B"/>
                </a:solidFill>
                <a:latin typeface="Consolas"/>
                <a:ea typeface="Consolas"/>
                <a:cs typeface="Consolas"/>
              </a:rPr>
              <a:t>env_file: .env.api</a:t>
            </a:r>
            <a:endParaRPr sz="1100"/>
          </a:p>
          <a:p xmlns:a="http://schemas.openxmlformats.org/drawingml/2006/main">
            <a:pPr marL="0" indent="0">
              <a:spcAft>
                <a:spcPts val="300"/>
              </a:spcAft>
              <a:buNone/>
            </a:pPr>
            <a:r>
              <a:rPr sz="1100">
                <a:solidFill>
                  <a:srgbClr val="1E293B"/>
                </a:solidFill>
                <a:latin typeface="Consolas"/>
                <a:ea typeface="Consolas"/>
                <a:cs typeface="Consolas"/>
              </a:rPr>
              <a:t>.env auto-load</a:t>
            </a:r>
            <a:endParaRPr sz="1100"/>
          </a:p>
          <a:p xmlns:a="http://schemas.openxmlformats.org/drawingml/2006/main">
            <a:pPr marL="0" indent="0">
              <a:spcAft>
                <a:spcPts val="300"/>
              </a:spcAft>
              <a:buNone/>
            </a:pPr>
            <a:r>
              <a:rPr sz="1100">
                <a:solidFill>
                  <a:srgbClr val="1E293B"/>
                </a:solidFill>
                <a:latin typeface="Consolas"/>
                <a:ea typeface="Consolas"/>
                <a:cs typeface="Consolas"/>
              </a:rPr>
              <a:t>${VAR} interpolation</a:t>
            </a:r>
            <a:endParaRPr sz="1100"/>
          </a:p>
          <a:p xmlns:a="http://schemas.openxmlformats.org/drawingml/2006/main">
            <a:pPr marL="0" indent="0">
              <a:spcAft>
                <a:spcPts val="300"/>
              </a:spcAft>
              <a:buNone/>
            </a:pPr>
            <a:r>
              <a:rPr sz="1100">
                <a:solidFill>
                  <a:srgbClr val="1E293B"/>
                </a:solidFill>
                <a:latin typeface="Consolas"/>
                <a:ea typeface="Consolas"/>
                <a:cs typeface="Consolas"/>
              </a:rPr>
              <a:t>DEBUG=true</a:t>
            </a:r>
            <a:endParaRPr sz="1100"/>
          </a:p>
          <a:p xmlns:a="http://schemas.openxmlformats.org/drawingml/2006/main">
            <a:pPr marL="0" indent="0">
              <a:spcAft>
                <a:spcPts val="300"/>
              </a:spcAft>
              <a:buNone/>
            </a:pPr>
            <a:r>
              <a:rPr sz="1100">
                <a:solidFill>
                  <a:srgbClr val="1E293B"/>
                </a:solidFill>
                <a:latin typeface="Consolas"/>
                <a:ea typeface="Consolas"/>
                <a:cs typeface="Consolas"/>
              </a:rPr>
              <a:t>NODE_ENV=production</a:t>
            </a:r>
            <a:endParaRPr sz="1100"/>
          </a:p>
        </p:txBody>
      </p:sp>
      <p:sp>
        <p:nvSpPr>
          <p:cNvPr id="34" name="Shape 30">
            <a:extLst xmlns:a="http://schemas.openxmlformats.org/drawingml/2006/main">
              <a:ext uri="{FF2B5EF4-FFF2-40B4-BE49-F238E27FC236}">
                <a16:creationId xmlns:a16="http://schemas.microsoft.com/office/drawing/2014/main" id="{650D0916-24DF-4BCD-B8E2-DEC7DE71118D}"/>
              </a:ext>
            </a:extLst>
          </p:cNvPr>
          <p:cNvSpPr>
            <a:spLocks xmlns:a="http://schemas.openxmlformats.org/drawingml/2006/main" noGrp="1"/>
          </p:cNvSpPr>
          <p:nvPr/>
        </p:nvSpPr>
        <p:spPr>
          <a:xfrm xmlns:a="http://schemas.openxmlformats.org/drawingml/2006/main">
            <a:off x="6272784"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5" name="Shape 31">
            <a:extLst xmlns:a="http://schemas.openxmlformats.org/drawingml/2006/main">
              <a:ext uri="{FF2B5EF4-FFF2-40B4-BE49-F238E27FC236}">
                <a16:creationId xmlns:a16="http://schemas.microsoft.com/office/drawing/2014/main" id="{A3EE5C04-A0F3-4166-8D9C-662729125B8E}"/>
              </a:ext>
            </a:extLst>
          </p:cNvPr>
          <p:cNvSpPr>
            <a:spLocks xmlns:a="http://schemas.openxmlformats.org/drawingml/2006/main" noGrp="1"/>
          </p:cNvSpPr>
          <p:nvPr/>
        </p:nvSpPr>
        <p:spPr>
          <a:xfrm xmlns:a="http://schemas.openxmlformats.org/drawingml/2006/main">
            <a:off x="6272784" y="3886200"/>
            <a:ext cx="2788920" cy="365760"/>
          </a:xfrm>
          <a:prstGeom xmlns:a="http://schemas.openxmlformats.org/drawingml/2006/main" prst="rect">
            <a:avLst/>
          </a:prstGeom>
          <a:solidFill xmlns:a="http://schemas.openxmlformats.org/drawingml/2006/main">
            <a:srgbClr val="1E40AF"/>
          </a:solidFill>
          <a:ln xmlns:a="http://schemas.openxmlformats.org/drawingml/2006/main" w="12700">
            <a:solidFill>
              <a:srgbClr val="1E40AF"/>
            </a:solidFill>
            <a:prstDash val="solid"/>
          </a:ln>
        </p:spPr>
      </p:sp>
      <p:sp>
        <p:nvSpPr>
          <p:cNvPr id="36" name="Text 32">
            <a:extLst xmlns:a="http://schemas.openxmlformats.org/drawingml/2006/main">
              <a:ext uri="{FF2B5EF4-FFF2-40B4-BE49-F238E27FC236}">
                <a16:creationId xmlns:a16="http://schemas.microsoft.com/office/drawing/2014/main" id="{7D1DD086-BC28-4D0B-9C57-F0EFB4FFD5F3}"/>
              </a:ext>
            </a:extLst>
          </p:cNvPr>
          <p:cNvSpPr>
            <a:spLocks xmlns:a="http://schemas.openxmlformats.org/drawingml/2006/main" noGrp="1"/>
          </p:cNvSpPr>
          <p:nvPr/>
        </p:nvSpPr>
        <p:spPr>
          <a:xfrm xmlns:a="http://schemas.openxmlformats.org/drawingml/2006/main">
            <a:off x="6272784"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Health</a:t>
            </a:r>
            <a:endParaRPr sz="1300"/>
          </a:p>
        </p:txBody>
      </p:sp>
      <p:sp>
        <p:nvSpPr>
          <p:cNvPr id="37" name="Text 33">
            <a:extLst xmlns:a="http://schemas.openxmlformats.org/drawingml/2006/main">
              <a:ext uri="{FF2B5EF4-FFF2-40B4-BE49-F238E27FC236}">
                <a16:creationId xmlns:a16="http://schemas.microsoft.com/office/drawing/2014/main" id="{128F92CC-9A2C-4C7F-A8BE-97B9B42A7207}"/>
              </a:ext>
            </a:extLst>
          </p:cNvPr>
          <p:cNvSpPr>
            <a:spLocks xmlns:a="http://schemas.openxmlformats.org/drawingml/2006/main" noGrp="1"/>
          </p:cNvSpPr>
          <p:nvPr/>
        </p:nvSpPr>
        <p:spPr>
          <a:xfrm xmlns:a="http://schemas.openxmlformats.org/drawingml/2006/main">
            <a:off x="6455664"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healthcheck: per service</a:t>
            </a:r>
            <a:endParaRPr sz="1100"/>
          </a:p>
          <a:p xmlns:a="http://schemas.openxmlformats.org/drawingml/2006/main">
            <a:pPr marL="0" indent="0">
              <a:spcAft>
                <a:spcPts val="300"/>
              </a:spcAft>
              <a:buNone/>
            </a:pPr>
            <a:r>
              <a:rPr sz="1100">
                <a:solidFill>
                  <a:srgbClr val="1E293B"/>
                </a:solidFill>
                <a:latin typeface="Consolas"/>
                <a:ea typeface="Consolas"/>
                <a:cs typeface="Consolas"/>
              </a:rPr>
              <a:t>DB memakai pg_isready</a:t>
            </a:r>
          </a:p>
          <a:p xmlns:a="http://schemas.openxmlformats.org/drawingml/2006/main">
            <a:pPr marL="0" indent="0">
              <a:spcAft>
                <a:spcPts val="300"/>
              </a:spcAft>
              <a:buNone/>
            </a:pPr>
            <a:r>
              <a:rPr sz="1100">
                <a:solidFill>
                  <a:srgbClr val="1E293B"/>
                </a:solidFill>
                <a:latin typeface="Consolas"/>
                <a:ea typeface="Consolas"/>
                <a:cs typeface="Consolas"/>
              </a:rPr>
              <a:t>Redis memakai redis-cli ping</a:t>
            </a:r>
          </a:p>
          <a:p xmlns:a="http://schemas.openxmlformats.org/drawingml/2006/main">
            <a:pPr marL="0" indent="0">
              <a:spcAft>
                <a:spcPts val="300"/>
              </a:spcAft>
              <a:buNone/>
            </a:pPr>
            <a:r>
              <a:rPr sz="1100">
                <a:solidFill>
                  <a:srgbClr val="1E293B"/>
                </a:solidFill>
                <a:latin typeface="Consolas"/>
                <a:ea typeface="Consolas"/>
                <a:cs typeface="Consolas"/>
              </a:rPr>
              <a:t>API memeriksa /health</a:t>
            </a:r>
          </a:p>
          <a:p xmlns:a="http://schemas.openxmlformats.org/drawingml/2006/main">
            <a:pPr marL="0" indent="0">
              <a:spcAft>
                <a:spcPts val="300"/>
              </a:spcAft>
              <a:buNone/>
            </a:pPr>
            <a:r>
              <a:rPr sz="1100">
                <a:solidFill>
                  <a:srgbClr val="1E293B"/>
                </a:solidFill>
                <a:latin typeface="Consolas"/>
                <a:ea typeface="Consolas"/>
                <a:cs typeface="Consolas"/>
              </a:rPr>
              <a:t>depends_on: service_healthy</a:t>
            </a:r>
          </a:p>
          <a:p xmlns:a="http://schemas.openxmlformats.org/drawingml/2006/main">
            <a:pPr marL="0" indent="0">
              <a:spcAft>
                <a:spcPts val="300"/>
              </a:spcAft>
              <a:buNone/>
            </a:pPr>
            <a:r>
              <a:rPr sz="1100">
                <a:solidFill>
                  <a:srgbClr val="1E293B"/>
                </a:solidFill>
                <a:latin typeface="Consolas"/>
                <a:ea typeface="Consolas"/>
                <a:cs typeface="Consolas"/>
              </a:rPr>
              <a:t>--wait menunggu kesiapan</a:t>
            </a:r>
          </a:p>
        </p:txBody>
      </p:sp>
      <p:sp>
        <p:nvSpPr>
          <p:cNvPr id="38" name="Shape 34">
            <a:extLst xmlns:a="http://schemas.openxmlformats.org/drawingml/2006/main">
              <a:ext uri="{FF2B5EF4-FFF2-40B4-BE49-F238E27FC236}">
                <a16:creationId xmlns:a16="http://schemas.microsoft.com/office/drawing/2014/main" id="{7926C379-04C5-4ECD-9EA7-68ADCE39F9FF}"/>
              </a:ext>
            </a:extLst>
          </p:cNvPr>
          <p:cNvSpPr>
            <a:spLocks xmlns:a="http://schemas.openxmlformats.org/drawingml/2006/main" noGrp="1"/>
          </p:cNvSpPr>
          <p:nvPr/>
        </p:nvSpPr>
        <p:spPr>
          <a:xfrm xmlns:a="http://schemas.openxmlformats.org/drawingml/2006/main">
            <a:off x="9180576" y="3886200"/>
            <a:ext cx="2788920" cy="228600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sp>
        <p:nvSpPr>
          <p:cNvPr id="39" name="Shape 35">
            <a:extLst xmlns:a="http://schemas.openxmlformats.org/drawingml/2006/main">
              <a:ext uri="{FF2B5EF4-FFF2-40B4-BE49-F238E27FC236}">
                <a16:creationId xmlns:a16="http://schemas.microsoft.com/office/drawing/2014/main" id="{CB378DCB-E6A7-4752-81E6-8B1DA68C39AB}"/>
              </a:ext>
            </a:extLst>
          </p:cNvPr>
          <p:cNvSpPr>
            <a:spLocks xmlns:a="http://schemas.openxmlformats.org/drawingml/2006/main" noGrp="1"/>
          </p:cNvSpPr>
          <p:nvPr/>
        </p:nvSpPr>
        <p:spPr>
          <a:xfrm xmlns:a="http://schemas.openxmlformats.org/drawingml/2006/main">
            <a:off x="9180576" y="3886200"/>
            <a:ext cx="2788920" cy="36576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sp>
        <p:nvSpPr>
          <p:cNvPr id="40" name="Text 36">
            <a:extLst xmlns:a="http://schemas.openxmlformats.org/drawingml/2006/main">
              <a:ext uri="{FF2B5EF4-FFF2-40B4-BE49-F238E27FC236}">
                <a16:creationId xmlns:a16="http://schemas.microsoft.com/office/drawing/2014/main" id="{FB2A094B-7C29-4129-BA68-8F071C7DD19F}"/>
              </a:ext>
            </a:extLst>
          </p:cNvPr>
          <p:cNvSpPr>
            <a:spLocks xmlns:a="http://schemas.openxmlformats.org/drawingml/2006/main" noGrp="1"/>
          </p:cNvSpPr>
          <p:nvPr/>
        </p:nvSpPr>
        <p:spPr>
          <a:xfrm xmlns:a="http://schemas.openxmlformats.org/drawingml/2006/main">
            <a:off x="9180576" y="3886200"/>
            <a:ext cx="2788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200">
                <a:solidFill>
                  <a:srgbClr val="FFFFFF"/>
                </a:solidFill>
                <a:latin typeface="Calibri"/>
                <a:ea typeface="Calibri"/>
                <a:cs typeface="Calibri"/>
              </a:rPr>
              <a:t>Override</a:t>
            </a:r>
            <a:endParaRPr sz="1300"/>
          </a:p>
        </p:txBody>
      </p:sp>
      <p:sp>
        <p:nvSpPr>
          <p:cNvPr id="41" name="Text 37">
            <a:extLst xmlns:a="http://schemas.openxmlformats.org/drawingml/2006/main">
              <a:ext uri="{FF2B5EF4-FFF2-40B4-BE49-F238E27FC236}">
                <a16:creationId xmlns:a16="http://schemas.microsoft.com/office/drawing/2014/main" id="{04A935EE-E329-405E-AAA8-C756C52A9565}"/>
              </a:ext>
            </a:extLst>
          </p:cNvPr>
          <p:cNvSpPr>
            <a:spLocks xmlns:a="http://schemas.openxmlformats.org/drawingml/2006/main" noGrp="1"/>
          </p:cNvSpPr>
          <p:nvPr/>
        </p:nvSpPr>
        <p:spPr>
          <a:xfrm xmlns:a="http://schemas.openxmlformats.org/drawingml/2006/main">
            <a:off x="9363456" y="4343400"/>
            <a:ext cx="2423160" cy="1737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300"/>
              </a:spcAft>
              <a:buNone/>
            </a:pPr>
            <a:r>
              <a:rPr sz="1100">
                <a:solidFill>
                  <a:srgbClr val="1E293B"/>
                </a:solidFill>
                <a:latin typeface="Consolas"/>
                <a:ea typeface="Consolas"/>
                <a:cs typeface="Consolas"/>
              </a:rPr>
              <a:t>compose.yaml sebagai base</a:t>
            </a:r>
            <a:endParaRPr sz="1100"/>
          </a:p>
          <a:p xmlns:a="http://schemas.openxmlformats.org/drawingml/2006/main">
            <a:pPr marL="0" indent="0">
              <a:spcAft>
                <a:spcPts val="300"/>
              </a:spcAft>
              <a:buNone/>
            </a:pPr>
            <a:r>
              <a:rPr sz="1100">
                <a:solidFill>
                  <a:srgbClr val="1E293B"/>
                </a:solidFill>
                <a:latin typeface="Consolas"/>
                <a:ea typeface="Consolas"/>
                <a:cs typeface="Consolas"/>
              </a:rPr>
              <a:t>compose.override.yaml dev</a:t>
            </a:r>
          </a:p>
          <a:p xmlns:a="http://schemas.openxmlformats.org/drawingml/2006/main">
            <a:pPr marL="0" indent="0">
              <a:spcAft>
                <a:spcPts val="300"/>
              </a:spcAft>
              <a:buNone/>
            </a:pPr>
            <a:r>
              <a:rPr sz="1100">
                <a:solidFill>
                  <a:srgbClr val="1E293B"/>
                </a:solidFill>
                <a:latin typeface="Consolas"/>
                <a:ea typeface="Consolas"/>
                <a:cs typeface="Consolas"/>
              </a:rPr>
              <a:t>-f compose.prod.yaml</a:t>
            </a:r>
          </a:p>
          <a:p xmlns:a="http://schemas.openxmlformats.org/drawingml/2006/main">
            <a:pPr marL="0" indent="0">
              <a:spcAft>
                <a:spcPts val="300"/>
              </a:spcAft>
              <a:buNone/>
            </a:pPr>
            <a:r>
              <a:rPr sz="1100">
                <a:solidFill>
                  <a:srgbClr val="1E293B"/>
                </a:solidFill>
                <a:latin typeface="Consolas"/>
                <a:ea typeface="Consolas"/>
                <a:cs typeface="Consolas"/>
              </a:rPr>
              <a:t>Gabung sesuai urutan -f</a:t>
            </a:r>
          </a:p>
          <a:p xmlns:a="http://schemas.openxmlformats.org/drawingml/2006/main">
            <a:pPr marL="0" indent="0">
              <a:spcAft>
                <a:spcPts val="300"/>
              </a:spcAft>
              <a:buNone/>
            </a:pPr>
            <a:r>
              <a:rPr sz="1100">
                <a:solidFill>
                  <a:srgbClr val="1E293B"/>
                </a:solidFill>
                <a:latin typeface="Consolas"/>
                <a:ea typeface="Consolas"/>
                <a:cs typeface="Consolas"/>
              </a:rPr>
              <a:t>Aturan merge per field</a:t>
            </a:r>
          </a:p>
          <a:p xmlns:a="http://schemas.openxmlformats.org/drawingml/2006/main">
            <a:pPr marL="0" indent="0">
              <a:spcAft>
                <a:spcPts val="300"/>
              </a:spcAft>
              <a:buNone/>
            </a:pPr>
            <a:r>
              <a:rPr sz="1100">
                <a:solidFill>
                  <a:srgbClr val="1E293B"/>
                </a:solidFill>
                <a:latin typeface="Consolas"/>
                <a:ea typeface="Consolas"/>
                <a:cs typeface="Consolas"/>
              </a:rPr>
              <a:t>Cek docker compose config</a:t>
            </a:r>
          </a:p>
        </p:txBody>
      </p:sp>
    </p:spTree>
    <p:extLst>
      <p:ext uri="{BB962C8B-B14F-4D97-AF65-F5344CB8AC3E}">
        <p14:creationId xmlns:p14="http://schemas.microsoft.com/office/powerpoint/2010/main" val="41945410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2A5370-D3BC-4F1D-8843-69353F94488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Pertemuan 6</a:t>
            </a:r>
            <a:endParaRPr sz="900"/>
          </a:p>
        </p:txBody>
      </p:sp>
      <p:sp>
        <p:nvSpPr>
          <p:cNvPr id="3" name="Text 1">
            <a:extLst xmlns:a="http://schemas.openxmlformats.org/drawingml/2006/main">
              <a:ext uri="{FF2B5EF4-FFF2-40B4-BE49-F238E27FC236}">
                <a16:creationId xmlns:a16="http://schemas.microsoft.com/office/drawing/2014/main" id="{C640940C-F826-4FBD-8D03-216C5F1C2790}"/>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31</a:t>
            </a:r>
            <a:endParaRPr sz="900"/>
          </a:p>
        </p:txBody>
      </p:sp>
      <p:sp>
        <p:nvSpPr>
          <p:cNvPr id="4" name="Shape 2">
            <a:extLst xmlns:a="http://schemas.openxmlformats.org/drawingml/2006/main">
              <a:ext uri="{FF2B5EF4-FFF2-40B4-BE49-F238E27FC236}">
                <a16:creationId xmlns:a16="http://schemas.microsoft.com/office/drawing/2014/main" id="{8CDF9864-7799-4036-ACD7-3021BB58710C}"/>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56" name="Image 0">
            <a:extLst xmlns:a="http://schemas.openxmlformats.org/drawingml/2006/main">
              <a:ext uri="{FF2B5EF4-FFF2-40B4-BE49-F238E27FC236}">
                <a16:creationId xmlns:a16="http://schemas.microsoft.com/office/drawing/2014/main" id="{4D97DF95-B86E-44C5-BD6E-8CB375DDFC70}"/>
              </a:ext>
            </a:extLst>
          </p:cNvPr>
          <p:cNvPicPr>
            <a:picLocks xmlns:a="http://schemas.openxmlformats.org/drawingml/2006/main" noChangeAspect="1"/>
          </p:cNvPicPr>
          <p:nvPr/>
        </p:nvPicPr>
        <p:blipFill>
          <a:blip xmlns:r="http://schemas.openxmlformats.org/officeDocument/2006/relationships" xmlns:a="http://schemas.openxmlformats.org/drawingml/2006/main" r:embed="R63e20bf477b64537"/>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57" name="Image 1">
            <a:extLst xmlns:a="http://schemas.openxmlformats.org/drawingml/2006/main">
              <a:ext uri="{FF2B5EF4-FFF2-40B4-BE49-F238E27FC236}">
                <a16:creationId xmlns:a16="http://schemas.microsoft.com/office/drawing/2014/main" id="{DE705DA8-6D34-446A-94D5-C03F407733C6}"/>
              </a:ext>
            </a:extLst>
          </p:cNvPr>
          <p:cNvPicPr>
            <a:picLocks xmlns:a="http://schemas.openxmlformats.org/drawingml/2006/main" noChangeAspect="1"/>
          </p:cNvPicPr>
          <p:nvPr/>
        </p:nvPicPr>
        <p:blipFill>
          <a:blip xmlns:r="http://schemas.openxmlformats.org/officeDocument/2006/relationships" xmlns:a="http://schemas.openxmlformats.org/drawingml/2006/main" r:embed="R171c7124920542c7"/>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DF17CE82-64CC-4185-96EA-C5336C03431D}"/>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sp>
      <p:sp>
        <p:nvSpPr>
          <p:cNvPr id="8" name="Text 4">
            <a:extLst xmlns:a="http://schemas.openxmlformats.org/drawingml/2006/main">
              <a:ext uri="{FF2B5EF4-FFF2-40B4-BE49-F238E27FC236}">
                <a16:creationId xmlns:a16="http://schemas.microsoft.com/office/drawing/2014/main" id="{70A41689-0B03-46DE-B4DF-A0543C4DB8CB}"/>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Wrap-Up &amp; Persiapan Pertemuan 7</a:t>
            </a:r>
            <a:endParaRPr sz="2200"/>
          </a:p>
        </p:txBody>
      </p:sp>
      <p:sp>
        <p:nvSpPr>
          <p:cNvPr id="9" name="Text 5">
            <a:extLst xmlns:a="http://schemas.openxmlformats.org/drawingml/2006/main">
              <a:ext uri="{FF2B5EF4-FFF2-40B4-BE49-F238E27FC236}">
                <a16:creationId xmlns:a16="http://schemas.microsoft.com/office/drawing/2014/main" id="{D0201DA9-BE5C-421D-BD79-E6EE49FAEF1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Supabase + BaaS minggu depan - Postgres as a Service</a:t>
            </a:r>
            <a:endParaRPr sz="1200"/>
          </a:p>
        </p:txBody>
      </p:sp>
      <p:sp>
        <p:nvSpPr>
          <p:cNvPr id="10" name="Text 6">
            <a:extLst xmlns:a="http://schemas.openxmlformats.org/drawingml/2006/main">
              <a:ext uri="{FF2B5EF4-FFF2-40B4-BE49-F238E27FC236}">
                <a16:creationId xmlns:a16="http://schemas.microsoft.com/office/drawing/2014/main" id="{A857DDE0-A571-4E96-8A94-0EC8EF06D790}"/>
              </a:ext>
            </a:extLst>
          </p:cNvPr>
          <p:cNvSpPr>
            <a:spLocks xmlns:a="http://schemas.openxmlformats.org/drawingml/2006/main" noGrp="1"/>
          </p:cNvSpPr>
          <p:nvPr/>
        </p:nvSpPr>
        <p:spPr>
          <a:xfrm xmlns:a="http://schemas.openxmlformats.org/drawingml/2006/main">
            <a:off x="457200" y="1417320"/>
            <a:ext cx="5486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002677"/>
                </a:solidFill>
                <a:latin typeface="Calibri"/>
                <a:ea typeface="Calibri"/>
                <a:cs typeface="Calibri"/>
              </a:rPr>
              <a:t>Key Takeaways Hari Ini</a:t>
            </a:r>
            <a:endParaRPr sz="1600"/>
          </a:p>
        </p:txBody>
      </p:sp>
      <p:sp>
        <p:nvSpPr>
          <p:cNvPr id="11" name="Shape 7">
            <a:extLst xmlns:a="http://schemas.openxmlformats.org/drawingml/2006/main">
              <a:ext uri="{FF2B5EF4-FFF2-40B4-BE49-F238E27FC236}">
                <a16:creationId xmlns:a16="http://schemas.microsoft.com/office/drawing/2014/main" id="{34B53A8E-DEDA-45A0-9BE2-EFF50514F726}"/>
              </a:ext>
            </a:extLst>
          </p:cNvPr>
          <p:cNvSpPr>
            <a:spLocks xmlns:a="http://schemas.openxmlformats.org/drawingml/2006/main" noGrp="1"/>
          </p:cNvSpPr>
          <p:nvPr/>
        </p:nvSpPr>
        <p:spPr>
          <a:xfrm xmlns:a="http://schemas.openxmlformats.org/drawingml/2006/main">
            <a:off x="457200" y="1920240"/>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2" name="Text 8">
            <a:extLst xmlns:a="http://schemas.openxmlformats.org/drawingml/2006/main">
              <a:ext uri="{FF2B5EF4-FFF2-40B4-BE49-F238E27FC236}">
                <a16:creationId xmlns:a16="http://schemas.microsoft.com/office/drawing/2014/main" id="{1A796368-308C-4742-B1DA-4BCD253BB9EC}"/>
              </a:ext>
            </a:extLst>
          </p:cNvPr>
          <p:cNvSpPr>
            <a:spLocks xmlns:a="http://schemas.openxmlformats.org/drawingml/2006/main" noGrp="1"/>
          </p:cNvSpPr>
          <p:nvPr/>
        </p:nvSpPr>
        <p:spPr>
          <a:xfrm xmlns:a="http://schemas.openxmlformats.org/drawingml/2006/main">
            <a:off x="457200" y="19202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endParaRPr sz="1100"/>
          </a:p>
        </p:txBody>
      </p:sp>
      <p:sp>
        <p:nvSpPr>
          <p:cNvPr id="13" name="Text 9">
            <a:extLst xmlns:a="http://schemas.openxmlformats.org/drawingml/2006/main">
              <a:ext uri="{FF2B5EF4-FFF2-40B4-BE49-F238E27FC236}">
                <a16:creationId xmlns:a16="http://schemas.microsoft.com/office/drawing/2014/main" id="{5D634ECF-9E98-472D-9E01-4AE805CBB3E3}"/>
              </a:ext>
            </a:extLst>
          </p:cNvPr>
          <p:cNvSpPr>
            <a:spLocks xmlns:a="http://schemas.openxmlformats.org/drawingml/2006/main" noGrp="1"/>
          </p:cNvSpPr>
          <p:nvPr/>
        </p:nvSpPr>
        <p:spPr>
          <a:xfrm xmlns:a="http://schemas.openxmlformats.org/drawingml/2006/main">
            <a:off x="868680" y="1874520"/>
            <a:ext cx="5166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compose.yml = 1 file untuk define + run multi-container stack.</a:t>
            </a:r>
            <a:endParaRPr sz="1050"/>
          </a:p>
        </p:txBody>
      </p:sp>
      <p:sp>
        <p:nvSpPr>
          <p:cNvPr id="14" name="Shape 10">
            <a:extLst xmlns:a="http://schemas.openxmlformats.org/drawingml/2006/main">
              <a:ext uri="{FF2B5EF4-FFF2-40B4-BE49-F238E27FC236}">
                <a16:creationId xmlns:a16="http://schemas.microsoft.com/office/drawing/2014/main" id="{F7F61488-F038-4F7A-9153-AD13625981CF}"/>
              </a:ext>
            </a:extLst>
          </p:cNvPr>
          <p:cNvSpPr>
            <a:spLocks xmlns:a="http://schemas.openxmlformats.org/drawingml/2006/main" noGrp="1"/>
          </p:cNvSpPr>
          <p:nvPr/>
        </p:nvSpPr>
        <p:spPr>
          <a:xfrm xmlns:a="http://schemas.openxmlformats.org/drawingml/2006/main">
            <a:off x="457200" y="2377440"/>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5" name="Text 11">
            <a:extLst xmlns:a="http://schemas.openxmlformats.org/drawingml/2006/main">
              <a:ext uri="{FF2B5EF4-FFF2-40B4-BE49-F238E27FC236}">
                <a16:creationId xmlns:a16="http://schemas.microsoft.com/office/drawing/2014/main" id="{64B3655D-7A94-4CC3-90CB-98B76C805DF2}"/>
              </a:ext>
            </a:extLst>
          </p:cNvPr>
          <p:cNvSpPr>
            <a:spLocks xmlns:a="http://schemas.openxmlformats.org/drawingml/2006/main" noGrp="1"/>
          </p:cNvSpPr>
          <p:nvPr/>
        </p:nvSpPr>
        <p:spPr>
          <a:xfrm xmlns:a="http://schemas.openxmlformats.org/drawingml/2006/main">
            <a:off x="457200" y="23774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endParaRPr sz="1100"/>
          </a:p>
        </p:txBody>
      </p:sp>
      <p:sp>
        <p:nvSpPr>
          <p:cNvPr id="16" name="Text 12">
            <a:extLst xmlns:a="http://schemas.openxmlformats.org/drawingml/2006/main">
              <a:ext uri="{FF2B5EF4-FFF2-40B4-BE49-F238E27FC236}">
                <a16:creationId xmlns:a16="http://schemas.microsoft.com/office/drawing/2014/main" id="{BEF33C12-44C8-415B-8C31-5769BD773A71}"/>
              </a:ext>
            </a:extLst>
          </p:cNvPr>
          <p:cNvSpPr>
            <a:spLocks xmlns:a="http://schemas.openxmlformats.org/drawingml/2006/main" noGrp="1"/>
          </p:cNvSpPr>
          <p:nvPr/>
        </p:nvSpPr>
        <p:spPr>
          <a:xfrm xmlns:a="http://schemas.openxmlformats.org/drawingml/2006/main">
            <a:off x="868680" y="2331720"/>
            <a:ext cx="5166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5 top-level keys: services, networks, volumes, configs, secrets.</a:t>
            </a:r>
            <a:endParaRPr sz="1050"/>
          </a:p>
        </p:txBody>
      </p:sp>
      <p:sp>
        <p:nvSpPr>
          <p:cNvPr id="17" name="Shape 13">
            <a:extLst xmlns:a="http://schemas.openxmlformats.org/drawingml/2006/main">
              <a:ext uri="{FF2B5EF4-FFF2-40B4-BE49-F238E27FC236}">
                <a16:creationId xmlns:a16="http://schemas.microsoft.com/office/drawing/2014/main" id="{D16FCE11-026C-4AE1-8CD4-D2570FD21726}"/>
              </a:ext>
            </a:extLst>
          </p:cNvPr>
          <p:cNvSpPr>
            <a:spLocks xmlns:a="http://schemas.openxmlformats.org/drawingml/2006/main" noGrp="1"/>
          </p:cNvSpPr>
          <p:nvPr/>
        </p:nvSpPr>
        <p:spPr>
          <a:xfrm xmlns:a="http://schemas.openxmlformats.org/drawingml/2006/main">
            <a:off x="457200" y="2834640"/>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18" name="Text 14">
            <a:extLst xmlns:a="http://schemas.openxmlformats.org/drawingml/2006/main">
              <a:ext uri="{FF2B5EF4-FFF2-40B4-BE49-F238E27FC236}">
                <a16:creationId xmlns:a16="http://schemas.microsoft.com/office/drawing/2014/main" id="{7A807267-ED3C-4956-A1EF-9CFBA7293AA1}"/>
              </a:ext>
            </a:extLst>
          </p:cNvPr>
          <p:cNvSpPr>
            <a:spLocks xmlns:a="http://schemas.openxmlformats.org/drawingml/2006/main" noGrp="1"/>
          </p:cNvSpPr>
          <p:nvPr/>
        </p:nvSpPr>
        <p:spPr>
          <a:xfrm xmlns:a="http://schemas.openxmlformats.org/drawingml/2006/main">
            <a:off x="457200" y="28346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endParaRPr sz="1100"/>
          </a:p>
        </p:txBody>
      </p:sp>
      <p:sp>
        <p:nvSpPr>
          <p:cNvPr id="19" name="Text 15">
            <a:extLst xmlns:a="http://schemas.openxmlformats.org/drawingml/2006/main">
              <a:ext uri="{FF2B5EF4-FFF2-40B4-BE49-F238E27FC236}">
                <a16:creationId xmlns:a16="http://schemas.microsoft.com/office/drawing/2014/main" id="{9EA9C999-715B-443B-A274-E2A4FBB8F599}"/>
              </a:ext>
            </a:extLst>
          </p:cNvPr>
          <p:cNvSpPr>
            <a:spLocks xmlns:a="http://schemas.openxmlformats.org/drawingml/2006/main" noGrp="1"/>
          </p:cNvSpPr>
          <p:nvPr/>
        </p:nvSpPr>
        <p:spPr>
          <a:xfrm xmlns:a="http://schemas.openxmlformats.org/drawingml/2006/main">
            <a:off x="868680" y="2788920"/>
            <a:ext cx="5166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Service name jadi DNS hostname - tidak perlu hardcode IP.</a:t>
            </a:r>
            <a:endParaRPr sz="1050"/>
          </a:p>
        </p:txBody>
      </p:sp>
      <p:sp>
        <p:nvSpPr>
          <p:cNvPr id="20" name="Shape 16">
            <a:extLst xmlns:a="http://schemas.openxmlformats.org/drawingml/2006/main">
              <a:ext uri="{FF2B5EF4-FFF2-40B4-BE49-F238E27FC236}">
                <a16:creationId xmlns:a16="http://schemas.microsoft.com/office/drawing/2014/main" id="{4A49E341-F492-41BA-B2CF-384E552F9D9C}"/>
              </a:ext>
            </a:extLst>
          </p:cNvPr>
          <p:cNvSpPr>
            <a:spLocks xmlns:a="http://schemas.openxmlformats.org/drawingml/2006/main" noGrp="1"/>
          </p:cNvSpPr>
          <p:nvPr/>
        </p:nvSpPr>
        <p:spPr>
          <a:xfrm xmlns:a="http://schemas.openxmlformats.org/drawingml/2006/main">
            <a:off x="457200" y="3291840"/>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1" name="Text 17">
            <a:extLst xmlns:a="http://schemas.openxmlformats.org/drawingml/2006/main">
              <a:ext uri="{FF2B5EF4-FFF2-40B4-BE49-F238E27FC236}">
                <a16:creationId xmlns:a16="http://schemas.microsoft.com/office/drawing/2014/main" id="{732909D1-7363-43E0-A1E8-E98B725FBD89}"/>
              </a:ext>
            </a:extLst>
          </p:cNvPr>
          <p:cNvSpPr>
            <a:spLocks xmlns:a="http://schemas.openxmlformats.org/drawingml/2006/main" noGrp="1"/>
          </p:cNvSpPr>
          <p:nvPr/>
        </p:nvSpPr>
        <p:spPr>
          <a:xfrm xmlns:a="http://schemas.openxmlformats.org/drawingml/2006/main">
            <a:off x="457200" y="32918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endParaRPr sz="1100"/>
          </a:p>
        </p:txBody>
      </p:sp>
      <p:sp>
        <p:nvSpPr>
          <p:cNvPr id="22" name="Text 18">
            <a:extLst xmlns:a="http://schemas.openxmlformats.org/drawingml/2006/main">
              <a:ext uri="{FF2B5EF4-FFF2-40B4-BE49-F238E27FC236}">
                <a16:creationId xmlns:a16="http://schemas.microsoft.com/office/drawing/2014/main" id="{5768D1D3-D24F-4589-8E9E-64A41F1F6567}"/>
              </a:ext>
            </a:extLst>
          </p:cNvPr>
          <p:cNvSpPr>
            <a:spLocks xmlns:a="http://schemas.openxmlformats.org/drawingml/2006/main" noGrp="1"/>
          </p:cNvSpPr>
          <p:nvPr/>
        </p:nvSpPr>
        <p:spPr>
          <a:xfrm xmlns:a="http://schemas.openxmlformats.org/drawingml/2006/main">
            <a:off x="868680" y="3246120"/>
            <a:ext cx="5166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depends_on + healthcheck = pastikan urutan start benar.</a:t>
            </a:r>
            <a:endParaRPr sz="1050"/>
          </a:p>
        </p:txBody>
      </p:sp>
      <p:sp>
        <p:nvSpPr>
          <p:cNvPr id="23" name="Shape 19">
            <a:extLst xmlns:a="http://schemas.openxmlformats.org/drawingml/2006/main">
              <a:ext uri="{FF2B5EF4-FFF2-40B4-BE49-F238E27FC236}">
                <a16:creationId xmlns:a16="http://schemas.microsoft.com/office/drawing/2014/main" id="{05653B7F-09D6-4058-ADD1-50EB2DD5746C}"/>
              </a:ext>
            </a:extLst>
          </p:cNvPr>
          <p:cNvSpPr>
            <a:spLocks xmlns:a="http://schemas.openxmlformats.org/drawingml/2006/main" noGrp="1"/>
          </p:cNvSpPr>
          <p:nvPr/>
        </p:nvSpPr>
        <p:spPr>
          <a:xfrm xmlns:a="http://schemas.openxmlformats.org/drawingml/2006/main">
            <a:off x="457200" y="3749040"/>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4" name="Text 20">
            <a:extLst xmlns:a="http://schemas.openxmlformats.org/drawingml/2006/main">
              <a:ext uri="{FF2B5EF4-FFF2-40B4-BE49-F238E27FC236}">
                <a16:creationId xmlns:a16="http://schemas.microsoft.com/office/drawing/2014/main" id="{1C437D80-90E4-4586-9D3C-D4F4E2DA420C}"/>
              </a:ext>
            </a:extLst>
          </p:cNvPr>
          <p:cNvSpPr>
            <a:spLocks xmlns:a="http://schemas.openxmlformats.org/drawingml/2006/main" noGrp="1"/>
          </p:cNvSpPr>
          <p:nvPr/>
        </p:nvSpPr>
        <p:spPr>
          <a:xfrm xmlns:a="http://schemas.openxmlformats.org/drawingml/2006/main">
            <a:off x="457200" y="37490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endParaRPr sz="1100"/>
          </a:p>
        </p:txBody>
      </p:sp>
      <p:sp>
        <p:nvSpPr>
          <p:cNvPr id="25" name="Text 21">
            <a:extLst xmlns:a="http://schemas.openxmlformats.org/drawingml/2006/main">
              <a:ext uri="{FF2B5EF4-FFF2-40B4-BE49-F238E27FC236}">
                <a16:creationId xmlns:a16="http://schemas.microsoft.com/office/drawing/2014/main" id="{36DB6FDA-D785-497A-8F5B-779E644BA641}"/>
              </a:ext>
            </a:extLst>
          </p:cNvPr>
          <p:cNvSpPr>
            <a:spLocks xmlns:a="http://schemas.openxmlformats.org/drawingml/2006/main" noGrp="1"/>
          </p:cNvSpPr>
          <p:nvPr/>
        </p:nvSpPr>
        <p:spPr>
          <a:xfrm xmlns:a="http://schemas.openxmlformats.org/drawingml/2006/main">
            <a:off x="868680" y="3703320"/>
            <a:ext cx="5166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Named volume untuk DB. Bind mount untuk dev hot-reload.</a:t>
            </a:r>
            <a:endParaRPr sz="1050"/>
          </a:p>
        </p:txBody>
      </p:sp>
      <p:sp>
        <p:nvSpPr>
          <p:cNvPr id="26" name="Shape 22">
            <a:extLst xmlns:a="http://schemas.openxmlformats.org/drawingml/2006/main">
              <a:ext uri="{FF2B5EF4-FFF2-40B4-BE49-F238E27FC236}">
                <a16:creationId xmlns:a16="http://schemas.microsoft.com/office/drawing/2014/main" id="{3E0F7CDD-489B-4C5B-BD8A-18C4434524CE}"/>
              </a:ext>
            </a:extLst>
          </p:cNvPr>
          <p:cNvSpPr>
            <a:spLocks xmlns:a="http://schemas.openxmlformats.org/drawingml/2006/main" noGrp="1"/>
          </p:cNvSpPr>
          <p:nvPr/>
        </p:nvSpPr>
        <p:spPr>
          <a:xfrm xmlns:a="http://schemas.openxmlformats.org/drawingml/2006/main">
            <a:off x="457200" y="4206240"/>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27" name="Text 23">
            <a:extLst xmlns:a="http://schemas.openxmlformats.org/drawingml/2006/main">
              <a:ext uri="{FF2B5EF4-FFF2-40B4-BE49-F238E27FC236}">
                <a16:creationId xmlns:a16="http://schemas.microsoft.com/office/drawing/2014/main" id="{EDDBDD87-A8F3-41A2-87DB-7E5FD3A2812B}"/>
              </a:ext>
            </a:extLst>
          </p:cNvPr>
          <p:cNvSpPr>
            <a:spLocks xmlns:a="http://schemas.openxmlformats.org/drawingml/2006/main" noGrp="1"/>
          </p:cNvSpPr>
          <p:nvPr/>
        </p:nvSpPr>
        <p:spPr>
          <a:xfrm xmlns:a="http://schemas.openxmlformats.org/drawingml/2006/main">
            <a:off x="457200" y="42062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6</a:t>
            </a:r>
            <a:endParaRPr sz="1100"/>
          </a:p>
        </p:txBody>
      </p:sp>
      <p:sp>
        <p:nvSpPr>
          <p:cNvPr id="28" name="Text 24">
            <a:extLst xmlns:a="http://schemas.openxmlformats.org/drawingml/2006/main">
              <a:ext uri="{FF2B5EF4-FFF2-40B4-BE49-F238E27FC236}">
                <a16:creationId xmlns:a16="http://schemas.microsoft.com/office/drawing/2014/main" id="{0B100DD5-C1DF-4076-8B30-4902ED97D030}"/>
              </a:ext>
            </a:extLst>
          </p:cNvPr>
          <p:cNvSpPr>
            <a:spLocks xmlns:a="http://schemas.openxmlformats.org/drawingml/2006/main" noGrp="1"/>
          </p:cNvSpPr>
          <p:nvPr/>
        </p:nvSpPr>
        <p:spPr>
          <a:xfrm xmlns:a="http://schemas.openxmlformats.org/drawingml/2006/main">
            <a:off x="868680" y="4160520"/>
            <a:ext cx="5166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Override files: dev (override.yml) vs prod (-f compose.prod.yml).</a:t>
            </a:r>
            <a:endParaRPr sz="1050"/>
          </a:p>
        </p:txBody>
      </p:sp>
      <p:sp>
        <p:nvSpPr>
          <p:cNvPr id="29" name="Shape 25">
            <a:extLst xmlns:a="http://schemas.openxmlformats.org/drawingml/2006/main">
              <a:ext uri="{FF2B5EF4-FFF2-40B4-BE49-F238E27FC236}">
                <a16:creationId xmlns:a16="http://schemas.microsoft.com/office/drawing/2014/main" id="{8578BB2D-7246-4E48-A544-35786663A25E}"/>
              </a:ext>
            </a:extLst>
          </p:cNvPr>
          <p:cNvSpPr>
            <a:spLocks xmlns:a="http://schemas.openxmlformats.org/drawingml/2006/main" noGrp="1"/>
          </p:cNvSpPr>
          <p:nvPr/>
        </p:nvSpPr>
        <p:spPr>
          <a:xfrm xmlns:a="http://schemas.openxmlformats.org/drawingml/2006/main">
            <a:off x="457200" y="4663440"/>
            <a:ext cx="274320" cy="274320"/>
          </a:xfrm>
          <a:prstGeom xmlns:a="http://schemas.openxmlformats.org/drawingml/2006/main" prst="ellipse">
            <a:avLst/>
          </a:prstGeom>
          <a:solidFill xmlns:a="http://schemas.openxmlformats.org/drawingml/2006/main">
            <a:srgbClr val="F37021"/>
          </a:solidFill>
          <a:ln xmlns:a="http://schemas.openxmlformats.org/drawingml/2006/main" w="12700">
            <a:solidFill>
              <a:srgbClr val="F37021"/>
            </a:solidFill>
            <a:prstDash val="solid"/>
          </a:ln>
        </p:spPr>
      </p:sp>
      <p:sp>
        <p:nvSpPr>
          <p:cNvPr id="30" name="Text 26">
            <a:extLst xmlns:a="http://schemas.openxmlformats.org/drawingml/2006/main">
              <a:ext uri="{FF2B5EF4-FFF2-40B4-BE49-F238E27FC236}">
                <a16:creationId xmlns:a16="http://schemas.microsoft.com/office/drawing/2014/main" id="{8EB97047-3E10-49B6-B071-9E9216ED65B2}"/>
              </a:ext>
            </a:extLst>
          </p:cNvPr>
          <p:cNvSpPr>
            <a:spLocks xmlns:a="http://schemas.openxmlformats.org/drawingml/2006/main" noGrp="1"/>
          </p:cNvSpPr>
          <p:nvPr/>
        </p:nvSpPr>
        <p:spPr>
          <a:xfrm xmlns:a="http://schemas.openxmlformats.org/drawingml/2006/main">
            <a:off x="457200" y="466344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7</a:t>
            </a:r>
            <a:endParaRPr sz="1100"/>
          </a:p>
        </p:txBody>
      </p:sp>
      <p:sp>
        <p:nvSpPr>
          <p:cNvPr id="31" name="Text 27">
            <a:extLst xmlns:a="http://schemas.openxmlformats.org/drawingml/2006/main">
              <a:ext uri="{FF2B5EF4-FFF2-40B4-BE49-F238E27FC236}">
                <a16:creationId xmlns:a16="http://schemas.microsoft.com/office/drawing/2014/main" id="{3EE307BA-C581-4756-AEFD-C04AAE174610}"/>
              </a:ext>
            </a:extLst>
          </p:cNvPr>
          <p:cNvSpPr>
            <a:spLocks xmlns:a="http://schemas.openxmlformats.org/drawingml/2006/main" noGrp="1"/>
          </p:cNvSpPr>
          <p:nvPr/>
        </p:nvSpPr>
        <p:spPr>
          <a:xfrm xmlns:a="http://schemas.openxmlformats.org/drawingml/2006/main">
            <a:off x="868680" y="4617720"/>
            <a:ext cx="5166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E293B"/>
                </a:solidFill>
                <a:latin typeface="Calibri"/>
                <a:ea typeface="Calibri"/>
                <a:cs typeface="Calibri"/>
              </a:rPr>
              <a:t>Password: file secret lokal perlu perlindungan akses.</a:t>
            </a:r>
            <a:endParaRPr sz="1050"/>
          </a:p>
        </p:txBody>
      </p:sp>
      <p:sp>
        <p:nvSpPr>
          <p:cNvPr id="32" name="Shape 28">
            <a:extLst xmlns:a="http://schemas.openxmlformats.org/drawingml/2006/main">
              <a:ext uri="{FF2B5EF4-FFF2-40B4-BE49-F238E27FC236}">
                <a16:creationId xmlns:a16="http://schemas.microsoft.com/office/drawing/2014/main" id="{ACABBD40-B187-4701-B7EB-B245BDE62BB1}"/>
              </a:ext>
            </a:extLst>
          </p:cNvPr>
          <p:cNvSpPr>
            <a:spLocks xmlns:a="http://schemas.openxmlformats.org/drawingml/2006/main" noGrp="1"/>
          </p:cNvSpPr>
          <p:nvPr/>
        </p:nvSpPr>
        <p:spPr>
          <a:xfrm xmlns:a="http://schemas.openxmlformats.org/drawingml/2006/main">
            <a:off x="6217920" y="1417320"/>
            <a:ext cx="5486400" cy="2103120"/>
          </a:xfrm>
          <a:prstGeom xmlns:a="http://schemas.openxmlformats.org/drawingml/2006/main" prst="rect">
            <a:avLst/>
          </a:prstGeom>
          <a:solidFill xmlns:a="http://schemas.openxmlformats.org/drawingml/2006/main">
            <a:srgbClr val="002677"/>
          </a:solidFill>
          <a:ln xmlns:a="http://schemas.openxmlformats.org/drawingml/2006/main" w="12700">
            <a:solidFill>
              <a:srgbClr val="002677"/>
            </a:solidFill>
            <a:prstDash val="solid"/>
          </a:ln>
        </p:spPr>
      </p:sp>
      <p:pic>
        <p:nvPicPr>
          <p:cNvPr id="84" name="Image 2">
            <a:extLst xmlns:a="http://schemas.openxmlformats.org/drawingml/2006/main">
              <a:ext uri="{FF2B5EF4-FFF2-40B4-BE49-F238E27FC236}">
                <a16:creationId xmlns:a16="http://schemas.microsoft.com/office/drawing/2014/main" id="{F6478537-8C72-4C3A-9E7B-A0BB55422651}"/>
              </a:ext>
            </a:extLst>
          </p:cNvPr>
          <p:cNvPicPr>
            <a:picLocks xmlns:a="http://schemas.openxmlformats.org/drawingml/2006/main" noChangeAspect="1"/>
          </p:cNvPicPr>
          <p:nvPr/>
        </p:nvPicPr>
        <p:blipFill>
          <a:blip xmlns:r="http://schemas.openxmlformats.org/officeDocument/2006/relationships" xmlns:a="http://schemas.openxmlformats.org/drawingml/2006/main" r:embed="R3e4dbd45865344f7"/>
          <a:stretch xmlns:a="http://schemas.openxmlformats.org/drawingml/2006/main">
            <a:fillRect l="0" t="0" r="0" b="0"/>
          </a:stretch>
        </p:blipFill>
        <p:spPr>
          <a:xfrm xmlns:a="http://schemas.openxmlformats.org/drawingml/2006/main">
            <a:off x="6400800" y="1554480"/>
            <a:ext cx="457200" cy="457200"/>
          </a:xfrm>
          <a:prstGeom xmlns:a="http://schemas.openxmlformats.org/drawingml/2006/main" prst="rect">
            <a:avLst/>
          </a:prstGeom>
        </p:spPr>
      </p:pic>
      <p:sp>
        <p:nvSpPr>
          <p:cNvPr id="34" name="Text 29">
            <a:extLst xmlns:a="http://schemas.openxmlformats.org/drawingml/2006/main">
              <a:ext uri="{FF2B5EF4-FFF2-40B4-BE49-F238E27FC236}">
                <a16:creationId xmlns:a16="http://schemas.microsoft.com/office/drawing/2014/main" id="{E625007C-E96A-461C-A079-304F8590AE59}"/>
              </a:ext>
            </a:extLst>
          </p:cNvPr>
          <p:cNvSpPr>
            <a:spLocks xmlns:a="http://schemas.openxmlformats.org/drawingml/2006/main" noGrp="1"/>
          </p:cNvSpPr>
          <p:nvPr/>
        </p:nvSpPr>
        <p:spPr>
          <a:xfrm xmlns:a="http://schemas.openxmlformats.org/drawingml/2006/main">
            <a:off x="6949440" y="155448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PRAKTIKUM 6 - LATIHAN SESI INI</a:t>
            </a:r>
            <a:endParaRPr sz="1100"/>
          </a:p>
        </p:txBody>
      </p:sp>
      <p:sp>
        <p:nvSpPr>
          <p:cNvPr id="35" name="Text 30">
            <a:extLst xmlns:a="http://schemas.openxmlformats.org/drawingml/2006/main">
              <a:ext uri="{FF2B5EF4-FFF2-40B4-BE49-F238E27FC236}">
                <a16:creationId xmlns:a16="http://schemas.microsoft.com/office/drawing/2014/main" id="{AF7FCC19-63A0-42FF-AE66-E3DFBBB8BCF7}"/>
              </a:ext>
            </a:extLst>
          </p:cNvPr>
          <p:cNvSpPr>
            <a:spLocks xmlns:a="http://schemas.openxmlformats.org/drawingml/2006/main" noGrp="1"/>
          </p:cNvSpPr>
          <p:nvPr/>
        </p:nvSpPr>
        <p:spPr>
          <a:xfrm xmlns:a="http://schemas.openxmlformats.org/drawingml/2006/main">
            <a:off x="6400800" y="2011680"/>
            <a:ext cx="52120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Jalankan Cloud Notes API, Postgres, dan Redis</a:t>
            </a:r>
            <a:endParaRPr sz="1300"/>
          </a:p>
        </p:txBody>
      </p:sp>
      <p:sp>
        <p:nvSpPr>
          <p:cNvPr id="36" name="Text 31">
            <a:extLst xmlns:a="http://schemas.openxmlformats.org/drawingml/2006/main">
              <a:ext uri="{FF2B5EF4-FFF2-40B4-BE49-F238E27FC236}">
                <a16:creationId xmlns:a16="http://schemas.microsoft.com/office/drawing/2014/main" id="{CB19151A-6D2B-41E8-8161-2E17CFBF1F66}"/>
              </a:ext>
            </a:extLst>
          </p:cNvPr>
          <p:cNvSpPr>
            <a:spLocks xmlns:a="http://schemas.openxmlformats.org/drawingml/2006/main" noGrp="1"/>
          </p:cNvSpPr>
          <p:nvPr/>
        </p:nvSpPr>
        <p:spPr>
          <a:xfrm xmlns:a="http://schemas.openxmlformats.org/drawingml/2006/main">
            <a:off x="6537960" y="2377440"/>
            <a:ext cx="51206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342900" indent="-342900">
              <a:spcAft>
                <a:spcPts val="300"/>
              </a:spcAft>
              <a:buSzPct val="100000"/>
              <a:buChar char="▸"/>
            </a:pPr>
            <a:r>
              <a:rPr sz="1050">
                <a:solidFill>
                  <a:srgbClr val="FFFFFF"/>
                </a:solidFill>
                <a:latin typeface="Calibri"/>
                <a:ea typeface="Calibri"/>
                <a:cs typeface="Calibri"/>
              </a:rPr>
              <a:t>Jalankan API, Postgres, Redis lewat compose.yaml</a:t>
            </a:r>
            <a:endParaRPr sz="1050"/>
          </a:p>
          <a:p xmlns:a="http://schemas.openxmlformats.org/drawingml/2006/main">
            <a:pPr marL="342900" indent="-342900">
              <a:spcAft>
                <a:spcPts val="300"/>
              </a:spcAft>
              <a:buSzPct val="100000"/>
              <a:buChar char="▸"/>
            </a:pPr>
            <a:r>
              <a:rPr sz="1050">
                <a:solidFill>
                  <a:srgbClr val="FFFFFF"/>
                </a:solidFill>
                <a:latin typeface="Calibri"/>
                <a:ea typeface="Calibri"/>
                <a:cs typeface="Calibri"/>
              </a:rPr>
              <a:t>Tunggu DB sehat dengan depends_on</a:t>
            </a:r>
            <a:endParaRPr sz="1050"/>
          </a:p>
          <a:p xmlns:a="http://schemas.openxmlformats.org/drawingml/2006/main">
            <a:pPr marL="342900" indent="-342900">
              <a:spcAft>
                <a:spcPts val="300"/>
              </a:spcAft>
              <a:buSzPct val="100000"/>
              <a:buChar char="▸"/>
            </a:pPr>
            <a:r>
              <a:rPr sz="1050">
                <a:solidFill>
                  <a:srgbClr val="FFFFFF"/>
                </a:solidFill>
                <a:latin typeface="Calibri"/>
                <a:ea typeface="Calibri"/>
                <a:cs typeface="Calibri"/>
              </a:rPr>
              <a:t>Simpan DB di volume dan password di secrets file</a:t>
            </a:r>
            <a:endParaRPr sz="1050"/>
          </a:p>
          <a:p xmlns:a="http://schemas.openxmlformats.org/drawingml/2006/main">
            <a:pPr marL="342900" indent="-342900">
              <a:spcAft>
                <a:spcPts val="300"/>
              </a:spcAft>
              <a:buSzPct val="100000"/>
              <a:buChar char="▸"/>
            </a:pPr>
            <a:r>
              <a:rPr sz="1050">
                <a:solidFill>
                  <a:srgbClr val="FFFFFF"/>
                </a:solidFill>
                <a:latin typeface="Calibri"/>
                <a:ea typeface="Calibri"/>
                <a:cs typeface="Calibri"/>
              </a:rPr>
              <a:t>Uji X-Cache MISS/HIT dan restart API</a:t>
            </a:r>
            <a:endParaRPr sz="1050"/>
          </a:p>
        </p:txBody>
      </p:sp>
      <p:sp>
        <p:nvSpPr>
          <p:cNvPr id="37" name="Shape 32">
            <a:extLst xmlns:a="http://schemas.openxmlformats.org/drawingml/2006/main">
              <a:ext uri="{FF2B5EF4-FFF2-40B4-BE49-F238E27FC236}">
                <a16:creationId xmlns:a16="http://schemas.microsoft.com/office/drawing/2014/main" id="{79DC8220-8622-4EB4-9130-387146B783EC}"/>
              </a:ext>
            </a:extLst>
          </p:cNvPr>
          <p:cNvSpPr>
            <a:spLocks xmlns:a="http://schemas.openxmlformats.org/drawingml/2006/main" noGrp="1"/>
          </p:cNvSpPr>
          <p:nvPr/>
        </p:nvSpPr>
        <p:spPr>
          <a:xfrm xmlns:a="http://schemas.openxmlformats.org/drawingml/2006/main">
            <a:off x="6217920" y="3657600"/>
            <a:ext cx="5486400" cy="1645920"/>
          </a:xfrm>
          <a:prstGeom xmlns:a="http://schemas.openxmlformats.org/drawingml/2006/main" prst="rect">
            <a:avLst/>
          </a:prstGeom>
          <a:solidFill xmlns:a="http://schemas.openxmlformats.org/drawingml/2006/main">
            <a:srgbClr val="F8FAFC"/>
          </a:solidFill>
          <a:ln xmlns:a="http://schemas.openxmlformats.org/drawingml/2006/main" w="12700">
            <a:solidFill>
              <a:srgbClr val="E2E8F0"/>
            </a:solidFill>
            <a:prstDash val="solid"/>
          </a:ln>
        </p:spPr>
      </p:sp>
      <p:pic>
        <p:nvPicPr>
          <p:cNvPr id="89" name="Image 3">
            <a:extLst xmlns:a="http://schemas.openxmlformats.org/drawingml/2006/main">
              <a:ext uri="{FF2B5EF4-FFF2-40B4-BE49-F238E27FC236}">
                <a16:creationId xmlns:a16="http://schemas.microsoft.com/office/drawing/2014/main" id="{A43849C8-9BD6-451D-AF69-32CE79CA0BC4}"/>
              </a:ext>
            </a:extLst>
          </p:cNvPr>
          <p:cNvPicPr>
            <a:picLocks xmlns:a="http://schemas.openxmlformats.org/drawingml/2006/main" noChangeAspect="1"/>
          </p:cNvPicPr>
          <p:nvPr/>
        </p:nvPicPr>
        <p:blipFill>
          <a:blip xmlns:r="http://schemas.openxmlformats.org/officeDocument/2006/relationships" xmlns:a="http://schemas.openxmlformats.org/drawingml/2006/main" r:embed="R7234a4dabb0a464a"/>
          <a:stretch xmlns:a="http://schemas.openxmlformats.org/drawingml/2006/main">
            <a:fillRect l="0" t="0" r="0" b="0"/>
          </a:stretch>
        </p:blipFill>
        <p:spPr>
          <a:xfrm xmlns:a="http://schemas.openxmlformats.org/drawingml/2006/main">
            <a:off x="6400800" y="3794760"/>
            <a:ext cx="457200" cy="457200"/>
          </a:xfrm>
          <a:prstGeom xmlns:a="http://schemas.openxmlformats.org/drawingml/2006/main" prst="rect">
            <a:avLst/>
          </a:prstGeom>
        </p:spPr>
      </p:pic>
      <p:sp>
        <p:nvSpPr>
          <p:cNvPr id="39" name="Text 33">
            <a:extLst xmlns:a="http://schemas.openxmlformats.org/drawingml/2006/main">
              <a:ext uri="{FF2B5EF4-FFF2-40B4-BE49-F238E27FC236}">
                <a16:creationId xmlns:a16="http://schemas.microsoft.com/office/drawing/2014/main" id="{F8C06BF2-505B-423E-9F09-57F96A125E4B}"/>
              </a:ext>
            </a:extLst>
          </p:cNvPr>
          <p:cNvSpPr>
            <a:spLocks xmlns:a="http://schemas.openxmlformats.org/drawingml/2006/main" noGrp="1"/>
          </p:cNvSpPr>
          <p:nvPr/>
        </p:nvSpPr>
        <p:spPr>
          <a:xfrm xmlns:a="http://schemas.openxmlformats.org/drawingml/2006/main">
            <a:off x="6949440" y="379476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300">
                <a:solidFill>
                  <a:srgbClr val="F37021"/>
                </a:solidFill>
                <a:latin typeface="Calibri"/>
                <a:ea typeface="Calibri"/>
                <a:cs typeface="Calibri"/>
              </a:rPr>
              <a:t>PERTEMUAN 7</a:t>
            </a:r>
            <a:endParaRPr sz="1100"/>
          </a:p>
        </p:txBody>
      </p:sp>
      <p:sp>
        <p:nvSpPr>
          <p:cNvPr id="40" name="Text 34">
            <a:extLst xmlns:a="http://schemas.openxmlformats.org/drawingml/2006/main">
              <a:ext uri="{FF2B5EF4-FFF2-40B4-BE49-F238E27FC236}">
                <a16:creationId xmlns:a16="http://schemas.microsoft.com/office/drawing/2014/main" id="{89B6296F-9667-47E4-BAE0-D5C7B73F788C}"/>
              </a:ext>
            </a:extLst>
          </p:cNvPr>
          <p:cNvSpPr>
            <a:spLocks xmlns:a="http://schemas.openxmlformats.org/drawingml/2006/main" noGrp="1"/>
          </p:cNvSpPr>
          <p:nvPr/>
        </p:nvSpPr>
        <p:spPr>
          <a:xfrm xmlns:a="http://schemas.openxmlformats.org/drawingml/2006/main">
            <a:off x="6400800" y="4251960"/>
            <a:ext cx="52120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002677"/>
                </a:solidFill>
                <a:latin typeface="Calibri"/>
                <a:ea typeface="Calibri"/>
                <a:cs typeface="Calibri"/>
              </a:rPr>
              <a:t>Supabase - BaaS &amp; Postgres</a:t>
            </a:r>
            <a:endParaRPr sz="1400"/>
          </a:p>
        </p:txBody>
      </p:sp>
      <p:sp>
        <p:nvSpPr>
          <p:cNvPr id="41" name="Text 35">
            <a:extLst xmlns:a="http://schemas.openxmlformats.org/drawingml/2006/main">
              <a:ext uri="{FF2B5EF4-FFF2-40B4-BE49-F238E27FC236}">
                <a16:creationId xmlns:a16="http://schemas.microsoft.com/office/drawing/2014/main" id="{F8EDC4C6-28AB-43D0-B122-7DE5569964BA}"/>
              </a:ext>
            </a:extLst>
          </p:cNvPr>
          <p:cNvSpPr>
            <a:spLocks xmlns:a="http://schemas.openxmlformats.org/drawingml/2006/main" noGrp="1"/>
          </p:cNvSpPr>
          <p:nvPr/>
        </p:nvSpPr>
        <p:spPr>
          <a:xfrm xmlns:a="http://schemas.openxmlformats.org/drawingml/2006/main">
            <a:off x="6400800" y="4617720"/>
            <a:ext cx="5212080" cy="6858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100">
                <a:solidFill>
                  <a:srgbClr val="1E293B"/>
                </a:solidFill>
                <a:latin typeface="Calibri"/>
                <a:ea typeface="Calibri"/>
                <a:cs typeface="Calibri"/>
              </a:rPr>
              <a:t>Backend-as-a-Service: Postgres managed, auth, storage, realtime, edge functions.</a:t>
            </a:r>
            <a:endParaRPr sz="1100"/>
          </a:p>
        </p:txBody>
      </p:sp>
      <p:sp>
        <p:nvSpPr>
          <p:cNvPr id="42" name="Shape 36">
            <a:extLst xmlns:a="http://schemas.openxmlformats.org/drawingml/2006/main">
              <a:ext uri="{FF2B5EF4-FFF2-40B4-BE49-F238E27FC236}">
                <a16:creationId xmlns:a16="http://schemas.microsoft.com/office/drawing/2014/main" id="{BD063572-0E17-45E2-B129-D35FDA28D4F3}"/>
              </a:ext>
            </a:extLst>
          </p:cNvPr>
          <p:cNvSpPr>
            <a:spLocks xmlns:a="http://schemas.openxmlformats.org/drawingml/2006/main" noGrp="1"/>
          </p:cNvSpPr>
          <p:nvPr/>
        </p:nvSpPr>
        <p:spPr>
          <a:xfrm xmlns:a="http://schemas.openxmlformats.org/drawingml/2006/main">
            <a:off x="457200" y="5029200"/>
            <a:ext cx="5486400" cy="1188720"/>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sp>
      <p:pic>
        <p:nvPicPr>
          <p:cNvPr id="94" name="Image 4">
            <a:extLst xmlns:a="http://schemas.openxmlformats.org/drawingml/2006/main">
              <a:ext uri="{FF2B5EF4-FFF2-40B4-BE49-F238E27FC236}">
                <a16:creationId xmlns:a16="http://schemas.microsoft.com/office/drawing/2014/main" id="{132B4185-D5C1-470A-92F4-42A7991A00FE}"/>
              </a:ext>
            </a:extLst>
          </p:cNvPr>
          <p:cNvPicPr>
            <a:picLocks xmlns:a="http://schemas.openxmlformats.org/drawingml/2006/main" noChangeAspect="1"/>
          </p:cNvPicPr>
          <p:nvPr/>
        </p:nvPicPr>
        <p:blipFill>
          <a:blip xmlns:r="http://schemas.openxmlformats.org/officeDocument/2006/relationships" xmlns:a="http://schemas.openxmlformats.org/drawingml/2006/main" r:embed="Rbb1c67d66c4e4699"/>
          <a:stretch xmlns:a="http://schemas.openxmlformats.org/drawingml/2006/main">
            <a:fillRect l="0" t="0" r="0" b="0"/>
          </a:stretch>
        </p:blipFill>
        <p:spPr>
          <a:xfrm xmlns:a="http://schemas.openxmlformats.org/drawingml/2006/main">
            <a:off x="640080" y="5257800"/>
            <a:ext cx="640080" cy="640080"/>
          </a:xfrm>
          <a:prstGeom xmlns:a="http://schemas.openxmlformats.org/drawingml/2006/main" prst="rect">
            <a:avLst/>
          </a:prstGeom>
        </p:spPr>
      </p:pic>
      <p:sp>
        <p:nvSpPr>
          <p:cNvPr id="44" name="Text 37">
            <a:extLst xmlns:a="http://schemas.openxmlformats.org/drawingml/2006/main">
              <a:ext uri="{FF2B5EF4-FFF2-40B4-BE49-F238E27FC236}">
                <a16:creationId xmlns:a16="http://schemas.microsoft.com/office/drawing/2014/main" id="{A40201F8-100C-4168-8F40-96EF9BD8516B}"/>
              </a:ext>
            </a:extLst>
          </p:cNvPr>
          <p:cNvSpPr>
            <a:spLocks xmlns:a="http://schemas.openxmlformats.org/drawingml/2006/main" noGrp="1"/>
          </p:cNvSpPr>
          <p:nvPr/>
        </p:nvSpPr>
        <p:spPr>
          <a:xfrm xmlns:a="http://schemas.openxmlformats.org/drawingml/2006/main">
            <a:off x="1417320" y="5074920"/>
            <a:ext cx="4023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FFFFF"/>
                </a:solidFill>
                <a:latin typeface="Calibri"/>
                <a:ea typeface="Calibri"/>
                <a:cs typeface="Calibri"/>
              </a:rPr>
              <a:t>Pertanyaan?</a:t>
            </a:r>
            <a:endParaRPr sz="2200"/>
          </a:p>
        </p:txBody>
      </p:sp>
      <p:sp>
        <p:nvSpPr>
          <p:cNvPr id="45" name="Text 38">
            <a:extLst xmlns:a="http://schemas.openxmlformats.org/drawingml/2006/main">
              <a:ext uri="{FF2B5EF4-FFF2-40B4-BE49-F238E27FC236}">
                <a16:creationId xmlns:a16="http://schemas.microsoft.com/office/drawing/2014/main" id="{E817C4A5-DEB0-47E9-8B49-53828C4662A0}"/>
              </a:ext>
            </a:extLst>
          </p:cNvPr>
          <p:cNvSpPr>
            <a:spLocks xmlns:a="http://schemas.openxmlformats.org/drawingml/2006/main" noGrp="1"/>
          </p:cNvSpPr>
          <p:nvPr/>
        </p:nvSpPr>
        <p:spPr>
          <a:xfrm xmlns:a="http://schemas.openxmlformats.org/drawingml/2006/main">
            <a:off x="1417320" y="5577840"/>
            <a:ext cx="4023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FFFFFF"/>
                </a:solidFill>
                <a:latin typeface="Calibri"/>
                <a:ea typeface="Calibri"/>
                <a:cs typeface="Calibri"/>
              </a:rPr>
              <a:t>Diskusi sebelum praktikum</a:t>
            </a:r>
            <a:endParaRPr sz="1200"/>
          </a:p>
        </p:txBody>
      </p:sp>
      <p:sp>
        <p:nvSpPr>
          <p:cNvPr id="46" name="Shape 39">
            <a:extLst xmlns:a="http://schemas.openxmlformats.org/drawingml/2006/main">
              <a:ext uri="{FF2B5EF4-FFF2-40B4-BE49-F238E27FC236}">
                <a16:creationId xmlns:a16="http://schemas.microsoft.com/office/drawing/2014/main" id="{6258C445-BCB5-437F-860C-3A89E73E481F}"/>
              </a:ext>
            </a:extLst>
          </p:cNvPr>
          <p:cNvSpPr>
            <a:spLocks xmlns:a="http://schemas.openxmlformats.org/drawingml/2006/main" noGrp="1"/>
          </p:cNvSpPr>
          <p:nvPr/>
        </p:nvSpPr>
        <p:spPr>
          <a:xfrm xmlns:a="http://schemas.openxmlformats.org/drawingml/2006/main">
            <a:off x="6217920" y="5440680"/>
            <a:ext cx="5486400" cy="777240"/>
          </a:xfrm>
          <a:prstGeom xmlns:a="http://schemas.openxmlformats.org/drawingml/2006/main" prst="rect">
            <a:avLst/>
          </a:prstGeom>
          <a:solidFill xmlns:a="http://schemas.openxmlformats.org/drawingml/2006/main">
            <a:srgbClr val="1976D2"/>
          </a:solidFill>
          <a:ln xmlns:a="http://schemas.openxmlformats.org/drawingml/2006/main" w="12700">
            <a:solidFill>
              <a:srgbClr val="1976D2"/>
            </a:solidFill>
            <a:prstDash val="solid"/>
          </a:ln>
        </p:spPr>
      </p:sp>
      <p:sp>
        <p:nvSpPr>
          <p:cNvPr id="47" name="Text 40">
            <a:extLst xmlns:a="http://schemas.openxmlformats.org/drawingml/2006/main">
              <a:ext uri="{FF2B5EF4-FFF2-40B4-BE49-F238E27FC236}">
                <a16:creationId xmlns:a16="http://schemas.microsoft.com/office/drawing/2014/main" id="{33007573-191F-4A6D-8B67-EF11364C7387}"/>
              </a:ext>
            </a:extLst>
          </p:cNvPr>
          <p:cNvSpPr>
            <a:spLocks xmlns:a="http://schemas.openxmlformats.org/drawingml/2006/main" noGrp="1"/>
          </p:cNvSpPr>
          <p:nvPr/>
        </p:nvSpPr>
        <p:spPr>
          <a:xfrm xmlns:a="http://schemas.openxmlformats.org/drawingml/2006/main">
            <a:off x="6217920" y="5440680"/>
            <a:ext cx="54864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i="1">
                <a:solidFill>
                  <a:srgbClr val="FED7AA"/>
                </a:solidFill>
                <a:latin typeface="Calibri"/>
                <a:ea typeface="Calibri"/>
                <a:cs typeface="Calibri"/>
              </a:rPr>
              <a:t>Sesi ini mendukung:  </a:t>
            </a:r>
            <a:r>
              <a:rPr sz="1100" b="1">
                <a:solidFill>
                  <a:srgbClr val="FFFFFF"/>
                </a:solidFill>
                <a:latin typeface="Calibri"/>
                <a:ea typeface="Calibri"/>
                <a:cs typeface="Calibri"/>
              </a:rPr>
              <a:t>LO2 (Apply)</a:t>
            </a:r>
            <a:r>
              <a:rPr sz="1100">
                <a:solidFill>
                  <a:srgbClr val="FED7AA"/>
                </a:solidFill>
                <a:latin typeface="Calibri"/>
                <a:ea typeface="Calibri"/>
                <a:cs typeface="Calibri"/>
              </a:rPr>
              <a:t>  +  </a:t>
            </a:r>
            <a:r>
              <a:rPr sz="1100" b="1">
                <a:solidFill>
                  <a:srgbClr val="FFFFFF"/>
                </a:solidFill>
                <a:latin typeface="Calibri"/>
                <a:ea typeface="Calibri"/>
                <a:cs typeface="Calibri"/>
              </a:rPr>
              <a:t>LO1 (Analyze)</a:t>
            </a:r>
            <a:endParaRPr sz="1100"/>
          </a:p>
        </p:txBody>
      </p:sp>
    </p:spTree>
    <p:extLst>
      <p:ext uri="{BB962C8B-B14F-4D97-AF65-F5344CB8AC3E}">
        <p14:creationId xmlns:p14="http://schemas.microsoft.com/office/powerpoint/2010/main" val="52870630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349B70-E435-1C07-271B-6C33BE459DCC}"/>
              </a:ext>
            </a:extLst>
          </p:cNvPr>
          <p:cNvSpPr>
            <a:spLocks xmlns:a="http://schemas.openxmlformats.org/drawingml/2006/main" noGrp="1"/>
          </p:cNvSpPr>
          <p:nvPr/>
        </p:nvSpPr>
        <p:spPr>
          <a:xfrm xmlns:a="http://schemas.openxmlformats.org/drawingml/2006/main">
            <a:off x="457200" y="177800"/>
            <a:ext cx="88900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rgbClr val="696969"/>
                </a:solidFill>
                <a:latin typeface="Calibri"/>
                <a:ea typeface="Calibri"/>
                <a:cs typeface="Calibri"/>
              </a:rPr>
              <a:t>BINUS UNIVERSITY  |  Cloud Services  |  Pertemuan 6</a:t>
            </a:r>
          </a:p>
        </p:txBody>
      </p:sp>
      <p:sp>
        <p:nvSpPr>
          <p:cNvPr id="3" name="TextBox 2">
            <a:extLst xmlns:a="http://schemas.openxmlformats.org/drawingml/2006/main">
              <a:ext uri="{FF2B5EF4-FFF2-40B4-BE49-F238E27FC236}">
                <a16:creationId xmlns:a16="http://schemas.microsoft.com/office/drawing/2014/main" id="{AA61D210-A00A-4896-F977-6193ECD78D52}"/>
              </a:ext>
            </a:extLst>
          </p:cNvPr>
          <p:cNvSpPr>
            <a:spLocks xmlns:a="http://schemas.openxmlformats.org/drawingml/2006/main" noGrp="1"/>
          </p:cNvSpPr>
          <p:nvPr/>
        </p:nvSpPr>
        <p:spPr>
          <a:xfrm xmlns:a="http://schemas.openxmlformats.org/drawingml/2006/main">
            <a:off x="457200" y="673100"/>
            <a:ext cx="11277600" cy="430887"/>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2800" b="1">
                <a:solidFill>
                  <a:srgbClr val="004690"/>
                </a:solidFill>
                <a:latin typeface="Calibri"/>
                <a:ea typeface="Calibri"/>
                <a:cs typeface="Calibri"/>
              </a:rPr>
              <a:t>Compose untuk layanan bertingkat</a:t>
            </a:r>
          </a:p>
        </p:txBody>
      </p:sp>
      <p:sp>
        <p:nvSpPr>
          <p:cNvPr id="4" name="TextBox 3">
            <a:extLst xmlns:a="http://schemas.openxmlformats.org/drawingml/2006/main">
              <a:ext uri="{FF2B5EF4-FFF2-40B4-BE49-F238E27FC236}">
                <a16:creationId xmlns:a16="http://schemas.microsoft.com/office/drawing/2014/main" id="{76946FE9-AEDA-49C5-EF11-3061689ECA70}"/>
              </a:ext>
            </a:extLst>
          </p:cNvPr>
          <p:cNvSpPr>
            <a:spLocks xmlns:a="http://schemas.openxmlformats.org/drawingml/2006/main" noGrp="1"/>
          </p:cNvSpPr>
          <p:nvPr/>
        </p:nvSpPr>
        <p:spPr>
          <a:xfrm xmlns:a="http://schemas.openxmlformats.org/drawingml/2006/main">
            <a:off x="457200" y="1371600"/>
            <a:ext cx="11277600" cy="2308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500" i="1">
                <a:solidFill>
                  <a:srgbClr val="606060"/>
                </a:solidFill>
                <a:latin typeface="Calibri"/>
                <a:ea typeface="Calibri"/>
                <a:cs typeface="Calibri"/>
              </a:rPr>
              <a:t>Web, database, cache, penyimpanan, dan kesiapan service</a:t>
            </a:r>
            <a:endParaRPr sz="1500" i="1">
              <a:solidFill>
                <a:srgbClr val="606060"/>
              </a:solidFill>
              <a:latin typeface="Calibri"/>
              <a:ea typeface="Calibri"/>
              <a:cs typeface="Calibri"/>
            </a:endParaRPr>
          </a:p>
        </p:txBody>
      </p:sp>
      <p:sp>
        <p:nvSpPr>
          <p:cNvPr id="5" name="TextBox 4">
            <a:extLst xmlns:a="http://schemas.openxmlformats.org/drawingml/2006/main">
              <a:ext uri="{FF2B5EF4-FFF2-40B4-BE49-F238E27FC236}">
                <a16:creationId xmlns:a16="http://schemas.microsoft.com/office/drawing/2014/main" id="{C6692D31-A935-4388-0135-4C833BD8B4A5}"/>
              </a:ext>
            </a:extLst>
          </p:cNvPr>
          <p:cNvSpPr>
            <a:spLocks xmlns:a="http://schemas.openxmlformats.org/drawingml/2006/main" noGrp="1"/>
          </p:cNvSpPr>
          <p:nvPr/>
        </p:nvSpPr>
        <p:spPr>
          <a:xfrm xmlns:a="http://schemas.openxmlformats.org/drawingml/2006/main">
            <a:off x="660400" y="20447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Jalankan API, Postgres, dan Redis dalam satu compose.yaml.</a:t>
            </a:r>
          </a:p>
        </p:txBody>
      </p:sp>
      <p:sp>
        <p:nvSpPr>
          <p:cNvPr id="6" name="TextBox 5">
            <a:extLst xmlns:a="http://schemas.openxmlformats.org/drawingml/2006/main">
              <a:ext uri="{FF2B5EF4-FFF2-40B4-BE49-F238E27FC236}">
                <a16:creationId xmlns:a16="http://schemas.microsoft.com/office/drawing/2014/main" id="{1C6B71A7-E09A-1CAC-9785-CD5E91C28C92}"/>
              </a:ext>
            </a:extLst>
          </p:cNvPr>
          <p:cNvSpPr>
            <a:spLocks xmlns:a="http://schemas.openxmlformats.org/drawingml/2006/main" noGrp="1"/>
          </p:cNvSpPr>
          <p:nvPr/>
        </p:nvSpPr>
        <p:spPr>
          <a:xfrm xmlns:a="http://schemas.openxmlformats.org/drawingml/2006/main">
            <a:off x="660400" y="28448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Uji DNS service, named volume, healthcheck, dan depends_on: service_healthy.</a:t>
            </a:r>
          </a:p>
        </p:txBody>
      </p:sp>
      <p:sp>
        <p:nvSpPr>
          <p:cNvPr id="7" name="TextBox 6">
            <a:extLst xmlns:a="http://schemas.openxmlformats.org/drawingml/2006/main">
              <a:ext uri="{FF2B5EF4-FFF2-40B4-BE49-F238E27FC236}">
                <a16:creationId xmlns:a16="http://schemas.microsoft.com/office/drawing/2014/main" id="{350BA188-9AD4-E5E6-8E48-A6C793C2D0CA}"/>
              </a:ext>
            </a:extLst>
          </p:cNvPr>
          <p:cNvSpPr>
            <a:spLocks xmlns:a="http://schemas.openxmlformats.org/drawingml/2006/main" noGrp="1"/>
          </p:cNvSpPr>
          <p:nvPr/>
        </p:nvSpPr>
        <p:spPr>
          <a:xfrm xmlns:a="http://schemas.openxmlformats.org/drawingml/2006/main">
            <a:off x="660400" y="36449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Gunakan profile debug hanya saat diperlukan; lihat log tiap service.</a:t>
            </a:r>
          </a:p>
        </p:txBody>
      </p:sp>
      <p:sp>
        <p:nvSpPr>
          <p:cNvPr id="8" name="TextBox 7">
            <a:extLst xmlns:a="http://schemas.openxmlformats.org/drawingml/2006/main">
              <a:ext uri="{FF2B5EF4-FFF2-40B4-BE49-F238E27FC236}">
                <a16:creationId xmlns:a16="http://schemas.microsoft.com/office/drawing/2014/main" id="{E634C795-650A-A52D-3D5F-0D26326A3427}"/>
              </a:ext>
            </a:extLst>
          </p:cNvPr>
          <p:cNvSpPr>
            <a:spLocks xmlns:a="http://schemas.openxmlformats.org/drawingml/2006/main" noGrp="1"/>
          </p:cNvSpPr>
          <p:nvPr/>
        </p:nvSpPr>
        <p:spPr>
          <a:xfrm xmlns:a="http://schemas.openxmlformats.org/drawingml/2006/main">
            <a:off x="660400" y="44450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a:t>
            </a:r>
            <a:r>
              <a:rPr>
                <a:solidFill>
                  <a:srgbClr val="101919"/>
                </a:solidFill>
                <a:latin typeface="Calibri"/>
                <a:ea typeface="Calibri"/>
                <a:cs typeface="Calibri"/>
              </a:rPr>
              <a:t>Simpan password lewat secrets file lokal yang diabaikan Git.</a:t>
            </a:r>
          </a:p>
        </p:txBody>
      </p:sp>
      <p:sp>
        <p:nvSpPr>
          <p:cNvPr id="9" name="TextBox 8">
            <a:extLst xmlns:a="http://schemas.openxmlformats.org/drawingml/2006/main">
              <a:ext uri="{FF2B5EF4-FFF2-40B4-BE49-F238E27FC236}">
                <a16:creationId xmlns:a16="http://schemas.microsoft.com/office/drawing/2014/main" id="{22091D15-3383-6B63-AA74-1C7EF0392327}"/>
              </a:ext>
            </a:extLst>
          </p:cNvPr>
          <p:cNvSpPr>
            <a:spLocks xmlns:a="http://schemas.openxmlformats.org/drawingml/2006/main" noGrp="1"/>
          </p:cNvSpPr>
          <p:nvPr/>
        </p:nvSpPr>
        <p:spPr>
          <a:xfrm xmlns:a="http://schemas.openxmlformats.org/drawingml/2006/main">
            <a:off x="660400" y="5245100"/>
            <a:ext cx="10845800" cy="276999"/>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a:solidFill>
                  <a:srgbClr val="101919"/>
                </a:solidFill>
                <a:latin typeface="Calibri"/>
                <a:ea typeface="Calibri"/>
                <a:cs typeface="Calibri"/>
              </a:rPr>
              <a:t>•  Ikuti </a:t>
            </a:r>
            <a:r>
              <a:rPr>
                <a:solidFill>
                  <a:srgbClr val="101919"/>
                </a:solidFill>
                <a:latin typeface="Calibri"/>
                <a:ea typeface="Calibri"/>
                <a:cs typeface="Calibri"/>
                <a:hlinkClick xmlns:r="http://schemas.openxmlformats.org/officeDocument/2006/relationships" r:id="Rdda3921cdc8b4d07"/>
              </a:rPr>
              <a:t>SeedFlora/meet6CloudService</a:t>
            </a:r>
            <a:r>
              <a:rPr>
                <a:solidFill>
                  <a:srgbClr val="101919"/>
                </a:solidFill>
                <a:latin typeface="Calibri"/>
                <a:ea typeface="Calibri"/>
                <a:cs typeface="Calibri"/>
              </a:rPr>
              <a:t> dan jalankan verifikasi endpoint.</a:t>
            </a:r>
          </a:p>
        </p:txBody>
      </p:sp>
      <p:sp>
        <p:nvSpPr>
          <p:cNvPr id="10" name="TextBox 9">
            <a:extLst xmlns:a="http://schemas.openxmlformats.org/drawingml/2006/main">
              <a:ext uri="{FF2B5EF4-FFF2-40B4-BE49-F238E27FC236}">
                <a16:creationId xmlns:a16="http://schemas.microsoft.com/office/drawing/2014/main" id="{7FA0F571-CC94-9C6C-DCF7-A63D1768B47E}"/>
              </a:ext>
            </a:extLst>
          </p:cNvPr>
          <p:cNvSpPr>
            <a:spLocks xmlns:a="http://schemas.openxmlformats.org/drawingml/2006/main" noGrp="1"/>
          </p:cNvSpPr>
          <p:nvPr/>
        </p:nvSpPr>
        <p:spPr>
          <a:xfrm xmlns:a="http://schemas.openxmlformats.org/drawingml/2006/main">
            <a:off x="457200" y="6413500"/>
            <a:ext cx="11277600" cy="137160"/>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900">
                <a:solidFill>
                  <a:srgbClr val="696969"/>
                </a:solidFill>
                <a:latin typeface="Calibri"/>
                <a:ea typeface="Calibri"/>
                <a:cs typeface="Calibri"/>
              </a:rPr>
              <a:t>Panduan teori + screenshot: README repo. Materi praktik: </a:t>
            </a:r>
            <a:r>
              <a:rPr sz="900">
                <a:solidFill>
                  <a:srgbClr val="696969"/>
                </a:solidFill>
                <a:latin typeface="Calibri"/>
                <a:ea typeface="Calibri"/>
                <a:cs typeface="Calibri"/>
                <a:hlinkClick xmlns:r="http://schemas.openxmlformats.org/officeDocument/2006/relationships" r:id="R9055a0e3759b461b"/>
              </a:rPr>
              <a:t>SeedFlora/meet6CloudService</a:t>
            </a:r>
            <a:r>
              <a:rPr sz="900">
                <a:solidFill>
                  <a:srgbClr val="696969"/>
                </a:solidFill>
                <a:latin typeface="Calibri"/>
                <a:ea typeface="Calibri"/>
                <a:cs typeface="Calibri"/>
              </a:rPr>
              <a:t>  |  Sumber: RPS COMP6991031</a:t>
            </a:r>
          </a:p>
        </p:txBody>
      </p:sp>
    </p:spTree>
    <p:extLst>
      <p:ext uri="{BB962C8B-B14F-4D97-AF65-F5344CB8AC3E}">
        <p14:creationId xmlns:p14="http://schemas.microsoft.com/office/powerpoint/2010/main" val="297644037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266E5B-7AA5-4B3C-972B-3C0B2B675BF0}"/>
              </a:ext>
            </a:extLst>
          </p:cNvPr>
          <p:cNvSpPr>
            <a:spLocks xmlns:a="http://schemas.openxmlformats.org/drawingml/2006/main" noGrp="1"/>
          </p:cNvSpPr>
          <p:nvPr/>
        </p:nvSpPr>
        <p:spPr>
          <a:xfrm xmlns:a="http://schemas.openxmlformats.org/drawingml/2006/main">
            <a:off x="457200" y="1905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050" b="0">
                <a:solidFill>
                  <a:srgbClr val="666666"/>
                </a:solidFill>
                <a:latin typeface="Arial"/>
                <a:ea typeface="Arial"/>
                <a:cs typeface="Arial"/>
              </a:defRPr>
            </a:pPr>
            <a:r>
              <a:rPr sz="1050" b="0">
                <a:solidFill>
                  <a:srgbClr val="666666"/>
                </a:solidFill>
                <a:latin typeface="Arial"/>
                <a:ea typeface="Arial"/>
                <a:cs typeface="Arial"/>
              </a:rPr>
              <a:t>BINUS UNIVERSITY  |  Cloud Services  |  Pertemuan 6</a:t>
            </a:r>
          </a:p>
        </p:txBody>
      </p:sp>
      <p:sp>
        <p:nvSpPr>
          <p:cNvPr id="2" name="">
            <a:extLst xmlns:a="http://schemas.openxmlformats.org/drawingml/2006/main">
              <a:ext uri="{FF2B5EF4-FFF2-40B4-BE49-F238E27FC236}">
                <a16:creationId xmlns:a16="http://schemas.microsoft.com/office/drawing/2014/main" id="{53C7A251-CF49-4260-8E83-0CBD44A37897}"/>
              </a:ext>
            </a:extLst>
          </p:cNvPr>
          <p:cNvSpPr>
            <a:spLocks xmlns:a="http://schemas.openxmlformats.org/drawingml/2006/main" noGrp="1"/>
          </p:cNvSpPr>
          <p:nvPr/>
        </p:nvSpPr>
        <p:spPr>
          <a:xfrm xmlns:a="http://schemas.openxmlformats.org/drawingml/2006/main">
            <a:off x="457200" y="666750"/>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925" b="1">
                <a:solidFill>
                  <a:srgbClr val="064C8C"/>
                </a:solidFill>
                <a:latin typeface="Arial"/>
                <a:ea typeface="Arial"/>
                <a:cs typeface="Arial"/>
              </a:defRPr>
            </a:pPr>
            <a:r>
              <a:rPr sz="2925" b="1">
                <a:solidFill>
                  <a:srgbClr val="064C8C"/>
                </a:solidFill>
                <a:latin typeface="Arial"/>
                <a:ea typeface="Arial"/>
                <a:cs typeface="Arial"/>
              </a:rPr>
              <a:t>Dari satu container ke Lab 06</a:t>
            </a:r>
          </a:p>
        </p:txBody>
      </p:sp>
      <p:sp>
        <p:nvSpPr>
          <p:cNvPr id="3" name="">
            <a:extLst xmlns:a="http://schemas.openxmlformats.org/drawingml/2006/main">
              <a:ext uri="{FF2B5EF4-FFF2-40B4-BE49-F238E27FC236}">
                <a16:creationId xmlns:a16="http://schemas.microsoft.com/office/drawing/2014/main" id="{989551A2-9482-4299-8E1E-AF45077F6E74}"/>
              </a:ext>
            </a:extLst>
          </p:cNvPr>
          <p:cNvSpPr>
            <a:spLocks xmlns:a="http://schemas.openxmlformats.org/drawingml/2006/main" noGrp="1"/>
          </p:cNvSpPr>
          <p:nvPr/>
        </p:nvSpPr>
        <p:spPr>
          <a:xfrm xmlns:a="http://schemas.openxmlformats.org/drawingml/2006/main">
            <a:off x="457200" y="1457325"/>
            <a:ext cx="5810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0">
                <a:solidFill>
                  <a:srgbClr val="243746"/>
                </a:solidFill>
                <a:latin typeface="Arial"/>
                <a:ea typeface="Arial"/>
                <a:cs typeface="Arial"/>
              </a:defRPr>
            </a:pPr>
            <a:r>
              <a:rPr sz="1650" b="0">
                <a:solidFill>
                  <a:srgbClr val="243746"/>
                </a:solidFill>
                <a:latin typeface="Arial"/>
                <a:ea typeface="Arial"/>
                <a:cs typeface="Arial"/>
              </a:rPr>
              <a:t>Kasus kerja: Cloud Notes memerlukan database dan cache. Tim harus menyalakan tiga layanan dengan satu berkas Compose.</a:t>
            </a:r>
          </a:p>
        </p:txBody>
      </p:sp>
      <p:sp>
        <p:nvSpPr>
          <p:cNvPr id="4" name="">
            <a:extLst xmlns:a="http://schemas.openxmlformats.org/drawingml/2006/main">
              <a:ext uri="{FF2B5EF4-FFF2-40B4-BE49-F238E27FC236}">
                <a16:creationId xmlns:a16="http://schemas.microsoft.com/office/drawing/2014/main" id="{29B9B717-1FE8-489B-98C3-0F2EF16F3CC3}"/>
              </a:ext>
            </a:extLst>
          </p:cNvPr>
          <p:cNvSpPr>
            <a:spLocks xmlns:a="http://schemas.openxmlformats.org/drawingml/2006/main" noGrp="1"/>
          </p:cNvSpPr>
          <p:nvPr/>
        </p:nvSpPr>
        <p:spPr>
          <a:xfrm xmlns:a="http://schemas.openxmlformats.org/drawingml/2006/main">
            <a:off x="457200" y="2695575"/>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1">
                <a:solidFill>
                  <a:srgbClr val="0A3678"/>
                </a:solidFill>
                <a:latin typeface="Arial"/>
                <a:ea typeface="Arial"/>
                <a:cs typeface="Arial"/>
              </a:defRPr>
            </a:pPr>
            <a:r>
              <a:rPr sz="1725" b="1">
                <a:solidFill>
                  <a:srgbClr val="0A3678"/>
                </a:solidFill>
                <a:latin typeface="Arial"/>
                <a:ea typeface="Arial"/>
                <a:cs typeface="Arial"/>
              </a:rPr>
              <a:t>Sebelum praktikum (10–15 menit)</a:t>
            </a:r>
          </a:p>
        </p:txBody>
      </p:sp>
      <p:sp>
        <p:nvSpPr>
          <p:cNvPr id="5" name="">
            <a:extLst xmlns:a="http://schemas.openxmlformats.org/drawingml/2006/main">
              <a:ext uri="{FF2B5EF4-FFF2-40B4-BE49-F238E27FC236}">
                <a16:creationId xmlns:a16="http://schemas.microsoft.com/office/drawing/2014/main" id="{ABB47814-3FB5-4EB3-AD6F-6940C8082637}"/>
              </a:ext>
            </a:extLst>
          </p:cNvPr>
          <p:cNvSpPr>
            <a:spLocks xmlns:a="http://schemas.openxmlformats.org/drawingml/2006/main" noGrp="1"/>
          </p:cNvSpPr>
          <p:nvPr/>
        </p:nvSpPr>
        <p:spPr>
          <a:xfrm xmlns:a="http://schemas.openxmlformats.org/drawingml/2006/main">
            <a:off x="457200" y="3219450"/>
            <a:ext cx="5810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243746"/>
                </a:solidFill>
                <a:latin typeface="Arial"/>
                <a:ea typeface="Arial"/>
                <a:cs typeface="Arial"/>
              </a:defRPr>
            </a:pPr>
            <a:r>
              <a:rPr sz="1575" b="0">
                <a:solidFill>
                  <a:srgbClr val="243746"/>
                </a:solidFill>
                <a:latin typeface="Arial"/>
                <a:ea typeface="Arial"/>
                <a:cs typeface="Arial"/>
              </a:rPr>
              <a:t>Prediksi: apakah catatan tetap ada setelah API direstart? Mengapa?</a:t>
            </a:r>
          </a:p>
        </p:txBody>
      </p:sp>
      <p:sp>
        <p:nvSpPr>
          <p:cNvPr id="6" name="">
            <a:extLst xmlns:a="http://schemas.openxmlformats.org/drawingml/2006/main">
              <a:ext uri="{FF2B5EF4-FFF2-40B4-BE49-F238E27FC236}">
                <a16:creationId xmlns:a16="http://schemas.microsoft.com/office/drawing/2014/main" id="{3188CE7F-C349-43B1-92BD-B6C0E84D42D2}"/>
              </a:ext>
            </a:extLst>
          </p:cNvPr>
          <p:cNvSpPr>
            <a:spLocks xmlns:a="http://schemas.openxmlformats.org/drawingml/2006/main" noGrp="1"/>
          </p:cNvSpPr>
          <p:nvPr/>
        </p:nvSpPr>
        <p:spPr>
          <a:xfrm xmlns:a="http://schemas.openxmlformats.org/drawingml/2006/main">
            <a:off x="457200" y="44386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425" b="1">
                <a:solidFill>
                  <a:srgbClr val="0969AD"/>
                </a:solidFill>
                <a:latin typeface="Arial"/>
                <a:ea typeface="Arial"/>
                <a:cs typeface="Arial"/>
              </a:defRPr>
            </a:pPr>
            <a:r>
              <a:rPr sz="1425" b="1">
                <a:solidFill>
                  <a:srgbClr val="0969AD"/>
                </a:solidFill>
                <a:latin typeface="Arial"/>
                <a:ea typeface="Arial"/>
                <a:cs typeface="Arial"/>
                <a:hlinkClick xmlns:r="http://schemas.openxmlformats.org/officeDocument/2006/relationships" r:id="R077bac7ecb2e4a70"/>
              </a:rPr>
              <a:t>Bacaan: How Compose works (Docker Docs)</a:t>
            </a:r>
          </a:p>
        </p:txBody>
      </p:sp>
      <p:sp>
        <p:nvSpPr>
          <p:cNvPr id="7" name="">
            <a:extLst xmlns:a="http://schemas.openxmlformats.org/drawingml/2006/main">
              <a:ext uri="{FF2B5EF4-FFF2-40B4-BE49-F238E27FC236}">
                <a16:creationId xmlns:a16="http://schemas.microsoft.com/office/drawing/2014/main" id="{9FC25806-9BE3-4A56-B9A4-7E2A17DE1408}"/>
              </a:ext>
            </a:extLst>
          </p:cNvPr>
          <p:cNvSpPr>
            <a:spLocks xmlns:a="http://schemas.openxmlformats.org/drawingml/2006/main" noGrp="1"/>
          </p:cNvSpPr>
          <p:nvPr/>
        </p:nvSpPr>
        <p:spPr>
          <a:xfrm xmlns:a="http://schemas.openxmlformats.org/drawingml/2006/main">
            <a:off x="457200" y="48768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425" b="1">
                <a:solidFill>
                  <a:srgbClr val="0969AD"/>
                </a:solidFill>
                <a:latin typeface="Arial"/>
                <a:ea typeface="Arial"/>
                <a:cs typeface="Arial"/>
              </a:defRPr>
            </a:pPr>
            <a:r>
              <a:rPr sz="1425" b="1">
                <a:solidFill>
                  <a:srgbClr val="0969AD"/>
                </a:solidFill>
                <a:latin typeface="Arial"/>
                <a:ea typeface="Arial"/>
                <a:cs typeface="Arial"/>
                <a:hlinkClick xmlns:r="http://schemas.openxmlformats.org/officeDocument/2006/relationships" r:id="R89df1a8c79ac409a"/>
              </a:rPr>
              <a:t>Video: All Things Compose, menit 8:18–16:38</a:t>
            </a:r>
          </a:p>
        </p:txBody>
      </p:sp>
      <p:sp>
        <p:nvSpPr>
          <p:cNvPr id="8" name="">
            <a:extLst xmlns:a="http://schemas.openxmlformats.org/drawingml/2006/main">
              <a:ext uri="{FF2B5EF4-FFF2-40B4-BE49-F238E27FC236}">
                <a16:creationId xmlns:a16="http://schemas.microsoft.com/office/drawing/2014/main" id="{4D4734A9-25E1-4098-88F7-0C9BE30F8E13}"/>
              </a:ext>
            </a:extLst>
          </p:cNvPr>
          <p:cNvSpPr>
            <a:spLocks xmlns:a="http://schemas.openxmlformats.org/drawingml/2006/main" noGrp="1"/>
          </p:cNvSpPr>
          <p:nvPr/>
        </p:nvSpPr>
        <p:spPr>
          <a:xfrm xmlns:a="http://schemas.openxmlformats.org/drawingml/2006/main">
            <a:off x="457200" y="5781675"/>
            <a:ext cx="1114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425" b="1">
                <a:solidFill>
                  <a:srgbClr val="0969AD"/>
                </a:solidFill>
                <a:latin typeface="Arial"/>
                <a:ea typeface="Arial"/>
                <a:cs typeface="Arial"/>
              </a:defRPr>
            </a:pPr>
            <a:r>
              <a:rPr sz="1425" b="1">
                <a:solidFill>
                  <a:srgbClr val="0969AD"/>
                </a:solidFill>
                <a:latin typeface="Arial"/>
                <a:ea typeface="Arial"/>
                <a:cs typeface="Arial"/>
                <a:hlinkClick xmlns:r="http://schemas.openxmlformats.org/officeDocument/2006/relationships" r:id="R39480d02c245482e"/>
              </a:rPr>
              <a:t>Buka repo Lab 06: SeedFlora/meet6CloudService</a:t>
            </a:r>
          </a:p>
        </p:txBody>
      </p:sp>
      <p:sp>
        <p:nvSpPr>
          <p:cNvPr id="9" name="">
            <a:extLst xmlns:a="http://schemas.openxmlformats.org/drawingml/2006/main">
              <a:ext uri="{FF2B5EF4-FFF2-40B4-BE49-F238E27FC236}">
                <a16:creationId xmlns:a16="http://schemas.microsoft.com/office/drawing/2014/main" id="{DDC983DC-D632-4E7B-830A-6B9E813DF1B4}"/>
              </a:ext>
            </a:extLst>
          </p:cNvPr>
          <p:cNvSpPr>
            <a:spLocks xmlns:a="http://schemas.openxmlformats.org/drawingml/2006/main" noGrp="1"/>
          </p:cNvSpPr>
          <p:nvPr/>
        </p:nvSpPr>
        <p:spPr>
          <a:xfrm xmlns:a="http://schemas.openxmlformats.org/drawingml/2006/main">
            <a:off x="457200" y="6276975"/>
            <a:ext cx="1114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0">
                <a:solidFill>
                  <a:srgbClr val="566270"/>
                </a:solidFill>
                <a:latin typeface="Arial"/>
                <a:ea typeface="Arial"/>
                <a:cs typeface="Arial"/>
              </a:defRPr>
            </a:pPr>
            <a:r>
              <a:rPr sz="1200" b="0">
                <a:solidFill>
                  <a:srgbClr val="566270"/>
                </a:solidFill>
                <a:latin typeface="Arial"/>
                <a:ea typeface="Arial"/>
                <a:cs typeface="Arial"/>
              </a:rPr>
              <a:t>Proyek kelompok 3 orang: presentasi UTS minggu 7 dan UAS minggu 14.</a:t>
            </a:r>
          </a:p>
        </p:txBody>
      </p:sp>
      <p:pic>
        <p:nvPicPr>
          <p:cNvPr id="20" name="">
            <a:extLst xmlns:a="http://schemas.openxmlformats.org/drawingml/2006/main">
              <a:ext uri="{FF2B5EF4-FFF2-40B4-BE49-F238E27FC236}">
                <a16:creationId xmlns:a16="http://schemas.microsoft.com/office/drawing/2014/main" id="{14ED10E8-C505-4BAB-BE41-64C9AF760729}"/>
              </a:ext>
            </a:extLst>
          </p:cNvPr>
          <p:cNvPicPr>
            <a:picLocks xmlns:a="http://schemas.openxmlformats.org/drawingml/2006/main" noChangeAspect="1"/>
          </p:cNvPicPr>
          <p:nvPr/>
        </p:nvPicPr>
        <p:blipFill>
          <a:blip xmlns:r="http://schemas.openxmlformats.org/officeDocument/2006/relationships" xmlns:a="http://schemas.openxmlformats.org/drawingml/2006/main" r:embed="R507061b7686e4039"/>
          <a:stretch xmlns:a="http://schemas.openxmlformats.org/drawingml/2006/main"/>
        </p:blipFill>
        <p:spPr>
          <a:xfrm xmlns:a="http://schemas.openxmlformats.org/drawingml/2006/main">
            <a:off x="6534150" y="1700213"/>
            <a:ext cx="5200650" cy="3467100"/>
          </a:xfrm>
          <a:prstGeom xmlns:a="http://schemas.openxmlformats.org/drawingml/2006/main" prst="rect">
            <a:avLst/>
          </a:prstGeom>
        </p:spPr>
      </p:pic>
    </p:spTree>
    <p:extLst>
      <p:ext uri="{BB962C8B-B14F-4D97-AF65-F5344CB8AC3E}">
        <p14:creationId xmlns:p14="http://schemas.microsoft.com/office/powerpoint/2010/main" val="33520823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2026-10-14T17:14:25.0430000Z</dcterms:created>
  <dcterms:modified xsi:type="dcterms:W3CDTF">2026-10-14T17:14:25.0430000Z</dcterms:modified>
</coreProperties>
</file>