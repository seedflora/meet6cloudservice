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88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21"/>
    <p:sldId id="303" r:id="rId22"/>
    <p:sldId id="304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432" y="-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7415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28600"/>
            <a:ext cx="914400" cy="60350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0" y="246888"/>
            <a:ext cx="1005840" cy="51206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57200" y="24688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COMP6991031   |   PRAKTIKUM 6   |   100 MENIT</a:t>
            </a: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457200" y="27889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4600" dirty="0"/>
          </a:p>
        </p:txBody>
      </p:sp>
      <p:sp>
        <p:nvSpPr>
          <p:cNvPr id="6" name="Text 2"/>
          <p:cNvSpPr/>
          <p:nvPr/>
        </p:nvSpPr>
        <p:spPr>
          <a:xfrm>
            <a:off x="457200" y="36118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POSTGRES + REDIS</a:t>
            </a:r>
            <a:endParaRPr lang="en-US" sz="2400" dirty="0"/>
          </a:p>
        </p:txBody>
      </p:sp>
      <p:sp>
        <p:nvSpPr>
          <p:cNvPr id="7" name="Text 3"/>
          <p:cNvSpPr/>
          <p:nvPr/>
        </p:nvSpPr>
        <p:spPr>
          <a:xfrm>
            <a:off x="457200" y="42519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Notes persisten dengan healthcheck, cache, volume, dan profile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715000" y="4800600"/>
            <a:ext cx="731520" cy="54864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9" name="Text 5"/>
          <p:cNvSpPr/>
          <p:nvPr/>
        </p:nvSpPr>
        <p:spPr>
          <a:xfrm>
            <a:off x="457200" y="493776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kern="0" spc="300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6  |  DOCKER COMPOSE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Budi Juarto, S.T., M.Kom.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Departemen Informatika  -  BINUS @Bandung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706488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praktik Lab 06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Compose menjalankan tiga service dan menyimpan catatan di volume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7"/>
          <p:cNvSpPr/>
          <p:nvPr/>
        </p:nvSpPr>
        <p:spPr>
          <a:xfrm>
            <a:off x="685800" y="1600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INTI</a:t>
            </a:r>
          </a:p>
          <a:p>
            <a:pPr marL="0" indent="0">
              <a:buNone/>
            </a:pPr>
            <a:endParaRPr lang="en-US" sz="1100" b="1" kern="0" spc="300">
              <a:solidFill>
                <a:srgbClr val="F3702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yang tersedia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69748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08" y="26060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Siapkan .env dan secret lokal</a:t>
            </a:r>
            <a:endParaRPr lang="en-US" sz="16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20040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07008" y="3108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compose.yaml sebelum up</a:t>
            </a:r>
            <a:endParaRPr lang="en-US" sz="16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703320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07008" y="36118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Tunggu API, DB, Redis healthy</a:t>
            </a:r>
            <a:endParaRPr lang="en-US" sz="16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206240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07008" y="4114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 network dengan nama service</a:t>
            </a:r>
            <a:endParaRPr lang="en-US" sz="16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4709160"/>
            <a:ext cx="292608" cy="29260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207008" y="46177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Bandingkan cache MISS lalu HIT</a:t>
            </a:r>
            <a:endParaRPr lang="en-US" sz="16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207008" y="51206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Buktikan catatan tetap tersimpan</a:t>
            </a:r>
            <a:endParaRPr lang="en-US" sz="1600" dirty="0"/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" y="5715000"/>
            <a:ext cx="292608" cy="29260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207008" y="5623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debug, recovery, dan Git</a:t>
            </a:r>
            <a:endParaRPr lang="en-US" sz="1600" dirty="0"/>
          </a:p>
        </p:txBody>
      </p:sp>
      <p:sp>
        <p:nvSpPr>
          <p:cNvPr id="26" name="Shape 15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002677"/>
          </a:solidFill>
          <a:ln w="12700">
            <a:solidFill>
              <a:srgbClr val="00267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7" name="Text 16"/>
          <p:cNvSpPr/>
          <p:nvPr/>
        </p:nvSpPr>
        <p:spPr>
          <a:xfrm>
            <a:off x="6446520" y="1600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YANG DIKUMPULKAN</a:t>
            </a:r>
          </a:p>
          <a:p>
            <a:pPr marL="0" indent="0">
              <a:buNone/>
            </a:pPr>
            <a:endParaRPr lang="en-US" sz="1100" b="1" kern="0" spc="300">
              <a:solidFill>
                <a:srgbClr val="F3702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mesin sendiri</a:t>
            </a:r>
            <a:endParaRPr lang="en-US" sz="1100" dirty="0"/>
          </a:p>
        </p:txBody>
      </p:sp>
      <p:sp>
        <p:nvSpPr>
          <p:cNvPr id="28" name="Text 17"/>
          <p:cNvSpPr/>
          <p:nvPr/>
        </p:nvSpPr>
        <p:spPr>
          <a:xfrm>
            <a:off x="6446520" y="260604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Compose dan API Cloud Notes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Bukti tiga service sehat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MISS/HIT, SQL, persistensi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7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Commit tanpa password asli</a:t>
            </a:r>
            <a:endParaRPr lang="en-US" sz="1700" dirty="0"/>
          </a:p>
        </p:txBody>
      </p:sp>
      <p:sp>
        <p:nvSpPr>
          <p:cNvPr id="29" name="Shape 18"/>
          <p:cNvSpPr/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0" name="Text 19"/>
          <p:cNvSpPr/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Ikuti modul mahasiswa untuk perintah lengkap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735744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| Siapkan secret dan jalankan stack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v-SE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root repo Lab 06; jangan unggah file password asli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Shape 7"/>
          <p:cNvSpPr/>
          <p:nvPr/>
        </p:nvSpPr>
        <p:spPr>
          <a:xfrm>
            <a:off x="457200" y="1417320"/>
            <a:ext cx="5577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Shape 8"/>
          <p:cNvSpPr/>
          <p:nvPr/>
        </p:nvSpPr>
        <p:spPr>
          <a:xfrm>
            <a:off x="54864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Shape 9"/>
          <p:cNvSpPr/>
          <p:nvPr/>
        </p:nvSpPr>
        <p:spPr>
          <a:xfrm>
            <a:off x="68580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4" name="Shape 10"/>
          <p:cNvSpPr/>
          <p:nvPr/>
        </p:nvSpPr>
        <p:spPr>
          <a:xfrm>
            <a:off x="82296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xt 11"/>
          <p:cNvSpPr/>
          <p:nvPr/>
        </p:nvSpPr>
        <p:spPr>
          <a:xfrm>
            <a:off x="1005840" y="1417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94360" y="1783080"/>
            <a:ext cx="53035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Copy-Item secrets/db_password.txt.example `
  secrets/db_password.txt
Copy-Item .env.example .env
docker compose config --quiet
docker compose up --build -d --wait
docker compose ps</a:t>
            </a:r>
            <a:endParaRPr lang="en-US" sz="15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8" name="Shape 14"/>
          <p:cNvSpPr/>
          <p:nvPr/>
        </p:nvSpPr>
        <p:spPr>
          <a:xfrm>
            <a:off x="6217920" y="1417320"/>
            <a:ext cx="54864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9" name="Shape 15"/>
          <p:cNvSpPr/>
          <p:nvPr/>
        </p:nvSpPr>
        <p:spPr>
          <a:xfrm>
            <a:off x="630936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Shape 16"/>
          <p:cNvSpPr/>
          <p:nvPr/>
        </p:nvSpPr>
        <p:spPr>
          <a:xfrm>
            <a:off x="644652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1" name="Shape 17"/>
          <p:cNvSpPr/>
          <p:nvPr/>
        </p:nvSpPr>
        <p:spPr>
          <a:xfrm>
            <a:off x="658368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2" name="Text 18"/>
          <p:cNvSpPr/>
          <p:nvPr/>
        </p:nvSpPr>
        <p:spPr>
          <a:xfrm>
            <a:off x="676656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Mengapa urutan ini?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355080" y="1783080"/>
            <a:ext cx="5212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Aptos" panose="020B0004020202020204" pitchFamily="34" charset="0"/>
                <a:ea typeface="Consolas" pitchFamily="34" charset="-122"/>
                <a:cs typeface="Consolas" pitchFamily="34" charset="-120"/>
              </a:rPr>
              <a:t>Copy membuat konfigurasi lokal.
config memvalidasi YAML dan referensi.
up --build membangun API FastAPI,
menjalankan Postgres dan Redis.
--wait menunggu semua service sehat.
Secret terpasang sebagai file,
tidak dicetak ke terminal.</a:t>
            </a:r>
            <a:endParaRPr lang="en-US" sz="16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6644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1 | Tiga service healthy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membuat API, database, cache dalam satu network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7"/>
          <p:cNvSpPr/>
          <p:nvPr/>
        </p:nvSpPr>
        <p:spPr>
          <a:xfrm>
            <a:off x="685800" y="1600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PERINTAH, FUNGSI, DAN HASIL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9748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08" y="26060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docker compose up membuat stack.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0040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07008" y="3108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docker compose ps membaca status.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703320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07008" y="36118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api, db, cache harus healthy.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206240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07008" y="4114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Hanya API mem-publish port 8000.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709160"/>
            <a:ext cx="292608" cy="29260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207008" y="46177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l-NL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DB dan Redis hanya di network.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207008" y="51206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Jika starting, tunggu lalu cek ulang.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292608" cy="29260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207008" y="5623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logs membantu diagnosis service.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sp>
        <p:nvSpPr>
          <p:cNvPr id="26" name="Shape 15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002677"/>
          </a:solidFill>
          <a:ln w="12700">
            <a:solidFill>
              <a:srgbClr val="00267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7" name="Text 16"/>
          <p:cNvSpPr/>
          <p:nvPr/>
        </p:nvSpPr>
        <p:spPr>
          <a:xfrm>
            <a:off x="6446520" y="1600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PADA MESIN UJI</a:t>
            </a:r>
            <a:endParaRPr lang="en-US" sz="1100" dirty="0"/>
          </a:p>
        </p:txBody>
      </p:sp>
      <p:sp>
        <p:nvSpPr>
          <p:cNvPr id="28" name="Text 17"/>
          <p:cNvSpPr/>
          <p:nvPr/>
        </p:nvSpPr>
        <p:spPr>
          <a:xfrm>
            <a:off x="6446520" y="260604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</p:txBody>
      </p:sp>
      <p:sp>
        <p:nvSpPr>
          <p:cNvPr id="29" name="Shape 18"/>
          <p:cNvSpPr/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0" name="Text 19"/>
          <p:cNvSpPr/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1500" i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Tiga service sehat dan API siap diuji.</a:t>
            </a:r>
            <a:endParaRPr lang="en-US" sz="15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6B8C7527-25D6-460A-656C-E0860D3DACFA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6419088" y="2172843"/>
            <a:ext cx="5084064" cy="285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449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nl-NL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| Pahami network dan kontrak API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Nama db/cache adalah DNS internal Compose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Shape 7"/>
          <p:cNvSpPr/>
          <p:nvPr/>
        </p:nvSpPr>
        <p:spPr>
          <a:xfrm>
            <a:off x="457200" y="1417320"/>
            <a:ext cx="5577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Shape 8"/>
          <p:cNvSpPr/>
          <p:nvPr/>
        </p:nvSpPr>
        <p:spPr>
          <a:xfrm>
            <a:off x="54864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Shape 9"/>
          <p:cNvSpPr/>
          <p:nvPr/>
        </p:nvSpPr>
        <p:spPr>
          <a:xfrm>
            <a:off x="68580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4" name="Shape 10"/>
          <p:cNvSpPr/>
          <p:nvPr/>
        </p:nvSpPr>
        <p:spPr>
          <a:xfrm>
            <a:off x="82296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xt 11"/>
          <p:cNvSpPr/>
          <p:nvPr/>
        </p:nvSpPr>
        <p:spPr>
          <a:xfrm>
            <a:off x="1005840" y="1417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Perintah terminal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94360" y="1783080"/>
            <a:ext cx="53035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docker compose exec api getent hosts db cache
docker compose logs --tail=30 api db cache
Invoke-RestMethod `
  http://127.0.0.1:8000/health
# Buka http://127.0.0.1:8000/docs</a:t>
            </a:r>
            <a:endParaRPr lang="en-US" sz="15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8" name="Shape 14"/>
          <p:cNvSpPr/>
          <p:nvPr/>
        </p:nvSpPr>
        <p:spPr>
          <a:xfrm>
            <a:off x="6217920" y="1417320"/>
            <a:ext cx="54864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9" name="Shape 15"/>
          <p:cNvSpPr/>
          <p:nvPr/>
        </p:nvSpPr>
        <p:spPr>
          <a:xfrm>
            <a:off x="630936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Shape 16"/>
          <p:cNvSpPr/>
          <p:nvPr/>
        </p:nvSpPr>
        <p:spPr>
          <a:xfrm>
            <a:off x="644652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1" name="Shape 17"/>
          <p:cNvSpPr/>
          <p:nvPr/>
        </p:nvSpPr>
        <p:spPr>
          <a:xfrm>
            <a:off x="658368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2" name="Text 18"/>
          <p:cNvSpPr/>
          <p:nvPr/>
        </p:nvSpPr>
        <p:spPr>
          <a:xfrm>
            <a:off x="676656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Cara kerja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355080" y="1783080"/>
            <a:ext cx="5212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Aptos" panose="020B0004020202020204" pitchFamily="34" charset="0"/>
                <a:ea typeface="Consolas" pitchFamily="34" charset="-122"/>
                <a:cs typeface="Consolas" pitchFamily="34" charset="-120"/>
              </a:rPr>
              <a:t>getent menunjukkan alamat service
di network internal Compose.
Browser host memakai localhost:8000.
Health API mengecek DB dan cache.
OpenAPI mendeskripsikan /notes.
Koneksi host ke db/cache tidak perlu
publish port database.</a:t>
            </a:r>
            <a:endParaRPr lang="en-US" sz="16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6536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2 | OpenAPI multi-service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dokumentasi API yang terhubung ke database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7"/>
          <p:cNvSpPr/>
          <p:nvPr/>
        </p:nvSpPr>
        <p:spPr>
          <a:xfrm>
            <a:off x="685800" y="1600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PERINTAH, FUNGSI, DAN HASIL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9748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08" y="26060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Buka /docs di browser host.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0040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07008" y="3108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Request masuk melalui port 8000.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703320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07008" y="36118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API berbicara ke db dan cache.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206240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07008" y="4114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Cari /health dan /notes.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709160"/>
            <a:ext cx="292608" cy="29260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207008" y="46177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Cek metode GET/POST/DELETE.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207008" y="51206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Jika gagal, baca docker compose logs.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292608" cy="29260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207008" y="5623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Halaman adalah server aktif.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sp>
        <p:nvSpPr>
          <p:cNvPr id="26" name="Shape 15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002677"/>
          </a:solidFill>
          <a:ln w="12700">
            <a:solidFill>
              <a:srgbClr val="00267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7" name="Text 16"/>
          <p:cNvSpPr/>
          <p:nvPr/>
        </p:nvSpPr>
        <p:spPr>
          <a:xfrm>
            <a:off x="6446520" y="1600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PADA MESIN UJI</a:t>
            </a:r>
            <a:endParaRPr lang="en-US" sz="1100" dirty="0"/>
          </a:p>
        </p:txBody>
      </p:sp>
      <p:sp>
        <p:nvSpPr>
          <p:cNvPr id="28" name="Text 17"/>
          <p:cNvSpPr/>
          <p:nvPr/>
        </p:nvSpPr>
        <p:spPr>
          <a:xfrm>
            <a:off x="6446520" y="260604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</p:txBody>
      </p:sp>
      <p:sp>
        <p:nvSpPr>
          <p:cNvPr id="29" name="Shape 18"/>
          <p:cNvSpPr/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0" name="Text 19"/>
          <p:cNvSpPr/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500" i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Dokumentasi Cloud Notes tampil di browser.</a:t>
            </a:r>
            <a:endParaRPr lang="en-US" sz="15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813653E-2E61-47FC-9486-BDD13EA9874A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6644925" y="2057400"/>
            <a:ext cx="4632389" cy="309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810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| Uji cache Redis: MISS ke HIT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menulis Postgres; GET kedua membaca cache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Shape 7"/>
          <p:cNvSpPr/>
          <p:nvPr/>
        </p:nvSpPr>
        <p:spPr>
          <a:xfrm>
            <a:off x="457200" y="1417320"/>
            <a:ext cx="5577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Shape 8"/>
          <p:cNvSpPr/>
          <p:nvPr/>
        </p:nvSpPr>
        <p:spPr>
          <a:xfrm>
            <a:off x="54864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Shape 9"/>
          <p:cNvSpPr/>
          <p:nvPr/>
        </p:nvSpPr>
        <p:spPr>
          <a:xfrm>
            <a:off x="68580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4" name="Shape 10"/>
          <p:cNvSpPr/>
          <p:nvPr/>
        </p:nvSpPr>
        <p:spPr>
          <a:xfrm>
            <a:off x="82296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xt 11"/>
          <p:cNvSpPr/>
          <p:nvPr/>
        </p:nvSpPr>
        <p:spPr>
          <a:xfrm>
            <a:off x="1005840" y="1417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PowerShell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94360" y="1783080"/>
            <a:ext cx="53035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$body = '{"title":"Compose","content":"Kelas"}'
Invoke-RestMethod `
  http://127.0.0.1:8000/notes `
  -Method Post -ContentType application/json `
  -Body $body
(Invoke-WebRequest `
  http://127.0.0.1:8000/notes `
  -UseBasicParsing).Headers['X-Cache']
# Ulangi GET segera sebelum TTL 30 detik.</a:t>
            </a:r>
            <a:endParaRPr lang="en-US" sz="15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8" name="Shape 14"/>
          <p:cNvSpPr/>
          <p:nvPr/>
        </p:nvSpPr>
        <p:spPr>
          <a:xfrm>
            <a:off x="6217920" y="1417320"/>
            <a:ext cx="54864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9" name="Shape 15"/>
          <p:cNvSpPr/>
          <p:nvPr/>
        </p:nvSpPr>
        <p:spPr>
          <a:xfrm>
            <a:off x="630936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Shape 16"/>
          <p:cNvSpPr/>
          <p:nvPr/>
        </p:nvSpPr>
        <p:spPr>
          <a:xfrm>
            <a:off x="644652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1" name="Shape 17"/>
          <p:cNvSpPr/>
          <p:nvPr/>
        </p:nvSpPr>
        <p:spPr>
          <a:xfrm>
            <a:off x="658368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2" name="Text 18"/>
          <p:cNvSpPr/>
          <p:nvPr/>
        </p:nvSpPr>
        <p:spPr>
          <a:xfrm>
            <a:off x="676656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Baca header HTTP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355080" y="1783080"/>
            <a:ext cx="5212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Aptos" panose="020B0004020202020204" pitchFamily="34" charset="0"/>
                <a:ea typeface="Consolas" pitchFamily="34" charset="-122"/>
                <a:cs typeface="Consolas" pitchFamily="34" charset="-120"/>
              </a:rPr>
              <a:t>GET pertama: X-Cache = MISS.
API query Postgres, lalu isi Redis.
GET kedua: X-Cache = HIT.
Redis mempercepat pembacaan;
Postgres tetap sumber data utama.
POST berikutnya membatalkan cache.</a:t>
            </a:r>
            <a:endParaRPr lang="en-US" sz="16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827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3 | Header MISS dan HIT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Konten sama, sumber respons berbeda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7"/>
          <p:cNvSpPr/>
          <p:nvPr/>
        </p:nvSpPr>
        <p:spPr>
          <a:xfrm>
            <a:off x="685800" y="1600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PERINTAH, FUNGSI, DAN HASIL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9748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08" y="26060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POST /notes membuat catatan.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0040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07008" y="3108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GET pertama membaca PostgreSQL.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703320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07008" y="36118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Header X-Cache menunjukkan MISS.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206240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07008" y="4114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GET cepat berikutnya memakai Redis.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709160"/>
            <a:ext cx="292608" cy="29260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207008" y="46177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Header berubah menjadi HIT.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207008" y="51206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sv-SE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TTL 30 detik bisa membuat MISS lagi.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292608" cy="29260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207008" y="5623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n-NO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Jangan bandingkan setelah POST baru.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sp>
        <p:nvSpPr>
          <p:cNvPr id="26" name="Shape 15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002677"/>
          </a:solidFill>
          <a:ln w="12700">
            <a:solidFill>
              <a:srgbClr val="00267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7" name="Text 16"/>
          <p:cNvSpPr/>
          <p:nvPr/>
        </p:nvSpPr>
        <p:spPr>
          <a:xfrm>
            <a:off x="6446520" y="1600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PADA MESIN UJI</a:t>
            </a:r>
            <a:endParaRPr lang="en-US" sz="1100" dirty="0"/>
          </a:p>
        </p:txBody>
      </p:sp>
      <p:sp>
        <p:nvSpPr>
          <p:cNvPr id="28" name="Text 17"/>
          <p:cNvSpPr/>
          <p:nvPr/>
        </p:nvSpPr>
        <p:spPr>
          <a:xfrm>
            <a:off x="6446520" y="260604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</p:txBody>
      </p:sp>
      <p:sp>
        <p:nvSpPr>
          <p:cNvPr id="29" name="Shape 18"/>
          <p:cNvSpPr/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0" name="Text 19"/>
          <p:cNvSpPr/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Baca MISS lalu HIT pada X-Cache.</a:t>
            </a:r>
            <a:endParaRPr lang="en-US" sz="15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A967042F-E201-13A5-0B9E-D3E086FA031C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6419088" y="2172843"/>
            <a:ext cx="5084064" cy="2859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474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| Buktikan persistensi volume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Restart API dan down/up menjaga volume database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Shape 7"/>
          <p:cNvSpPr/>
          <p:nvPr/>
        </p:nvSpPr>
        <p:spPr>
          <a:xfrm>
            <a:off x="457200" y="1417320"/>
            <a:ext cx="5577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Shape 8"/>
          <p:cNvSpPr/>
          <p:nvPr/>
        </p:nvSpPr>
        <p:spPr>
          <a:xfrm>
            <a:off x="54864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Shape 9"/>
          <p:cNvSpPr/>
          <p:nvPr/>
        </p:nvSpPr>
        <p:spPr>
          <a:xfrm>
            <a:off x="68580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4" name="Shape 10"/>
          <p:cNvSpPr/>
          <p:nvPr/>
        </p:nvSpPr>
        <p:spPr>
          <a:xfrm>
            <a:off x="82296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xt 11"/>
          <p:cNvSpPr/>
          <p:nvPr/>
        </p:nvSpPr>
        <p:spPr>
          <a:xfrm>
            <a:off x="1005840" y="1417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Perintah terminal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94360" y="1783080"/>
            <a:ext cx="53035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docker compose exec db psql -U clouduser `
  -d cloudnotes -c `
  'SELECT id,title FROM notes;'
docker compose restart api
Invoke-RestMethod `
  http://127.0.0.1:8000/notes
docker compose --profile debug down
docker compose up -d
Invoke-RestMethod `
  http://127.0.0.1:8000/notes</a:t>
            </a:r>
            <a:endParaRPr lang="en-US" sz="15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8" name="Shape 14"/>
          <p:cNvSpPr/>
          <p:nvPr/>
        </p:nvSpPr>
        <p:spPr>
          <a:xfrm>
            <a:off x="6217920" y="1417320"/>
            <a:ext cx="54864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9" name="Shape 15"/>
          <p:cNvSpPr/>
          <p:nvPr/>
        </p:nvSpPr>
        <p:spPr>
          <a:xfrm>
            <a:off x="630936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Shape 16"/>
          <p:cNvSpPr/>
          <p:nvPr/>
        </p:nvSpPr>
        <p:spPr>
          <a:xfrm>
            <a:off x="644652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1" name="Shape 17"/>
          <p:cNvSpPr/>
          <p:nvPr/>
        </p:nvSpPr>
        <p:spPr>
          <a:xfrm>
            <a:off x="658368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2" name="Text 18"/>
          <p:cNvSpPr/>
          <p:nvPr/>
        </p:nvSpPr>
        <p:spPr>
          <a:xfrm>
            <a:off x="676656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Hasil yang harus sama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355080" y="1783080"/>
            <a:ext cx="5212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Aptos" panose="020B0004020202020204" pitchFamily="34" charset="0"/>
                <a:ea typeface="Consolas" pitchFamily="34" charset="-122"/>
                <a:cs typeface="Consolas" pitchFamily="34" charset="-120"/>
              </a:rPr>
              <a:t>ID/judul catatan masih muncul
setelah restart API dan down/up.
Postgres menulis ke db_data.
down menghapus container/network,
tetapi mempertahankan volume.
down -v menghapus data latihan:
pakai hanya saat sengaja reset.</a:t>
            </a:r>
            <a:endParaRPr lang="en-US" sz="16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21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4 | Catatan bertahan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Postgres menjembatani proses/container baru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7"/>
          <p:cNvSpPr/>
          <p:nvPr/>
        </p:nvSpPr>
        <p:spPr>
          <a:xfrm>
            <a:off x="685800" y="1600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PERINTAH, FUNGSI, DAN HASIL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9748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08" y="26060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SELECT menunjukkan baris notes.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0040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07008" y="3108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nb-NO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restart api mengganti proses API.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703320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07008" y="36118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GET masih menemukan catatan.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206240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07008" y="4114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down/up membuat container baru.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709160"/>
            <a:ext cx="292608" cy="29260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207008" y="46177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Named volume db_data tetap ada.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207008" y="51206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Cocokkan ID sebelum dan sesudah.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292608" cy="29260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207008" y="5623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-v hanya untuk reset data latihan.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sp>
        <p:nvSpPr>
          <p:cNvPr id="26" name="Shape 15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002677"/>
          </a:solidFill>
          <a:ln w="12700">
            <a:solidFill>
              <a:srgbClr val="00267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7" name="Text 16"/>
          <p:cNvSpPr/>
          <p:nvPr/>
        </p:nvSpPr>
        <p:spPr>
          <a:xfrm>
            <a:off x="6446520" y="1600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PADA MESIN UJI</a:t>
            </a:r>
            <a:endParaRPr lang="en-US" sz="1100" dirty="0"/>
          </a:p>
        </p:txBody>
      </p:sp>
      <p:sp>
        <p:nvSpPr>
          <p:cNvPr id="28" name="Text 17"/>
          <p:cNvSpPr/>
          <p:nvPr/>
        </p:nvSpPr>
        <p:spPr>
          <a:xfrm>
            <a:off x="6446520" y="260604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</p:txBody>
      </p:sp>
      <p:sp>
        <p:nvSpPr>
          <p:cNvPr id="29" name="Shape 18"/>
          <p:cNvSpPr/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0" name="Text 19"/>
          <p:cNvSpPr/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sv-SE" sz="1500" i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ID dan judul tetap sama sesudah restart.</a:t>
            </a:r>
            <a:endParaRPr lang="en-US" sz="15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3208F25-AD7D-10F3-4EAD-EC65477F5AA4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6419088" y="2103334"/>
            <a:ext cx="5084064" cy="2998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496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| Profile debug dan Adminer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Adminer hanya hidup ketika profile debug diminta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Shape 7"/>
          <p:cNvSpPr/>
          <p:nvPr/>
        </p:nvSpPr>
        <p:spPr>
          <a:xfrm>
            <a:off x="457200" y="1417320"/>
            <a:ext cx="5577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Shape 8"/>
          <p:cNvSpPr/>
          <p:nvPr/>
        </p:nvSpPr>
        <p:spPr>
          <a:xfrm>
            <a:off x="54864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Shape 9"/>
          <p:cNvSpPr/>
          <p:nvPr/>
        </p:nvSpPr>
        <p:spPr>
          <a:xfrm>
            <a:off x="68580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4" name="Shape 10"/>
          <p:cNvSpPr/>
          <p:nvPr/>
        </p:nvSpPr>
        <p:spPr>
          <a:xfrm>
            <a:off x="82296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xt 11"/>
          <p:cNvSpPr/>
          <p:nvPr/>
        </p:nvSpPr>
        <p:spPr>
          <a:xfrm>
            <a:off x="1005840" y="1417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Perintah terminal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94360" y="1783080"/>
            <a:ext cx="53035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docker compose --profile debug up -d adminer
docker compose ps
# Buka http://127.0.0.1:8081
# Server: db; DB: cloudnotes
# User: clouduser
docker compose exec db psql -U clouduser `
  -d cloudnotes -c `
  'SELECT id,title FROM notes;'</a:t>
            </a:r>
            <a:endParaRPr lang="en-US" sz="15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8" name="Shape 14"/>
          <p:cNvSpPr/>
          <p:nvPr/>
        </p:nvSpPr>
        <p:spPr>
          <a:xfrm>
            <a:off x="6217920" y="1417320"/>
            <a:ext cx="54864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9" name="Shape 15"/>
          <p:cNvSpPr/>
          <p:nvPr/>
        </p:nvSpPr>
        <p:spPr>
          <a:xfrm>
            <a:off x="630936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Shape 16"/>
          <p:cNvSpPr/>
          <p:nvPr/>
        </p:nvSpPr>
        <p:spPr>
          <a:xfrm>
            <a:off x="644652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1" name="Shape 17"/>
          <p:cNvSpPr/>
          <p:nvPr/>
        </p:nvSpPr>
        <p:spPr>
          <a:xfrm>
            <a:off x="658368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2" name="Text 18"/>
          <p:cNvSpPr/>
          <p:nvPr/>
        </p:nvSpPr>
        <p:spPr>
          <a:xfrm>
            <a:off x="676656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Fungsi dan batas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355080" y="1783080"/>
            <a:ext cx="5212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Aptos" panose="020B0004020202020204" pitchFamily="34" charset="0"/>
                <a:ea typeface="Consolas" pitchFamily="34" charset="-122"/>
                <a:cs typeface="Consolas" pitchFamily="34" charset="-120"/>
              </a:rPr>
              <a:t>Profile memisahkan alat debug.
Adminer mengakses db di network.
Password diambil dari file secret;
jangan taruh di screenshot/repo.
Port 8081 hanya untuk browser lokal.
Tutup dengan --profile debug down
agar Adminer ikut berhenti.</a:t>
            </a:r>
            <a:endParaRPr lang="en-US" sz="16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0820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5 | Baris di Adminer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database memperlihatkan item yang API kembalikan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Text 7"/>
          <p:cNvSpPr/>
          <p:nvPr/>
        </p:nvSpPr>
        <p:spPr>
          <a:xfrm>
            <a:off x="685800" y="1600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PERINTAH, FUNGSI, DAN HASIL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2697480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07008" y="26060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Aktifkan profile debug.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0040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07008" y="31089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Buka Adminer pada port 8081.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703320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207008" y="361188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Pilih server db dan cloudnotes.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4206240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207008" y="41148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Tabel notes berisi catatan tadi.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4709160"/>
            <a:ext cx="292608" cy="29260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207008" y="461772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Bandingkan ID dengan GET /notes.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212080"/>
            <a:ext cx="292608" cy="29260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1207008" y="51206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Sembunyikan password saat merekam.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715000"/>
            <a:ext cx="292608" cy="29260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207008" y="562356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312124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Matikan profile setelah inspeksi.</a:t>
            </a:r>
            <a:endParaRPr lang="en-US" sz="1400" dirty="0">
              <a:solidFill>
                <a:srgbClr val="312124"/>
              </a:solidFill>
              <a:latin typeface="Aptos" panose="020B0004020202020204" pitchFamily="34" charset="0"/>
            </a:endParaRPr>
          </a:p>
        </p:txBody>
      </p:sp>
      <p:sp>
        <p:nvSpPr>
          <p:cNvPr id="26" name="Shape 15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002677"/>
          </a:solidFill>
          <a:ln w="12700">
            <a:solidFill>
              <a:srgbClr val="002677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7" name="Text 16"/>
          <p:cNvSpPr/>
          <p:nvPr/>
        </p:nvSpPr>
        <p:spPr>
          <a:xfrm>
            <a:off x="6446520" y="160020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PADA MESIN UJI</a:t>
            </a:r>
            <a:endParaRPr lang="en-US" sz="1100" dirty="0"/>
          </a:p>
        </p:txBody>
      </p:sp>
      <p:sp>
        <p:nvSpPr>
          <p:cNvPr id="28" name="Text 17"/>
          <p:cNvSpPr/>
          <p:nvPr/>
        </p:nvSpPr>
        <p:spPr>
          <a:xfrm>
            <a:off x="6446520" y="260604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endParaRPr lang="en-US" sz="1200" dirty="0"/>
          </a:p>
        </p:txBody>
      </p:sp>
      <p:sp>
        <p:nvSpPr>
          <p:cNvPr id="29" name="Shape 18"/>
          <p:cNvSpPr/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30" name="Text 19"/>
          <p:cNvSpPr/>
          <p:nvPr/>
        </p:nvSpPr>
        <p:spPr>
          <a:xfrm>
            <a:off x="6446520" y="534924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it-IT" sz="1500" i="1">
                <a:solidFill>
                  <a:srgbClr val="FFFFFF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Data API dan baris database cocok.</a:t>
            </a:r>
            <a:endParaRPr lang="en-US" sz="15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0A9D5027-71F1-A7C4-3CA0-2B7C3EB0236D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6763309" y="2057400"/>
            <a:ext cx="4395622" cy="3090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703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| Kunci insiden Redis berhenti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Kasus kerja: health 503, data tetap dapat dibaca dari DB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Shape 7"/>
          <p:cNvSpPr/>
          <p:nvPr/>
        </p:nvSpPr>
        <p:spPr>
          <a:xfrm>
            <a:off x="457200" y="1417320"/>
            <a:ext cx="5577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Shape 8"/>
          <p:cNvSpPr/>
          <p:nvPr/>
        </p:nvSpPr>
        <p:spPr>
          <a:xfrm>
            <a:off x="54864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Shape 9"/>
          <p:cNvSpPr/>
          <p:nvPr/>
        </p:nvSpPr>
        <p:spPr>
          <a:xfrm>
            <a:off x="68580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4" name="Shape 10"/>
          <p:cNvSpPr/>
          <p:nvPr/>
        </p:nvSpPr>
        <p:spPr>
          <a:xfrm>
            <a:off x="82296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xt 11"/>
          <p:cNvSpPr/>
          <p:nvPr/>
        </p:nvSpPr>
        <p:spPr>
          <a:xfrm>
            <a:off x="1005840" y="1417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Perintah terminal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94360" y="1783080"/>
            <a:ext cx="53035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docker compose stop cache
docker compose ps
docker compose logs --tail=50 api cache
Invoke-RestMethod `
  http://127.0.0.1:8000/notes
docker compose start cache
docker compose ps</a:t>
            </a:r>
            <a:endParaRPr lang="en-US" sz="15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8" name="Shape 14"/>
          <p:cNvSpPr/>
          <p:nvPr/>
        </p:nvSpPr>
        <p:spPr>
          <a:xfrm>
            <a:off x="6217920" y="1417320"/>
            <a:ext cx="54864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9" name="Shape 15"/>
          <p:cNvSpPr/>
          <p:nvPr/>
        </p:nvSpPr>
        <p:spPr>
          <a:xfrm>
            <a:off x="630936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Shape 16"/>
          <p:cNvSpPr/>
          <p:nvPr/>
        </p:nvSpPr>
        <p:spPr>
          <a:xfrm>
            <a:off x="644652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1" name="Shape 17"/>
          <p:cNvSpPr/>
          <p:nvPr/>
        </p:nvSpPr>
        <p:spPr>
          <a:xfrm>
            <a:off x="658368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2" name="Text 18"/>
          <p:cNvSpPr/>
          <p:nvPr/>
        </p:nvSpPr>
        <p:spPr>
          <a:xfrm>
            <a:off x="676656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Diagnosis dan pulih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355080" y="1783080"/>
            <a:ext cx="5212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Aptos" panose="020B0004020202020204" pitchFamily="34" charset="0"/>
                <a:ea typeface="Consolas" pitchFamily="34" charset="-122"/>
                <a:cs typeface="Consolas" pitchFamily="34" charset="-120"/>
              </a:rPr>
              <a:t>/health dapat menunjukkan 503
ketika Redis tidak sehat.
GET /notes tetap bisa membaca DB
dengan header MISS sebagai fallback.
Setelah start, tunggu healthy.
Jangan klaim cache sebagai DB utama.</a:t>
            </a:r>
            <a:endParaRPr lang="en-US" sz="16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7247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| Bersihkan dan push source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volume untuk uji ulang; Lab 07 punya DB sendiri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1417320"/>
            <a:ext cx="557784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1" name="Shape 7"/>
          <p:cNvSpPr/>
          <p:nvPr/>
        </p:nvSpPr>
        <p:spPr>
          <a:xfrm>
            <a:off x="457200" y="1417320"/>
            <a:ext cx="557784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2" name="Shape 8"/>
          <p:cNvSpPr/>
          <p:nvPr/>
        </p:nvSpPr>
        <p:spPr>
          <a:xfrm>
            <a:off x="54864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3" name="Shape 9"/>
          <p:cNvSpPr/>
          <p:nvPr/>
        </p:nvSpPr>
        <p:spPr>
          <a:xfrm>
            <a:off x="68580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4" name="Shape 10"/>
          <p:cNvSpPr/>
          <p:nvPr/>
        </p:nvSpPr>
        <p:spPr>
          <a:xfrm>
            <a:off x="82296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5" name="Text 11"/>
          <p:cNvSpPr/>
          <p:nvPr/>
        </p:nvSpPr>
        <p:spPr>
          <a:xfrm>
            <a:off x="1005840" y="1417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Perintah terminal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594360" y="1783080"/>
            <a:ext cx="53035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docker compose --profile debug down
git status --short
git add compose.yaml api initdb .env.example
git add secrets/*.example MODUL_MAHASISWA.md hasil
git diff --cached --name-only
git diff --cached --check
git commit -m "lab06: Compose Cloud Notes"
git push</a:t>
            </a:r>
            <a:endParaRPr lang="en-US" sz="1500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217920" y="1417320"/>
            <a:ext cx="5486400" cy="4754880"/>
          </a:xfrm>
          <a:prstGeom prst="rect">
            <a:avLst/>
          </a:prstGeom>
          <a:solidFill>
            <a:srgbClr val="1E293B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8" name="Shape 14"/>
          <p:cNvSpPr/>
          <p:nvPr/>
        </p:nvSpPr>
        <p:spPr>
          <a:xfrm>
            <a:off x="6217920" y="1417320"/>
            <a:ext cx="5486400" cy="274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19" name="Shape 15"/>
          <p:cNvSpPr/>
          <p:nvPr/>
        </p:nvSpPr>
        <p:spPr>
          <a:xfrm>
            <a:off x="6309360" y="1499616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0" name="Shape 16"/>
          <p:cNvSpPr/>
          <p:nvPr/>
        </p:nvSpPr>
        <p:spPr>
          <a:xfrm>
            <a:off x="6446520" y="14996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1" name="Shape 17"/>
          <p:cNvSpPr/>
          <p:nvPr/>
        </p:nvSpPr>
        <p:spPr>
          <a:xfrm>
            <a:off x="6583680" y="1499616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id-ID"/>
          </a:p>
        </p:txBody>
      </p:sp>
      <p:sp>
        <p:nvSpPr>
          <p:cNvPr id="22" name="Text 18"/>
          <p:cNvSpPr/>
          <p:nvPr/>
        </p:nvSpPr>
        <p:spPr>
          <a:xfrm>
            <a:off x="6766560" y="14173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Pemeriksaan Git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6355080" y="1783080"/>
            <a:ext cx="52120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600">
                <a:solidFill>
                  <a:srgbClr val="FFFFFF"/>
                </a:solidFill>
                <a:latin typeface="Aptos" panose="020B0004020202020204" pitchFamily="34" charset="0"/>
                <a:ea typeface="Consolas" pitchFamily="34" charset="-122"/>
                <a:cs typeface="Consolas" pitchFamily="34" charset="-120"/>
              </a:rPr>
              <a:t>.env dan db_password.txt asli
harus diabaikan Git.
Simpan bukti Anda sendiri di hasil.
Git menyimpan konfigurasi contoh,
bukan volume database.
down tanpa -v menjaga data.</a:t>
            </a:r>
            <a:endParaRPr lang="en-US" sz="16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953677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nl-NL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awal | secret dan config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Test-Path; compose config; check-ignore  |  tanpa isi password</a:t>
            </a:r>
            <a:endParaRPr lang="en-US" sz="1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2C3FC3-2268-3632-60A5-8F36FCCD90BB}"/>
              </a:ext>
            </a:extLst>
          </p:cNvPr>
          <p:cNvSpPr/>
          <p:nvPr/>
        </p:nvSpPr>
        <p:spPr>
          <a:xfrm>
            <a:off x="457200" y="1409700"/>
            <a:ext cx="11252200" cy="3886200"/>
          </a:xfrm>
          <a:prstGeom prst="rect">
            <a:avLst/>
          </a:prstGeom>
          <a:solidFill>
            <a:srgbClr val="F6F8FC"/>
          </a:solidFill>
          <a:ln>
            <a:solidFill>
              <a:srgbClr val="D3DE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4C38AF-D50D-3EDB-2A20-35E588144107}"/>
              </a:ext>
            </a:extLst>
          </p:cNvPr>
          <p:cNvSpPr/>
          <p:nvPr/>
        </p:nvSpPr>
        <p:spPr>
          <a:xfrm>
            <a:off x="457200" y="5397500"/>
            <a:ext cx="11252200" cy="787400"/>
          </a:xfrm>
          <a:prstGeom prst="rect">
            <a:avLst/>
          </a:prstGeom>
          <a:solidFill>
            <a:srgbClr val="0027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179848-0254-FC95-B234-981E0248F004}"/>
              </a:ext>
            </a:extLst>
          </p:cNvPr>
          <p:cNvSpPr txBox="1"/>
          <p:nvPr/>
        </p:nvSpPr>
        <p:spPr>
          <a:xfrm>
            <a:off x="635000" y="54991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F37021"/>
                </a:solidFill>
                <a:latin typeface="Arial" panose="020B0604020202020204" pitchFamily="34" charset="0"/>
              </a:rPr>
              <a:t>FILE LOKAL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041FD0-C768-9242-FF37-021E9D2B6BD9}"/>
              </a:ext>
            </a:extLst>
          </p:cNvPr>
          <p:cNvSpPr txBox="1"/>
          <p:nvPr/>
        </p:nvSpPr>
        <p:spPr>
          <a:xfrm>
            <a:off x="635000" y="57277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FFFFFF"/>
                </a:solidFill>
                <a:latin typeface="Arial" panose="020B0604020202020204" pitchFamily="34" charset="0"/>
              </a:rPr>
              <a:t>.env dan password tersedia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74B100-F150-BE1A-A13C-CBD2FCE7D19B}"/>
              </a:ext>
            </a:extLst>
          </p:cNvPr>
          <p:cNvSpPr txBox="1"/>
          <p:nvPr/>
        </p:nvSpPr>
        <p:spPr>
          <a:xfrm>
            <a:off x="4318000" y="54991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F37021"/>
                </a:solidFill>
                <a:latin typeface="Arial" panose="020B0604020202020204" pitchFamily="34" charset="0"/>
              </a:rPr>
              <a:t>COMPOSE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64305D-94C1-CBA2-4912-2EC5B118054C}"/>
              </a:ext>
            </a:extLst>
          </p:cNvPr>
          <p:cNvSpPr txBox="1"/>
          <p:nvPr/>
        </p:nvSpPr>
        <p:spPr>
          <a:xfrm>
            <a:off x="4318000" y="57277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FFFFFF"/>
                </a:solidFill>
                <a:latin typeface="Arial" panose="020B0604020202020204" pitchFamily="34" charset="0"/>
              </a:rPr>
              <a:t>config --quiet exit 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EE0EF9-5060-12FC-A5E6-E5367599FF83}"/>
              </a:ext>
            </a:extLst>
          </p:cNvPr>
          <p:cNvSpPr txBox="1"/>
          <p:nvPr/>
        </p:nvSpPr>
        <p:spPr>
          <a:xfrm>
            <a:off x="8001000" y="54991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F37021"/>
                </a:solidFill>
                <a:latin typeface="Arial" panose="020B0604020202020204" pitchFamily="34" charset="0"/>
              </a:rPr>
              <a:t>GIT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7FAF8FA-E512-3BA5-B85A-15159888CAEB}"/>
              </a:ext>
            </a:extLst>
          </p:cNvPr>
          <p:cNvSpPr txBox="1"/>
          <p:nvPr/>
        </p:nvSpPr>
        <p:spPr>
          <a:xfrm>
            <a:off x="8001000" y="57277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FFFFFF"/>
                </a:solidFill>
                <a:latin typeface="Arial" panose="020B0604020202020204" pitchFamily="34" charset="0"/>
              </a:rPr>
              <a:t>Kedua file diabaikan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699723"/>
            <a:ext cx="11099800" cy="330615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nl-NL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DNS | service dan health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getent hosts; GET /health  |  output aktual</a:t>
            </a:r>
            <a:endParaRPr lang="en-US" sz="1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2C3FC3-2268-3632-60A5-8F36FCCD90BB}"/>
              </a:ext>
            </a:extLst>
          </p:cNvPr>
          <p:cNvSpPr/>
          <p:nvPr/>
        </p:nvSpPr>
        <p:spPr>
          <a:xfrm>
            <a:off x="457200" y="1409700"/>
            <a:ext cx="11252200" cy="3886200"/>
          </a:xfrm>
          <a:prstGeom prst="rect">
            <a:avLst/>
          </a:prstGeom>
          <a:solidFill>
            <a:srgbClr val="F6F8FC"/>
          </a:solidFill>
          <a:ln>
            <a:solidFill>
              <a:srgbClr val="D3DE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4C38AF-D50D-3EDB-2A20-35E588144107}"/>
              </a:ext>
            </a:extLst>
          </p:cNvPr>
          <p:cNvSpPr/>
          <p:nvPr/>
        </p:nvSpPr>
        <p:spPr>
          <a:xfrm>
            <a:off x="457200" y="5397500"/>
            <a:ext cx="11252200" cy="787400"/>
          </a:xfrm>
          <a:prstGeom prst="rect">
            <a:avLst/>
          </a:prstGeom>
          <a:solidFill>
            <a:srgbClr val="0027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179848-0254-FC95-B234-981E0248F004}"/>
              </a:ext>
            </a:extLst>
          </p:cNvPr>
          <p:cNvSpPr txBox="1"/>
          <p:nvPr/>
        </p:nvSpPr>
        <p:spPr>
          <a:xfrm>
            <a:off x="635000" y="54991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F37021"/>
                </a:solidFill>
                <a:latin typeface="Arial" panose="020B0604020202020204" pitchFamily="34" charset="0"/>
              </a:rPr>
              <a:t>DNS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041FD0-C768-9242-FF37-021E9D2B6BD9}"/>
              </a:ext>
            </a:extLst>
          </p:cNvPr>
          <p:cNvSpPr txBox="1"/>
          <p:nvPr/>
        </p:nvSpPr>
        <p:spPr>
          <a:xfrm>
            <a:off x="635000" y="57277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FFFFFF"/>
                </a:solidFill>
                <a:latin typeface="Arial" panose="020B0604020202020204" pitchFamily="34" charset="0"/>
              </a:rPr>
              <a:t>db dan cache punya alamat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74B100-F150-BE1A-A13C-CBD2FCE7D19B}"/>
              </a:ext>
            </a:extLst>
          </p:cNvPr>
          <p:cNvSpPr txBox="1"/>
          <p:nvPr/>
        </p:nvSpPr>
        <p:spPr>
          <a:xfrm>
            <a:off x="4318000" y="54991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F37021"/>
                </a:solidFill>
                <a:latin typeface="Arial" panose="020B0604020202020204" pitchFamily="34" charset="0"/>
              </a:rPr>
              <a:t>NETWORK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64305D-94C1-CBA2-4912-2EC5B118054C}"/>
              </a:ext>
            </a:extLst>
          </p:cNvPr>
          <p:cNvSpPr txBox="1"/>
          <p:nvPr/>
        </p:nvSpPr>
        <p:spPr>
          <a:xfrm>
            <a:off x="4318000" y="57277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FFFFFF"/>
                </a:solidFill>
                <a:latin typeface="Arial" panose="020B0604020202020204" pitchFamily="34" charset="0"/>
              </a:rPr>
              <a:t>IP internal dapat berubah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EE0EF9-5060-12FC-A5E6-E5367599FF83}"/>
              </a:ext>
            </a:extLst>
          </p:cNvPr>
          <p:cNvSpPr txBox="1"/>
          <p:nvPr/>
        </p:nvSpPr>
        <p:spPr>
          <a:xfrm>
            <a:off x="8001000" y="54991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F37021"/>
                </a:solidFill>
                <a:latin typeface="Arial" panose="020B0604020202020204" pitchFamily="34" charset="0"/>
              </a:rPr>
              <a:t>HTTP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7FAF8FA-E512-3BA5-B85A-15159888CAEB}"/>
              </a:ext>
            </a:extLst>
          </p:cNvPr>
          <p:cNvSpPr txBox="1"/>
          <p:nvPr/>
        </p:nvSpPr>
        <p:spPr>
          <a:xfrm>
            <a:off x="8001000" y="57277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FFFFFF"/>
                </a:solidFill>
                <a:latin typeface="Arial" panose="020B0604020202020204" pitchFamily="34" charset="0"/>
              </a:rPr>
              <a:t>Health 200 dan JSON ok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228" y="1490898"/>
            <a:ext cx="9930144" cy="37238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BINUS UNIVERSITY  |  Cloud Services  |  Praktikum 6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6446520"/>
            <a:ext cx="228600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64592"/>
            <a:ext cx="914400" cy="603504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182880"/>
            <a:ext cx="1005840" cy="51206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011680" y="182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nl-NL" sz="2200" b="1">
                <a:solidFill>
                  <a:srgbClr val="1976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 Git | repo Lab 06 terbit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remote, status, log, SHA main  |  contoh checkpoint pengajar</a:t>
            </a:r>
            <a:endParaRPr lang="en-US" sz="12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A2C3FC3-2268-3632-60A5-8F36FCCD90BB}"/>
              </a:ext>
            </a:extLst>
          </p:cNvPr>
          <p:cNvSpPr/>
          <p:nvPr/>
        </p:nvSpPr>
        <p:spPr>
          <a:xfrm>
            <a:off x="457200" y="1409700"/>
            <a:ext cx="11252200" cy="3886200"/>
          </a:xfrm>
          <a:prstGeom prst="rect">
            <a:avLst/>
          </a:prstGeom>
          <a:solidFill>
            <a:srgbClr val="F6F8FC"/>
          </a:solidFill>
          <a:ln>
            <a:solidFill>
              <a:srgbClr val="D3DEE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4C38AF-D50D-3EDB-2A20-35E588144107}"/>
              </a:ext>
            </a:extLst>
          </p:cNvPr>
          <p:cNvSpPr/>
          <p:nvPr/>
        </p:nvSpPr>
        <p:spPr>
          <a:xfrm>
            <a:off x="457200" y="5397500"/>
            <a:ext cx="11252200" cy="787400"/>
          </a:xfrm>
          <a:prstGeom prst="rect">
            <a:avLst/>
          </a:prstGeom>
          <a:solidFill>
            <a:srgbClr val="002777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8179848-0254-FC95-B234-981E0248F004}"/>
              </a:ext>
            </a:extLst>
          </p:cNvPr>
          <p:cNvSpPr txBox="1"/>
          <p:nvPr/>
        </p:nvSpPr>
        <p:spPr>
          <a:xfrm>
            <a:off x="635000" y="54991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F37021"/>
                </a:solidFill>
                <a:latin typeface="Arial" panose="020B0604020202020204" pitchFamily="34" charset="0"/>
              </a:rPr>
              <a:t>TUJUAN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F041FD0-C768-9242-FF37-021E9D2B6BD9}"/>
              </a:ext>
            </a:extLst>
          </p:cNvPr>
          <p:cNvSpPr txBox="1"/>
          <p:nvPr/>
        </p:nvSpPr>
        <p:spPr>
          <a:xfrm>
            <a:off x="635000" y="57277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FFFFFF"/>
                </a:solidFill>
                <a:latin typeface="Arial" panose="020B0604020202020204" pitchFamily="34" charset="0"/>
              </a:rPr>
              <a:t>origin = meet6CloudService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F74B100-F150-BE1A-A13C-CBD2FCE7D19B}"/>
              </a:ext>
            </a:extLst>
          </p:cNvPr>
          <p:cNvSpPr txBox="1"/>
          <p:nvPr/>
        </p:nvSpPr>
        <p:spPr>
          <a:xfrm>
            <a:off x="4318000" y="54991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F37021"/>
                </a:solidFill>
                <a:latin typeface="Arial" panose="020B0604020202020204" pitchFamily="34" charset="0"/>
              </a:rPr>
              <a:t>HASIL PUSH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64305D-94C1-CBA2-4912-2EC5B118054C}"/>
              </a:ext>
            </a:extLst>
          </p:cNvPr>
          <p:cNvSpPr txBox="1"/>
          <p:nvPr/>
        </p:nvSpPr>
        <p:spPr>
          <a:xfrm>
            <a:off x="4318000" y="57277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FFFFFF"/>
                </a:solidFill>
                <a:latin typeface="Arial" panose="020B0604020202020204" pitchFamily="34" charset="0"/>
              </a:rPr>
              <a:t>SHA lokal = remote saat uji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EE0EF9-5060-12FC-A5E6-E5367599FF83}"/>
              </a:ext>
            </a:extLst>
          </p:cNvPr>
          <p:cNvSpPr txBox="1"/>
          <p:nvPr/>
        </p:nvSpPr>
        <p:spPr>
          <a:xfrm>
            <a:off x="8001000" y="54991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050" b="1">
                <a:solidFill>
                  <a:srgbClr val="F37021"/>
                </a:solidFill>
                <a:latin typeface="Arial" panose="020B0604020202020204" pitchFamily="34" charset="0"/>
              </a:rPr>
              <a:t>MAHASISWA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7FAF8FA-E512-3BA5-B85A-15159888CAEB}"/>
              </a:ext>
            </a:extLst>
          </p:cNvPr>
          <p:cNvSpPr txBox="1"/>
          <p:nvPr/>
        </p:nvSpPr>
        <p:spPr>
          <a:xfrm>
            <a:off x="8001000" y="5727700"/>
            <a:ext cx="3429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r>
              <a:rPr lang="en-US" sz="1300">
                <a:solidFill>
                  <a:srgbClr val="FFFFFF"/>
                </a:solidFill>
                <a:latin typeface="Arial" panose="020B0604020202020204" pitchFamily="34" charset="0"/>
              </a:rPr>
              <a:t>Ulangi pada repo pribadi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9624" y="1490898"/>
            <a:ext cx="9427351" cy="37238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1485</Words>
  <Application>Microsoft Office PowerPoint</Application>
  <PresentationFormat>Widescreen</PresentationFormat>
  <Paragraphs>164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Docker Compose - Multi-Container - Praktikum 6</dc:title>
  <dc:subject>PptxGenJS Presentation</dc:subject>
  <dc:creator>PptxGenJS</dc:creator>
  <cp:lastModifiedBy>Budi Juarto</cp:lastModifiedBy>
  <cp:revision>3</cp:revision>
  <dcterms:created xsi:type="dcterms:W3CDTF">2026-05-16T09:52:40Z</dcterms:created>
  <dcterms:modified xsi:type="dcterms:W3CDTF">2026-10-07T13:04:07Z</dcterms:modified>
</cp:coreProperties>
</file>