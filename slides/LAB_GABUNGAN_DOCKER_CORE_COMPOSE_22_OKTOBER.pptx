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20d75a2b99404c" /><Relationship Type="http://schemas.openxmlformats.org/officeDocument/2006/relationships/extended-properties" Target="/docProps/app.xml" Id="R86dc9d2908a743a2" /><Relationship Type="http://schemas.openxmlformats.org/officeDocument/2006/relationships/officeDocument" Target="/ppt/presentation.xml" Id="R3e56f3cd24f34a2d" /></Relationships>
</file>

<file path=ppt/presentation.xml><?xml version="1.0" encoding="utf-8"?>
<p:presentation xmlns:p="http://schemas.openxmlformats.org/presentationml/2006/main">
  <p:sldMasterIdLst>
    <p:sldMasterId xmlns:r="http://schemas.openxmlformats.org/officeDocument/2006/relationships" id="2147483648" r:id="R9073ed8f3cca4829"/>
  </p:sldMasterIdLst>
  <p:notesMasterIdLst>
    <p:notesMasterId xmlns:r="http://schemas.openxmlformats.org/officeDocument/2006/relationships" r:id="Rf5c697d75d414817"/>
  </p:notesMasterIdLst>
  <p:sldIdLst>
    <p:sldId xmlns:r="http://schemas.openxmlformats.org/officeDocument/2006/relationships" id="256" r:id="Rdd45cc2535ec4ca5"/>
    <p:sldId xmlns:r="http://schemas.openxmlformats.org/officeDocument/2006/relationships" id="257" r:id="Re85c2ccf631d40bd"/>
    <p:sldId xmlns:r="http://schemas.openxmlformats.org/officeDocument/2006/relationships" id="258" r:id="Ra4caace7d78d46c6"/>
    <p:sldId xmlns:r="http://schemas.openxmlformats.org/officeDocument/2006/relationships" id="259" r:id="R0e6502d43ee54d3c"/>
    <p:sldId xmlns:r="http://schemas.openxmlformats.org/officeDocument/2006/relationships" id="260" r:id="R698f60b2fa3c4a3b"/>
    <p:sldId xmlns:r="http://schemas.openxmlformats.org/officeDocument/2006/relationships" id="261" r:id="R7e16737aad294893"/>
    <p:sldId xmlns:r="http://schemas.openxmlformats.org/officeDocument/2006/relationships" id="262" r:id="Rabcaa63daffd4e97"/>
    <p:sldId xmlns:r="http://schemas.openxmlformats.org/officeDocument/2006/relationships" id="263" r:id="Ref328c5a092241ed"/>
    <p:sldId xmlns:r="http://schemas.openxmlformats.org/officeDocument/2006/relationships" id="264" r:id="Rf61b539ff0f64034"/>
    <p:sldId xmlns:r="http://schemas.openxmlformats.org/officeDocument/2006/relationships" id="265" r:id="R234b0ef799e841db"/>
    <p:sldId xmlns:r="http://schemas.openxmlformats.org/officeDocument/2006/relationships" id="266" r:id="Rf731fb07f2694d2e"/>
    <p:sldId xmlns:r="http://schemas.openxmlformats.org/officeDocument/2006/relationships" id="267" r:id="Rd0d0116828e8441a"/>
    <p:sldId xmlns:r="http://schemas.openxmlformats.org/officeDocument/2006/relationships" id="268" r:id="R45291b6ae652489f"/>
    <p:sldId xmlns:r="http://schemas.openxmlformats.org/officeDocument/2006/relationships" id="269" r:id="Rf94b77f9ca704dee"/>
    <p:sldId xmlns:r="http://schemas.openxmlformats.org/officeDocument/2006/relationships" id="270" r:id="R61f2d84d40e143d9"/>
    <p:sldId xmlns:r="http://schemas.openxmlformats.org/officeDocument/2006/relationships" id="271" r:id="R17c4d382f52341ac"/>
    <p:sldId xmlns:r="http://schemas.openxmlformats.org/officeDocument/2006/relationships" id="272" r:id="Rd23cbb10b94340d7"/>
    <p:sldId xmlns:r="http://schemas.openxmlformats.org/officeDocument/2006/relationships" id="273" r:id="Rc70efe10c3d54874"/>
    <p:sldId xmlns:r="http://schemas.openxmlformats.org/officeDocument/2006/relationships" id="274" r:id="Rd2c1e5fe9206437b"/>
    <p:sldId xmlns:r="http://schemas.openxmlformats.org/officeDocument/2006/relationships" id="275" r:id="Ree2d90d1d8e949a4"/>
    <p:sldId xmlns:r="http://schemas.openxmlformats.org/officeDocument/2006/relationships" id="276" r:id="Rd2c38b3a5fe24b3f"/>
    <p:sldId xmlns:r="http://schemas.openxmlformats.org/officeDocument/2006/relationships" id="277" r:id="R524a68bb1fbd41ab"/>
    <p:sldId xmlns:r="http://schemas.openxmlformats.org/officeDocument/2006/relationships" id="278" r:id="Raa9f2234e3834b2e"/>
    <p:sldId xmlns:r="http://schemas.openxmlformats.org/officeDocument/2006/relationships" id="279" r:id="R522decf9896b4a17"/>
    <p:sldId xmlns:r="http://schemas.openxmlformats.org/officeDocument/2006/relationships" id="280" r:id="Re098a80a4e8d47a7"/>
    <p:sldId xmlns:r="http://schemas.openxmlformats.org/officeDocument/2006/relationships" id="281" r:id="Rb2ea438055014a9a"/>
    <p:sldId xmlns:r="http://schemas.openxmlformats.org/officeDocument/2006/relationships" id="282" r:id="Rd2afbb7a375e4595"/>
    <p:sldId xmlns:r="http://schemas.openxmlformats.org/officeDocument/2006/relationships" id="283" r:id="Rd46176a1f3d64af4"/>
    <p:sldId xmlns:r="http://schemas.openxmlformats.org/officeDocument/2006/relationships" id="284" r:id="Rba4d019d06074f5b"/>
    <p:sldId xmlns:r="http://schemas.openxmlformats.org/officeDocument/2006/relationships" id="285" r:id="Re3bbb09fb67e4b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4384b36bbbf4c41" /><Relationship Type="http://schemas.openxmlformats.org/officeDocument/2006/relationships/slideMaster" Target="/ppt/slideMasters/slideMaster1.xml" Id="R9073ed8f3cca4829" /><Relationship Type="http://schemas.openxmlformats.org/officeDocument/2006/relationships/notesMaster" Target="/ppt/notesMasters/notesMaster1.xml" Id="Rf5c697d75d414817" /><Relationship Type="http://schemas.openxmlformats.org/officeDocument/2006/relationships/presProps" Target="/ppt/presProps.xml" Id="R93db95a84c5948e0" /><Relationship Type="http://schemas.openxmlformats.org/officeDocument/2006/relationships/viewProps" Target="/ppt/viewProps.xml" Id="R07d3379629154908" /><Relationship Type="http://schemas.openxmlformats.org/officeDocument/2006/relationships/tableStyles" Target="/ppt/tableStyles.xml" Id="Rd87627c85d984136" /><Relationship Type="http://schemas.openxmlformats.org/officeDocument/2006/relationships/slide" Target="/ppt/slides/slide1.xml" Id="Rdd45cc2535ec4ca5" /><Relationship Type="http://schemas.openxmlformats.org/officeDocument/2006/relationships/slide" Target="/ppt/slides/slide2.xml" Id="Re85c2ccf631d40bd" /><Relationship Type="http://schemas.openxmlformats.org/officeDocument/2006/relationships/slide" Target="/ppt/slides/slide3.xml" Id="Ra4caace7d78d46c6" /><Relationship Type="http://schemas.openxmlformats.org/officeDocument/2006/relationships/slide" Target="/ppt/slides/slide4.xml" Id="R0e6502d43ee54d3c" /><Relationship Type="http://schemas.openxmlformats.org/officeDocument/2006/relationships/slide" Target="/ppt/slides/slide5.xml" Id="R698f60b2fa3c4a3b" /><Relationship Type="http://schemas.openxmlformats.org/officeDocument/2006/relationships/slide" Target="/ppt/slides/slide6.xml" Id="R7e16737aad294893" /><Relationship Type="http://schemas.openxmlformats.org/officeDocument/2006/relationships/slide" Target="/ppt/slides/slide7.xml" Id="Rabcaa63daffd4e97" /><Relationship Type="http://schemas.openxmlformats.org/officeDocument/2006/relationships/slide" Target="/ppt/slides/slide8.xml" Id="Ref328c5a092241ed" /><Relationship Type="http://schemas.openxmlformats.org/officeDocument/2006/relationships/slide" Target="/ppt/slides/slide9.xml" Id="Rf61b539ff0f64034" /><Relationship Type="http://schemas.openxmlformats.org/officeDocument/2006/relationships/slide" Target="/ppt/slides/slide10.xml" Id="R234b0ef799e841db" /><Relationship Type="http://schemas.openxmlformats.org/officeDocument/2006/relationships/slide" Target="/ppt/slides/slide11.xml" Id="Rf731fb07f2694d2e" /><Relationship Type="http://schemas.openxmlformats.org/officeDocument/2006/relationships/slide" Target="/ppt/slides/slide12.xml" Id="Rd0d0116828e8441a" /><Relationship Type="http://schemas.openxmlformats.org/officeDocument/2006/relationships/slide" Target="/ppt/slides/slide13.xml" Id="R45291b6ae652489f" /><Relationship Type="http://schemas.openxmlformats.org/officeDocument/2006/relationships/slide" Target="/ppt/slides/slide14.xml" Id="Rf94b77f9ca704dee" /><Relationship Type="http://schemas.openxmlformats.org/officeDocument/2006/relationships/slide" Target="/ppt/slides/slide15.xml" Id="R61f2d84d40e143d9" /><Relationship Type="http://schemas.openxmlformats.org/officeDocument/2006/relationships/slide" Target="/ppt/slides/slide16.xml" Id="R17c4d382f52341ac" /><Relationship Type="http://schemas.openxmlformats.org/officeDocument/2006/relationships/slide" Target="/ppt/slides/slide17.xml" Id="Rd23cbb10b94340d7" /><Relationship Type="http://schemas.openxmlformats.org/officeDocument/2006/relationships/slide" Target="/ppt/slides/slide18.xml" Id="Rc70efe10c3d54874" /><Relationship Type="http://schemas.openxmlformats.org/officeDocument/2006/relationships/slide" Target="/ppt/slides/slide19.xml" Id="Rd2c1e5fe9206437b" /><Relationship Type="http://schemas.openxmlformats.org/officeDocument/2006/relationships/slide" Target="/ppt/slides/slide20.xml" Id="Ree2d90d1d8e949a4" /><Relationship Type="http://schemas.openxmlformats.org/officeDocument/2006/relationships/slide" Target="/ppt/slides/slide21.xml" Id="Rd2c38b3a5fe24b3f" /><Relationship Type="http://schemas.openxmlformats.org/officeDocument/2006/relationships/slide" Target="/ppt/slides/slide22.xml" Id="R524a68bb1fbd41ab" /><Relationship Type="http://schemas.openxmlformats.org/officeDocument/2006/relationships/slide" Target="/ppt/slides/slide23.xml" Id="Raa9f2234e3834b2e" /><Relationship Type="http://schemas.openxmlformats.org/officeDocument/2006/relationships/slide" Target="/ppt/slides/slide24.xml" Id="R522decf9896b4a17" /><Relationship Type="http://schemas.openxmlformats.org/officeDocument/2006/relationships/slide" Target="/ppt/slides/slide25.xml" Id="Re098a80a4e8d47a7" /><Relationship Type="http://schemas.openxmlformats.org/officeDocument/2006/relationships/slide" Target="/ppt/slides/slide26.xml" Id="Rb2ea438055014a9a" /><Relationship Type="http://schemas.openxmlformats.org/officeDocument/2006/relationships/slide" Target="/ppt/slides/slide27.xml" Id="Rd2afbb7a375e4595" /><Relationship Type="http://schemas.openxmlformats.org/officeDocument/2006/relationships/slide" Target="/ppt/slides/slide28.xml" Id="Rd46176a1f3d64af4" /><Relationship Type="http://schemas.openxmlformats.org/officeDocument/2006/relationships/slide" Target="/ppt/slides/slide29.xml" Id="Rba4d019d06074f5b" /><Relationship Type="http://schemas.openxmlformats.org/officeDocument/2006/relationships/slide" Target="/ppt/slides/slide30.xml" Id="Re3bbb09fb67e4b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3d2ca6d0074f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02261df86741ab" /><Relationship Type="http://schemas.openxmlformats.org/officeDocument/2006/relationships/notesMaster" Target="/ppt/notesMasters/notesMaster1.xml" Id="R3c6b7a67e3914a3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b8f3ed26d642ec" /><Relationship Type="http://schemas.openxmlformats.org/officeDocument/2006/relationships/notesMaster" Target="/ppt/notesMasters/notesMaster1.xml" Id="R48ccaa5c6a934d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7c90a0e8ef4361" /><Relationship Type="http://schemas.openxmlformats.org/officeDocument/2006/relationships/notesMaster" Target="/ppt/notesMasters/notesMaster1.xml" Id="R275d051eba7345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2ea0d00495b4d29" /><Relationship Type="http://schemas.openxmlformats.org/officeDocument/2006/relationships/notesMaster" Target="/ppt/notesMasters/notesMaster1.xml" Id="Ra05d8ee9d8c14185"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189e867d234f09" /><Relationship Type="http://schemas.openxmlformats.org/officeDocument/2006/relationships/notesMaster" Target="/ppt/notesMasters/notesMaster1.xml" Id="Rd45f122a9b2843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aaae7f8ea046c7" /><Relationship Type="http://schemas.openxmlformats.org/officeDocument/2006/relationships/notesMaster" Target="/ppt/notesMasters/notesMaster1.xml" Id="R98d540a25ff84ee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08e223d2a24817" /><Relationship Type="http://schemas.openxmlformats.org/officeDocument/2006/relationships/notesMaster" Target="/ppt/notesMasters/notesMaster1.xml" Id="Rf8c4688345e842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14c1bf4af64c3f" /><Relationship Type="http://schemas.openxmlformats.org/officeDocument/2006/relationships/notesMaster" Target="/ppt/notesMasters/notesMaster1.xml" Id="R1cc81bf96d2344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ebb8072b1042d2" /><Relationship Type="http://schemas.openxmlformats.org/officeDocument/2006/relationships/notesMaster" Target="/ppt/notesMasters/notesMaster1.xml" Id="Re649cc80982e483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a82dffb2bf4437" /><Relationship Type="http://schemas.openxmlformats.org/officeDocument/2006/relationships/notesMaster" Target="/ppt/notesMasters/notesMaster1.xml" Id="R067818f365db49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ac38198e46348a3" /><Relationship Type="http://schemas.openxmlformats.org/officeDocument/2006/relationships/notesMaster" Target="/ppt/notesMasters/notesMaster1.xml" Id="R7ccb3f014b3b405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d7ae947e8d64154" /><Relationship Type="http://schemas.openxmlformats.org/officeDocument/2006/relationships/notesMaster" Target="/ppt/notesMasters/notesMaster1.xml" Id="R6aaa77cd3e7044b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18d4cc3ee0c46ef" /><Relationship Type="http://schemas.openxmlformats.org/officeDocument/2006/relationships/notesMaster" Target="/ppt/notesMasters/notesMaster1.xml" Id="R568b9fabd26d47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356c9dcadf44ffb" /><Relationship Type="http://schemas.openxmlformats.org/officeDocument/2006/relationships/notesMaster" Target="/ppt/notesMasters/notesMaster1.xml" Id="R65ba949ea341412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061e7fab19243da" /><Relationship Type="http://schemas.openxmlformats.org/officeDocument/2006/relationships/notesMaster" Target="/ppt/notesMasters/notesMaster1.xml" Id="Rdb963c7594de46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4300900602d484d" /><Relationship Type="http://schemas.openxmlformats.org/officeDocument/2006/relationships/notesMaster" Target="/ppt/notesMasters/notesMaster1.xml" Id="Rb23d245f61e3466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596e81cdfa4409" /><Relationship Type="http://schemas.openxmlformats.org/officeDocument/2006/relationships/notesMaster" Target="/ppt/notesMasters/notesMaster1.xml" Id="R3c1eb2b4753d44a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40dd0255834d8b" /><Relationship Type="http://schemas.openxmlformats.org/officeDocument/2006/relationships/notesMaster" Target="/ppt/notesMasters/notesMaster1.xml" Id="Rb0f6549bffbe4c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a04b20dd51a446b" /><Relationship Type="http://schemas.openxmlformats.org/officeDocument/2006/relationships/notesMaster" Target="/ppt/notesMasters/notesMaster1.xml" Id="Rd362cb0b45f1481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02b4cc4f3d740ed" /><Relationship Type="http://schemas.openxmlformats.org/officeDocument/2006/relationships/notesMaster" Target="/ppt/notesMasters/notesMaster1.xml" Id="R5d43e83b19ed403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5c687dd11b34e16" /><Relationship Type="http://schemas.openxmlformats.org/officeDocument/2006/relationships/notesMaster" Target="/ppt/notesMasters/notesMaster1.xml" Id="R2656bf5896e6404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8e9de6475e44ac8" /><Relationship Type="http://schemas.openxmlformats.org/officeDocument/2006/relationships/notesMaster" Target="/ppt/notesMasters/notesMaster1.xml" Id="R35856d4dff3c491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3ab9c93833b48f6" /><Relationship Type="http://schemas.openxmlformats.org/officeDocument/2006/relationships/notesMaster" Target="/ppt/notesMasters/notesMaster1.xml" Id="Rf4e5837e30a64a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e4cbc9348434a10" /><Relationship Type="http://schemas.openxmlformats.org/officeDocument/2006/relationships/notesMaster" Target="/ppt/notesMasters/notesMaster1.xml" Id="R5753c43baf814ce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5bbb7d6aaa142b0" /><Relationship Type="http://schemas.openxmlformats.org/officeDocument/2006/relationships/notesMaster" Target="/ppt/notesMasters/notesMaster1.xml" Id="Rc71d7bcfe6894fe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19e849bf91446ee" /><Relationship Type="http://schemas.openxmlformats.org/officeDocument/2006/relationships/notesMaster" Target="/ppt/notesMasters/notesMaster1.xml" Id="Rf0a06221a4b540c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1c57f9787a14345" /><Relationship Type="http://schemas.openxmlformats.org/officeDocument/2006/relationships/notesMaster" Target="/ppt/notesMasters/notesMaster1.xml" Id="R4083b657779a47a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cde33f7cf184097" /><Relationship Type="http://schemas.openxmlformats.org/officeDocument/2006/relationships/notesMaster" Target="/ppt/notesMasters/notesMaster1.xml" Id="R87ff1ccc235b4fa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c0535df4c224f94" /><Relationship Type="http://schemas.openxmlformats.org/officeDocument/2006/relationships/notesMaster" Target="/ppt/notesMasters/notesMaster1.xml" Id="Rce979d89331b459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591b25c382e463c" /><Relationship Type="http://schemas.openxmlformats.org/officeDocument/2006/relationships/notesMaster" Target="/ppt/notesMasters/notesMaster1.xml" Id="R8b9832a3b91c43c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Sesi gabungan RPS Praktikum 05 dan 06. Mahasiswa membangun image dari Dockerfile sederhana, membaca multi-stage, menjalankan API memori, lalu mengoperasikan API PostgreSQL dan Redis menggunakan Compose. Gunakan satu clone lokal pada Windows dan command PowerShell yang ditampilkan.</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Jelaskan durasi 40+50+10=100 menit. Persiapan clone, Docker Desktop, pull image, dan build pertama berada di luar durasi agar latihan membaca hasil tetap realistis. Hub push merupakan lampiran langkah lokal yang dapat didemonstrasikan pengajar ketika akun/jaringan siap. Latihan tidak menambah tugas, nilai, atau pengumpulan per lab.</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Persiapan dilakukan sebelum kelas. Buka Docker Desktop dan tunggu Engine Linux siap. Dari folder pribadi yang dapat ditulis, jalankan git clone https://github.com/SeedFlora/meet6CloudService.git meet6CloudService-local lalu Set-Location meet6CloudService-local. Nama folder baru menghindari penimpaan latihan lama. Jangan gunakan direktori yang sudah berisi clone dengan nama sama. Command docker version harus memperlihatkan Server. Selesaikan download/build awal sesuai modul sebelum 100 menit dimulai.</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0–4. Minta mahasiswa membedakan file resep, paket hasil build, dan proses yang hidup. Ketika source atau Dockerfile berubah, build ulang image. Ketika hanya environment runtime berubah, container perlu dibuat ulang dengan opsi yang sesuai. Source konsep Docker: https://docs.docker.com/get-started/docker-concepts/the-basics/what-is-a-container/.</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4–10. Dari root jalankan notepad .\gabungan22\core\Dockerfile.single. File contoh tersedia agar mahasiswa bisa mengecek ejaan. Baca atau ketik setiap instruksi, lalu simpan nama persis Dockerfile.single, bukan Dockerfile.single.txt. File requirements dan app telah disediakan, sehingga tidak perlu Python lokal. ENV APP_ENV=classroom memberi default image sederhana. Uvicorn mendengar 0.0.0.0 pada port 8000 dalam container. Sumber Dockerfile https://docs.docker.com/reference/dockerfile/.</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10–15. Jalankan satu command build dengan backtick sebagai karakter terakhir pada setiap baris sambungan. Equivalent satu baris: docker build -f ./gabungan22/core/Dockerfile.single -t cloud-notes-api:core-single ./gabungan22/core. Tunggu build selesai tanpa error, lalu baca docker image ls cloud-notes-api. Menjalankan build ulang dapat memakai cache. Jangan menganggap angka ukuran image tertentu sebagai target wajib. Sumber build https://docs.docker.com/reference/cli/docker/buildx/build/.</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15–19. Jalankan notepad .\gabungan22\core\Dockerfile untuk membaca sumber. Jangan menjalankan teks Dockerfile sebagai command PowerShell. Stage builder membuat virtual environment lalu memasang requirements. Multi-stage memisahkan proses penyiapan dependency dari isi stage akhir. Karena contoh ini memakai base Python slim yang sama pada kedua stage, ukuran akhir harus diukur, tidak dijanjikan selalu lebih kecil. Sumber https://docs.docker.com/build/building/multi-stage/.</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19–22. Baca bagian runtime hingga CMD pada file sumber. Backslash di dalam kutipan adalah sintaks Dockerfile, berbeda dengan backtick PowerShell. UID 10001 adalah user aplikasi. Image single sederhana menjalankan default user base image, sedangkan multi-stage contoh secara eksplisit memakai appuser. APP_ENV ditentukan saat docker run pada langkah berikut. Sumber https://docs.docker.com/reference/dockerfile/#user.</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22–26. Build memakai Dockerfile default di context gabungan22/core. Setelah selesai, docker image ls cloud-notes-api menampilkan kedua tag. Catat ukuran yang benar-benar muncul pada mesin mahasiswa. Perintah docker run --rm cloud-notes-api:core22 id menjalankan id lalu menghapus container singkat itu. Image tidak dihapus. Jangan menyimpulkan ukuran lebih kecil tanpa membaca output. Sumber https://docs.docker.com/build/building/multi-stage/.</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26–29. Jalankan Get-Content lalu baca pola, bukan mengetik daftar pola sebagai command. .git dan .venv tidak dikirim ke build context. Pola !*.example mengecualikan file contoh dari pengabaian .env.*. .dockerignore bukan pengganti .gitignore: yang pertama untuk context build, yang kedua untuk Git. Sumber https://docs.docker.com/build/concepts/context/#dockerignore-files.</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29–33. Jalankan blok run, ps, dan logs terlebih dahulu. Container memakai image multi-stage core22. Pastikan nama cloudlab-core22 adalah latihan sendiri dan belum digunakan. Tunggu log terbaru menunjukkan Application startup complete dan Uvicorn pada port 8000, baru jalankan blok HTTP di bawahnya. Health menunjukkan proses hidup, sedangkan runtime memperlihatkan environment dan storage. Core belum memakai database atau Redis. Buka Swagger setelah health berhasil. Sumber https://docs.docker.com/reference/cli/docker/container/run/.</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33–35. Screenshot Chrome tanggal 15 Oktober 2026 memperlihatkan Swagger kode revisi Core yang dilayani Uvicorn/Python lokal pada host 18005. Screenshot adalah panduan UI, bukan bukti container Docker aktif. Untuk membaca hasil sendiri, buka GET health, klik Try it out, kemudian Execute. Setelah itu lihat runtime.</a:t>
            </a:r>
            <a:endParaRPr/>
          </a:p>
          <a:p xmlns:a="http://schemas.openxmlformats.org/drawingml/2006/main">
            <a:r>
              <a:t>Sumber screenshot lokal: C:/Users/Lenovo/Documents/Codex/2026-10-14/https-lms-binus-ac-id-lms/work/combined22/verify/screenshots/local/core_swagger_18005.jpg. SHA256 13026e487433928d1aa5db7112a415d9e1012f81443062d93398886689e46a7e. File asli tertanam tanpa perubahan. Crop hanya membatasi viewport ruang yang tidak dibutuhkan. Diambil pada Chrome tanggal 15 Oktober 2026 melalui Uvicorn/Python lokal. Gambar hanya menunjukkan daftar endpoint, tanpa klaim PostgreSQL/Redis atau container Docker aktif.</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35–38. JSON di slide adalah body Swagger, bukan command PowerShell. Pilih POST notes, Try it out, masukkan JSON dummy, Execute, lalu catat ID. GET memperlihatkan catatan. docker restart menghentikan dan memulai proses container yang sama. Jalankan restart dan logs, lalu berhenti sampai log startup terbaru menampilkan Application startup complete. Setelah itu jalankan blok HTTP di bawah. Core memakai dictionary Python yang kembali kosong saat proses mulai.</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38–40. Hentikan dan hapus hanya cloudlab-core22 yang dibuat pada langkah run. Image tidak terhapus oleh docker rm. Bedakan Git repository yang menyimpan source dari container registry yang menyimpan image. Docker Hub memakai namespace akun, nama repository, dan tag. Push aktual memerlukan akun serta koneksi dan dapat didemonstrasikan menggunakan lampiran yang seluruhnya tetap CLI lokal. Sumber https://docs.docker.com/reference/cli/docker/image/push/.</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40–44. Buka compose.yaml dengan Notepad. Project bernama cloud-notes-lab06. Tiga service utama adalah api, db, cache. Adminer berada dalam profile debug dan belum aktif pada up biasa. API Cloud Notes memiliki version0.6, bukan versi framework FastAPI. Named volume db_data dan redis_data terpisah dari lifecycle container. Sumber https://docs.docker.com/compose/how-tos/networking/.</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44–47. .env telah disalin sekali pada persiapan clone baru. Buka Notepad untuk melihat empat nilai. Jangan mengetik isi file sebagai perintah terminal. Jangan mengganti password setelah volume PostgreSQL terinisialisasi karena environment baru tidak mengganti password akun pada volume lama. Ini nilai contoh publik untuk kelas, bukan kredensial layanan nyata. Sumber interpolasi https://docs.docker.com/compose/how-tos/environment-variables/variable-interpolation/.</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47–53. Startup pertama mungkin lebih lama sehingga image/dependency harus sudah diunduh sebelum kelas. Compose healthcheck db memakai pg_isready, cache memakai redis-cli ping, dan api mengakses health internal. depends_on service_healthy menunggu dependency pada startup. Jika command gagal, gunakan ps dan logs pada slide diagnosis, tanpa reset volume. Sumber https://docs.docker.com/compose/how-tos/startup-order/.</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53–57. Jalankan getent di dalam container api agar menggunakan DNS network Compose. IP hasil mahasiswa dapat berbeda dan berubah ketika container dibuat ulang. DB_HOST=db bukan alamat untuk browser Windows. Mapping api8000 diteruskan ke host 18006. Port5432 dan6379 hanya internal stack. Sumber https://docs.docker.com/compose/how-tos/networking/.</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57–59. Screenshot Chrome tanggal 15 Oktober 2026 memperlihatkan Swagger kode revisi API 0.6 melalui Uvicorn/Python lokal pada host 18006. Ini panduan UI, tanpa klaim stack Docker, DB, atau Redis aktif. API Compose tidak mempunyai endpoint runtime atau GET notes/{id} milik Core. Jangan menghapus catatan yang akan dipakai untuk persistensi. POST valid memberi 201, sedangkan DELETE sukses memberi 204 tanpa response body.</a:t>
            </a:r>
            <a:endParaRPr/>
          </a:p>
          <a:p xmlns:a="http://schemas.openxmlformats.org/drawingml/2006/main">
            <a:r>
              <a:t>Sumber screenshot lokal: C:/Users/Lenovo/Documents/Codex/2026-10-14/https-lms-binus-ac-id-lms/work/combined22/verify/screenshots/local/compose_swagger_18006.jpg. SHA256 9180b8ee486bf81862acce12e97c79417b9400e4c494db4ffb21c6b0e3b7a34c. File asli tertanam tanpa perubahan. Crop hanya membatasi viewport ruang yang tidak dibutuhkan. Diambil pada Chrome tanggal 15 Oktober 2026 melalui Uvicorn/Python lokal. Gambar hanya menunjukkan daftar endpoint, tanpa klaim PostgreSQL/Redis atau container Docker aktif.</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59–64. Masukkan JSON dummy melalui Swagger. POST menyimpan PostgreSQL dan menghapus cache daftar. Jalankan dua curl.exe -i dalam waktu kurang dari30 detik. Pola umum MISS lalu HIT. Bila Swagger atau anggota lain sudah melakukan GET, panggilan pertama dapat langsung HIT. TTL 30 detik dihitung dari penyimpanan cache. Jika TTL habis, ulangi dua GET secara manual. Source lokal api/app/main.py memakai notes:list dan setex30.</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64–69. Pastikan ID dan judul catatan telah dicatat sebelum langkah lifecycle. Restart API lalu tunggu healthy. GET harus masih memuat catatan Compose sendiri. Lanjutkan down tanpa -v dan up lagi. Named volume db_data mempertahankan file PostgreSQL. Jangan menjalankan down -v atau volume prune karena checkpoint memakai data yang sama. Sumber https://docs.docker.com/engine/storage/volumes/ dan https://docs.docker.com/reference/cli/docker/compose/down/.</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69–73. Jangan mengasumsikan ID 1 atau tabel kosong. Bandingkan catatan dummy yang baru dibuat, berdasarkan ID dan judul sendiri. psql berjalan di container db sebagai clouduser dan database cloudnotes. Query SELECT hanya membaca tabel. Keberadaan row setelah container diganti menunjukkan persistensi volume. Cache adalah salinan untuk baca, bukan sumber data utama.</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73–78. Buka .env, ubah hanya APP_ENV menjadi local-demo dan simpan. Jalankan up -d --wait api untuk membuat ulang konfigurasi service bila berubah, lalu exec printenv memastikan nilai container. Buka .env lagi, kembalikan classroom, simpan, jalankan up dan printenv kembali. Jangan mengubah password database. Sumber https://docs.docker.com/compose/how-tos/environment-variables/variable-interpolation/.</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78–81. Ini bagian RPS profile, sehingga dijalankan pada sesi utama. Compose service adminer memakai profiles debug dan port host 18061. Target adminer membuat layanan pendukung database yang dibutuhkan tetap diperhatikan. Profile memberi pilihan operasional tanpa perlu mengedit file YAML setiap kali. Sumber https://docs.docker.com/compose/how-tos/profiles/.</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81–85. Isi login dengan system PostgreSQL, server db, username clouduser, database cloudnotes, dan password contoh lokal dari .env. Screenshot aktual sebelumnya menampilkan tabel notes tanpa password. Data dan waktu screenshot berbeda dari hasil mahasiswa. Gunakan Select data untuk membaca. Jangan memakai Drop atau Truncate. Port browser adalah18061 pada sesi ini, sedangkan server db adalah hostname internal dari container Adminer.</a:t>
            </a:r>
            <a:endParaRPr/>
          </a:p>
          <a:p xmlns:a="http://schemas.openxmlformats.org/drawingml/2006/main">
            <a:r>
              <a:t>Sumber screenshot lokal: C:/Users/Lenovo/Documents/Codex/2026-10-14/https-lms-binus-ac-id-lms/work/combined22/verify/screenshots/lab06_adminer_notes.png. SHA256 53a55f34a04261dc5fad2c07678a706f463e23eebea41d0f9fb91156fd40d4c9. File asli tertanam tanpa perubahan. Crop hanya membatasi viewport ruang yang tidak dibutuhkan. Screenshot menunjukkan antarmuka dari uji sebelumnya dan bukan bukti run baru pada 22 Oktober.</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Menit 85–88. Buka terminal PowerShell kedua pada root repo. Jalankan logs -f --tail 20 api, lalu buat request GET /notes melalui Swagger pada browser. Amati baris log yang baru. Ctrl+C hanya menghentikan command logs yang sedang mengikuti stream, bukan menghentikan stack detached. Verifikasi dengan docker compose ps. Sumber https://docs.docker.com/reference/cli/docker/compose/logs/.</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Bagian akhir Compose sampai menit90. Diagnosis membaca penyebab konkret. Jangan menjalankan reset Docker Desktop, system prune, atau down-v sebagai perbaikan cepat. .env yang berubah tidak mengubah password akun PostgreSQL di volume lama. Gunakan clone baru untuk file kelas, tetapi tetap pahami volume milik project yang mungkin sudah ada. Root modul memuat penjelasan lanjutan.</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formatif menit90–96. Minta mahasiswa menjelaskan hubungan antara file konfigurasi, proses, dan hasil yang mereka lihat. Bandingkan restart proses Core dengan data PostgreSQL pada Compose. Registry menyimpan image, sementara named volume menyimpan data runtime. Jangan mengklaim berhasil jika Engine atau checkpoint sendiri gagal. Gunakan error sebagai bahan penjelasan.</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Tutup sesi menit96–100. Jalankan down tanpa-v pada project latihan cloud-notes-lab06. Composeps tidak lagi menunjukkan service aktif project. Gitstatus memperlihatkan perubahan, tetapi tidak mengunggah apa pun. Jangan commit.env atau password layanan nyata. Latihan tidak membutuhkan push ke repo pengajar. Image dan volume kelas tetap tersedia untuk belajar berikutnya.</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Lampiran praktik lokal RPS Docker Hub push. Siapkan akun Docker Hub dan repository cloud-notes-api milik sendiri sebelum kelas. Ganti literal dockerid pada tiga command dengan username akun nyata. docker login memakai alur browser/devicecode resmi secara default. Setelah login berhasil, tag image lokal lalu push dan pull. Push mengunggah image, berbeda dengan Gitpush source. Jangan memasukkan token/password ke file atau screenshot. Sumber https://docs.docker.com/reference/cli/docker/login/ dan https://docs.docker.com/reference/cli/docker/image/push/.</a:t>
            </a:r>
            <a:endParaRPr/>
          </a:p>
          <a:p xmlns:a="http://schemas.openxmlformats.org/drawingml/2006/main">
            <a:r>
              <a:t/>
            </a:r>
            <a:endParaRPr/>
          </a:p>
          <a:p xmlns:a="http://schemas.openxmlformats.org/drawingml/2006/main">
            <a:r>
              <a:t>Praktikum lokal Windows PowerShell, 22 Oktober 2026. Jalankan command dari root clone baru meet6CloudService-local, kecuali instruksi khusus pada slide. Alokasi utama 100 menit: Docker Core 0–40, Compose 40–90, review dan cleanup 90–100. Persiapan Engine, unduhan, dan akun Docker Hub diselesaikan sebelum kelas. Core memakai context gabungan22/core, tag cloud-notes-api:core22, container cloudlab-core22, host 18005 ke container 8000. Compose project cloud-notes-lab06 memakai api/db/cache, host API 18006 ke container 8000, dan Adminer profile debug pada host 18061 ke container 8080. Konfigurasi .env adalah contoh lokal kelas. Modul: https://github.com/SeedFlora/meet6CloudService/blob/main/PRAKTIKUM_GABUNGAN_22_OKTOBER.md. Ini latihan formatif untuk mendukung proyek kelompok, tanpa pengumpulan individu/per lab baru.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2a0231867342c5"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09938273d44106" /><Relationship Type="http://schemas.openxmlformats.org/officeDocument/2006/relationships/slideLayout" Target="/ppt/slideLayouts/slideLayout1.xml" Id="Rff1c2cf557a242f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1c2cf557a242f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3dffc1cc7a64867" /><Relationship Type="http://schemas.openxmlformats.org/officeDocument/2006/relationships/image" Target="/ppt/media/image.jpeg" Id="Ref74f0aa43df421e" /><Relationship Type="http://schemas.openxmlformats.org/officeDocument/2006/relationships/image" Target="/ppt/media/image.png" Id="Rfb8f70b85f3442fe" /><Relationship Type="http://schemas.openxmlformats.org/officeDocument/2006/relationships/image" Target="/ppt/media/image2.png" Id="Rec0d8f10559043b1" /><Relationship Type="http://schemas.openxmlformats.org/officeDocument/2006/relationships/notesSlide" Target="/ppt/notesSlides/notesSlide1.xml" Id="R3bc5823329bf457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c0d3b77307248be" /><Relationship Type="http://schemas.openxmlformats.org/officeDocument/2006/relationships/image" Target="/ppt/media/image.png" Id="R1ac8645f41764cda" /><Relationship Type="http://schemas.openxmlformats.org/officeDocument/2006/relationships/image" Target="/ppt/media/image2.png" Id="R61ab4349d01c4396" /><Relationship Type="http://schemas.openxmlformats.org/officeDocument/2006/relationships/notesSlide" Target="/ppt/notesSlides/notesSlide2.xml" Id="R7fa02e81708a4cf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5a950b2da134520" /><Relationship Type="http://schemas.openxmlformats.org/officeDocument/2006/relationships/image" Target="/ppt/media/image.png" Id="Re7f1f36e79c446eb" /><Relationship Type="http://schemas.openxmlformats.org/officeDocument/2006/relationships/image" Target="/ppt/media/image2.png" Id="Rfced4e0b2de646c7" /><Relationship Type="http://schemas.openxmlformats.org/officeDocument/2006/relationships/hyperlink" Target="https://github.com/SeedFlora/meet6CloudService/blob/main/PRAKTIKUM_GABUNGAN_22_OKTOBER.md" TargetMode="External" Id="R01501e78360144ab" /><Relationship Type="http://schemas.openxmlformats.org/officeDocument/2006/relationships/notesSlide" Target="/ppt/notesSlides/notesSlide3.xml" Id="R91fe704d862b44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92f0477b6349ca" /><Relationship Type="http://schemas.openxmlformats.org/officeDocument/2006/relationships/image" Target="/ppt/media/image.png" Id="Rf991a9da183a4e15" /><Relationship Type="http://schemas.openxmlformats.org/officeDocument/2006/relationships/image" Target="/ppt/media/image2.png" Id="R4b10ecffca484c5b" /><Relationship Type="http://schemas.openxmlformats.org/officeDocument/2006/relationships/notesSlide" Target="/ppt/notesSlides/notesSlide4.xml" Id="Rc1bbcfed16bd4a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ddc4d5798a145bb" /><Relationship Type="http://schemas.openxmlformats.org/officeDocument/2006/relationships/image" Target="/ppt/media/image.png" Id="R10cea1bd84ab403f" /><Relationship Type="http://schemas.openxmlformats.org/officeDocument/2006/relationships/image" Target="/ppt/media/image2.png" Id="R91da0821a8b2481d" /><Relationship Type="http://schemas.openxmlformats.org/officeDocument/2006/relationships/notesSlide" Target="/ppt/notesSlides/notesSlide5.xml" Id="Re5c5f4c9963043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7d0e84f12864c5e" /><Relationship Type="http://schemas.openxmlformats.org/officeDocument/2006/relationships/image" Target="/ppt/media/image.png" Id="Re1c46bf94f58496f" /><Relationship Type="http://schemas.openxmlformats.org/officeDocument/2006/relationships/image" Target="/ppt/media/image2.png" Id="R0384fc696ef94f7b" /><Relationship Type="http://schemas.openxmlformats.org/officeDocument/2006/relationships/hyperlink" Target="https://github.com/SeedFlora/meet6CloudService/blob/main/PRAKTIKUM_GABUNGAN_22_OKTOBER.md" TargetMode="External" Id="R22f77adc4b384554" /><Relationship Type="http://schemas.openxmlformats.org/officeDocument/2006/relationships/notesSlide" Target="/ppt/notesSlides/notesSlide6.xml" Id="R2ad4bf48b77c45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241d5ffa99b4725" /><Relationship Type="http://schemas.openxmlformats.org/officeDocument/2006/relationships/image" Target="/ppt/media/image.png" Id="R7ee1f3a0bf5946f0" /><Relationship Type="http://schemas.openxmlformats.org/officeDocument/2006/relationships/image" Target="/ppt/media/image2.png" Id="R4626a618f291493b" /><Relationship Type="http://schemas.openxmlformats.org/officeDocument/2006/relationships/notesSlide" Target="/ppt/notesSlides/notesSlide7.xml" Id="R778e59658a9549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fe1cc2e51d84a85" /><Relationship Type="http://schemas.openxmlformats.org/officeDocument/2006/relationships/image" Target="/ppt/media/image.png" Id="Rd40126b0922e4fd1" /><Relationship Type="http://schemas.openxmlformats.org/officeDocument/2006/relationships/image" Target="/ppt/media/image2.png" Id="R10e3382ab3b24f4d" /><Relationship Type="http://schemas.openxmlformats.org/officeDocument/2006/relationships/hyperlink" Target="https://github.com/SeedFlora/meet6CloudService/blob/main/PRAKTIKUM_GABUNGAN_22_OKTOBER.md" TargetMode="External" Id="R21c53b0f4a0d4736" /><Relationship Type="http://schemas.openxmlformats.org/officeDocument/2006/relationships/notesSlide" Target="/ppt/notesSlides/notesSlide8.xml" Id="Rbd946801392c457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117b2ee75d4ebe" /><Relationship Type="http://schemas.openxmlformats.org/officeDocument/2006/relationships/image" Target="/ppt/media/image.png" Id="R4b9b6b24606b4779" /><Relationship Type="http://schemas.openxmlformats.org/officeDocument/2006/relationships/image" Target="/ppt/media/image2.png" Id="R2b83a6b5599f4789" /><Relationship Type="http://schemas.openxmlformats.org/officeDocument/2006/relationships/hyperlink" Target="https://github.com/SeedFlora/meet6CloudService/blob/main/PRAKTIKUM_GABUNGAN_22_OKTOBER.md" TargetMode="External" Id="R1ff8addf9db14d32" /><Relationship Type="http://schemas.openxmlformats.org/officeDocument/2006/relationships/notesSlide" Target="/ppt/notesSlides/notesSlide9.xml" Id="Rf47fb4e59d604b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c7516cdbb824afd" /><Relationship Type="http://schemas.openxmlformats.org/officeDocument/2006/relationships/image" Target="/ppt/media/image.png" Id="R4329e1b3b26248c2" /><Relationship Type="http://schemas.openxmlformats.org/officeDocument/2006/relationships/image" Target="/ppt/media/image2.png" Id="R87397bfe83984e14" /><Relationship Type="http://schemas.openxmlformats.org/officeDocument/2006/relationships/hyperlink" Target="https://github.com/SeedFlora/meet6CloudService/blob/main/PRAKTIKUM_GABUNGAN_22_OKTOBER.md" TargetMode="External" Id="Re84bacd3b3684efc" /><Relationship Type="http://schemas.openxmlformats.org/officeDocument/2006/relationships/notesSlide" Target="/ppt/notesSlides/notesSlide10.xml" Id="Rbacba939d9c4486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bab50fa3b304709" /><Relationship Type="http://schemas.openxmlformats.org/officeDocument/2006/relationships/image" Target="/ppt/media/image.png" Id="Rcf3678e069a94d4d" /><Relationship Type="http://schemas.openxmlformats.org/officeDocument/2006/relationships/image" Target="/ppt/media/image2.png" Id="R9c3a2e0328364615" /><Relationship Type="http://schemas.openxmlformats.org/officeDocument/2006/relationships/hyperlink" Target="https://github.com/SeedFlora/meet6CloudService/blob/main/PRAKTIKUM_GABUNGAN_22_OKTOBER.md" TargetMode="External" Id="R4d649b565d614915" /><Relationship Type="http://schemas.openxmlformats.org/officeDocument/2006/relationships/notesSlide" Target="/ppt/notesSlides/notesSlide11.xml" Id="R1e3d51a0609649c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eb1e818c5a245ff" /><Relationship Type="http://schemas.openxmlformats.org/officeDocument/2006/relationships/image" Target="/ppt/media/image.png" Id="R11426668efd349f6" /><Relationship Type="http://schemas.openxmlformats.org/officeDocument/2006/relationships/image" Target="/ppt/media/image2.png" Id="Rfcd3b2bf326640e9" /><Relationship Type="http://schemas.openxmlformats.org/officeDocument/2006/relationships/image" Target="/ppt/media/image2.jpeg" Id="Rfc0768b63b4d4990" /><Relationship Type="http://schemas.openxmlformats.org/officeDocument/2006/relationships/notesSlide" Target="/ppt/notesSlides/notesSlide12.xml" Id="R531a8dd1526140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0754af4eed14b92" /><Relationship Type="http://schemas.openxmlformats.org/officeDocument/2006/relationships/image" Target="/ppt/media/image.png" Id="R8f0807ca19004627" /><Relationship Type="http://schemas.openxmlformats.org/officeDocument/2006/relationships/image" Target="/ppt/media/image2.png" Id="R9e98f6d0157a41f1" /><Relationship Type="http://schemas.openxmlformats.org/officeDocument/2006/relationships/hyperlink" Target="https://github.com/SeedFlora/meet6CloudService/blob/main/PRAKTIKUM_GABUNGAN_22_OKTOBER.md" TargetMode="External" Id="R7efb53ff2f7040c7" /><Relationship Type="http://schemas.openxmlformats.org/officeDocument/2006/relationships/notesSlide" Target="/ppt/notesSlides/notesSlide13.xml" Id="R0fa84489f6144fd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fba27edcbe448b3" /><Relationship Type="http://schemas.openxmlformats.org/officeDocument/2006/relationships/image" Target="/ppt/media/image.png" Id="R9cbb474569394c6c" /><Relationship Type="http://schemas.openxmlformats.org/officeDocument/2006/relationships/image" Target="/ppt/media/image2.png" Id="R98df0af6c3b84031" /><Relationship Type="http://schemas.openxmlformats.org/officeDocument/2006/relationships/hyperlink" Target="https://github.com/SeedFlora/meet6CloudService/blob/main/PRAKTIKUM_GABUNGAN_22_OKTOBER.md" TargetMode="External" Id="Rb3afeabe0045402f" /><Relationship Type="http://schemas.openxmlformats.org/officeDocument/2006/relationships/notesSlide" Target="/ppt/notesSlides/notesSlide14.xml" Id="R176ec341d0d4457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090c1361cf048e7" /><Relationship Type="http://schemas.openxmlformats.org/officeDocument/2006/relationships/image" Target="/ppt/media/image.png" Id="Rec154a3da2d6472b" /><Relationship Type="http://schemas.openxmlformats.org/officeDocument/2006/relationships/image" Target="/ppt/media/image2.png" Id="R0442a1bf7c49488b" /><Relationship Type="http://schemas.openxmlformats.org/officeDocument/2006/relationships/notesSlide" Target="/ppt/notesSlides/notesSlide15.xml" Id="R7784f1a6553b4ab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05e129c603c4259" /><Relationship Type="http://schemas.openxmlformats.org/officeDocument/2006/relationships/image" Target="/ppt/media/image.png" Id="R3f4e9b2bf4ad4dfa" /><Relationship Type="http://schemas.openxmlformats.org/officeDocument/2006/relationships/image" Target="/ppt/media/image2.png" Id="R257d24674fac4e55" /><Relationship Type="http://schemas.openxmlformats.org/officeDocument/2006/relationships/hyperlink" Target="https://github.com/SeedFlora/meet6CloudService/blob/main/PRAKTIKUM_GABUNGAN_22_OKTOBER.md" TargetMode="External" Id="R1a559c9b5f9849eb" /><Relationship Type="http://schemas.openxmlformats.org/officeDocument/2006/relationships/notesSlide" Target="/ppt/notesSlides/notesSlide16.xml" Id="Rb4d19c76bac7496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0b0eb065cd84e73" /><Relationship Type="http://schemas.openxmlformats.org/officeDocument/2006/relationships/image" Target="/ppt/media/image.png" Id="R4377e1e3c62a430e" /><Relationship Type="http://schemas.openxmlformats.org/officeDocument/2006/relationships/image" Target="/ppt/media/image2.png" Id="R51d7a15f18654550" /><Relationship Type="http://schemas.openxmlformats.org/officeDocument/2006/relationships/hyperlink" Target="https://github.com/SeedFlora/meet6CloudService/blob/main/PRAKTIKUM_GABUNGAN_22_OKTOBER.md" TargetMode="External" Id="R60d8df03bfd14b32" /><Relationship Type="http://schemas.openxmlformats.org/officeDocument/2006/relationships/notesSlide" Target="/ppt/notesSlides/notesSlide17.xml" Id="R266c288b2df644f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e9b44d12e574198" /><Relationship Type="http://schemas.openxmlformats.org/officeDocument/2006/relationships/image" Target="/ppt/media/image.png" Id="R1a72181b0f574595" /><Relationship Type="http://schemas.openxmlformats.org/officeDocument/2006/relationships/image" Target="/ppt/media/image2.png" Id="R4f5235fda6f34d80" /><Relationship Type="http://schemas.openxmlformats.org/officeDocument/2006/relationships/hyperlink" Target="https://github.com/SeedFlora/meet6CloudService/blob/main/PRAKTIKUM_GABUNGAN_22_OKTOBER.md" TargetMode="External" Id="R2bb6678101b64b3e" /><Relationship Type="http://schemas.openxmlformats.org/officeDocument/2006/relationships/notesSlide" Target="/ppt/notesSlides/notesSlide18.xml" Id="Rcdea3966b70a4b6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f4aa39301b540f0" /><Relationship Type="http://schemas.openxmlformats.org/officeDocument/2006/relationships/image" Target="/ppt/media/image.png" Id="R0d5cbcc3ef844b50" /><Relationship Type="http://schemas.openxmlformats.org/officeDocument/2006/relationships/image" Target="/ppt/media/image2.png" Id="R651744947a9d4ab3" /><Relationship Type="http://schemas.openxmlformats.org/officeDocument/2006/relationships/image" Target="/ppt/media/image3.jpeg" Id="R45811bc325274025" /><Relationship Type="http://schemas.openxmlformats.org/officeDocument/2006/relationships/notesSlide" Target="/ppt/notesSlides/notesSlide19.xml" Id="R3cd4603276104dd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00d4aef1020465f" /><Relationship Type="http://schemas.openxmlformats.org/officeDocument/2006/relationships/image" Target="/ppt/media/image.png" Id="R280225aa4aae4ff4" /><Relationship Type="http://schemas.openxmlformats.org/officeDocument/2006/relationships/image" Target="/ppt/media/image2.png" Id="Rb8accaccd4cf41d2" /><Relationship Type="http://schemas.openxmlformats.org/officeDocument/2006/relationships/hyperlink" Target="https://github.com/SeedFlora/meet6CloudService/blob/main/PRAKTIKUM_GABUNGAN_22_OKTOBER.md" TargetMode="External" Id="R87ee7fb3ebe44700" /><Relationship Type="http://schemas.openxmlformats.org/officeDocument/2006/relationships/notesSlide" Target="/ppt/notesSlides/notesSlide20.xml" Id="R14363a874c53444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7392bbdb4d54209" /><Relationship Type="http://schemas.openxmlformats.org/officeDocument/2006/relationships/image" Target="/ppt/media/image.png" Id="R163de74d36d14d34" /><Relationship Type="http://schemas.openxmlformats.org/officeDocument/2006/relationships/image" Target="/ppt/media/image2.png" Id="Rb2b2f7d6cfe54d17" /><Relationship Type="http://schemas.openxmlformats.org/officeDocument/2006/relationships/hyperlink" Target="https://github.com/SeedFlora/meet6CloudService/blob/main/PRAKTIKUM_GABUNGAN_22_OKTOBER.md" TargetMode="External" Id="R5bae314c9539475b" /><Relationship Type="http://schemas.openxmlformats.org/officeDocument/2006/relationships/notesSlide" Target="/ppt/notesSlides/notesSlide21.xml" Id="R11e04241a6974f7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a7b2bac6b1c45f1" /><Relationship Type="http://schemas.openxmlformats.org/officeDocument/2006/relationships/image" Target="/ppt/media/image.png" Id="R034b10a8c8404ac2" /><Relationship Type="http://schemas.openxmlformats.org/officeDocument/2006/relationships/image" Target="/ppt/media/image2.png" Id="Rec76b51bfa3c4f86" /><Relationship Type="http://schemas.openxmlformats.org/officeDocument/2006/relationships/hyperlink" Target="https://github.com/SeedFlora/meet6CloudService/blob/main/PRAKTIKUM_GABUNGAN_22_OKTOBER.md" TargetMode="External" Id="Rd315dc8b7f2d479e" /><Relationship Type="http://schemas.openxmlformats.org/officeDocument/2006/relationships/notesSlide" Target="/ppt/notesSlides/notesSlide22.xml" Id="R2924834992d54b4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c199a4a2a8a411b" /><Relationship Type="http://schemas.openxmlformats.org/officeDocument/2006/relationships/image" Target="/ppt/media/image.png" Id="R0ce8262319b44da6" /><Relationship Type="http://schemas.openxmlformats.org/officeDocument/2006/relationships/image" Target="/ppt/media/image2.png" Id="R47e26477da214a35" /><Relationship Type="http://schemas.openxmlformats.org/officeDocument/2006/relationships/hyperlink" Target="https://github.com/SeedFlora/meet6CloudService/blob/main/PRAKTIKUM_GABUNGAN_22_OKTOBER.md" TargetMode="External" Id="R10c5d75561b74989" /><Relationship Type="http://schemas.openxmlformats.org/officeDocument/2006/relationships/notesSlide" Target="/ppt/notesSlides/notesSlide23.xml" Id="Rb1db2331593048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364942a34a44201" /><Relationship Type="http://schemas.openxmlformats.org/officeDocument/2006/relationships/image" Target="/ppt/media/image.png" Id="R454f2e25bce84bb4" /><Relationship Type="http://schemas.openxmlformats.org/officeDocument/2006/relationships/image" Target="/ppt/media/image2.png" Id="Re2744d1ed0c1418e" /><Relationship Type="http://schemas.openxmlformats.org/officeDocument/2006/relationships/hyperlink" Target="https://github.com/SeedFlora/meet6CloudService/blob/main/PRAKTIKUM_GABUNGAN_22_OKTOBER.md" TargetMode="External" Id="Rc4dbd7a5875c4e14" /><Relationship Type="http://schemas.openxmlformats.org/officeDocument/2006/relationships/notesSlide" Target="/ppt/notesSlides/notesSlide24.xml" Id="R8e7067cf93f04eb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e3c5b81dd13419d" /><Relationship Type="http://schemas.openxmlformats.org/officeDocument/2006/relationships/image" Target="/ppt/media/image.png" Id="R4af09b3f4c9e4a69" /><Relationship Type="http://schemas.openxmlformats.org/officeDocument/2006/relationships/image" Target="/ppt/media/image2.png" Id="Rdbf9df37e2c148a7" /><Relationship Type="http://schemas.openxmlformats.org/officeDocument/2006/relationships/image" Target="/ppt/media/image3.png" Id="R753293c27c014340" /><Relationship Type="http://schemas.openxmlformats.org/officeDocument/2006/relationships/notesSlide" Target="/ppt/notesSlides/notesSlide25.xml" Id="R015342c7f0bb4b9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84b2281c20840db" /><Relationship Type="http://schemas.openxmlformats.org/officeDocument/2006/relationships/image" Target="/ppt/media/image.png" Id="R0e42475b85fa4e46" /><Relationship Type="http://schemas.openxmlformats.org/officeDocument/2006/relationships/image" Target="/ppt/media/image2.png" Id="R55ad0853942f422b" /><Relationship Type="http://schemas.openxmlformats.org/officeDocument/2006/relationships/hyperlink" Target="https://github.com/SeedFlora/meet6CloudService/blob/main/PRAKTIKUM_GABUNGAN_22_OKTOBER.md" TargetMode="External" Id="R96333a68285c4e1c" /><Relationship Type="http://schemas.openxmlformats.org/officeDocument/2006/relationships/notesSlide" Target="/ppt/notesSlides/notesSlide26.xml" Id="R681c5e1d0af644b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9d4f4aa62864a22" /><Relationship Type="http://schemas.openxmlformats.org/officeDocument/2006/relationships/image" Target="/ppt/media/image.png" Id="Rfdfa8b33195643a1" /><Relationship Type="http://schemas.openxmlformats.org/officeDocument/2006/relationships/image" Target="/ppt/media/image2.png" Id="Rd62111d8abe54cd3" /><Relationship Type="http://schemas.openxmlformats.org/officeDocument/2006/relationships/notesSlide" Target="/ppt/notesSlides/notesSlide27.xml" Id="R40322fdcd5a847e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8c393fa12014434" /><Relationship Type="http://schemas.openxmlformats.org/officeDocument/2006/relationships/image" Target="/ppt/media/image.png" Id="R361023583dfb42e6" /><Relationship Type="http://schemas.openxmlformats.org/officeDocument/2006/relationships/image" Target="/ppt/media/image2.png" Id="R11894f48ba074da5" /><Relationship Type="http://schemas.openxmlformats.org/officeDocument/2006/relationships/notesSlide" Target="/ppt/notesSlides/notesSlide28.xml" Id="R5b5154fc508d41c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5b50a4e19524a38" /><Relationship Type="http://schemas.openxmlformats.org/officeDocument/2006/relationships/image" Target="/ppt/media/image.png" Id="R957ab7914bbc47b3" /><Relationship Type="http://schemas.openxmlformats.org/officeDocument/2006/relationships/image" Target="/ppt/media/image2.png" Id="R18a79731856f475f" /><Relationship Type="http://schemas.openxmlformats.org/officeDocument/2006/relationships/hyperlink" Target="https://github.com/SeedFlora/meet6CloudService/blob/main/PRAKTIKUM_GABUNGAN_22_OKTOBER.md" TargetMode="External" Id="R4a25d2d0e72d47f2" /><Relationship Type="http://schemas.openxmlformats.org/officeDocument/2006/relationships/notesSlide" Target="/ppt/notesSlides/notesSlide29.xml" Id="R480dc27494c84df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f7e6f7a457d4da1" /><Relationship Type="http://schemas.openxmlformats.org/officeDocument/2006/relationships/image" Target="/ppt/media/image.png" Id="Rd7e0842ba31a40da" /><Relationship Type="http://schemas.openxmlformats.org/officeDocument/2006/relationships/image" Target="/ppt/media/image2.png" Id="R1e55fc0e2e554932" /><Relationship Type="http://schemas.openxmlformats.org/officeDocument/2006/relationships/hyperlink" Target="https://github.com/SeedFlora/meet6CloudService/blob/main/PRAKTIKUM_GABUNGAN_22_OKTOBER.md" TargetMode="External" Id="Rc39838e25b534c92" /><Relationship Type="http://schemas.openxmlformats.org/officeDocument/2006/relationships/notesSlide" Target="/ppt/notesSlides/notesSlide30.xml" Id="R8484515655e74b9f"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ef74f0aa43df421e">
            <a:lum/>
          </a:blip>
          <a:srcRect l="0" t="0" r="0" b="0"/>
          <a:stretch>
            <a:fillRect l="0" t="0" r="0" b="0"/>
          </a:stretch>
        </a:blipFill>
      </p:bgPr>
    </p:bg>
    <p:spTree>
      <p:nvGrpSpPr>
        <p:cNvPr id="1" name=""/>
        <p:cNvGrpSpPr/>
        <p:nvPr/>
      </p:nvGrpSpPr>
      <p:grpSpPr>
        <a:xfrm xmlns:a="http://schemas.openxmlformats.org/drawingml/2006/main"/>
      </p:grpSpPr>
      <p:pic>
        <p:nvPicPr>
          <p:cNvPr id="14" name="Image 0">
            <a:extLst xmlns:a="http://schemas.openxmlformats.org/drawingml/2006/main">
              <a:ext uri="{FF2B5EF4-FFF2-40B4-BE49-F238E27FC236}">
                <a16:creationId xmlns:a16="http://schemas.microsoft.com/office/drawing/2014/main" id="{58995623-D024-4A66-941E-393E74EA9D01}"/>
              </a:ext>
            </a:extLst>
          </p:cNvPr>
          <p:cNvPicPr>
            <a:picLocks xmlns:a="http://schemas.openxmlformats.org/drawingml/2006/main" noChangeAspect="1"/>
          </p:cNvPicPr>
          <p:nvPr/>
        </p:nvPicPr>
        <p:blipFill>
          <a:blip xmlns:r="http://schemas.openxmlformats.org/officeDocument/2006/relationships" xmlns:a="http://schemas.openxmlformats.org/drawingml/2006/main" r:embed="Rfb8f70b85f3442fe"/>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15" name="Image 1">
            <a:extLst xmlns:a="http://schemas.openxmlformats.org/drawingml/2006/main">
              <a:ext uri="{FF2B5EF4-FFF2-40B4-BE49-F238E27FC236}">
                <a16:creationId xmlns:a16="http://schemas.microsoft.com/office/drawing/2014/main" id="{3A0A67C4-C941-42AF-AF16-1BF6C25DDFFA}"/>
              </a:ext>
            </a:extLst>
          </p:cNvPr>
          <p:cNvPicPr>
            <a:picLocks xmlns:a="http://schemas.openxmlformats.org/drawingml/2006/main" noChangeAspect="1"/>
          </p:cNvPicPr>
          <p:nvPr/>
        </p:nvPicPr>
        <p:blipFill>
          <a:blip xmlns:r="http://schemas.openxmlformats.org/officeDocument/2006/relationships" xmlns:a="http://schemas.openxmlformats.org/drawingml/2006/main" r:embed="Rec0d8f10559043b1"/>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15BF6018-CFBB-49E0-BDFB-9510CB99C540}"/>
              </a:ext>
            </a:extLst>
          </p:cNvPr>
          <p:cNvSpPr>
            <a:spLocks xmlns:a="http://schemas.openxmlformats.org/drawingml/2006/main" noGrp="1"/>
          </p:cNvSpPr>
          <p:nvPr/>
        </p:nvSpPr>
        <p:spPr>
          <a:xfrm xmlns:a="http://schemas.openxmlformats.org/drawingml/2006/main">
            <a:off x="457200" y="24688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400">
                <a:solidFill>
                  <a:srgbClr val="FFE0B2"/>
                </a:solidFill>
                <a:latin typeface="Calibri"/>
                <a:ea typeface="Calibri"/>
                <a:cs typeface="Calibri"/>
              </a:rPr>
              <a:t>COMP6991031   |   22 OKTOBER   |   100 MENIT</a:t>
            </a:r>
            <a:endParaRPr sz="1400"/>
          </a:p>
        </p:txBody>
      </p:sp>
      <p:sp>
        <p:nvSpPr>
          <p:cNvPr id="5" name="Text 1">
            <a:extLst xmlns:a="http://schemas.openxmlformats.org/drawingml/2006/main">
              <a:ext uri="{FF2B5EF4-FFF2-40B4-BE49-F238E27FC236}">
                <a16:creationId xmlns:a16="http://schemas.microsoft.com/office/drawing/2014/main" id="{72E98578-42EB-4C67-9752-E0FCD1A660CA}"/>
              </a:ext>
            </a:extLst>
          </p:cNvPr>
          <p:cNvSpPr>
            <a:spLocks xmlns:a="http://schemas.openxmlformats.org/drawingml/2006/main" noGrp="1"/>
          </p:cNvSpPr>
          <p:nvPr/>
        </p:nvSpPr>
        <p:spPr>
          <a:xfrm xmlns:a="http://schemas.openxmlformats.org/drawingml/2006/main">
            <a:off x="457200" y="2788920"/>
            <a:ext cx="11247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4600" b="1">
                <a:solidFill>
                  <a:srgbClr val="FFFFFF"/>
                </a:solidFill>
                <a:latin typeface="Calibri"/>
                <a:ea typeface="Calibri"/>
                <a:cs typeface="Calibri"/>
              </a:rPr>
              <a:t>DOCKER CORE + COMPOSE</a:t>
            </a:r>
            <a:endParaRPr sz="4600"/>
          </a:p>
        </p:txBody>
      </p:sp>
      <p:sp>
        <p:nvSpPr>
          <p:cNvPr id="6" name="Text 2">
            <a:extLst xmlns:a="http://schemas.openxmlformats.org/drawingml/2006/main">
              <a:ext uri="{FF2B5EF4-FFF2-40B4-BE49-F238E27FC236}">
                <a16:creationId xmlns:a16="http://schemas.microsoft.com/office/drawing/2014/main" id="{36A20F08-B940-47DE-8CEB-5A5856787C64}"/>
              </a:ext>
            </a:extLst>
          </p:cNvPr>
          <p:cNvSpPr>
            <a:spLocks xmlns:a="http://schemas.openxmlformats.org/drawingml/2006/main" noGrp="1"/>
          </p:cNvSpPr>
          <p:nvPr/>
        </p:nvSpPr>
        <p:spPr>
          <a:xfrm xmlns:a="http://schemas.openxmlformats.org/drawingml/2006/main">
            <a:off x="457200" y="3611880"/>
            <a:ext cx="11247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00" b="1">
                <a:solidFill>
                  <a:srgbClr val="FFE0B2"/>
                </a:solidFill>
                <a:latin typeface="Calibri"/>
                <a:ea typeface="Calibri"/>
                <a:cs typeface="Calibri"/>
              </a:rPr>
              <a:t>PRAKTIKUM LOKAL WINDOWS</a:t>
            </a:r>
            <a:endParaRPr sz="2400"/>
          </a:p>
        </p:txBody>
      </p:sp>
      <p:sp>
        <p:nvSpPr>
          <p:cNvPr id="7" name="Text 3">
            <a:extLst xmlns:a="http://schemas.openxmlformats.org/drawingml/2006/main">
              <a:ext uri="{FF2B5EF4-FFF2-40B4-BE49-F238E27FC236}">
                <a16:creationId xmlns:a16="http://schemas.microsoft.com/office/drawing/2014/main" id="{BC9E88A1-B589-4E5C-A850-E8A6D9EDAC6B}"/>
              </a:ext>
            </a:extLst>
          </p:cNvPr>
          <p:cNvSpPr>
            <a:spLocks xmlns:a="http://schemas.openxmlformats.org/drawingml/2006/main" noGrp="1"/>
          </p:cNvSpPr>
          <p:nvPr/>
        </p:nvSpPr>
        <p:spPr>
          <a:xfrm xmlns:a="http://schemas.openxmlformats.org/drawingml/2006/main">
            <a:off x="457200" y="4251960"/>
            <a:ext cx="11247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a:solidFill>
                  <a:srgbClr val="FFFFFF"/>
                </a:solidFill>
                <a:latin typeface="Calibri"/>
                <a:ea typeface="Calibri"/>
                <a:cs typeface="Calibri"/>
              </a:rPr>
              <a:t>Dockerfile, image, container, dan aplikasi tiga service</a:t>
            </a:r>
            <a:endParaRPr sz="1600"/>
          </a:p>
        </p:txBody>
      </p:sp>
      <p:sp>
        <p:nvSpPr>
          <p:cNvPr id="8" name="Shape 4">
            <a:extLst xmlns:a="http://schemas.openxmlformats.org/drawingml/2006/main">
              <a:ext uri="{FF2B5EF4-FFF2-40B4-BE49-F238E27FC236}">
                <a16:creationId xmlns:a16="http://schemas.microsoft.com/office/drawing/2014/main" id="{A9E5E0E7-83D7-4CF3-A99D-234F2DDD3D41}"/>
              </a:ext>
            </a:extLst>
          </p:cNvPr>
          <p:cNvSpPr>
            <a:spLocks xmlns:a="http://schemas.openxmlformats.org/drawingml/2006/main" noGrp="1"/>
          </p:cNvSpPr>
          <p:nvPr/>
        </p:nvSpPr>
        <p:spPr>
          <a:xfrm xmlns:a="http://schemas.openxmlformats.org/drawingml/2006/main">
            <a:off x="5715000" y="48006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Text 5">
            <a:extLst xmlns:a="http://schemas.openxmlformats.org/drawingml/2006/main">
              <a:ext uri="{FF2B5EF4-FFF2-40B4-BE49-F238E27FC236}">
                <a16:creationId xmlns:a16="http://schemas.microsoft.com/office/drawing/2014/main" id="{838BEABB-80DB-43B3-B851-E8D746009D89}"/>
              </a:ext>
            </a:extLst>
          </p:cNvPr>
          <p:cNvSpPr>
            <a:spLocks xmlns:a="http://schemas.openxmlformats.org/drawingml/2006/main" noGrp="1"/>
          </p:cNvSpPr>
          <p:nvPr/>
        </p:nvSpPr>
        <p:spPr>
          <a:xfrm xmlns:a="http://schemas.openxmlformats.org/drawingml/2006/main">
            <a:off x="457200" y="4937760"/>
            <a:ext cx="112471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spc="300">
                <a:solidFill>
                  <a:srgbClr val="FFE0B2"/>
                </a:solidFill>
                <a:latin typeface="Calibri"/>
                <a:ea typeface="Calibri"/>
                <a:cs typeface="Calibri"/>
              </a:rPr>
              <a:t>POWERSHELL   |   22 OKTOBER 2026</a:t>
            </a:r>
            <a:endParaRPr sz="1200"/>
          </a:p>
        </p:txBody>
      </p:sp>
      <p:sp>
        <p:nvSpPr>
          <p:cNvPr id="10" name="Text 6">
            <a:extLst xmlns:a="http://schemas.openxmlformats.org/drawingml/2006/main">
              <a:ext uri="{FF2B5EF4-FFF2-40B4-BE49-F238E27FC236}">
                <a16:creationId xmlns:a16="http://schemas.microsoft.com/office/drawing/2014/main" id="{AAD3A022-852C-4863-A493-633203541D91}"/>
              </a:ext>
            </a:extLst>
          </p:cNvPr>
          <p:cNvSpPr>
            <a:spLocks xmlns:a="http://schemas.openxmlformats.org/drawingml/2006/main" noGrp="1"/>
          </p:cNvSpPr>
          <p:nvPr/>
        </p:nvSpPr>
        <p:spPr>
          <a:xfrm xmlns:a="http://schemas.openxmlformats.org/drawingml/2006/main">
            <a:off x="457200" y="59436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Budi Juarto, S.T., M.Kom.</a:t>
            </a:r>
            <a:endParaRPr sz="1300"/>
          </a:p>
        </p:txBody>
      </p:sp>
      <p:sp>
        <p:nvSpPr>
          <p:cNvPr id="11" name="Text 7">
            <a:extLst xmlns:a="http://schemas.openxmlformats.org/drawingml/2006/main">
              <a:ext uri="{FF2B5EF4-FFF2-40B4-BE49-F238E27FC236}">
                <a16:creationId xmlns:a16="http://schemas.microsoft.com/office/drawing/2014/main" id="{B06CA6A1-2835-4D36-86BB-52DE03821A06}"/>
              </a:ext>
            </a:extLst>
          </p:cNvPr>
          <p:cNvSpPr>
            <a:spLocks xmlns:a="http://schemas.openxmlformats.org/drawingml/2006/main" noGrp="1"/>
          </p:cNvSpPr>
          <p:nvPr/>
        </p:nvSpPr>
        <p:spPr>
          <a:xfrm xmlns:a="http://schemas.openxmlformats.org/drawingml/2006/main">
            <a:off x="457200" y="621792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FE0B2"/>
                </a:solidFill>
                <a:latin typeface="Calibri"/>
                <a:ea typeface="Calibri"/>
                <a:cs typeface="Calibri"/>
              </a:rPr>
              <a:t>Departemen Informatika  -  BINUS @Bandung</a:t>
            </a:r>
            <a:endParaRPr sz="1100"/>
          </a:p>
        </p:txBody>
      </p:sp>
    </p:spTree>
    <p:extLst>
      <p:ext uri="{BB962C8B-B14F-4D97-AF65-F5344CB8AC3E}">
        <p14:creationId xmlns:p14="http://schemas.microsoft.com/office/powerpoint/2010/main" val="17064886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1ac8645f41764cd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61ab4349d01c439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Alur kelas 100 menit</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Persiapan instalasi dan unduhan selesai sebelum praktikum</a:t>
            </a:r>
            <a:endParaRPr sz="1200"/>
          </a:p>
        </p:txBody>
      </p:sp>
      <p:graphicFrame>
        <p:nvGraphicFramePr>
          <p:cNvPr id="31" name="">
            <a:extLst xmlns:a="http://schemas.openxmlformats.org/drawingml/2006/main">
              <a:ext uri="{FF2B5EF4-FFF2-40B4-BE49-F238E27FC236}">
                <a16:creationId xmlns:a16="http://schemas.microsoft.com/office/drawing/2014/main" id="{62DB9419-9B73-4A9D-9BAD-DF49598811C4}"/>
              </a:ext>
            </a:extLst>
          </p:cNvPr>
          <p:cNvGraphicFramePr/>
          <p:nvPr/>
        </p:nvGraphicFramePr>
        <p:xfrm>
          <a:off xmlns:a="http://schemas.openxmlformats.org/drawingml/2006/main" x="533400" y="1628775"/>
          <a:ext xmlns:a="http://schemas.openxmlformats.org/drawingml/2006/main" cx="11125200" cy="3429000"/>
        </p:xfrm>
        <a:graphic xmlns:a="http://schemas.openxmlformats.org/drawingml/2006/main">
          <a:graphicData uri="http://schemas.openxmlformats.org/drawingml/2006/table">
            <a:tbl>
              <a:tblPr firstRow="1" bandRow="1"/>
              <a:tblGrid>
                <a:gridCol w="2457450"/>
                <a:gridCol w="4343400"/>
                <a:gridCol w="4324350"/>
              </a:tblGrid>
              <a:tr h="857250">
                <a:tc>
                  <a:txBody>
                    <a:bodyPr lIns="114300" tIns="95250" rIns="114300" bIns="95250"/>
                    <a:lstStyle/>
                    <a:p>
                      <a:r>
                        <a:rPr sz="1650" b="1">
                          <a:solidFill>
                            <a:srgbClr val="FFFFFF"/>
                          </a:solidFill>
                          <a:latin typeface="Arial"/>
                          <a:ea typeface="Arial"/>
                          <a:cs typeface="Arial"/>
                        </a:rPr>
                        <a:t>Waktu</a:t>
                      </a:r>
                    </a:p>
                  </a:txBody>
                  <a:tcPr marL="91440" marR="91440" marT="45720" marB="45720">
                    <a:lnL w="9525">
                      <a:solidFill>
                        <a:srgbClr val="D5E1EC"/>
                      </a:solidFill>
                      <a:prstDash val="solid"/>
                    </a:lnL>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Materi RPS</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Hasil yang diamati</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r>
              <a:tr h="857250">
                <a:tc>
                  <a:txBody>
                    <a:bodyPr lIns="114300" tIns="95250" rIns="114300" bIns="95250"/>
                    <a:lstStyle/>
                    <a:p>
                      <a:r>
                        <a:rPr sz="1650" b="0">
                          <a:solidFill>
                            <a:srgbClr val="233344"/>
                          </a:solidFill>
                          <a:latin typeface="Arial"/>
                          <a:ea typeface="Arial"/>
                          <a:cs typeface="Arial"/>
                        </a:rPr>
                        <a:t>0–40 menit</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Docker Core</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Dockerfile, build/tag, env, image/container</a:t>
                      </a:r>
                    </a:p>
                  </a:txBody>
                  <a:tcPr marL="91440" marR="91440" marT="45720" marB="45720">
                    <a:lnR w="9525">
                      <a:solidFill>
                        <a:srgbClr val="D5E1EC"/>
                      </a:solidFill>
                      <a:prstDash val="solid"/>
                    </a:lnR>
                    <a:lnB w="9525">
                      <a:solidFill>
                        <a:srgbClr val="D5E1EC"/>
                      </a:solidFill>
                      <a:prstDash val="solid"/>
                    </a:lnB>
                    <a:solidFill>
                      <a:srgbClr val="F4F8FC"/>
                    </a:solidFill>
                  </a:tcPr>
                </a:tc>
              </a:tr>
              <a:tr h="857250">
                <a:tc>
                  <a:txBody>
                    <a:bodyPr lIns="114300" tIns="95250" rIns="114300" bIns="95250"/>
                    <a:lstStyle/>
                    <a:p>
                      <a:r>
                        <a:rPr sz="1650" b="0">
                          <a:solidFill>
                            <a:srgbClr val="233344"/>
                          </a:solidFill>
                          <a:latin typeface="Arial"/>
                          <a:ea typeface="Arial"/>
                          <a:cs typeface="Arial"/>
                        </a:rPr>
                        <a:t>40–90 menit</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Docker Compose</a:t>
                      </a:r>
                    </a:p>
                  </a:txBody>
                  <a:tcPr marL="91440" marR="91440" marT="45720" marB="45720">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DB/cache, DNS, volume, .env, profile, logs</a:t>
                      </a:r>
                    </a:p>
                  </a:txBody>
                  <a:tcPr marL="91440" marR="91440" marT="45720" marB="45720">
                    <a:lnR w="9525">
                      <a:solidFill>
                        <a:srgbClr val="D5E1EC"/>
                      </a:solidFill>
                      <a:prstDash val="solid"/>
                    </a:lnR>
                    <a:lnB w="9525">
                      <a:solidFill>
                        <a:srgbClr val="D5E1EC"/>
                      </a:solidFill>
                      <a:prstDash val="solid"/>
                    </a:lnB>
                    <a:solidFill>
                      <a:srgbClr val="FFFFFF"/>
                    </a:solidFill>
                  </a:tcPr>
                </a:tc>
              </a:tr>
              <a:tr h="857250">
                <a:tc>
                  <a:txBody>
                    <a:bodyPr lIns="114300" tIns="95250" rIns="114300" bIns="95250"/>
                    <a:lstStyle/>
                    <a:p>
                      <a:r>
                        <a:rPr sz="1650" b="0">
                          <a:solidFill>
                            <a:srgbClr val="233344"/>
                          </a:solidFill>
                          <a:latin typeface="Arial"/>
                          <a:ea typeface="Arial"/>
                          <a:cs typeface="Arial"/>
                        </a:rPr>
                        <a:t>90–100 menit</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Review dan cleanup</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Perbandingan hasil dan stack dihentikan</a:t>
                      </a:r>
                    </a:p>
                  </a:txBody>
                  <a:tcPr marL="91440" marR="91440" marT="45720" marB="45720">
                    <a:lnR w="9525">
                      <a:solidFill>
                        <a:srgbClr val="D5E1EC"/>
                      </a:solidFill>
                      <a:prstDash val="solid"/>
                    </a:lnR>
                    <a:lnB w="9525">
                      <a:solidFill>
                        <a:srgbClr val="D5E1EC"/>
                      </a:solidFill>
                      <a:prstDash val="solid"/>
                    </a:lnB>
                    <a:solidFill>
                      <a:srgbClr val="F4F8FC"/>
                    </a:solidFill>
                  </a:tcPr>
                </a:tc>
              </a:tr>
            </a:tbl>
          </a:graphicData>
        </a:graphic>
      </p:graphicFrame>
      <p:sp>
        <p:nvSpPr>
          <p:cNvPr id="32" name="Docker Hub: konsep registry di bagian Core. Login dan p">
            <a:extLst xmlns:a="http://schemas.openxmlformats.org/drawingml/2006/main">
              <a:ext uri="{FF2B5EF4-FFF2-40B4-BE49-F238E27FC236}">
                <a16:creationId xmlns:a16="http://schemas.microsoft.com/office/drawing/2014/main" id="{4A3085C0-EB41-4C3B-B6B9-23D8D27C4290}"/>
              </a:ext>
            </a:extLst>
          </p:cNvPr>
          <p:cNvSpPr>
            <a:spLocks xmlns:a="http://schemas.openxmlformats.org/drawingml/2006/main" noGrp="1"/>
          </p:cNvSpPr>
          <p:nvPr/>
        </p:nvSpPr>
        <p:spPr>
          <a:xfrm xmlns:a="http://schemas.openxmlformats.org/drawingml/2006/main">
            <a:off x="533400" y="5314950"/>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Docker Hub: konsep registry di bagian Core. Login dan push lokal tersedia pada lampiran, dengan akun serta jaringan siap sebelum kelas.</a:t>
            </a:r>
          </a:p>
        </p:txBody>
      </p:sp>
    </p:spTree>
    <p:extLst>
      <p:ext uri="{BB962C8B-B14F-4D97-AF65-F5344CB8AC3E}">
        <p14:creationId xmlns:p14="http://schemas.microsoft.com/office/powerpoint/2010/main" val="38165364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e7f1f36e79c446e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fced4e0b2de646c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Persiapan lokal sebelum kelas</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Docker Desktop memakai Linux containers dan Engine sudah siap</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E48F15EB-017E-4E19-9EC2-E1EB19232CB6}"/>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FOLDER PRIBADI">
            <a:extLst xmlns:a="http://schemas.openxmlformats.org/drawingml/2006/main">
              <a:ext uri="{FF2B5EF4-FFF2-40B4-BE49-F238E27FC236}">
                <a16:creationId xmlns:a16="http://schemas.microsoft.com/office/drawing/2014/main" id="{BBE046D2-0F30-4085-859F-BB540C18360A}"/>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FOLDER PRIBADI</a:t>
            </a:r>
          </a:p>
        </p:txBody>
      </p:sp>
      <p:sp>
        <p:nvSpPr>
          <p:cNvPr id="33" name="git --version&#10;docker version&#10;docker compose version&#10;git">
            <a:extLst xmlns:a="http://schemas.openxmlformats.org/drawingml/2006/main">
              <a:ext uri="{FF2B5EF4-FFF2-40B4-BE49-F238E27FC236}">
                <a16:creationId xmlns:a16="http://schemas.microsoft.com/office/drawing/2014/main" id="{534553D9-FC30-4D27-8C29-8BAA550B52D1}"/>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git --version</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version</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version</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git clone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https://github.com/SeedFlora/meet6CloudService.git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meet6CloudService-local</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Set-Location meet6CloudService-local</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Copy-Item .env.example .env</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pull python:3.12-slim</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pull db cache adminer</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build api</a:t>
            </a:r>
          </a:p>
        </p:txBody>
      </p:sp>
      <p:sp>
        <p:nvSpPr>
          <p:cNvPr id="34" name="Fungsi, proses, dan hasil">
            <a:extLst xmlns:a="http://schemas.openxmlformats.org/drawingml/2006/main">
              <a:ext uri="{FF2B5EF4-FFF2-40B4-BE49-F238E27FC236}">
                <a16:creationId xmlns:a16="http://schemas.microsoft.com/office/drawing/2014/main" id="{4D119E28-D38F-4EBD-918E-135BF6CAB5DD}"/>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Buka PowerShell pada folder pribadi.&#10;&#10;Docker version me">
            <a:extLst xmlns:a="http://schemas.openxmlformats.org/drawingml/2006/main">
              <a:ext uri="{FF2B5EF4-FFF2-40B4-BE49-F238E27FC236}">
                <a16:creationId xmlns:a16="http://schemas.microsoft.com/office/drawing/2014/main" id="{012BA08A-CC8D-4443-8343-8A664EA9CE24}"/>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Buka PowerShell pada folder pribadi.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Docker version menampilkan Client dan Server.</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Clone baru menyediakan Core dan Compose. Semua langkah berikut memakai root folder ini.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Backtick menyambung satu command ke baris berikutnya.</a:t>
            </a:r>
          </a:p>
        </p:txBody>
      </p:sp>
      <p:sp>
        <p:nvSpPr>
          <p:cNvPr id="36" name="Command lengkap ada di modul mahasiswa.">
            <a:extLst xmlns:a="http://schemas.openxmlformats.org/drawingml/2006/main">
              <a:ext uri="{FF2B5EF4-FFF2-40B4-BE49-F238E27FC236}">
                <a16:creationId xmlns:a16="http://schemas.microsoft.com/office/drawing/2014/main" id="{F7AE00C1-A648-46E3-8E7D-BDB9F9000C00}"/>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01501e78360144ab"/>
              </a:rPr>
              <a:t>Command lengkap ada di modul mahasiswa.</a:t>
            </a:r>
          </a:p>
        </p:txBody>
      </p:sp>
    </p:spTree>
    <p:extLst>
      <p:ext uri="{BB962C8B-B14F-4D97-AF65-F5344CB8AC3E}">
        <p14:creationId xmlns:p14="http://schemas.microsoft.com/office/powerpoint/2010/main" val="381653648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4</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f991a9da183a4e1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4b10ecffca484c5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Dockerfile, image, dan container</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Build menghasilkan image, run memulai proses container</a:t>
            </a:r>
            <a:endParaRPr sz="1200"/>
          </a:p>
        </p:txBody>
      </p:sp>
      <p:sp>
        <p:nvSpPr>
          <p:cNvPr id="31" name="Dockerfile">
            <a:extLst xmlns:a="http://schemas.openxmlformats.org/drawingml/2006/main">
              <a:ext uri="{FF2B5EF4-FFF2-40B4-BE49-F238E27FC236}">
                <a16:creationId xmlns:a16="http://schemas.microsoft.com/office/drawing/2014/main" id="{21AA0E96-7160-4F98-B006-A1DE692A545C}"/>
              </a:ext>
            </a:extLst>
          </p:cNvPr>
          <p:cNvSpPr>
            <a:spLocks xmlns:a="http://schemas.openxmlformats.org/drawingml/2006/main" noGrp="1"/>
          </p:cNvSpPr>
          <p:nvPr/>
        </p:nvSpPr>
        <p:spPr>
          <a:xfrm xmlns:a="http://schemas.openxmlformats.org/drawingml/2006/main">
            <a:off x="552450" y="1619250"/>
            <a:ext cx="3476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08256E"/>
                </a:solidFill>
                <a:latin typeface="Arial"/>
                <a:ea typeface="Arial"/>
                <a:cs typeface="Arial"/>
              </a:defRPr>
            </a:defPPr>
          </a:lstStyle>
          <a:p xmlns:a="http://schemas.openxmlformats.org/drawingml/2006/main">
            <a:pPr>
              <a:defRPr sz="2250" b="1">
                <a:solidFill>
                  <a:srgbClr val="08256E"/>
                </a:solidFill>
                <a:latin typeface="Arial"/>
                <a:ea typeface="Arial"/>
                <a:cs typeface="Arial"/>
              </a:defRPr>
            </a:pPr>
            <a:r>
              <a:rPr sz="2250" b="1">
                <a:solidFill>
                  <a:srgbClr val="08256E"/>
                </a:solidFill>
                <a:latin typeface="Arial"/>
                <a:ea typeface="Arial"/>
                <a:cs typeface="Arial"/>
              </a:rPr>
              <a:t>Dockerfile</a:t>
            </a:r>
          </a:p>
        </p:txBody>
      </p:sp>
      <p:sp>
        <p:nvSpPr>
          <p:cNvPr id="32" name="Resep teks.&#10;&#10;FROM memilih base image.&#10;COPY membawa sour">
            <a:extLst xmlns:a="http://schemas.openxmlformats.org/drawingml/2006/main">
              <a:ext uri="{FF2B5EF4-FFF2-40B4-BE49-F238E27FC236}">
                <a16:creationId xmlns:a16="http://schemas.microsoft.com/office/drawing/2014/main" id="{D7CF80EA-F9EB-4F97-9D36-236A8E468729}"/>
              </a:ext>
            </a:extLst>
          </p:cNvPr>
          <p:cNvSpPr>
            <a:spLocks xmlns:a="http://schemas.openxmlformats.org/drawingml/2006/main" noGrp="1"/>
          </p:cNvSpPr>
          <p:nvPr/>
        </p:nvSpPr>
        <p:spPr>
          <a:xfrm xmlns:a="http://schemas.openxmlformats.org/drawingml/2006/main">
            <a:off x="552450" y="2305050"/>
            <a:ext cx="33337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233344"/>
                </a:solidFill>
                <a:latin typeface="Arial"/>
                <a:ea typeface="Arial"/>
                <a:cs typeface="Arial"/>
              </a:defRPr>
            </a:defPPr>
          </a:lstStyle>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Resep teks.</a:t>
            </a:r>
          </a:p>
          <a:p xmlns:a="http://schemas.openxmlformats.org/drawingml/2006/main">
            <a:r>
              <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FROM memilih base image.</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COPY membawa source.</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RUN memasang dependency.</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CMD menetapkan proses awal.</a:t>
            </a:r>
          </a:p>
        </p:txBody>
      </p:sp>
      <p:sp>
        <p:nvSpPr>
          <p:cNvPr id="33" name="Image">
            <a:extLst xmlns:a="http://schemas.openxmlformats.org/drawingml/2006/main">
              <a:ext uri="{FF2B5EF4-FFF2-40B4-BE49-F238E27FC236}">
                <a16:creationId xmlns:a16="http://schemas.microsoft.com/office/drawing/2014/main" id="{22EFF1CC-13B8-4EF2-ADC5-6AFC45FD5DEC}"/>
              </a:ext>
            </a:extLst>
          </p:cNvPr>
          <p:cNvSpPr>
            <a:spLocks xmlns:a="http://schemas.openxmlformats.org/drawingml/2006/main" noGrp="1"/>
          </p:cNvSpPr>
          <p:nvPr/>
        </p:nvSpPr>
        <p:spPr>
          <a:xfrm xmlns:a="http://schemas.openxmlformats.org/drawingml/2006/main">
            <a:off x="4400550" y="1619250"/>
            <a:ext cx="3476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08256E"/>
                </a:solidFill>
                <a:latin typeface="Arial"/>
                <a:ea typeface="Arial"/>
                <a:cs typeface="Arial"/>
              </a:defRPr>
            </a:defPPr>
          </a:lstStyle>
          <a:p xmlns:a="http://schemas.openxmlformats.org/drawingml/2006/main">
            <a:pPr>
              <a:defRPr sz="2250" b="1">
                <a:solidFill>
                  <a:srgbClr val="08256E"/>
                </a:solidFill>
                <a:latin typeface="Arial"/>
                <a:ea typeface="Arial"/>
                <a:cs typeface="Arial"/>
              </a:defRPr>
            </a:pPr>
            <a:r>
              <a:rPr sz="2250" b="1">
                <a:solidFill>
                  <a:srgbClr val="08256E"/>
                </a:solidFill>
                <a:latin typeface="Arial"/>
                <a:ea typeface="Arial"/>
                <a:cs typeface="Arial"/>
              </a:rPr>
              <a:t>Image</a:t>
            </a:r>
          </a:p>
        </p:txBody>
      </p:sp>
      <p:sp>
        <p:nvSpPr>
          <p:cNvPr id="34" name="Hasil build aplikasi.&#10;&#10;Tag memberi nama versi.&#10;Image da">
            <a:extLst xmlns:a="http://schemas.openxmlformats.org/drawingml/2006/main">
              <a:ext uri="{FF2B5EF4-FFF2-40B4-BE49-F238E27FC236}">
                <a16:creationId xmlns:a16="http://schemas.microsoft.com/office/drawing/2014/main" id="{CE5A25A1-E9B7-477A-9B3D-B34E0AE8C8B0}"/>
              </a:ext>
            </a:extLst>
          </p:cNvPr>
          <p:cNvSpPr>
            <a:spLocks xmlns:a="http://schemas.openxmlformats.org/drawingml/2006/main" noGrp="1"/>
          </p:cNvSpPr>
          <p:nvPr/>
        </p:nvSpPr>
        <p:spPr>
          <a:xfrm xmlns:a="http://schemas.openxmlformats.org/drawingml/2006/main">
            <a:off x="4400550" y="2305050"/>
            <a:ext cx="33337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233344"/>
                </a:solidFill>
                <a:latin typeface="Arial"/>
                <a:ea typeface="Arial"/>
                <a:cs typeface="Arial"/>
              </a:defRPr>
            </a:defPPr>
          </a:lstStyle>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Hasil build aplikasi.</a:t>
            </a:r>
          </a:p>
          <a:p xmlns:a="http://schemas.openxmlformats.org/drawingml/2006/main">
            <a:r>
              <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Tag memberi nama versi.</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Image dapat disimpan lokal</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atau dikirim ke registry.</a:t>
            </a:r>
          </a:p>
          <a:p xmlns:a="http://schemas.openxmlformats.org/drawingml/2006/main">
            <a:r>
              <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Image belum menjalankan API.</a:t>
            </a:r>
          </a:p>
        </p:txBody>
      </p:sp>
      <p:sp>
        <p:nvSpPr>
          <p:cNvPr id="35" name="Container">
            <a:extLst xmlns:a="http://schemas.openxmlformats.org/drawingml/2006/main">
              <a:ext uri="{FF2B5EF4-FFF2-40B4-BE49-F238E27FC236}">
                <a16:creationId xmlns:a16="http://schemas.microsoft.com/office/drawing/2014/main" id="{80F86216-29A6-40EE-9678-5E2AFE2D4B89}"/>
              </a:ext>
            </a:extLst>
          </p:cNvPr>
          <p:cNvSpPr>
            <a:spLocks xmlns:a="http://schemas.openxmlformats.org/drawingml/2006/main" noGrp="1"/>
          </p:cNvSpPr>
          <p:nvPr/>
        </p:nvSpPr>
        <p:spPr>
          <a:xfrm xmlns:a="http://schemas.openxmlformats.org/drawingml/2006/main">
            <a:off x="8210550" y="161925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08256E"/>
                </a:solidFill>
                <a:latin typeface="Arial"/>
                <a:ea typeface="Arial"/>
                <a:cs typeface="Arial"/>
              </a:defRPr>
            </a:defPPr>
          </a:lstStyle>
          <a:p xmlns:a="http://schemas.openxmlformats.org/drawingml/2006/main">
            <a:pPr>
              <a:defRPr sz="2250" b="1">
                <a:solidFill>
                  <a:srgbClr val="08256E"/>
                </a:solidFill>
                <a:latin typeface="Arial"/>
                <a:ea typeface="Arial"/>
                <a:cs typeface="Arial"/>
              </a:defRPr>
            </a:pPr>
            <a:r>
              <a:rPr sz="2250" b="1">
                <a:solidFill>
                  <a:srgbClr val="08256E"/>
                </a:solidFill>
                <a:latin typeface="Arial"/>
                <a:ea typeface="Arial"/>
                <a:cs typeface="Arial"/>
              </a:rPr>
              <a:t>Container</a:t>
            </a:r>
          </a:p>
        </p:txBody>
      </p:sp>
      <p:sp>
        <p:nvSpPr>
          <p:cNvPr id="36" name="Proses dari sebuah image.&#10;&#10;Run memberi nama, env,&#10;dan m">
            <a:extLst xmlns:a="http://schemas.openxmlformats.org/drawingml/2006/main">
              <a:ext uri="{FF2B5EF4-FFF2-40B4-BE49-F238E27FC236}">
                <a16:creationId xmlns:a16="http://schemas.microsoft.com/office/drawing/2014/main" id="{A91A708B-F72D-4DBE-97D6-E830714DF757}"/>
              </a:ext>
            </a:extLst>
          </p:cNvPr>
          <p:cNvSpPr>
            <a:spLocks xmlns:a="http://schemas.openxmlformats.org/drawingml/2006/main" noGrp="1"/>
          </p:cNvSpPr>
          <p:nvPr/>
        </p:nvSpPr>
        <p:spPr>
          <a:xfrm xmlns:a="http://schemas.openxmlformats.org/drawingml/2006/main">
            <a:off x="8210550" y="2305050"/>
            <a:ext cx="33337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233344"/>
                </a:solidFill>
                <a:latin typeface="Arial"/>
                <a:ea typeface="Arial"/>
                <a:cs typeface="Arial"/>
              </a:defRPr>
            </a:defPPr>
          </a:lstStyle>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Proses dari sebuah image.</a:t>
            </a:r>
          </a:p>
          <a:p xmlns:a="http://schemas.openxmlformats.org/drawingml/2006/main">
            <a:r>
              <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Run memberi nama, env,</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dan mapping port.</a:t>
            </a:r>
          </a:p>
          <a:p xmlns:a="http://schemas.openxmlformats.org/drawingml/2006/main">
            <a:r>
              <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Stop menghentikan proses.</a:t>
            </a:r>
          </a:p>
          <a:p xmlns:a="http://schemas.openxmlformats.org/drawingml/2006/main">
            <a:pPr>
              <a:defRPr sz="1875" b="0">
                <a:solidFill>
                  <a:srgbClr val="233344"/>
                </a:solidFill>
                <a:latin typeface="Arial"/>
                <a:ea typeface="Arial"/>
                <a:cs typeface="Arial"/>
              </a:defRPr>
            </a:pPr>
            <a:r>
              <a:rPr sz="1875" b="0">
                <a:solidFill>
                  <a:srgbClr val="233344"/>
                </a:solidFill>
                <a:latin typeface="Arial"/>
                <a:ea typeface="Arial"/>
                <a:cs typeface="Arial"/>
              </a:rPr>
              <a:t>Image tetap tersedia.</a:t>
            </a:r>
          </a:p>
        </p:txBody>
      </p:sp>
      <p:sp>
        <p:nvSpPr>
          <p:cNvPr id="37" name="Contoh hari ini: cloud-notes-api:core22 menghasilkan co">
            <a:extLst xmlns:a="http://schemas.openxmlformats.org/drawingml/2006/main">
              <a:ext uri="{FF2B5EF4-FFF2-40B4-BE49-F238E27FC236}">
                <a16:creationId xmlns:a16="http://schemas.microsoft.com/office/drawing/2014/main" id="{C6123A53-80BA-4598-8770-C69E7214EECF}"/>
              </a:ext>
            </a:extLst>
          </p:cNvPr>
          <p:cNvSpPr>
            <a:spLocks xmlns:a="http://schemas.openxmlformats.org/drawingml/2006/main" noGrp="1"/>
          </p:cNvSpPr>
          <p:nvPr/>
        </p:nvSpPr>
        <p:spPr>
          <a:xfrm xmlns:a="http://schemas.openxmlformats.org/drawingml/2006/main">
            <a:off x="552450" y="5695950"/>
            <a:ext cx="1091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596C87"/>
                </a:solidFill>
                <a:latin typeface="Arial"/>
                <a:ea typeface="Arial"/>
                <a:cs typeface="Arial"/>
              </a:defRPr>
            </a:defPPr>
          </a:lstStyle>
          <a:p xmlns:a="http://schemas.openxmlformats.org/drawingml/2006/main">
            <a:pPr>
              <a:defRPr sz="1650" b="0">
                <a:solidFill>
                  <a:srgbClr val="596C87"/>
                </a:solidFill>
                <a:latin typeface="Arial"/>
                <a:ea typeface="Arial"/>
                <a:cs typeface="Arial"/>
              </a:defRPr>
            </a:pPr>
            <a:r>
              <a:rPr sz="1650" b="0">
                <a:solidFill>
                  <a:srgbClr val="596C87"/>
                </a:solidFill>
                <a:latin typeface="Arial"/>
                <a:ea typeface="Arial"/>
                <a:cs typeface="Arial"/>
              </a:rPr>
              <a:t>Contoh hari ini: cloud-notes-api:core22 menghasilkan container cloudlab-core22.</a:t>
            </a:r>
          </a:p>
        </p:txBody>
      </p:sp>
    </p:spTree>
    <p:extLst>
      <p:ext uri="{BB962C8B-B14F-4D97-AF65-F5344CB8AC3E}">
        <p14:creationId xmlns:p14="http://schemas.microsoft.com/office/powerpoint/2010/main" val="38165364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5</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10cea1bd84ab403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91da0821a8b2481d"/>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Dockerfile Python sederhana</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Buka Notepad: notepad .\gabungan22\core\Dockerfile.single</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69528621-B0D8-4770-8D7F-573A7B23EBF2}"/>
              </a:ext>
            </a:extLst>
          </p:cNvPr>
          <p:cNvSpPr>
            <a:spLocks xmlns:a="http://schemas.openxmlformats.org/drawingml/2006/main" noGrp="1"/>
          </p:cNvSpPr>
          <p:nvPr/>
        </p:nvSpPr>
        <p:spPr>
          <a:xfrm xmlns:a="http://schemas.openxmlformats.org/drawingml/2006/main">
            <a:off x="457200" y="1457325"/>
            <a:ext cx="11258550" cy="3000375"/>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ISI FILE DOCKERFILE.SINGLE, BUKAN COMMAND POWERSHELL">
            <a:extLst xmlns:a="http://schemas.openxmlformats.org/drawingml/2006/main">
              <a:ext uri="{FF2B5EF4-FFF2-40B4-BE49-F238E27FC236}">
                <a16:creationId xmlns:a16="http://schemas.microsoft.com/office/drawing/2014/main" id="{88DEB572-CC75-416D-8B62-A5E013C5C0D5}"/>
              </a:ext>
            </a:extLst>
          </p:cNvPr>
          <p:cNvSpPr>
            <a:spLocks xmlns:a="http://schemas.openxmlformats.org/drawingml/2006/main" noGrp="1"/>
          </p:cNvSpPr>
          <p:nvPr/>
        </p:nvSpPr>
        <p:spPr>
          <a:xfrm xmlns:a="http://schemas.openxmlformats.org/drawingml/2006/main">
            <a:off x="628650" y="1571625"/>
            <a:ext cx="10915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ISI FILE DOCKERFILE.SINGLE, BUKAN COMMAND POWERSHELL</a:t>
            </a:r>
          </a:p>
        </p:txBody>
      </p:sp>
      <p:sp>
        <p:nvSpPr>
          <p:cNvPr id="33" name="FROM python:3.12-slim&#10;WORKDIR /app&#10;COPY requirements.tx">
            <a:extLst xmlns:a="http://schemas.openxmlformats.org/drawingml/2006/main">
              <a:ext uri="{FF2B5EF4-FFF2-40B4-BE49-F238E27FC236}">
                <a16:creationId xmlns:a16="http://schemas.microsoft.com/office/drawing/2014/main" id="{BAF99611-CDDA-41D1-BE37-103E2DCE65F3}"/>
              </a:ext>
            </a:extLst>
          </p:cNvPr>
          <p:cNvSpPr>
            <a:spLocks xmlns:a="http://schemas.openxmlformats.org/drawingml/2006/main" noGrp="1"/>
          </p:cNvSpPr>
          <p:nvPr/>
        </p:nvSpPr>
        <p:spPr>
          <a:xfrm xmlns:a="http://schemas.openxmlformats.org/drawingml/2006/main">
            <a:off x="628650" y="1943100"/>
            <a:ext cx="109156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FROM python:3.12-slim</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WORKDIR /app</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COPY requirements.txt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RUN pip install --no-cache-dir -r requirements.txt</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COPY app ./app</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ENV APP_ENV=classroom</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EXPOSE 8000</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CMD ["uvicorn", "app.main:app", "--host", "0.0.0.0", "--port", "8000"]</a:t>
            </a:r>
          </a:p>
        </p:txBody>
      </p:sp>
      <p:sp>
        <p:nvSpPr>
          <p:cNvPr id="34" name="Baca atau ketik resep ini di Dockerfile.single, lalu si">
            <a:extLst xmlns:a="http://schemas.openxmlformats.org/drawingml/2006/main">
              <a:ext uri="{FF2B5EF4-FFF2-40B4-BE49-F238E27FC236}">
                <a16:creationId xmlns:a16="http://schemas.microsoft.com/office/drawing/2014/main" id="{6F48132B-4ED4-4355-B7DA-28F61F1A79CC}"/>
              </a:ext>
            </a:extLst>
          </p:cNvPr>
          <p:cNvSpPr>
            <a:spLocks xmlns:a="http://schemas.openxmlformats.org/drawingml/2006/main" noGrp="1"/>
          </p:cNvSpPr>
          <p:nvPr/>
        </p:nvSpPr>
        <p:spPr>
          <a:xfrm xmlns:a="http://schemas.openxmlformats.org/drawingml/2006/main">
            <a:off x="533400" y="4724400"/>
            <a:ext cx="111252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Baca atau ketik resep ini di Dockerfile.single, lalu simpan tanpa ekstensi .txt.</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FROM memilih Python. COPY dan RUN menyiapkan aplikasi. CMD menjalankan API.</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EXPOSE mencatat port container. Akses laptop ditentukan nanti oleh docker run -p.</a:t>
            </a:r>
          </a:p>
        </p:txBody>
      </p:sp>
    </p:spTree>
    <p:extLst>
      <p:ext uri="{BB962C8B-B14F-4D97-AF65-F5344CB8AC3E}">
        <p14:creationId xmlns:p14="http://schemas.microsoft.com/office/powerpoint/2010/main" val="38165364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6</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e1c46bf94f58496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0384fc696ef94f7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Build image pertama</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Dockerfile.single memakai context yang berisi requirements.txt dan app/</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52300F28-D31D-4814-9FD2-D02C9020810D}"/>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0327667D-6456-4AB7-9ACD-36A748300C51}"/>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build `&#10;  -f ./gabungan22/core/Dockerfile.single">
            <a:extLst xmlns:a="http://schemas.openxmlformats.org/drawingml/2006/main">
              <a:ext uri="{FF2B5EF4-FFF2-40B4-BE49-F238E27FC236}">
                <a16:creationId xmlns:a16="http://schemas.microsoft.com/office/drawing/2014/main" id="{42E89291-47EF-4131-B844-D2CC2E18A958}"/>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build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-f ./gabungan22/core/Dockerfile.single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-t cloud-notes-api:core-single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./gabungan22/core</a:t>
            </a:r>
          </a:p>
          <a:p xmlns:a="http://schemas.openxmlformats.org/drawingml/2006/main">
            <a:r>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image ls cloud-notes-api</a:t>
            </a:r>
          </a:p>
        </p:txBody>
      </p:sp>
      <p:sp>
        <p:nvSpPr>
          <p:cNvPr id="34" name="Fungsi, proses, dan hasil">
            <a:extLst xmlns:a="http://schemas.openxmlformats.org/drawingml/2006/main">
              <a:ext uri="{FF2B5EF4-FFF2-40B4-BE49-F238E27FC236}">
                <a16:creationId xmlns:a16="http://schemas.microsoft.com/office/drawing/2014/main" id="{C0D59C88-4182-46D7-BF7B-0D6C28FDD31E}"/>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f memilih resep sederhana.&#10;&#10;-t memberi nama dan tag.&#10;&#10;">
            <a:extLst xmlns:a="http://schemas.openxmlformats.org/drawingml/2006/main">
              <a:ext uri="{FF2B5EF4-FFF2-40B4-BE49-F238E27FC236}">
                <a16:creationId xmlns:a16="http://schemas.microsoft.com/office/drawing/2014/main" id="{BC9C34C3-0706-4B0D-9E0A-C818EE7C21AC}"/>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-f memilih resep sederhana.</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-t memberi nama dan tag.</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Argumen terakhir adalah build context.</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Hasil: tag core-single tersedia. Baca image ID dan SIZE pada mesin Anda.</a:t>
            </a:r>
          </a:p>
        </p:txBody>
      </p:sp>
      <p:sp>
        <p:nvSpPr>
          <p:cNvPr id="36" name="Command lengkap ada di modul mahasiswa.">
            <a:extLst xmlns:a="http://schemas.openxmlformats.org/drawingml/2006/main">
              <a:ext uri="{FF2B5EF4-FFF2-40B4-BE49-F238E27FC236}">
                <a16:creationId xmlns:a16="http://schemas.microsoft.com/office/drawing/2014/main" id="{54135AA0-3EAD-45FD-B84C-E13A93A3CBE5}"/>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22f77adc4b384554"/>
              </a:rPr>
              <a:t>Command lengkap ada di modul mahasiswa.</a:t>
            </a:r>
          </a:p>
        </p:txBody>
      </p:sp>
    </p:spTree>
    <p:extLst>
      <p:ext uri="{BB962C8B-B14F-4D97-AF65-F5344CB8AC3E}">
        <p14:creationId xmlns:p14="http://schemas.microsoft.com/office/powerpoint/2010/main" val="38165364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7</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7ee1f3a0bf5946f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4626a618f291493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Multi-stage: bagian builder</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File yang dibaca: gabungan22/core/Dockerfile</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C3EF4207-11A9-435B-8801-26E2CFBE72BD}"/>
              </a:ext>
            </a:extLst>
          </p:cNvPr>
          <p:cNvSpPr>
            <a:spLocks xmlns:a="http://schemas.openxmlformats.org/drawingml/2006/main" noGrp="1"/>
          </p:cNvSpPr>
          <p:nvPr/>
        </p:nvSpPr>
        <p:spPr>
          <a:xfrm xmlns:a="http://schemas.openxmlformats.org/drawingml/2006/main">
            <a:off x="457200" y="1457325"/>
            <a:ext cx="11258550" cy="3000375"/>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KUTIPAN DOCKERFILE, BUKAN COMMAND POWERSHELL">
            <a:extLst xmlns:a="http://schemas.openxmlformats.org/drawingml/2006/main">
              <a:ext uri="{FF2B5EF4-FFF2-40B4-BE49-F238E27FC236}">
                <a16:creationId xmlns:a16="http://schemas.microsoft.com/office/drawing/2014/main" id="{BF2248E7-4444-4090-BFEB-242CBBF3A295}"/>
              </a:ext>
            </a:extLst>
          </p:cNvPr>
          <p:cNvSpPr>
            <a:spLocks xmlns:a="http://schemas.openxmlformats.org/drawingml/2006/main" noGrp="1"/>
          </p:cNvSpPr>
          <p:nvPr/>
        </p:nvSpPr>
        <p:spPr>
          <a:xfrm xmlns:a="http://schemas.openxmlformats.org/drawingml/2006/main">
            <a:off x="628650" y="1571625"/>
            <a:ext cx="10915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KUTIPAN DOCKERFILE, BUKAN COMMAND POWERSHELL</a:t>
            </a:r>
          </a:p>
        </p:txBody>
      </p:sp>
      <p:sp>
        <p:nvSpPr>
          <p:cNvPr id="33" name="FROM python:3.12-slim AS builder&#10;WORKDIR /build&#10;COPY re">
            <a:extLst xmlns:a="http://schemas.openxmlformats.org/drawingml/2006/main">
              <a:ext uri="{FF2B5EF4-FFF2-40B4-BE49-F238E27FC236}">
                <a16:creationId xmlns:a16="http://schemas.microsoft.com/office/drawing/2014/main" id="{8DA62799-2332-4CDF-A6BB-F65EE845A056}"/>
              </a:ext>
            </a:extLst>
          </p:cNvPr>
          <p:cNvSpPr>
            <a:spLocks xmlns:a="http://schemas.openxmlformats.org/drawingml/2006/main" noGrp="1"/>
          </p:cNvSpPr>
          <p:nvPr/>
        </p:nvSpPr>
        <p:spPr>
          <a:xfrm xmlns:a="http://schemas.openxmlformats.org/drawingml/2006/main">
            <a:off x="628650" y="1943100"/>
            <a:ext cx="109156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0">
                <a:solidFill>
                  <a:srgbClr val="FFFFFF"/>
                </a:solidFill>
                <a:latin typeface="Consolas"/>
                <a:ea typeface="Consolas"/>
                <a:cs typeface="Consolas"/>
              </a:defRPr>
            </a:defPPr>
          </a:lstStyle>
          <a:p xmlns:a="http://schemas.openxmlformats.org/drawingml/2006/main">
            <a:pPr>
              <a:defRPr sz="1425" b="0">
                <a:solidFill>
                  <a:srgbClr val="FFFFFF"/>
                </a:solidFill>
                <a:latin typeface="Consolas"/>
                <a:ea typeface="Consolas"/>
                <a:cs typeface="Consolas"/>
              </a:defRPr>
            </a:pPr>
            <a:r>
              <a:rPr sz="1425" b="0">
                <a:solidFill>
                  <a:srgbClr val="FFFFFF"/>
                </a:solidFill>
                <a:latin typeface="Consolas"/>
                <a:ea typeface="Consolas"/>
                <a:cs typeface="Consolas"/>
              </a:rPr>
              <a:t>FROM python:3.12-slim AS builder</a:t>
            </a:r>
          </a:p>
          <a:p xmlns:a="http://schemas.openxmlformats.org/drawingml/2006/main">
            <a:pPr>
              <a:defRPr sz="1425" b="0">
                <a:solidFill>
                  <a:srgbClr val="FFFFFF"/>
                </a:solidFill>
                <a:latin typeface="Consolas"/>
                <a:ea typeface="Consolas"/>
                <a:cs typeface="Consolas"/>
              </a:defRPr>
            </a:pPr>
            <a:r>
              <a:rPr sz="1425" b="0">
                <a:solidFill>
                  <a:srgbClr val="FFFFFF"/>
                </a:solidFill>
                <a:latin typeface="Consolas"/>
                <a:ea typeface="Consolas"/>
                <a:cs typeface="Consolas"/>
              </a:rPr>
              <a:t>WORKDIR /build</a:t>
            </a:r>
          </a:p>
          <a:p xmlns:a="http://schemas.openxmlformats.org/drawingml/2006/main">
            <a:pPr>
              <a:defRPr sz="1425" b="0">
                <a:solidFill>
                  <a:srgbClr val="FFFFFF"/>
                </a:solidFill>
                <a:latin typeface="Consolas"/>
                <a:ea typeface="Consolas"/>
                <a:cs typeface="Consolas"/>
              </a:defRPr>
            </a:pPr>
            <a:r>
              <a:rPr sz="1425" b="0">
                <a:solidFill>
                  <a:srgbClr val="FFFFFF"/>
                </a:solidFill>
                <a:latin typeface="Consolas"/>
                <a:ea typeface="Consolas"/>
                <a:cs typeface="Consolas"/>
              </a:rPr>
              <a:t>COPY requirements.txt .</a:t>
            </a:r>
          </a:p>
          <a:p xmlns:a="http://schemas.openxmlformats.org/drawingml/2006/main">
            <a:pPr>
              <a:defRPr sz="1425" b="0">
                <a:solidFill>
                  <a:srgbClr val="FFFFFF"/>
                </a:solidFill>
                <a:latin typeface="Consolas"/>
                <a:ea typeface="Consolas"/>
                <a:cs typeface="Consolas"/>
              </a:defRPr>
            </a:pPr>
            <a:r>
              <a:rPr sz="1425" b="0">
                <a:solidFill>
                  <a:srgbClr val="FFFFFF"/>
                </a:solidFill>
                <a:latin typeface="Consolas"/>
                <a:ea typeface="Consolas"/>
                <a:cs typeface="Consolas"/>
              </a:rPr>
              <a:t>RUN python -m venv /opt/venv &amp;&amp; /opt/venv/bin/pip install --no-cache-dir -r requirements.txt</a:t>
            </a:r>
          </a:p>
        </p:txBody>
      </p:sp>
      <p:sp>
        <p:nvSpPr>
          <p:cNvPr id="34" name="Builder memasang dependency pada /opt/venv. Stage runti">
            <a:extLst xmlns:a="http://schemas.openxmlformats.org/drawingml/2006/main">
              <a:ext uri="{FF2B5EF4-FFF2-40B4-BE49-F238E27FC236}">
                <a16:creationId xmlns:a16="http://schemas.microsoft.com/office/drawing/2014/main" id="{F0FDFD18-DA8D-470A-B72B-974840B9A53B}"/>
              </a:ext>
            </a:extLst>
          </p:cNvPr>
          <p:cNvSpPr>
            <a:spLocks xmlns:a="http://schemas.openxmlformats.org/drawingml/2006/main" noGrp="1"/>
          </p:cNvSpPr>
          <p:nvPr/>
        </p:nvSpPr>
        <p:spPr>
          <a:xfrm xmlns:a="http://schemas.openxmlformats.org/drawingml/2006/main">
            <a:off x="533400" y="4724400"/>
            <a:ext cx="111252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Builder memasang dependency pada /opt/venv. Stage runtime berikutnya menyalin hasil itu.</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COPY requirements lebih dulu membantu cache dependency ketika source aplikasi berubah.</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Buka Dockerfile lengkap dengan Notepad dan temukan nama stage builder serta runtime.</a:t>
            </a:r>
          </a:p>
        </p:txBody>
      </p:sp>
    </p:spTree>
    <p:extLst>
      <p:ext uri="{BB962C8B-B14F-4D97-AF65-F5344CB8AC3E}">
        <p14:creationId xmlns:p14="http://schemas.microsoft.com/office/powerpoint/2010/main" val="381653648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8</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d40126b0922e4fd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10e3382ab3b24f4d"/>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Multi-stage: bagian runtime</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Runtime menyalin dependency dan menjalankan aplikasi sebagai appuser</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F0F0BDC6-90C9-4C42-876B-BC1C75B8F66E}"/>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KUTIPAN DOCKERFILE, BUKAN COMMAND POWERSHELL">
            <a:extLst xmlns:a="http://schemas.openxmlformats.org/drawingml/2006/main">
              <a:ext uri="{FF2B5EF4-FFF2-40B4-BE49-F238E27FC236}">
                <a16:creationId xmlns:a16="http://schemas.microsoft.com/office/drawing/2014/main" id="{81F35299-FF83-4CA0-8A25-4FFCD1B19700}"/>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KUTIPAN DOCKERFILE, BUKAN COMMAND POWERSHELL</a:t>
            </a:r>
          </a:p>
        </p:txBody>
      </p:sp>
      <p:sp>
        <p:nvSpPr>
          <p:cNvPr id="33" name="FROM python:3.12-slim AS runtime&#10;ENV PATH=&quot;/opt/venv/bi">
            <a:extLst xmlns:a="http://schemas.openxmlformats.org/drawingml/2006/main">
              <a:ext uri="{FF2B5EF4-FFF2-40B4-BE49-F238E27FC236}">
                <a16:creationId xmlns:a16="http://schemas.microsoft.com/office/drawing/2014/main" id="{934FA9A9-F9B0-4247-B8C2-99A5388E26BF}"/>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FROM python:3.12-slim AS runtime</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ENV PATH="/opt/venv/bin:$PATH"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PYTHONDONTWRITEBYTECODE=1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PYTHONUNBUFFERED=1</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RUN useradd --create-home --uid 10001 appuser</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WORKDIR /app</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COPY --from=builder /opt/venv /opt/venv</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COPY app ./app</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USER appuser</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EXPOSE 8000</a:t>
            </a:r>
          </a:p>
        </p:txBody>
      </p:sp>
      <p:sp>
        <p:nvSpPr>
          <p:cNvPr id="34" name="Fungsi, proses, dan hasil">
            <a:extLst xmlns:a="http://schemas.openxmlformats.org/drawingml/2006/main">
              <a:ext uri="{FF2B5EF4-FFF2-40B4-BE49-F238E27FC236}">
                <a16:creationId xmlns:a16="http://schemas.microsoft.com/office/drawing/2014/main" id="{16B9FCCD-2A82-4D88-8F70-5D6E5FAC030B}"/>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COPY --from membawa venv builder.&#10;&#10;PATH memilih Python ">
            <a:extLst xmlns:a="http://schemas.openxmlformats.org/drawingml/2006/main">
              <a:ext uri="{FF2B5EF4-FFF2-40B4-BE49-F238E27FC236}">
                <a16:creationId xmlns:a16="http://schemas.microsoft.com/office/drawing/2014/main" id="{4E9D94D1-7780-4A67-8065-24E3A47376BE}"/>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COPY --from membawa venv builder.</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PATH memilih Python pada venv.</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USER menentukan akun proses.</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CMD pada akhir file menjalankan Uvicorn seperti resep sederhana.</a:t>
            </a:r>
          </a:p>
        </p:txBody>
      </p:sp>
      <p:sp>
        <p:nvSpPr>
          <p:cNvPr id="36" name="Command lengkap ada di modul mahasiswa.">
            <a:extLst xmlns:a="http://schemas.openxmlformats.org/drawingml/2006/main">
              <a:ext uri="{FF2B5EF4-FFF2-40B4-BE49-F238E27FC236}">
                <a16:creationId xmlns:a16="http://schemas.microsoft.com/office/drawing/2014/main" id="{2B423E87-B699-44AE-AEE6-3B7F5DEDE0B6}"/>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21c53b0f4a0d4736"/>
              </a:rPr>
              <a:t>Command lengkap ada di modul mahasiswa.</a:t>
            </a:r>
          </a:p>
        </p:txBody>
      </p:sp>
    </p:spTree>
    <p:extLst>
      <p:ext uri="{BB962C8B-B14F-4D97-AF65-F5344CB8AC3E}">
        <p14:creationId xmlns:p14="http://schemas.microsoft.com/office/powerpoint/2010/main" val="381653648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9</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4b9b6b24606b477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2b83a6b5599f478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Build dan perbandingan tag</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Hasil multi-stage diberi tag core22</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AE0A7343-A516-4C7F-966A-3E3F10EA9F74}"/>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C033E0D9-205C-4FF9-93B3-3FD838B6D187}"/>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build -t cloud-notes-api:core22 `&#10;  ./gabungan22">
            <a:extLst xmlns:a="http://schemas.openxmlformats.org/drawingml/2006/main">
              <a:ext uri="{FF2B5EF4-FFF2-40B4-BE49-F238E27FC236}">
                <a16:creationId xmlns:a16="http://schemas.microsoft.com/office/drawing/2014/main" id="{B9584B6C-5653-4FA5-BB6A-1D871A7C0CBE}"/>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build -t cloud-notes-api:core22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./gabungan22/core</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image ls cloud-notes-api</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run --rm cloud-notes-api:core22 id</a:t>
            </a:r>
          </a:p>
        </p:txBody>
      </p:sp>
      <p:sp>
        <p:nvSpPr>
          <p:cNvPr id="34" name="Fungsi, proses, dan hasil">
            <a:extLst xmlns:a="http://schemas.openxmlformats.org/drawingml/2006/main">
              <a:ext uri="{FF2B5EF4-FFF2-40B4-BE49-F238E27FC236}">
                <a16:creationId xmlns:a16="http://schemas.microsoft.com/office/drawing/2014/main" id="{4FC2FD37-2495-481C-A7FC-D4369C41E802}"/>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core-single dan core22 adalah tag berbeda.&#10;&#10;Bandingkan ">
            <a:extLst xmlns:a="http://schemas.openxmlformats.org/drawingml/2006/main">
              <a:ext uri="{FF2B5EF4-FFF2-40B4-BE49-F238E27FC236}">
                <a16:creationId xmlns:a16="http://schemas.microsoft.com/office/drawing/2014/main" id="{D473FCD4-4F82-4DE1-A0C8-23E3D20707E0}"/>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core-single dan core22 adalah tag berbeda.</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Bandingkan image ID dan SIZE.</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Id menunjukkan UID 10001.</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--rm membersihkan container singkat pemeriksaan. Image tetap ada.</a:t>
            </a:r>
          </a:p>
        </p:txBody>
      </p:sp>
      <p:sp>
        <p:nvSpPr>
          <p:cNvPr id="36" name="Command lengkap ada di modul mahasiswa.">
            <a:extLst xmlns:a="http://schemas.openxmlformats.org/drawingml/2006/main">
              <a:ext uri="{FF2B5EF4-FFF2-40B4-BE49-F238E27FC236}">
                <a16:creationId xmlns:a16="http://schemas.microsoft.com/office/drawing/2014/main" id="{BB543028-1205-4482-9511-7511D92CE391}"/>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1ff8addf9db14d32"/>
              </a:rPr>
              <a:t>Command lengkap ada di modul mahasiswa.</a:t>
            </a:r>
          </a:p>
        </p:txBody>
      </p:sp>
    </p:spTree>
    <p:extLst>
      <p:ext uri="{BB962C8B-B14F-4D97-AF65-F5344CB8AC3E}">
        <p14:creationId xmlns:p14="http://schemas.microsoft.com/office/powerpoint/2010/main" val="381653648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10</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4329e1b3b26248c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87397bfe83984e1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.dockerignore dan build context</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File ignore berada di gabungan22/core/.dockerignore</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B22E55DE-8A7B-409C-B2B7-DF1ACF1B2370}"/>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C8617C48-4646-467F-B266-956FD214A8CB}"/>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Get-Content ./gabungan22/core/.dockerignore&#10;&#10;# Pola yan">
            <a:extLst xmlns:a="http://schemas.openxmlformats.org/drawingml/2006/main">
              <a:ext uri="{FF2B5EF4-FFF2-40B4-BE49-F238E27FC236}">
                <a16:creationId xmlns:a16="http://schemas.microsoft.com/office/drawing/2014/main" id="{5062D25F-12E8-4774-867C-BA1BD2180A2A}"/>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Get-Content ./gabungan22/core/.dockerignore</a:t>
            </a:r>
          </a:p>
          <a:p xmlns:a="http://schemas.openxmlformats.org/drawingml/2006/main">
            <a:r>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Pola yang dibaca:</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.git</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.venv</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__pycache__</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*.pyc</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.env</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.env.*</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!*.example</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README.md</a:t>
            </a:r>
          </a:p>
        </p:txBody>
      </p:sp>
      <p:sp>
        <p:nvSpPr>
          <p:cNvPr id="34" name="Fungsi, proses, dan hasil">
            <a:extLst xmlns:a="http://schemas.openxmlformats.org/drawingml/2006/main">
              <a:ext uri="{FF2B5EF4-FFF2-40B4-BE49-F238E27FC236}">
                <a16:creationId xmlns:a16="http://schemas.microsoft.com/office/drawing/2014/main" id="{59711360-80CB-4067-ACA4-470967DB6BF5}"/>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Jalankan hanya baris Get-Content. Di bawahnya adalah is">
            <a:extLst xmlns:a="http://schemas.openxmlformats.org/drawingml/2006/main">
              <a:ext uri="{FF2B5EF4-FFF2-40B4-BE49-F238E27FC236}">
                <a16:creationId xmlns:a16="http://schemas.microsoft.com/office/drawing/2014/main" id="{C5523151-7207-4358-A7DD-EEAB9CC6E958}"/>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Jalankan hanya baris Get-Content. Di bawahnya adalah isi file yang dibaca.</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.dockerignore menyaring context gabungan22/core sebelum build.</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Virtualenv, cache Python, dan .env lokal tidak perlu masuk image.</a:t>
            </a:r>
          </a:p>
        </p:txBody>
      </p:sp>
      <p:sp>
        <p:nvSpPr>
          <p:cNvPr id="36" name="Command lengkap ada di modul mahasiswa.">
            <a:extLst xmlns:a="http://schemas.openxmlformats.org/drawingml/2006/main">
              <a:ext uri="{FF2B5EF4-FFF2-40B4-BE49-F238E27FC236}">
                <a16:creationId xmlns:a16="http://schemas.microsoft.com/office/drawing/2014/main" id="{9876C565-88A2-4B02-B872-A5384B2AF256}"/>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e84bacd3b3684efc"/>
              </a:rPr>
              <a:t>Command lengkap ada di modul mahasiswa.</a:t>
            </a:r>
          </a:p>
        </p:txBody>
      </p:sp>
    </p:spTree>
    <p:extLst>
      <p:ext uri="{BB962C8B-B14F-4D97-AF65-F5344CB8AC3E}">
        <p14:creationId xmlns:p14="http://schemas.microsoft.com/office/powerpoint/2010/main" val="381653648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11</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cf3678e069a94d4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9c3a2e032836461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Run Core dengan environment</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Laptop 127.0.0.1:18005 mengakses port 8000 dalam container</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E2624E42-EB4F-4789-81C3-D4D7D11DECD4}"/>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C2FDDBA4-5B39-4F64-B02B-AD7C19E5F4DA}"/>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run --name cloudlab-core22 -d `&#10;  -p 127.0.0.1:1">
            <a:extLst xmlns:a="http://schemas.openxmlformats.org/drawingml/2006/main">
              <a:ext uri="{FF2B5EF4-FFF2-40B4-BE49-F238E27FC236}">
                <a16:creationId xmlns:a16="http://schemas.microsoft.com/office/drawing/2014/main" id="{A0DCC299-0ACF-4A8B-91D2-A78CC5147F68}"/>
              </a:ext>
            </a:extLst>
          </p:cNvPr>
          <p:cNvSpPr>
            <a:spLocks xmlns:a="http://schemas.openxmlformats.org/drawingml/2006/main" noGrp="1"/>
          </p:cNvSpPr>
          <p:nvPr/>
        </p:nvSpPr>
        <p:spPr>
          <a:xfrm xmlns:a="http://schemas.openxmlformats.org/drawingml/2006/main">
            <a:off x="628650" y="1952625"/>
            <a:ext cx="527685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run --name cloudlab-core22 -d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-p 127.0.0.1:18005:8000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-e APP_ENV=classroom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cloud-notes-api:core22</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ps --filter name=cloudlab-core22</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logs cloudlab-core22</a:t>
            </a:r>
          </a:p>
        </p:txBody>
      </p:sp>
      <p:sp>
        <p:nvSpPr>
          <p:cNvPr id="34" name="Tunggu log terbaru: Application startup complete">
            <a:extLst xmlns:a="http://schemas.openxmlformats.org/drawingml/2006/main">
              <a:ext uri="{FF2B5EF4-FFF2-40B4-BE49-F238E27FC236}">
                <a16:creationId xmlns:a16="http://schemas.microsoft.com/office/drawing/2014/main" id="{928E6245-EA69-4A1C-B6F4-9D1C20A7A9BE}"/>
              </a:ext>
            </a:extLst>
          </p:cNvPr>
          <p:cNvSpPr>
            <a:spLocks xmlns:a="http://schemas.openxmlformats.org/drawingml/2006/main" noGrp="1"/>
          </p:cNvSpPr>
          <p:nvPr/>
        </p:nvSpPr>
        <p:spPr>
          <a:xfrm xmlns:a="http://schemas.openxmlformats.org/drawingml/2006/main">
            <a:off x="628650" y="3971925"/>
            <a:ext cx="5276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1">
                <a:solidFill>
                  <a:srgbClr val="FFC987"/>
                </a:solidFill>
                <a:latin typeface="Arial"/>
                <a:ea typeface="Arial"/>
                <a:cs typeface="Arial"/>
              </a:defRPr>
            </a:defPPr>
          </a:lstStyle>
          <a:p xmlns:a="http://schemas.openxmlformats.org/drawingml/2006/main">
            <a:pPr>
              <a:defRPr sz="1125" b="1">
                <a:solidFill>
                  <a:srgbClr val="FFC987"/>
                </a:solidFill>
                <a:latin typeface="Arial"/>
                <a:ea typeface="Arial"/>
                <a:cs typeface="Arial"/>
              </a:defRPr>
            </a:pPr>
            <a:r>
              <a:rPr sz="1125" b="1">
                <a:solidFill>
                  <a:srgbClr val="FFC987"/>
                </a:solidFill>
                <a:latin typeface="Arial"/>
                <a:ea typeface="Arial"/>
                <a:cs typeface="Arial"/>
              </a:rPr>
              <a:t>Tunggu log terbaru: Application startup complete</a:t>
            </a:r>
          </a:p>
        </p:txBody>
      </p:sp>
      <p:sp>
        <p:nvSpPr>
          <p:cNvPr id="35" name="curl.exe http://127.0.0.1:18005/health&#10;curl.exe http://">
            <a:extLst xmlns:a="http://schemas.openxmlformats.org/drawingml/2006/main">
              <a:ext uri="{FF2B5EF4-FFF2-40B4-BE49-F238E27FC236}">
                <a16:creationId xmlns:a16="http://schemas.microsoft.com/office/drawing/2014/main" id="{D016599E-7B3C-45A3-80C2-FDA1C00DAEC4}"/>
              </a:ext>
            </a:extLst>
          </p:cNvPr>
          <p:cNvSpPr>
            <a:spLocks xmlns:a="http://schemas.openxmlformats.org/drawingml/2006/main" noGrp="1"/>
          </p:cNvSpPr>
          <p:nvPr/>
        </p:nvSpPr>
        <p:spPr>
          <a:xfrm xmlns:a="http://schemas.openxmlformats.org/drawingml/2006/main">
            <a:off x="628650" y="4438650"/>
            <a:ext cx="52768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curl.exe http://127.0.0.1:18005/health</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curl.exe http://127.0.0.1:18005/runtime</a:t>
            </a:r>
          </a:p>
        </p:txBody>
      </p:sp>
      <p:sp>
        <p:nvSpPr>
          <p:cNvPr id="36" name="Fungsi, proses, dan hasil">
            <a:extLst xmlns:a="http://schemas.openxmlformats.org/drawingml/2006/main">
              <a:ext uri="{FF2B5EF4-FFF2-40B4-BE49-F238E27FC236}">
                <a16:creationId xmlns:a16="http://schemas.microsoft.com/office/drawing/2014/main" id="{8724CE38-5874-4CEC-8239-D8F8DC56B340}"/>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7" name="-d menjalankan container di belakang layar.&#10;-p menerusk">
            <a:extLst xmlns:a="http://schemas.openxmlformats.org/drawingml/2006/main">
              <a:ext uri="{FF2B5EF4-FFF2-40B4-BE49-F238E27FC236}">
                <a16:creationId xmlns:a16="http://schemas.microsoft.com/office/drawing/2014/main" id="{A09B88F0-AF1B-45EC-8336-9B2108F5A8C5}"/>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-d menjalankan container di belakang layar.</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 meneruskan port laptop.</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-e mengirim environment saat run.</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Setelah Uvicorn siap, panggil HTTP. Hasil: health ok, environment classroom, storage memory.</a:t>
            </a:r>
          </a:p>
        </p:txBody>
      </p:sp>
      <p:sp>
        <p:nvSpPr>
          <p:cNvPr id="38" name="Command lengkap ada di modul mahasiswa.">
            <a:extLst xmlns:a="http://schemas.openxmlformats.org/drawingml/2006/main">
              <a:ext uri="{FF2B5EF4-FFF2-40B4-BE49-F238E27FC236}">
                <a16:creationId xmlns:a16="http://schemas.microsoft.com/office/drawing/2014/main" id="{4CC5988A-03FB-41A9-8B2A-9192BC005DFF}"/>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4d649b565d614915"/>
              </a:rPr>
              <a:t>Command lengkap ada di modul mahasiswa.</a:t>
            </a:r>
          </a:p>
        </p:txBody>
      </p:sp>
    </p:spTree>
    <p:extLst>
      <p:ext uri="{BB962C8B-B14F-4D97-AF65-F5344CB8AC3E}">
        <p14:creationId xmlns:p14="http://schemas.microsoft.com/office/powerpoint/2010/main" val="38165364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12</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11426668efd349f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fcd3b2bf326640e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Swagger API Core</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Buka browser lokal: http://127.0.0.1:18005/docs</a:t>
            </a:r>
            <a:endParaRPr sz="1200"/>
          </a:p>
        </p:txBody>
      </p:sp>
      <p:sp>
        <p:nvSpPr>
          <p:cNvPr id="31" name="SCREENSHOT UI LOKAL, 15 OKTOBER 2026, BUKAN BUKTI DOCKE">
            <a:extLst xmlns:a="http://schemas.openxmlformats.org/drawingml/2006/main">
              <a:ext uri="{FF2B5EF4-FFF2-40B4-BE49-F238E27FC236}">
                <a16:creationId xmlns:a16="http://schemas.microsoft.com/office/drawing/2014/main" id="{E084A8FD-C667-4200-972B-443F199FAA2F}"/>
              </a:ext>
            </a:extLst>
          </p:cNvPr>
          <p:cNvSpPr>
            <a:spLocks xmlns:a="http://schemas.openxmlformats.org/drawingml/2006/main" noGrp="1"/>
          </p:cNvSpPr>
          <p:nvPr/>
        </p:nvSpPr>
        <p:spPr>
          <a:xfrm xmlns:a="http://schemas.openxmlformats.org/drawingml/2006/main">
            <a:off x="495300" y="1409700"/>
            <a:ext cx="11172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1">
                <a:solidFill>
                  <a:srgbClr val="FF731B"/>
                </a:solidFill>
                <a:latin typeface="Arial"/>
                <a:ea typeface="Arial"/>
                <a:cs typeface="Arial"/>
              </a:defRPr>
            </a:defPPr>
          </a:lstStyle>
          <a:p xmlns:a="http://schemas.openxmlformats.org/drawingml/2006/main">
            <a:pPr>
              <a:defRPr sz="1125" b="1">
                <a:solidFill>
                  <a:srgbClr val="FF731B"/>
                </a:solidFill>
                <a:latin typeface="Arial"/>
                <a:ea typeface="Arial"/>
                <a:cs typeface="Arial"/>
              </a:defRPr>
            </a:pPr>
            <a:r>
              <a:rPr sz="1125" b="1">
                <a:solidFill>
                  <a:srgbClr val="FF731B"/>
                </a:solidFill>
                <a:latin typeface="Arial"/>
                <a:ea typeface="Arial"/>
                <a:cs typeface="Arial"/>
              </a:rPr>
              <a:t>SCREENSHOT UI LOKAL, 15 OKTOBER 2026, BUKAN BUKTI DOCKER</a:t>
            </a:r>
          </a:p>
        </p:txBody>
      </p:sp>
      <p:pic>
        <p:nvPicPr>
          <p:cNvPr id="32" name="">
            <a:extLst xmlns:a="http://schemas.openxmlformats.org/drawingml/2006/main">
              <a:ext uri="{FF2B5EF4-FFF2-40B4-BE49-F238E27FC236}">
                <a16:creationId xmlns:a16="http://schemas.microsoft.com/office/drawing/2014/main" id="{3AE624ED-5F53-4E01-8FBB-CEE462DB1F4D}"/>
              </a:ext>
            </a:extLst>
          </p:cNvPr>
          <p:cNvPicPr>
            <a:picLocks xmlns:a="http://schemas.openxmlformats.org/drawingml/2006/main" noChangeAspect="1"/>
          </p:cNvPicPr>
          <p:nvPr/>
        </p:nvPicPr>
        <p:blipFill>
          <a:blip xmlns:r="http://schemas.openxmlformats.org/officeDocument/2006/relationships" xmlns:a="http://schemas.openxmlformats.org/drawingml/2006/main" r:embed="Rfc0768b63b4d4990"/>
          <a:srcRect xmlns:a="http://schemas.openxmlformats.org/drawingml/2006/main" l="6000" t="0" r="6000" b="44000"/>
          <a:stretch xmlns:a="http://schemas.openxmlformats.org/drawingml/2006/main"/>
        </p:blipFill>
        <p:spPr>
          <a:xfrm xmlns:a="http://schemas.openxmlformats.org/drawingml/2006/main">
            <a:off x="743889" y="1743075"/>
            <a:ext cx="10704222" cy="3495675"/>
          </a:xfrm>
          <a:prstGeom xmlns:a="http://schemas.openxmlformats.org/drawingml/2006/main" prst="rect">
            <a:avLst/>
          </a:prstGeom>
        </p:spPr>
      </p:pic>
      <p:sp>
        <p:nvSpPr>
          <p:cNvPr id="33" name="Pilih GET /health, klik Try it out, lalu Execute. API C">
            <a:extLst xmlns:a="http://schemas.openxmlformats.org/drawingml/2006/main">
              <a:ext uri="{FF2B5EF4-FFF2-40B4-BE49-F238E27FC236}">
                <a16:creationId xmlns:a16="http://schemas.microsoft.com/office/drawing/2014/main" id="{FD5F7F77-7ACA-484D-A7D8-DA5DD4B2A9D1}"/>
              </a:ext>
            </a:extLst>
          </p:cNvPr>
          <p:cNvSpPr>
            <a:spLocks xmlns:a="http://schemas.openxmlformats.org/drawingml/2006/main" noGrp="1"/>
          </p:cNvSpPr>
          <p:nvPr/>
        </p:nvSpPr>
        <p:spPr>
          <a:xfrm xmlns:a="http://schemas.openxmlformats.org/drawingml/2006/main">
            <a:off x="495300" y="5448300"/>
            <a:ext cx="11172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233344"/>
                </a:solidFill>
                <a:latin typeface="Arial"/>
                <a:ea typeface="Arial"/>
                <a:cs typeface="Arial"/>
              </a:defRPr>
            </a:defPPr>
          </a:lstStyle>
          <a:p xmlns:a="http://schemas.openxmlformats.org/drawingml/2006/main">
            <a:pPr>
              <a:defRPr sz="1575" b="0">
                <a:solidFill>
                  <a:srgbClr val="233344"/>
                </a:solidFill>
                <a:latin typeface="Arial"/>
                <a:ea typeface="Arial"/>
                <a:cs typeface="Arial"/>
              </a:defRPr>
            </a:pPr>
            <a:r>
              <a:rPr sz="1575" b="0">
                <a:solidFill>
                  <a:srgbClr val="233344"/>
                </a:solidFill>
                <a:latin typeface="Arial"/>
                <a:ea typeface="Arial"/>
                <a:cs typeface="Arial"/>
              </a:rPr>
              <a:t>Pilih GET /health, klik Try it out, lalu Execute. API Cloud Notes 0.5 menyediakan /runtime dan menyimpan notes pada memori proses.</a:t>
            </a:r>
          </a:p>
        </p:txBody>
      </p:sp>
    </p:spTree>
    <p:extLst>
      <p:ext uri="{BB962C8B-B14F-4D97-AF65-F5344CB8AC3E}">
        <p14:creationId xmlns:p14="http://schemas.microsoft.com/office/powerpoint/2010/main" val="381653648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13</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8f0807ca1900462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9e98f6d0157a41f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Catatan Core dan restart proses</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POST melalui Swagger, lalu baca ulang setelah restart</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2140A7E1-B803-4CAC-9655-1E825E62B0FE}"/>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DAN BODY SWAGGER TERPISAH">
            <a:extLst xmlns:a="http://schemas.openxmlformats.org/drawingml/2006/main">
              <a:ext uri="{FF2B5EF4-FFF2-40B4-BE49-F238E27FC236}">
                <a16:creationId xmlns:a16="http://schemas.microsoft.com/office/drawing/2014/main" id="{8D2DD9E1-443D-497B-BE10-5F8086CE7AB6}"/>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DAN BODY SWAGGER TERPISAH</a:t>
            </a:r>
          </a:p>
        </p:txBody>
      </p:sp>
      <p:sp>
        <p:nvSpPr>
          <p:cNvPr id="33" name="# Body Swagger POST /notes:&#10;{&quot;title&quot;:&quot;Core lokal&quot;,&#10; &quot;co">
            <a:extLst xmlns:a="http://schemas.openxmlformats.org/drawingml/2006/main">
              <a:ext uri="{FF2B5EF4-FFF2-40B4-BE49-F238E27FC236}">
                <a16:creationId xmlns:a16="http://schemas.microsoft.com/office/drawing/2014/main" id="{484B634B-9751-499D-9609-F9A69AE3C05A}"/>
              </a:ext>
            </a:extLst>
          </p:cNvPr>
          <p:cNvSpPr>
            <a:spLocks xmlns:a="http://schemas.openxmlformats.org/drawingml/2006/main" noGrp="1"/>
          </p:cNvSpPr>
          <p:nvPr/>
        </p:nvSpPr>
        <p:spPr>
          <a:xfrm xmlns:a="http://schemas.openxmlformats.org/drawingml/2006/main">
            <a:off x="628650" y="1952625"/>
            <a:ext cx="527685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Body Swagger POST /notes:</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{"title":"Core lokal",</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"content":"Data di memori proses"}</a:t>
            </a:r>
          </a:p>
          <a:p xmlns:a="http://schemas.openxmlformats.org/drawingml/2006/main">
            <a:r>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curl.exe http://127.0.0.1:18005/notes</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restart cloudlab-core22</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logs --tail 10 cloudlab-core22</a:t>
            </a:r>
          </a:p>
        </p:txBody>
      </p:sp>
      <p:sp>
        <p:nvSpPr>
          <p:cNvPr id="34" name="Tunggu log terbaru: Application startup complete">
            <a:extLst xmlns:a="http://schemas.openxmlformats.org/drawingml/2006/main">
              <a:ext uri="{FF2B5EF4-FFF2-40B4-BE49-F238E27FC236}">
                <a16:creationId xmlns:a16="http://schemas.microsoft.com/office/drawing/2014/main" id="{D3B87F39-B576-40E5-85E5-35ADE8228D63}"/>
              </a:ext>
            </a:extLst>
          </p:cNvPr>
          <p:cNvSpPr>
            <a:spLocks xmlns:a="http://schemas.openxmlformats.org/drawingml/2006/main" noGrp="1"/>
          </p:cNvSpPr>
          <p:nvPr/>
        </p:nvSpPr>
        <p:spPr>
          <a:xfrm xmlns:a="http://schemas.openxmlformats.org/drawingml/2006/main">
            <a:off x="628650" y="3971925"/>
            <a:ext cx="5276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1">
                <a:solidFill>
                  <a:srgbClr val="FFC987"/>
                </a:solidFill>
                <a:latin typeface="Arial"/>
                <a:ea typeface="Arial"/>
                <a:cs typeface="Arial"/>
              </a:defRPr>
            </a:defPPr>
          </a:lstStyle>
          <a:p xmlns:a="http://schemas.openxmlformats.org/drawingml/2006/main">
            <a:pPr>
              <a:defRPr sz="1125" b="1">
                <a:solidFill>
                  <a:srgbClr val="FFC987"/>
                </a:solidFill>
                <a:latin typeface="Arial"/>
                <a:ea typeface="Arial"/>
                <a:cs typeface="Arial"/>
              </a:defRPr>
            </a:pPr>
            <a:r>
              <a:rPr sz="1125" b="1">
                <a:solidFill>
                  <a:srgbClr val="FFC987"/>
                </a:solidFill>
                <a:latin typeface="Arial"/>
                <a:ea typeface="Arial"/>
                <a:cs typeface="Arial"/>
              </a:rPr>
              <a:t>Tunggu log terbaru: Application startup complete</a:t>
            </a:r>
          </a:p>
        </p:txBody>
      </p:sp>
      <p:sp>
        <p:nvSpPr>
          <p:cNvPr id="35" name="curl.exe http://127.0.0.1:18005/health&#10;curl.exe http://">
            <a:extLst xmlns:a="http://schemas.openxmlformats.org/drawingml/2006/main">
              <a:ext uri="{FF2B5EF4-FFF2-40B4-BE49-F238E27FC236}">
                <a16:creationId xmlns:a16="http://schemas.microsoft.com/office/drawing/2014/main" id="{110F6EBC-116D-4F18-B66B-16FBD5727EE2}"/>
              </a:ext>
            </a:extLst>
          </p:cNvPr>
          <p:cNvSpPr>
            <a:spLocks xmlns:a="http://schemas.openxmlformats.org/drawingml/2006/main" noGrp="1"/>
          </p:cNvSpPr>
          <p:nvPr/>
        </p:nvSpPr>
        <p:spPr>
          <a:xfrm xmlns:a="http://schemas.openxmlformats.org/drawingml/2006/main">
            <a:off x="628650" y="4438650"/>
            <a:ext cx="52768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curl.exe http://127.0.0.1:18005/health</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curl.exe http://127.0.0.1:18005/notes</a:t>
            </a:r>
          </a:p>
        </p:txBody>
      </p:sp>
      <p:sp>
        <p:nvSpPr>
          <p:cNvPr id="36" name="Fungsi, proses, dan hasil">
            <a:extLst xmlns:a="http://schemas.openxmlformats.org/drawingml/2006/main">
              <a:ext uri="{FF2B5EF4-FFF2-40B4-BE49-F238E27FC236}">
                <a16:creationId xmlns:a16="http://schemas.microsoft.com/office/drawing/2014/main" id="{7F87CD5D-4CE5-4F96-A48F-59B45887ED59}"/>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7" name="POST valid memberi 201 dan ID.&#10;&#10;GET pertama berisi cata">
            <a:extLst xmlns:a="http://schemas.openxmlformats.org/drawingml/2006/main">
              <a:ext uri="{FF2B5EF4-FFF2-40B4-BE49-F238E27FC236}">
                <a16:creationId xmlns:a16="http://schemas.microsoft.com/office/drawing/2014/main" id="{3A4E37D1-D68F-4C7F-A5FD-DF0BC15624E4}"/>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POST valid memberi 201 dan ID.</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GET pertama berisi catatan.</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Tunggu Uvicorn siap pada logs, lalu GET ulang.</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Hasil sesudah restart: [] karena dictionary Python diinisialisasi ulang.</a:t>
            </a:r>
          </a:p>
        </p:txBody>
      </p:sp>
      <p:sp>
        <p:nvSpPr>
          <p:cNvPr id="38" name="Command lengkap ada di modul mahasiswa.">
            <a:extLst xmlns:a="http://schemas.openxmlformats.org/drawingml/2006/main">
              <a:ext uri="{FF2B5EF4-FFF2-40B4-BE49-F238E27FC236}">
                <a16:creationId xmlns:a16="http://schemas.microsoft.com/office/drawing/2014/main" id="{5E8B5BA7-1A83-4F09-9E28-FD4575A28305}"/>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7efb53ff2f7040c7"/>
              </a:rPr>
              <a:t>Command lengkap ada di modul mahasiswa.</a:t>
            </a:r>
          </a:p>
        </p:txBody>
      </p:sp>
    </p:spTree>
    <p:extLst>
      <p:ext uri="{BB962C8B-B14F-4D97-AF65-F5344CB8AC3E}">
        <p14:creationId xmlns:p14="http://schemas.microsoft.com/office/powerpoint/2010/main" val="38165364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14</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9cbb474569394c6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98df0af6c3b8403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Cleanup Core dan konsep registry</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Image tetap tersedia setelah container latihan dihapus</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C542CBB0-7F83-42CA-BEC8-38913D089E09}"/>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4EDB823C-29B5-4FEF-AF55-A36A3912F643}"/>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stop cloudlab-core22&#10;docker rm cloudlab-core22&#10;d">
            <a:extLst xmlns:a="http://schemas.openxmlformats.org/drawingml/2006/main">
              <a:ext uri="{FF2B5EF4-FFF2-40B4-BE49-F238E27FC236}">
                <a16:creationId xmlns:a16="http://schemas.microsoft.com/office/drawing/2014/main" id="{788E12EE-557F-4A25-9571-BA78CC9D523A}"/>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stop cloudlab-core22</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rm cloudlab-core22</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image ls cloud-notes-api</a:t>
            </a:r>
          </a:p>
        </p:txBody>
      </p:sp>
      <p:sp>
        <p:nvSpPr>
          <p:cNvPr id="34" name="Fungsi, proses, dan hasil">
            <a:extLst xmlns:a="http://schemas.openxmlformats.org/drawingml/2006/main">
              <a:ext uri="{FF2B5EF4-FFF2-40B4-BE49-F238E27FC236}">
                <a16:creationId xmlns:a16="http://schemas.microsoft.com/office/drawing/2014/main" id="{3AE9B584-8719-4B18-AD64-0D2E657DA137}"/>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Stop mengakhiri proses. Rm menghapus container latihan.">
            <a:extLst xmlns:a="http://schemas.openxmlformats.org/drawingml/2006/main">
              <a:ext uri="{FF2B5EF4-FFF2-40B4-BE49-F238E27FC236}">
                <a16:creationId xmlns:a16="http://schemas.microsoft.com/office/drawing/2014/main" id="{300FF7AB-4C9C-4044-8950-5F56FA748672}"/>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Stop mengakhiri proses. Rm menghapus container latihan.</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Image core22 tetap lokal.</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Registry menyimpan image untuk dibagikan. Nama Hub memakai username/repository:tag.</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Login, tag, dan push ada di lampiran.</a:t>
            </a:r>
          </a:p>
        </p:txBody>
      </p:sp>
      <p:sp>
        <p:nvSpPr>
          <p:cNvPr id="36" name="Command lengkap ada di modul mahasiswa.">
            <a:extLst xmlns:a="http://schemas.openxmlformats.org/drawingml/2006/main">
              <a:ext uri="{FF2B5EF4-FFF2-40B4-BE49-F238E27FC236}">
                <a16:creationId xmlns:a16="http://schemas.microsoft.com/office/drawing/2014/main" id="{0D3ABB1F-5650-432F-A9C2-C88B5D836EBF}"/>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b3afeabe0045402f"/>
              </a:rPr>
              <a:t>Command lengkap ada di modul mahasiswa.</a:t>
            </a:r>
          </a:p>
        </p:txBody>
      </p:sp>
    </p:spTree>
    <p:extLst>
      <p:ext uri="{BB962C8B-B14F-4D97-AF65-F5344CB8AC3E}">
        <p14:creationId xmlns:p14="http://schemas.microsoft.com/office/powerpoint/2010/main" val="381653648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15</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ec154a3da2d6472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0442a1bf7c49488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Compose untuk web, DB, dan cache</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Root compose.yaml menyediakan layanan yang saling terhubung</a:t>
            </a:r>
            <a:endParaRPr sz="1200"/>
          </a:p>
        </p:txBody>
      </p:sp>
      <p:graphicFrame>
        <p:nvGraphicFramePr>
          <p:cNvPr id="31" name="">
            <a:extLst xmlns:a="http://schemas.openxmlformats.org/drawingml/2006/main">
              <a:ext uri="{FF2B5EF4-FFF2-40B4-BE49-F238E27FC236}">
                <a16:creationId xmlns:a16="http://schemas.microsoft.com/office/drawing/2014/main" id="{8AC915AF-7669-4C4B-A42A-E1D1EB54EDD5}"/>
              </a:ext>
            </a:extLst>
          </p:cNvPr>
          <p:cNvGraphicFramePr/>
          <p:nvPr/>
        </p:nvGraphicFramePr>
        <p:xfrm>
          <a:off xmlns:a="http://schemas.openxmlformats.org/drawingml/2006/main" x="533400" y="1628775"/>
          <a:ext xmlns:a="http://schemas.openxmlformats.org/drawingml/2006/main" cx="11125200" cy="3429000"/>
        </p:xfrm>
        <a:graphic xmlns:a="http://schemas.openxmlformats.org/drawingml/2006/main">
          <a:graphicData uri="http://schemas.openxmlformats.org/drawingml/2006/table">
            <a:tbl>
              <a:tblPr firstRow="1" bandRow="1"/>
              <a:tblGrid>
                <a:gridCol w="2457450"/>
                <a:gridCol w="4343400"/>
                <a:gridCol w="4324350"/>
              </a:tblGrid>
              <a:tr h="685800">
                <a:tc>
                  <a:txBody>
                    <a:bodyPr lIns="114300" tIns="95250" rIns="114300" bIns="95250"/>
                    <a:lstStyle/>
                    <a:p>
                      <a:r>
                        <a:rPr sz="1650" b="1">
                          <a:solidFill>
                            <a:srgbClr val="FFFFFF"/>
                          </a:solidFill>
                          <a:latin typeface="Arial"/>
                          <a:ea typeface="Arial"/>
                          <a:cs typeface="Arial"/>
                        </a:rPr>
                        <a:t>Service</a:t>
                      </a:r>
                    </a:p>
                  </a:txBody>
                  <a:tcPr marL="91440" marR="91440" marT="45720" marB="45720">
                    <a:lnL w="9525">
                      <a:solidFill>
                        <a:srgbClr val="D5E1EC"/>
                      </a:solidFill>
                      <a:prstDash val="solid"/>
                    </a:lnL>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Fungsi</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Alamat yang dipakai</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r>
              <a:tr h="685800">
                <a:tc>
                  <a:txBody>
                    <a:bodyPr lIns="114300" tIns="95250" rIns="114300" bIns="95250"/>
                    <a:lstStyle/>
                    <a:p>
                      <a:r>
                        <a:rPr sz="1650" b="0">
                          <a:solidFill>
                            <a:srgbClr val="233344"/>
                          </a:solidFill>
                          <a:latin typeface="Arial"/>
                          <a:ea typeface="Arial"/>
                          <a:cs typeface="Arial"/>
                        </a:rPr>
                        <a:t>api</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API Cloud Notes 0.6</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127.0.0.1:18006 (host)</a:t>
                      </a:r>
                    </a:p>
                  </a:txBody>
                  <a:tcPr marL="91440" marR="91440" marT="45720" marB="45720">
                    <a:lnR w="9525">
                      <a:solidFill>
                        <a:srgbClr val="D5E1EC"/>
                      </a:solidFill>
                      <a:prstDash val="solid"/>
                    </a:lnR>
                    <a:lnB w="9525">
                      <a:solidFill>
                        <a:srgbClr val="D5E1EC"/>
                      </a:solidFill>
                      <a:prstDash val="solid"/>
                    </a:lnB>
                    <a:solidFill>
                      <a:srgbClr val="F4F8FC"/>
                    </a:solidFill>
                  </a:tcPr>
                </a:tc>
              </a:tr>
              <a:tr h="685800">
                <a:tc>
                  <a:txBody>
                    <a:bodyPr lIns="114300" tIns="95250" rIns="114300" bIns="95250"/>
                    <a:lstStyle/>
                    <a:p>
                      <a:r>
                        <a:rPr sz="1650" b="0">
                          <a:solidFill>
                            <a:srgbClr val="233344"/>
                          </a:solidFill>
                          <a:latin typeface="Arial"/>
                          <a:ea typeface="Arial"/>
                          <a:cs typeface="Arial"/>
                        </a:rPr>
                        <a:t>db</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PostgreSQL 16, data utama</a:t>
                      </a:r>
                    </a:p>
                  </a:txBody>
                  <a:tcPr marL="91440" marR="91440" marT="45720" marB="45720">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db:5432 (internal)</a:t>
                      </a:r>
                    </a:p>
                  </a:txBody>
                  <a:tcPr marL="91440" marR="91440" marT="45720" marB="45720">
                    <a:lnR w="9525">
                      <a:solidFill>
                        <a:srgbClr val="D5E1EC"/>
                      </a:solidFill>
                      <a:prstDash val="solid"/>
                    </a:lnR>
                    <a:lnB w="9525">
                      <a:solidFill>
                        <a:srgbClr val="D5E1EC"/>
                      </a:solidFill>
                      <a:prstDash val="solid"/>
                    </a:lnB>
                    <a:solidFill>
                      <a:srgbClr val="FFFFFF"/>
                    </a:solidFill>
                  </a:tcPr>
                </a:tc>
              </a:tr>
              <a:tr h="685800">
                <a:tc>
                  <a:txBody>
                    <a:bodyPr lIns="114300" tIns="95250" rIns="114300" bIns="95250"/>
                    <a:lstStyle/>
                    <a:p>
                      <a:r>
                        <a:rPr sz="1650" b="0">
                          <a:solidFill>
                            <a:srgbClr val="233344"/>
                          </a:solidFill>
                          <a:latin typeface="Arial"/>
                          <a:ea typeface="Arial"/>
                          <a:cs typeface="Arial"/>
                        </a:rPr>
                        <a:t>cache</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Redis 7, cache daftar</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cache:6379 (internal)</a:t>
                      </a:r>
                    </a:p>
                  </a:txBody>
                  <a:tcPr marL="91440" marR="91440" marT="45720" marB="45720">
                    <a:lnR w="9525">
                      <a:solidFill>
                        <a:srgbClr val="D5E1EC"/>
                      </a:solidFill>
                      <a:prstDash val="solid"/>
                    </a:lnR>
                    <a:lnB w="9525">
                      <a:solidFill>
                        <a:srgbClr val="D5E1EC"/>
                      </a:solidFill>
                      <a:prstDash val="solid"/>
                    </a:lnB>
                    <a:solidFill>
                      <a:srgbClr val="F4F8FC"/>
                    </a:solidFill>
                  </a:tcPr>
                </a:tc>
              </a:tr>
              <a:tr h="685800">
                <a:tc>
                  <a:txBody>
                    <a:bodyPr lIns="114300" tIns="95250" rIns="114300" bIns="95250"/>
                    <a:lstStyle/>
                    <a:p>
                      <a:r>
                        <a:rPr sz="1650" b="0">
                          <a:solidFill>
                            <a:srgbClr val="233344"/>
                          </a:solidFill>
                          <a:latin typeface="Arial"/>
                          <a:ea typeface="Arial"/>
                          <a:cs typeface="Arial"/>
                        </a:rPr>
                        <a:t>adminer</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UI database, profile debug</a:t>
                      </a:r>
                    </a:p>
                  </a:txBody>
                  <a:tcPr marL="91440" marR="91440" marT="45720" marB="45720">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127.0.0.1:18061 (host)</a:t>
                      </a:r>
                    </a:p>
                  </a:txBody>
                  <a:tcPr marL="91440" marR="91440" marT="45720" marB="45720">
                    <a:lnR w="9525">
                      <a:solidFill>
                        <a:srgbClr val="D5E1EC"/>
                      </a:solidFill>
                      <a:prstDash val="solid"/>
                    </a:lnR>
                    <a:lnB w="9525">
                      <a:solidFill>
                        <a:srgbClr val="D5E1EC"/>
                      </a:solidFill>
                      <a:prstDash val="solid"/>
                    </a:lnB>
                    <a:solidFill>
                      <a:srgbClr val="FFFFFF"/>
                    </a:solidFill>
                  </a:tcPr>
                </a:tc>
              </a:tr>
            </a:tbl>
          </a:graphicData>
        </a:graphic>
      </p:graphicFrame>
      <p:sp>
        <p:nvSpPr>
          <p:cNvPr id="32" name="Browser menggunakan port host. API memakai nama service">
            <a:extLst xmlns:a="http://schemas.openxmlformats.org/drawingml/2006/main">
              <a:ext uri="{FF2B5EF4-FFF2-40B4-BE49-F238E27FC236}">
                <a16:creationId xmlns:a16="http://schemas.microsoft.com/office/drawing/2014/main" id="{3F7DEE73-A714-44AD-A75E-FC31B3EFD437}"/>
              </a:ext>
            </a:extLst>
          </p:cNvPr>
          <p:cNvSpPr>
            <a:spLocks xmlns:a="http://schemas.openxmlformats.org/drawingml/2006/main" noGrp="1"/>
          </p:cNvSpPr>
          <p:nvPr/>
        </p:nvSpPr>
        <p:spPr>
          <a:xfrm xmlns:a="http://schemas.openxmlformats.org/drawingml/2006/main">
            <a:off x="533400" y="5314950"/>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Browser menggunakan port host. API memakai nama service db/cache pada network Compose. DB dan cache tidak memerlukan publish port host.</a:t>
            </a:r>
          </a:p>
        </p:txBody>
      </p:sp>
    </p:spTree>
    <p:extLst>
      <p:ext uri="{BB962C8B-B14F-4D97-AF65-F5344CB8AC3E}">
        <p14:creationId xmlns:p14="http://schemas.microsoft.com/office/powerpoint/2010/main" val="381653648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16</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3f4e9b2bf4ad4df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257d24674fac4e5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.env untuk konfigurasi kelas</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File .env sudah disiapkan dari contoh pada tahap persiapan</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373E07BE-13A3-4548-857F-26F794DA167B}"/>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CB19B0B4-175E-4D0D-8FC8-9D8EB16DF947}"/>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notepad .env&#10;&#10;# Isi file yang dibaca, bukan command:&#10;AP">
            <a:extLst xmlns:a="http://schemas.openxmlformats.org/drawingml/2006/main">
              <a:ext uri="{FF2B5EF4-FFF2-40B4-BE49-F238E27FC236}">
                <a16:creationId xmlns:a16="http://schemas.microsoft.com/office/drawing/2014/main" id="{A356FBDB-024D-428D-9974-507EAA37062D}"/>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FFFFFF"/>
                </a:solidFill>
                <a:latin typeface="Consolas"/>
                <a:ea typeface="Consolas"/>
                <a:cs typeface="Consolas"/>
              </a:defRPr>
            </a:defPPr>
          </a:lstStyle>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notepad .env</a:t>
            </a:r>
          </a:p>
          <a:p xmlns:a="http://schemas.openxmlformats.org/drawingml/2006/main">
            <a:r>
              <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 Isi file yang dibaca, bukan command:</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APP_ENV=classroom</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POSTGRES_DB=cloudnotes</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POSTGRES_USER=clouduser</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POSTGRES_PASSWORD=local-classroom-password-change-me</a:t>
            </a:r>
          </a:p>
        </p:txBody>
      </p:sp>
      <p:sp>
        <p:nvSpPr>
          <p:cNvPr id="34" name="Fungsi, proses, dan hasil">
            <a:extLst xmlns:a="http://schemas.openxmlformats.org/drawingml/2006/main">
              <a:ext uri="{FF2B5EF4-FFF2-40B4-BE49-F238E27FC236}">
                <a16:creationId xmlns:a16="http://schemas.microsoft.com/office/drawing/2014/main" id="{1F54768B-B741-4DD2-8707-D5AB387A5BC3}"/>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env berisi nilai yang dibaca Compose.&#10;&#10;Nama DB/user/pa">
            <a:extLst xmlns:a="http://schemas.openxmlformats.org/drawingml/2006/main">
              <a:ext uri="{FF2B5EF4-FFF2-40B4-BE49-F238E27FC236}">
                <a16:creationId xmlns:a16="http://schemas.microsoft.com/office/drawing/2014/main" id="{CA36A9F5-1B47-442A-9C45-A78713F60E85}"/>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.env berisi nilai yang dibaca Compose.</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Nama DB/user/password dipakai bersama oleh db dan api.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Gunakan contoh yang sama untuk latihan.</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.env tetap lokal dan tidak masuk Git.</a:t>
            </a:r>
          </a:p>
        </p:txBody>
      </p:sp>
      <p:sp>
        <p:nvSpPr>
          <p:cNvPr id="36" name="Command lengkap ada di modul mahasiswa.">
            <a:extLst xmlns:a="http://schemas.openxmlformats.org/drawingml/2006/main">
              <a:ext uri="{FF2B5EF4-FFF2-40B4-BE49-F238E27FC236}">
                <a16:creationId xmlns:a16="http://schemas.microsoft.com/office/drawing/2014/main" id="{09516909-720A-4CCC-9A55-13CC61DC572C}"/>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1a559c9b5f9849eb"/>
              </a:rPr>
              <a:t>Command lengkap ada di modul mahasiswa.</a:t>
            </a:r>
          </a:p>
        </p:txBody>
      </p:sp>
    </p:spTree>
    <p:extLst>
      <p:ext uri="{BB962C8B-B14F-4D97-AF65-F5344CB8AC3E}">
        <p14:creationId xmlns:p14="http://schemas.microsoft.com/office/powerpoint/2010/main" val="38165364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17</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4377e1e3c62a430e"/>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51d7a15f1865455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Startup dan healthcheck</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Compose membuat network, volume, dan tiga container utama</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0186D8FF-D8D4-4770-A118-8B5B8D19F7C8}"/>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928DC905-3B41-4419-9EE9-E27E6867C0A8}"/>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compose config --quiet&#10;docker compose up --build">
            <a:extLst xmlns:a="http://schemas.openxmlformats.org/drawingml/2006/main">
              <a:ext uri="{FF2B5EF4-FFF2-40B4-BE49-F238E27FC236}">
                <a16:creationId xmlns:a16="http://schemas.microsoft.com/office/drawing/2014/main" id="{F8FEEB97-6F44-4D4E-A5B8-05D5D61FC048}"/>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config --quiet</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up --build -d --wait</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ps</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curl.exe http://127.0.0.1:18006/health</a:t>
            </a:r>
          </a:p>
        </p:txBody>
      </p:sp>
      <p:sp>
        <p:nvSpPr>
          <p:cNvPr id="34" name="Fungsi, proses, dan hasil">
            <a:extLst xmlns:a="http://schemas.openxmlformats.org/drawingml/2006/main">
              <a:ext uri="{FF2B5EF4-FFF2-40B4-BE49-F238E27FC236}">
                <a16:creationId xmlns:a16="http://schemas.microsoft.com/office/drawing/2014/main" id="{D9226B2F-FC23-4461-95B3-55C9C4339651}"/>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Build menyiapkan image API.&#10;&#10;--wait menunggu layanan si">
            <a:extLst xmlns:a="http://schemas.openxmlformats.org/drawingml/2006/main">
              <a:ext uri="{FF2B5EF4-FFF2-40B4-BE49-F238E27FC236}">
                <a16:creationId xmlns:a16="http://schemas.microsoft.com/office/drawing/2014/main" id="{9305C6BC-3858-4D75-B872-4EFEC4B3177E}"/>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Build menyiapkan image API.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--wait menunggu layanan siap.</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Ps memperlihatkan db, cache, api sehat.</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Health API menunjukkan database postgres dan cache redis.</a:t>
            </a:r>
          </a:p>
        </p:txBody>
      </p:sp>
      <p:sp>
        <p:nvSpPr>
          <p:cNvPr id="36" name="Command lengkap ada di modul mahasiswa.">
            <a:extLst xmlns:a="http://schemas.openxmlformats.org/drawingml/2006/main">
              <a:ext uri="{FF2B5EF4-FFF2-40B4-BE49-F238E27FC236}">
                <a16:creationId xmlns:a16="http://schemas.microsoft.com/office/drawing/2014/main" id="{A9AADB73-1754-4AC3-AC93-14B47B6C1534}"/>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60d8df03bfd14b32"/>
              </a:rPr>
              <a:t>Command lengkap ada di modul mahasiswa.</a:t>
            </a:r>
          </a:p>
        </p:txBody>
      </p:sp>
    </p:spTree>
    <p:extLst>
      <p:ext uri="{BB962C8B-B14F-4D97-AF65-F5344CB8AC3E}">
        <p14:creationId xmlns:p14="http://schemas.microsoft.com/office/powerpoint/2010/main" val="381653648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18</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1a72181b0f57459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4f5235fda6f34d8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DNS internal dan port host</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Nama db/cache berlaku dari container API pada network Compose</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8758A811-C8A5-41C3-847A-71AA4BD3A278}"/>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37B72966-CE68-4FB0-94A2-8F79E5F9EA61}"/>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compose exec -T api `&#10;  getent hosts db cache&#10;do">
            <a:extLst xmlns:a="http://schemas.openxmlformats.org/drawingml/2006/main">
              <a:ext uri="{FF2B5EF4-FFF2-40B4-BE49-F238E27FC236}">
                <a16:creationId xmlns:a16="http://schemas.microsoft.com/office/drawing/2014/main" id="{3018DBC4-5D2D-4AE0-8792-7511235F855F}"/>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exec -T api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getent hosts db cache</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port api 8000</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curl.exe http://127.0.0.1:18006/health</a:t>
            </a:r>
          </a:p>
        </p:txBody>
      </p:sp>
      <p:sp>
        <p:nvSpPr>
          <p:cNvPr id="34" name="Fungsi, proses, dan hasil">
            <a:extLst xmlns:a="http://schemas.openxmlformats.org/drawingml/2006/main">
              <a:ext uri="{FF2B5EF4-FFF2-40B4-BE49-F238E27FC236}">
                <a16:creationId xmlns:a16="http://schemas.microsoft.com/office/drawing/2014/main" id="{C0822FAD-085A-4132-ABF7-4A83E69D6EA9}"/>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Getent menampilkan IP db dan cache.&#10;&#10;API memakai hostna">
            <a:extLst xmlns:a="http://schemas.openxmlformats.org/drawingml/2006/main">
              <a:ext uri="{FF2B5EF4-FFF2-40B4-BE49-F238E27FC236}">
                <a16:creationId xmlns:a16="http://schemas.microsoft.com/office/drawing/2014/main" id="{7AB64C3B-AD20-409E-B06F-450B154CAEF5}"/>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Getent menampilkan IP db dan cache.</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API memakai hostname service, bukan IP tetap.</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Compose port menunjukkan 127.0.0.1:18006.</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Browser tetap memakai alamat laptop.</a:t>
            </a:r>
          </a:p>
        </p:txBody>
      </p:sp>
      <p:sp>
        <p:nvSpPr>
          <p:cNvPr id="36" name="Command lengkap ada di modul mahasiswa.">
            <a:extLst xmlns:a="http://schemas.openxmlformats.org/drawingml/2006/main">
              <a:ext uri="{FF2B5EF4-FFF2-40B4-BE49-F238E27FC236}">
                <a16:creationId xmlns:a16="http://schemas.microsoft.com/office/drawing/2014/main" id="{30F557DF-920D-4586-8287-40A4BF181AD9}"/>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2bb6678101b64b3e"/>
              </a:rPr>
              <a:t>Command lengkap ada di modul mahasiswa.</a:t>
            </a:r>
          </a:p>
        </p:txBody>
      </p:sp>
    </p:spTree>
    <p:extLst>
      <p:ext uri="{BB962C8B-B14F-4D97-AF65-F5344CB8AC3E}">
        <p14:creationId xmlns:p14="http://schemas.microsoft.com/office/powerpoint/2010/main" val="381653648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19</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0d5cbcc3ef844b5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651744947a9d4ab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Swagger API Compose</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Buka browser lokal: http://127.0.0.1:18006/docs</a:t>
            </a:r>
            <a:endParaRPr sz="1200"/>
          </a:p>
        </p:txBody>
      </p:sp>
      <p:sp>
        <p:nvSpPr>
          <p:cNvPr id="31" name="SCREENSHOT UI LOKAL, 15 OKTOBER 2026, BUKAN BUKTI DOCKE">
            <a:extLst xmlns:a="http://schemas.openxmlformats.org/drawingml/2006/main">
              <a:ext uri="{FF2B5EF4-FFF2-40B4-BE49-F238E27FC236}">
                <a16:creationId xmlns:a16="http://schemas.microsoft.com/office/drawing/2014/main" id="{4012E1B0-7EFB-417B-96E3-0E9CA281F13C}"/>
              </a:ext>
            </a:extLst>
          </p:cNvPr>
          <p:cNvSpPr>
            <a:spLocks xmlns:a="http://schemas.openxmlformats.org/drawingml/2006/main" noGrp="1"/>
          </p:cNvSpPr>
          <p:nvPr/>
        </p:nvSpPr>
        <p:spPr>
          <a:xfrm xmlns:a="http://schemas.openxmlformats.org/drawingml/2006/main">
            <a:off x="495300" y="1409700"/>
            <a:ext cx="11172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1">
                <a:solidFill>
                  <a:srgbClr val="FF731B"/>
                </a:solidFill>
                <a:latin typeface="Arial"/>
                <a:ea typeface="Arial"/>
                <a:cs typeface="Arial"/>
              </a:defRPr>
            </a:defPPr>
          </a:lstStyle>
          <a:p xmlns:a="http://schemas.openxmlformats.org/drawingml/2006/main">
            <a:pPr>
              <a:defRPr sz="1125" b="1">
                <a:solidFill>
                  <a:srgbClr val="FF731B"/>
                </a:solidFill>
                <a:latin typeface="Arial"/>
                <a:ea typeface="Arial"/>
                <a:cs typeface="Arial"/>
              </a:defRPr>
            </a:pPr>
            <a:r>
              <a:rPr sz="1125" b="1">
                <a:solidFill>
                  <a:srgbClr val="FF731B"/>
                </a:solidFill>
                <a:latin typeface="Arial"/>
                <a:ea typeface="Arial"/>
                <a:cs typeface="Arial"/>
              </a:rPr>
              <a:t>SCREENSHOT UI LOKAL, 15 OKTOBER 2026, BUKAN BUKTI DOCKER</a:t>
            </a:r>
          </a:p>
        </p:txBody>
      </p:sp>
      <p:pic>
        <p:nvPicPr>
          <p:cNvPr id="32" name="">
            <a:extLst xmlns:a="http://schemas.openxmlformats.org/drawingml/2006/main">
              <a:ext uri="{FF2B5EF4-FFF2-40B4-BE49-F238E27FC236}">
                <a16:creationId xmlns:a16="http://schemas.microsoft.com/office/drawing/2014/main" id="{92F82CCB-0049-4BE3-BB1D-3C50EB0CE5B4}"/>
              </a:ext>
            </a:extLst>
          </p:cNvPr>
          <p:cNvPicPr>
            <a:picLocks xmlns:a="http://schemas.openxmlformats.org/drawingml/2006/main" noChangeAspect="1"/>
          </p:cNvPicPr>
          <p:nvPr/>
        </p:nvPicPr>
        <p:blipFill>
          <a:blip xmlns:r="http://schemas.openxmlformats.org/officeDocument/2006/relationships" xmlns:a="http://schemas.openxmlformats.org/drawingml/2006/main" r:embed="R45811bc325274025"/>
          <a:srcRect xmlns:a="http://schemas.openxmlformats.org/drawingml/2006/main" l="6000" t="0" r="6000" b="49000"/>
          <a:stretch xmlns:a="http://schemas.openxmlformats.org/drawingml/2006/main"/>
        </p:blipFill>
        <p:spPr>
          <a:xfrm xmlns:a="http://schemas.openxmlformats.org/drawingml/2006/main">
            <a:off x="685800" y="1881856"/>
            <a:ext cx="10820400" cy="3218114"/>
          </a:xfrm>
          <a:prstGeom xmlns:a="http://schemas.openxmlformats.org/drawingml/2006/main" prst="rect">
            <a:avLst/>
          </a:prstGeom>
        </p:spPr>
      </p:pic>
      <p:sp>
        <p:nvSpPr>
          <p:cNvPr id="33" name="API Cloud Notes 0.6 menyediakan GET/POST /notes dan DEL">
            <a:extLst xmlns:a="http://schemas.openxmlformats.org/drawingml/2006/main">
              <a:ext uri="{FF2B5EF4-FFF2-40B4-BE49-F238E27FC236}">
                <a16:creationId xmlns:a16="http://schemas.microsoft.com/office/drawing/2014/main" id="{772298AF-A774-458C-B3E7-3B498266207A}"/>
              </a:ext>
            </a:extLst>
          </p:cNvPr>
          <p:cNvSpPr>
            <a:spLocks xmlns:a="http://schemas.openxmlformats.org/drawingml/2006/main" noGrp="1"/>
          </p:cNvSpPr>
          <p:nvPr/>
        </p:nvSpPr>
        <p:spPr>
          <a:xfrm xmlns:a="http://schemas.openxmlformats.org/drawingml/2006/main">
            <a:off x="495300" y="5448300"/>
            <a:ext cx="11172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233344"/>
                </a:solidFill>
                <a:latin typeface="Arial"/>
                <a:ea typeface="Arial"/>
                <a:cs typeface="Arial"/>
              </a:defRPr>
            </a:defPPr>
          </a:lstStyle>
          <a:p xmlns:a="http://schemas.openxmlformats.org/drawingml/2006/main">
            <a:pPr>
              <a:defRPr sz="1575" b="0">
                <a:solidFill>
                  <a:srgbClr val="233344"/>
                </a:solidFill>
                <a:latin typeface="Arial"/>
                <a:ea typeface="Arial"/>
                <a:cs typeface="Arial"/>
              </a:defRPr>
            </a:pPr>
            <a:r>
              <a:rPr sz="1575" b="0">
                <a:solidFill>
                  <a:srgbClr val="233344"/>
                </a:solidFill>
                <a:latin typeface="Arial"/>
                <a:ea typeface="Arial"/>
                <a:cs typeface="Arial"/>
              </a:rPr>
              <a:t>API Cloud Notes 0.6 menyediakan GET/POST /notes dan DELETE /notes/{note_id}. Pilih POST, Try it out, lalu masukkan catatan dummy sendiri.</a:t>
            </a:r>
          </a:p>
        </p:txBody>
      </p:sp>
    </p:spTree>
    <p:extLst>
      <p:ext uri="{BB962C8B-B14F-4D97-AF65-F5344CB8AC3E}">
        <p14:creationId xmlns:p14="http://schemas.microsoft.com/office/powerpoint/2010/main" val="381653648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20</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280225aa4aae4ff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b8accaccd4cf41d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POST catatan dan baca cache</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Gunakan Swagger untuk POST, lalu dua GET berurutan di PowerShell</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F209480E-5418-4F5B-87AA-36A4B578D74B}"/>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BODY SWAGGER DAN COMMAND POWERSHELL">
            <a:extLst xmlns:a="http://schemas.openxmlformats.org/drawingml/2006/main">
              <a:ext uri="{FF2B5EF4-FFF2-40B4-BE49-F238E27FC236}">
                <a16:creationId xmlns:a16="http://schemas.microsoft.com/office/drawing/2014/main" id="{EC08AE0A-79AE-4998-8F11-FF15FE45ADDD}"/>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BODY SWAGGER DAN COMMAND POWERSHELL</a:t>
            </a:r>
          </a:p>
        </p:txBody>
      </p:sp>
      <p:sp>
        <p:nvSpPr>
          <p:cNvPr id="33" name="# JSON untuk Swagger, bukan PowerShell:&#10;{&#10;  &quot;title&quot;: &quot;C">
            <a:extLst xmlns:a="http://schemas.openxmlformats.org/drawingml/2006/main">
              <a:ext uri="{FF2B5EF4-FFF2-40B4-BE49-F238E27FC236}">
                <a16:creationId xmlns:a16="http://schemas.microsoft.com/office/drawing/2014/main" id="{5D421489-2E24-4A5A-825C-8D46C73D6057}"/>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JSON untuk Swagger, bukan PowerShell:</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"title": "Compose22",</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"content": "Data pada PostgreSQL"</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a:t>
            </a:r>
          </a:p>
          <a:p xmlns:a="http://schemas.openxmlformats.org/drawingml/2006/main">
            <a:r>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curl.exe -i http://127.0.0.1:18006/notes</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curl.exe -i http://127.0.0.1:18006/notes</a:t>
            </a:r>
          </a:p>
        </p:txBody>
      </p:sp>
      <p:sp>
        <p:nvSpPr>
          <p:cNvPr id="34" name="Fungsi, proses, dan hasil">
            <a:extLst xmlns:a="http://schemas.openxmlformats.org/drawingml/2006/main">
              <a:ext uri="{FF2B5EF4-FFF2-40B4-BE49-F238E27FC236}">
                <a16:creationId xmlns:a16="http://schemas.microsoft.com/office/drawing/2014/main" id="{7144B212-52E2-4FDD-8EDB-11ECBF3374CE}"/>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POST memberi 201 dan ID dari DB.&#10;&#10;Catat ID serta judul ">
            <a:extLst xmlns:a="http://schemas.openxmlformats.org/drawingml/2006/main">
              <a:ext uri="{FF2B5EF4-FFF2-40B4-BE49-F238E27FC236}">
                <a16:creationId xmlns:a16="http://schemas.microsoft.com/office/drawing/2014/main" id="{2261D44C-547F-4F2C-9817-1B2DEAF409D8}"/>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POST memberi 201 dan ID dari DB.</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Catat ID serta judul Anda.</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MISS membaca DB dan mengisi Redis. HIT membaca cache.</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GET pertama dapat langsung HIT jika Swagger sudah membaca daftar.</a:t>
            </a:r>
          </a:p>
        </p:txBody>
      </p:sp>
      <p:sp>
        <p:nvSpPr>
          <p:cNvPr id="36" name="Command lengkap ada di modul mahasiswa.">
            <a:extLst xmlns:a="http://schemas.openxmlformats.org/drawingml/2006/main">
              <a:ext uri="{FF2B5EF4-FFF2-40B4-BE49-F238E27FC236}">
                <a16:creationId xmlns:a16="http://schemas.microsoft.com/office/drawing/2014/main" id="{9EF3EF89-7A19-4F09-9936-5B6EA1AC82A6}"/>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87ee7fb3ebe44700"/>
              </a:rPr>
              <a:t>Command lengkap ada di modul mahasiswa.</a:t>
            </a:r>
          </a:p>
        </p:txBody>
      </p:sp>
    </p:spTree>
    <p:extLst>
      <p:ext uri="{BB962C8B-B14F-4D97-AF65-F5344CB8AC3E}">
        <p14:creationId xmlns:p14="http://schemas.microsoft.com/office/powerpoint/2010/main" val="381653648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21</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163de74d36d14d3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b2b2f7d6cfe54d1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Named volume dan lifecycle</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Data PostgreSQL berada di db_data, bukan memori API</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281D744B-63C9-4478-9B97-25F33DAF6F51}"/>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E89BC846-4015-4A1B-82A7-90D9F49D0257}"/>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compose restart api&#10;docker compose up -d --wait&#10;">
            <a:extLst xmlns:a="http://schemas.openxmlformats.org/drawingml/2006/main">
              <a:ext uri="{FF2B5EF4-FFF2-40B4-BE49-F238E27FC236}">
                <a16:creationId xmlns:a16="http://schemas.microsoft.com/office/drawing/2014/main" id="{9B7DCE0F-DB6E-42F2-B3E5-0305FE1104E7}"/>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restart api</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up -d --wait</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curl.exe http://127.0.0.1:18006/notes</a:t>
            </a:r>
          </a:p>
          <a:p xmlns:a="http://schemas.openxmlformats.org/drawingml/2006/main">
            <a:r>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down</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up -d --wait</a:t>
            </a:r>
          </a:p>
        </p:txBody>
      </p:sp>
      <p:sp>
        <p:nvSpPr>
          <p:cNvPr id="34" name="Fungsi, proses, dan hasil">
            <a:extLst xmlns:a="http://schemas.openxmlformats.org/drawingml/2006/main">
              <a:ext uri="{FF2B5EF4-FFF2-40B4-BE49-F238E27FC236}">
                <a16:creationId xmlns:a16="http://schemas.microsoft.com/office/drawing/2014/main" id="{5B018A58-5F71-4D3C-B49A-EFB8750D8553}"/>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Restart API mengganti proses aplikasi.&#10;&#10;Down menghapus ">
            <a:extLst xmlns:a="http://schemas.openxmlformats.org/drawingml/2006/main">
              <a:ext uri="{FF2B5EF4-FFF2-40B4-BE49-F238E27FC236}">
                <a16:creationId xmlns:a16="http://schemas.microsoft.com/office/drawing/2014/main" id="{46720635-DB92-451A-8157-4F30E0E9D689}"/>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Restart API mengganti proses aplikasi.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Down menghapus container dan network stack.</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Up membuat container lagi.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Named volume tetap ada karena down dijalankan tanpa -v.</a:t>
            </a:r>
          </a:p>
        </p:txBody>
      </p:sp>
      <p:sp>
        <p:nvSpPr>
          <p:cNvPr id="36" name="Command lengkap ada di modul mahasiswa.">
            <a:extLst xmlns:a="http://schemas.openxmlformats.org/drawingml/2006/main">
              <a:ext uri="{FF2B5EF4-FFF2-40B4-BE49-F238E27FC236}">
                <a16:creationId xmlns:a16="http://schemas.microsoft.com/office/drawing/2014/main" id="{C9A319CA-6E79-4405-9E4C-1E435CFF69FA}"/>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5bae314c9539475b"/>
              </a:rPr>
              <a:t>Command lengkap ada di modul mahasiswa.</a:t>
            </a:r>
          </a:p>
        </p:txBody>
      </p:sp>
    </p:spTree>
    <p:extLst>
      <p:ext uri="{BB962C8B-B14F-4D97-AF65-F5344CB8AC3E}">
        <p14:creationId xmlns:p14="http://schemas.microsoft.com/office/powerpoint/2010/main" val="381653648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22</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034b10a8c8404ac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ec76b51bfa3c4f8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Pemeriksaan data setelah down/up</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Cocokkan ID dan judul yang dibuat sebelum lifecycle</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D06CD857-78CF-4EE1-B57F-67DD12090F2A}"/>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856083BC-F0A0-4837-915F-9C78216E149C}"/>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curl.exe http://127.0.0.1:18006/notes&#10;docker compose ex">
            <a:extLst xmlns:a="http://schemas.openxmlformats.org/drawingml/2006/main">
              <a:ext uri="{FF2B5EF4-FFF2-40B4-BE49-F238E27FC236}">
                <a16:creationId xmlns:a16="http://schemas.microsoft.com/office/drawing/2014/main" id="{E16B5CD1-3A3E-4845-8C7D-BA07B43741FF}"/>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curl.exe http://127.0.0.1:18006/notes</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exec -T db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psql -U clouduser -d cloudnotes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-c "SELECT id, title FROM notes ORDER BY id;"</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volume ls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--filter name=cloud-notes-lab06</a:t>
            </a:r>
          </a:p>
        </p:txBody>
      </p:sp>
      <p:sp>
        <p:nvSpPr>
          <p:cNvPr id="34" name="Fungsi, proses, dan hasil">
            <a:extLst xmlns:a="http://schemas.openxmlformats.org/drawingml/2006/main">
              <a:ext uri="{FF2B5EF4-FFF2-40B4-BE49-F238E27FC236}">
                <a16:creationId xmlns:a16="http://schemas.microsoft.com/office/drawing/2014/main" id="{65B1111E-DF37-4744-A7CB-F1218D0E3C26}"/>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GET memperlihatkan catatan Anda.&#10;&#10;SELECT memeriksa DB s">
            <a:extLst xmlns:a="http://schemas.openxmlformats.org/drawingml/2006/main">
              <a:ext uri="{FF2B5EF4-FFF2-40B4-BE49-F238E27FC236}">
                <a16:creationId xmlns:a16="http://schemas.microsoft.com/office/drawing/2014/main" id="{965F0D30-B8F5-4236-B1E3-FE954E8077D8}"/>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GET memperlihatkan catatan Anda.</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SELECT memeriksa DB secara langsung.</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Cocokkan ID/judul sebelum dan sesudah down/up.</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Data awal tidak harus kosong. Named volume menyimpan data utama.</a:t>
            </a:r>
          </a:p>
        </p:txBody>
      </p:sp>
      <p:sp>
        <p:nvSpPr>
          <p:cNvPr id="36" name="Command lengkap ada di modul mahasiswa.">
            <a:extLst xmlns:a="http://schemas.openxmlformats.org/drawingml/2006/main">
              <a:ext uri="{FF2B5EF4-FFF2-40B4-BE49-F238E27FC236}">
                <a16:creationId xmlns:a16="http://schemas.microsoft.com/office/drawing/2014/main" id="{3A89E0B0-5F25-491C-8768-A6E3FDB10517}"/>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d315dc8b7f2d479e"/>
              </a:rPr>
              <a:t>Command lengkap ada di modul mahasiswa.</a:t>
            </a:r>
          </a:p>
        </p:txBody>
      </p:sp>
    </p:spTree>
    <p:extLst>
      <p:ext uri="{BB962C8B-B14F-4D97-AF65-F5344CB8AC3E}">
        <p14:creationId xmlns:p14="http://schemas.microsoft.com/office/powerpoint/2010/main" val="381653648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23</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0ce8262319b44da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47e26477da214a3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Perubahan environment melalui .env</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Ubah hanya APP_ENV, terapkan, lalu kembalikan nilai awal</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70102DD9-E5F1-4698-BEFA-728B94D85930}"/>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6FDEB8E9-DED4-4653-9720-AB931723C223}"/>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notepad .env&#10;# Ubah APP_ENV=local-demo lalu simpan.&#10;doc">
            <a:extLst xmlns:a="http://schemas.openxmlformats.org/drawingml/2006/main">
              <a:ext uri="{FF2B5EF4-FFF2-40B4-BE49-F238E27FC236}">
                <a16:creationId xmlns:a16="http://schemas.microsoft.com/office/drawing/2014/main" id="{DE99AFB8-5AF2-48EE-AB28-244337C2AB18}"/>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notepad .env</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Ubah APP_ENV=local-demo lalu simpan.</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up -d --wait api</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exec -T api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printenv APP_ENV</a:t>
            </a:r>
          </a:p>
          <a:p xmlns:a="http://schemas.openxmlformats.org/drawingml/2006/main">
            <a:r>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notepad .env</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Kembalikan APP_ENV=classroom, simpan.</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up -d --wait api</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exec -T api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printenv APP_ENV</a:t>
            </a:r>
          </a:p>
        </p:txBody>
      </p:sp>
      <p:sp>
        <p:nvSpPr>
          <p:cNvPr id="34" name="Fungsi, proses, dan hasil">
            <a:extLst xmlns:a="http://schemas.openxmlformats.org/drawingml/2006/main">
              <a:ext uri="{FF2B5EF4-FFF2-40B4-BE49-F238E27FC236}">
                <a16:creationId xmlns:a16="http://schemas.microsoft.com/office/drawing/2014/main" id="{1409142B-7C3E-415F-B818-EDCC30A9F01D}"/>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Hasil pertama: local-demo.&#10;&#10;Hasil kedua: classroom.&#10;&#10;Up">
            <a:extLst xmlns:a="http://schemas.openxmlformats.org/drawingml/2006/main">
              <a:ext uri="{FF2B5EF4-FFF2-40B4-BE49-F238E27FC236}">
                <a16:creationId xmlns:a16="http://schemas.microsoft.com/office/drawing/2014/main" id="{E4E27610-32F3-4C32-AEAB-04438F5D0C93}"/>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Hasil pertama: local-demo.</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Hasil kedua: classroom.</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Up menerapkan konfigurasi environment baru. Restart proses saja tidak membaca perubahan .env.</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Nilai DB/password tetap sama.</a:t>
            </a:r>
          </a:p>
        </p:txBody>
      </p:sp>
      <p:sp>
        <p:nvSpPr>
          <p:cNvPr id="36" name="Command lengkap ada di modul mahasiswa.">
            <a:extLst xmlns:a="http://schemas.openxmlformats.org/drawingml/2006/main">
              <a:ext uri="{FF2B5EF4-FFF2-40B4-BE49-F238E27FC236}">
                <a16:creationId xmlns:a16="http://schemas.microsoft.com/office/drawing/2014/main" id="{B3F82835-6079-4F28-AF15-17B1E4ECCAB1}"/>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10c5d75561b74989"/>
              </a:rPr>
              <a:t>Command lengkap ada di modul mahasiswa.</a:t>
            </a:r>
          </a:p>
        </p:txBody>
      </p:sp>
    </p:spTree>
    <p:extLst>
      <p:ext uri="{BB962C8B-B14F-4D97-AF65-F5344CB8AC3E}">
        <p14:creationId xmlns:p14="http://schemas.microsoft.com/office/powerpoint/2010/main" val="381653648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24</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454f2e25bce84bb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e2744d1ed0c1418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Profile debug dan Adminer</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Profile menambah service pendukung tanpa mengubah service utama</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FB8DB5F9-3545-47E5-91FA-F106112E67D7}"/>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84685AE3-4708-4986-B748-11367F47A328}"/>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compose --profile debug `&#10;  up -d adminer&#10;docker">
            <a:extLst xmlns:a="http://schemas.openxmlformats.org/drawingml/2006/main">
              <a:ext uri="{FF2B5EF4-FFF2-40B4-BE49-F238E27FC236}">
                <a16:creationId xmlns:a16="http://schemas.microsoft.com/office/drawing/2014/main" id="{7629E207-B882-4DEA-9445-91CBCA6DF63F}"/>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--profile debug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up -d adminer</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--profile debug ps</a:t>
            </a:r>
          </a:p>
          <a:p xmlns:a="http://schemas.openxmlformats.org/drawingml/2006/main">
            <a:r>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Browser:</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http://127.0.0.1:18061</a:t>
            </a:r>
          </a:p>
        </p:txBody>
      </p:sp>
      <p:sp>
        <p:nvSpPr>
          <p:cNvPr id="34" name="Fungsi, proses, dan hasil">
            <a:extLst xmlns:a="http://schemas.openxmlformats.org/drawingml/2006/main">
              <a:ext uri="{FF2B5EF4-FFF2-40B4-BE49-F238E27FC236}">
                <a16:creationId xmlns:a16="http://schemas.microsoft.com/office/drawing/2014/main" id="{F19D369C-7FB4-4277-8716-A1925AE42837}"/>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Up biasa menjalankan api/db/cache.&#10;&#10;Profile debug menga">
            <a:extLst xmlns:a="http://schemas.openxmlformats.org/drawingml/2006/main">
              <a:ext uri="{FF2B5EF4-FFF2-40B4-BE49-F238E27FC236}">
                <a16:creationId xmlns:a16="http://schemas.microsoft.com/office/drawing/2014/main" id="{07976122-7769-4345-A446-33A5B5A46E32}"/>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Up biasa menjalankan api/db/cache.</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Profile debug mengaktifkan Adminer.</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Ps menampilkan service tambahan.</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Browser Adminer memakai host 18061.</a:t>
            </a:r>
          </a:p>
        </p:txBody>
      </p:sp>
      <p:sp>
        <p:nvSpPr>
          <p:cNvPr id="36" name="Command lengkap ada di modul mahasiswa.">
            <a:extLst xmlns:a="http://schemas.openxmlformats.org/drawingml/2006/main">
              <a:ext uri="{FF2B5EF4-FFF2-40B4-BE49-F238E27FC236}">
                <a16:creationId xmlns:a16="http://schemas.microsoft.com/office/drawing/2014/main" id="{1EF7C001-BF1E-4F46-A1C6-64E000EED8C1}"/>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c4dbd7a5875c4e14"/>
              </a:rPr>
              <a:t>Command lengkap ada di modul mahasiswa.</a:t>
            </a:r>
          </a:p>
        </p:txBody>
      </p:sp>
    </p:spTree>
    <p:extLst>
      <p:ext uri="{BB962C8B-B14F-4D97-AF65-F5344CB8AC3E}">
        <p14:creationId xmlns:p14="http://schemas.microsoft.com/office/powerpoint/2010/main" val="381653648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25</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4af09b3f4c9e4a6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dbf9df37e2c148a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Adminer dan catatan PostgreSQL</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Login lokal pada http://127.0.0.1:18061</a:t>
            </a:r>
            <a:endParaRPr sz="1200"/>
          </a:p>
        </p:txBody>
      </p:sp>
      <p:sp>
        <p:nvSpPr>
          <p:cNvPr id="31" name="SCREENSHOT BROWSER DARI UJI SEBELUMNYA">
            <a:extLst xmlns:a="http://schemas.openxmlformats.org/drawingml/2006/main">
              <a:ext uri="{FF2B5EF4-FFF2-40B4-BE49-F238E27FC236}">
                <a16:creationId xmlns:a16="http://schemas.microsoft.com/office/drawing/2014/main" id="{ED9541F2-76FF-448B-A038-427C151AA462}"/>
              </a:ext>
            </a:extLst>
          </p:cNvPr>
          <p:cNvSpPr>
            <a:spLocks xmlns:a="http://schemas.openxmlformats.org/drawingml/2006/main" noGrp="1"/>
          </p:cNvSpPr>
          <p:nvPr/>
        </p:nvSpPr>
        <p:spPr>
          <a:xfrm xmlns:a="http://schemas.openxmlformats.org/drawingml/2006/main">
            <a:off x="495300" y="1409700"/>
            <a:ext cx="11172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1">
                <a:solidFill>
                  <a:srgbClr val="FF731B"/>
                </a:solidFill>
                <a:latin typeface="Arial"/>
                <a:ea typeface="Arial"/>
                <a:cs typeface="Arial"/>
              </a:defRPr>
            </a:defPPr>
          </a:lstStyle>
          <a:p xmlns:a="http://schemas.openxmlformats.org/drawingml/2006/main">
            <a:pPr>
              <a:defRPr sz="1125" b="1">
                <a:solidFill>
                  <a:srgbClr val="FF731B"/>
                </a:solidFill>
                <a:latin typeface="Arial"/>
                <a:ea typeface="Arial"/>
                <a:cs typeface="Arial"/>
              </a:defRPr>
            </a:pPr>
            <a:r>
              <a:rPr sz="1125" b="1">
                <a:solidFill>
                  <a:srgbClr val="FF731B"/>
                </a:solidFill>
                <a:latin typeface="Arial"/>
                <a:ea typeface="Arial"/>
                <a:cs typeface="Arial"/>
              </a:rPr>
              <a:t>SCREENSHOT BROWSER DARI UJI SEBELUMNYA</a:t>
            </a:r>
          </a:p>
        </p:txBody>
      </p:sp>
      <p:pic>
        <p:nvPicPr>
          <p:cNvPr id="32" name="">
            <a:extLst xmlns:a="http://schemas.openxmlformats.org/drawingml/2006/main">
              <a:ext uri="{FF2B5EF4-FFF2-40B4-BE49-F238E27FC236}">
                <a16:creationId xmlns:a16="http://schemas.microsoft.com/office/drawing/2014/main" id="{619EEFEE-B81E-4D0A-A00B-783828C5A1A4}"/>
              </a:ext>
            </a:extLst>
          </p:cNvPr>
          <p:cNvPicPr>
            <a:picLocks xmlns:a="http://schemas.openxmlformats.org/drawingml/2006/main" noChangeAspect="1"/>
          </p:cNvPicPr>
          <p:nvPr/>
        </p:nvPicPr>
        <p:blipFill>
          <a:blip xmlns:r="http://schemas.openxmlformats.org/officeDocument/2006/relationships" xmlns:a="http://schemas.openxmlformats.org/drawingml/2006/main" r:embed="R753293c27c014340"/>
          <a:srcRect xmlns:a="http://schemas.openxmlformats.org/drawingml/2006/main" l="0" t="0" r="0" b="54000"/>
          <a:stretch xmlns:a="http://schemas.openxmlformats.org/drawingml/2006/main"/>
        </p:blipFill>
        <p:spPr>
          <a:xfrm xmlns:a="http://schemas.openxmlformats.org/drawingml/2006/main">
            <a:off x="692058" y="1743075"/>
            <a:ext cx="10807884" cy="3495675"/>
          </a:xfrm>
          <a:prstGeom xmlns:a="http://schemas.openxmlformats.org/drawingml/2006/main" prst="rect">
            <a:avLst/>
          </a:prstGeom>
        </p:spPr>
      </p:pic>
      <p:sp>
        <p:nvSpPr>
          <p:cNvPr id="33" name="System PostgreSQL, Server db, Username clouduser, Datab">
            <a:extLst xmlns:a="http://schemas.openxmlformats.org/drawingml/2006/main">
              <a:ext uri="{FF2B5EF4-FFF2-40B4-BE49-F238E27FC236}">
                <a16:creationId xmlns:a16="http://schemas.microsoft.com/office/drawing/2014/main" id="{7903EF7B-F4E3-4201-BB0E-3F2CEE9C6EDF}"/>
              </a:ext>
            </a:extLst>
          </p:cNvPr>
          <p:cNvSpPr>
            <a:spLocks xmlns:a="http://schemas.openxmlformats.org/drawingml/2006/main" noGrp="1"/>
          </p:cNvSpPr>
          <p:nvPr/>
        </p:nvSpPr>
        <p:spPr>
          <a:xfrm xmlns:a="http://schemas.openxmlformats.org/drawingml/2006/main">
            <a:off x="495300" y="5448300"/>
            <a:ext cx="11172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233344"/>
                </a:solidFill>
                <a:latin typeface="Arial"/>
                <a:ea typeface="Arial"/>
                <a:cs typeface="Arial"/>
              </a:defRPr>
            </a:defPPr>
          </a:lstStyle>
          <a:p xmlns:a="http://schemas.openxmlformats.org/drawingml/2006/main">
            <a:pPr>
              <a:defRPr sz="1575" b="0">
                <a:solidFill>
                  <a:srgbClr val="233344"/>
                </a:solidFill>
                <a:latin typeface="Arial"/>
                <a:ea typeface="Arial"/>
                <a:cs typeface="Arial"/>
              </a:defRPr>
            </a:pPr>
            <a:r>
              <a:rPr sz="1575" b="0">
                <a:solidFill>
                  <a:srgbClr val="233344"/>
                </a:solidFill>
                <a:latin typeface="Arial"/>
                <a:ea typeface="Arial"/>
                <a:cs typeface="Arial"/>
              </a:rPr>
              <a:t>System PostgreSQL, Server db, Username clouduser, Database cloudnotes. Password mengikuti .env. Setelah login, pilih notes lalu Select data. Cocokkan ID/judul sendiri.</a:t>
            </a:r>
          </a:p>
        </p:txBody>
      </p:sp>
    </p:spTree>
    <p:extLst>
      <p:ext uri="{BB962C8B-B14F-4D97-AF65-F5344CB8AC3E}">
        <p14:creationId xmlns:p14="http://schemas.microsoft.com/office/powerpoint/2010/main" val="381653648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26</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0e42475b85fa4e4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55ad0853942f422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Log streaming layanan</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Log dapat diamati sambil membuat request pada browser</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6331FCE4-4CC4-44E1-8C62-7F9403893AE7}"/>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E830F451-89BA-45E6-A406-5BF3F5BCB265}"/>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compose logs -f --tail 20 api&#10;&#10;# Browser: GET /n">
            <a:extLst xmlns:a="http://schemas.openxmlformats.org/drawingml/2006/main">
              <a:ext uri="{FF2B5EF4-FFF2-40B4-BE49-F238E27FC236}">
                <a16:creationId xmlns:a16="http://schemas.microsoft.com/office/drawing/2014/main" id="{F5A2B9F6-8E09-41EE-8E0C-F80895B3D0C9}"/>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logs -f --tail 20 api</a:t>
            </a:r>
          </a:p>
          <a:p xmlns:a="http://schemas.openxmlformats.org/drawingml/2006/main">
            <a:r>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Browser: GET /notes pada Swagger.</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Kembali ke terminal log.</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Tekan Ctrl+C.</a:t>
            </a:r>
          </a:p>
          <a:p xmlns:a="http://schemas.openxmlformats.org/drawingml/2006/main">
            <a:r>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ps</a:t>
            </a:r>
          </a:p>
        </p:txBody>
      </p:sp>
      <p:sp>
        <p:nvSpPr>
          <p:cNvPr id="34" name="Fungsi, proses, dan hasil">
            <a:extLst xmlns:a="http://schemas.openxmlformats.org/drawingml/2006/main">
              <a:ext uri="{FF2B5EF4-FFF2-40B4-BE49-F238E27FC236}">
                <a16:creationId xmlns:a16="http://schemas.microsoft.com/office/drawing/2014/main" id="{5FBE6532-4290-49AA-BE4C-5E95DB86327E}"/>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tail membatasi keluaran awal.&#10;&#10;-f mengikuti log baru.">
            <a:extLst xmlns:a="http://schemas.openxmlformats.org/drawingml/2006/main">
              <a:ext uri="{FF2B5EF4-FFF2-40B4-BE49-F238E27FC236}">
                <a16:creationId xmlns:a16="http://schemas.microsoft.com/office/drawing/2014/main" id="{632BBC4B-AED5-46F8-877B-8251EF1F4E6B}"/>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--tail membatasi keluaran awal.</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-f mengikuti log baru.</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Request browser menambah access log API.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Ctrl+C berhenti mengikuti stream. Container tetap berjalan.</a:t>
            </a:r>
          </a:p>
        </p:txBody>
      </p:sp>
      <p:sp>
        <p:nvSpPr>
          <p:cNvPr id="36" name="Command lengkap ada di modul mahasiswa.">
            <a:extLst xmlns:a="http://schemas.openxmlformats.org/drawingml/2006/main">
              <a:ext uri="{FF2B5EF4-FFF2-40B4-BE49-F238E27FC236}">
                <a16:creationId xmlns:a16="http://schemas.microsoft.com/office/drawing/2014/main" id="{A88B929A-1F61-47DD-AF98-7F9CBA349D01}"/>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96333a68285c4e1c"/>
              </a:rPr>
              <a:t>Command lengkap ada di modul mahasiswa.</a:t>
            </a:r>
          </a:p>
        </p:txBody>
      </p:sp>
    </p:spTree>
    <p:extLst>
      <p:ext uri="{BB962C8B-B14F-4D97-AF65-F5344CB8AC3E}">
        <p14:creationId xmlns:p14="http://schemas.microsoft.com/office/powerpoint/2010/main" val="38165364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27</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fdfa8b33195643a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d62111d8abe54cd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Diagnosis berdasarkan pesan error</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Menit 88–90: gunakan output yang benar-benar muncul</a:t>
            </a:r>
            <a:endParaRPr sz="1200"/>
          </a:p>
        </p:txBody>
      </p:sp>
      <p:graphicFrame>
        <p:nvGraphicFramePr>
          <p:cNvPr id="31" name="">
            <a:extLst xmlns:a="http://schemas.openxmlformats.org/drawingml/2006/main">
              <a:ext uri="{FF2B5EF4-FFF2-40B4-BE49-F238E27FC236}">
                <a16:creationId xmlns:a16="http://schemas.microsoft.com/office/drawing/2014/main" id="{AC9DB1AB-8F9D-460B-A9FC-C78D11EAC287}"/>
              </a:ext>
            </a:extLst>
          </p:cNvPr>
          <p:cNvGraphicFramePr/>
          <p:nvPr/>
        </p:nvGraphicFramePr>
        <p:xfrm>
          <a:off xmlns:a="http://schemas.openxmlformats.org/drawingml/2006/main" x="533400" y="1628775"/>
          <a:ext xmlns:a="http://schemas.openxmlformats.org/drawingml/2006/main" cx="11125200" cy="3429000"/>
        </p:xfrm>
        <a:graphic xmlns:a="http://schemas.openxmlformats.org/drawingml/2006/main">
          <a:graphicData uri="http://schemas.openxmlformats.org/drawingml/2006/table">
            <a:tbl>
              <a:tblPr firstRow="1" bandRow="1"/>
              <a:tblGrid>
                <a:gridCol w="2457450"/>
                <a:gridCol w="4343400"/>
                <a:gridCol w="4324350"/>
              </a:tblGrid>
              <a:tr h="685800">
                <a:tc>
                  <a:txBody>
                    <a:bodyPr lIns="114300" tIns="95250" rIns="114300" bIns="95250"/>
                    <a:lstStyle/>
                    <a:p>
                      <a:r>
                        <a:rPr sz="1650" b="1">
                          <a:solidFill>
                            <a:srgbClr val="FFFFFF"/>
                          </a:solidFill>
                          <a:latin typeface="Arial"/>
                          <a:ea typeface="Arial"/>
                          <a:cs typeface="Arial"/>
                        </a:rPr>
                        <a:t>Pesan atau gejala</a:t>
                      </a:r>
                    </a:p>
                  </a:txBody>
                  <a:tcPr marL="91440" marR="91440" marT="45720" marB="45720">
                    <a:lnL w="9525">
                      <a:solidFill>
                        <a:srgbClr val="D5E1EC"/>
                      </a:solidFill>
                      <a:prstDash val="solid"/>
                    </a:lnL>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Pemeriksaan pertama</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Tindakan lokal</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r>
              <a:tr h="685800">
                <a:tc>
                  <a:txBody>
                    <a:bodyPr lIns="114300" tIns="95250" rIns="114300" bIns="95250"/>
                    <a:lstStyle/>
                    <a:p>
                      <a:r>
                        <a:rPr sz="1650" b="0">
                          <a:solidFill>
                            <a:srgbClr val="233344"/>
                          </a:solidFill>
                          <a:latin typeface="Arial"/>
                          <a:ea typeface="Arial"/>
                          <a:cs typeface="Arial"/>
                        </a:rPr>
                        <a:t>Cannot connect to daemon</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docker version</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Buka Docker Desktop, tunggu Server</a:t>
                      </a:r>
                    </a:p>
                  </a:txBody>
                  <a:tcPr marL="91440" marR="91440" marT="45720" marB="45720">
                    <a:lnR w="9525">
                      <a:solidFill>
                        <a:srgbClr val="D5E1EC"/>
                      </a:solidFill>
                      <a:prstDash val="solid"/>
                    </a:lnR>
                    <a:lnB w="9525">
                      <a:solidFill>
                        <a:srgbClr val="D5E1EC"/>
                      </a:solidFill>
                      <a:prstDash val="solid"/>
                    </a:lnB>
                    <a:solidFill>
                      <a:srgbClr val="F4F8FC"/>
                    </a:solidFill>
                  </a:tcPr>
                </a:tc>
              </a:tr>
              <a:tr h="685800">
                <a:tc>
                  <a:txBody>
                    <a:bodyPr lIns="114300" tIns="95250" rIns="114300" bIns="95250"/>
                    <a:lstStyle/>
                    <a:p>
                      <a:r>
                        <a:rPr sz="1650" b="0">
                          <a:solidFill>
                            <a:srgbClr val="233344"/>
                          </a:solidFill>
                          <a:latin typeface="Arial"/>
                          <a:ea typeface="Arial"/>
                          <a:cs typeface="Arial"/>
                        </a:rPr>
                        <a:t>Port already allocated</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docker compose ps</a:t>
                      </a:r>
                    </a:p>
                  </a:txBody>
                  <a:tcPr marL="91440" marR="91440" marT="45720" marB="45720">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Periksa pemakai port latihan</a:t>
                      </a:r>
                    </a:p>
                  </a:txBody>
                  <a:tcPr marL="91440" marR="91440" marT="45720" marB="45720">
                    <a:lnR w="9525">
                      <a:solidFill>
                        <a:srgbClr val="D5E1EC"/>
                      </a:solidFill>
                      <a:prstDash val="solid"/>
                    </a:lnR>
                    <a:lnB w="9525">
                      <a:solidFill>
                        <a:srgbClr val="D5E1EC"/>
                      </a:solidFill>
                      <a:prstDash val="solid"/>
                    </a:lnB>
                    <a:solidFill>
                      <a:srgbClr val="FFFFFF"/>
                    </a:solidFill>
                  </a:tcPr>
                </a:tc>
              </a:tr>
              <a:tr h="685800">
                <a:tc>
                  <a:txBody>
                    <a:bodyPr lIns="114300" tIns="95250" rIns="114300" bIns="95250"/>
                    <a:lstStyle/>
                    <a:p>
                      <a:r>
                        <a:rPr sz="1650" b="0">
                          <a:solidFill>
                            <a:srgbClr val="233344"/>
                          </a:solidFill>
                          <a:latin typeface="Arial"/>
                          <a:ea typeface="Arial"/>
                          <a:cs typeface="Arial"/>
                        </a:rPr>
                        <a:t>Dependency unhealthy</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docker compose logs --tail 30</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Baca log api/db/cache</a:t>
                      </a:r>
                    </a:p>
                  </a:txBody>
                  <a:tcPr marL="91440" marR="91440" marT="45720" marB="45720">
                    <a:lnR w="9525">
                      <a:solidFill>
                        <a:srgbClr val="D5E1EC"/>
                      </a:solidFill>
                      <a:prstDash val="solid"/>
                    </a:lnR>
                    <a:lnB w="9525">
                      <a:solidFill>
                        <a:srgbClr val="D5E1EC"/>
                      </a:solidFill>
                      <a:prstDash val="solid"/>
                    </a:lnB>
                    <a:solidFill>
                      <a:srgbClr val="F4F8FC"/>
                    </a:solidFill>
                  </a:tcPr>
                </a:tc>
              </a:tr>
              <a:tr h="685800">
                <a:tc>
                  <a:txBody>
                    <a:bodyPr lIns="114300" tIns="95250" rIns="114300" bIns="95250"/>
                    <a:lstStyle/>
                    <a:p>
                      <a:r>
                        <a:rPr sz="1650" b="0">
                          <a:solidFill>
                            <a:srgbClr val="233344"/>
                          </a:solidFill>
                          <a:latin typeface="Arial"/>
                          <a:ea typeface="Arial"/>
                          <a:cs typeface="Arial"/>
                        </a:rPr>
                        <a:t>Authentication failed</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Nilai .env dan volume lama</a:t>
                      </a:r>
                    </a:p>
                  </a:txBody>
                  <a:tcPr marL="91440" marR="91440" marT="45720" marB="45720">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Cocokkan password awal DB</a:t>
                      </a:r>
                    </a:p>
                  </a:txBody>
                  <a:tcPr marL="91440" marR="91440" marT="45720" marB="45720">
                    <a:lnR w="9525">
                      <a:solidFill>
                        <a:srgbClr val="D5E1EC"/>
                      </a:solidFill>
                      <a:prstDash val="solid"/>
                    </a:lnR>
                    <a:lnB w="9525">
                      <a:solidFill>
                        <a:srgbClr val="D5E1EC"/>
                      </a:solidFill>
                      <a:prstDash val="solid"/>
                    </a:lnB>
                    <a:solidFill>
                      <a:srgbClr val="FFFFFF"/>
                    </a:solidFill>
                  </a:tcPr>
                </a:tc>
              </a:tr>
            </a:tbl>
          </a:graphicData>
        </a:graphic>
      </p:graphicFrame>
      <p:sp>
        <p:nvSpPr>
          <p:cNvPr id="32" name="Selesaikan masalah pada stack latihan sendiri. Simpan p">
            <a:extLst xmlns:a="http://schemas.openxmlformats.org/drawingml/2006/main">
              <a:ext uri="{FF2B5EF4-FFF2-40B4-BE49-F238E27FC236}">
                <a16:creationId xmlns:a16="http://schemas.microsoft.com/office/drawing/2014/main" id="{A60AA82E-2A15-48ED-A307-F5B5CF666937}"/>
              </a:ext>
            </a:extLst>
          </p:cNvPr>
          <p:cNvSpPr>
            <a:spLocks xmlns:a="http://schemas.openxmlformats.org/drawingml/2006/main" noGrp="1"/>
          </p:cNvSpPr>
          <p:nvPr/>
        </p:nvSpPr>
        <p:spPr>
          <a:xfrm xmlns:a="http://schemas.openxmlformats.org/drawingml/2006/main">
            <a:off x="533400" y="5314950"/>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Selesaikan masalah pada stack latihan sendiri. Simpan pesan error untuk dibaca bersama pengajar. Penghapusan volume bukan langkah diagnosis awal.</a:t>
            </a:r>
          </a:p>
        </p:txBody>
      </p:sp>
    </p:spTree>
    <p:extLst>
      <p:ext uri="{BB962C8B-B14F-4D97-AF65-F5344CB8AC3E}">
        <p14:creationId xmlns:p14="http://schemas.microsoft.com/office/powerpoint/2010/main" val="38165364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28</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361023583dfb42e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11894f48ba074da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Review hasil Core dan Compose</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Menit 90–96: jelaskan hasil melalui Dockerfile dan compose.yaml</a:t>
            </a:r>
            <a:endParaRPr sz="1200"/>
          </a:p>
        </p:txBody>
      </p:sp>
      <p:graphicFrame>
        <p:nvGraphicFramePr>
          <p:cNvPr id="31" name="">
            <a:extLst xmlns:a="http://schemas.openxmlformats.org/drawingml/2006/main">
              <a:ext uri="{FF2B5EF4-FFF2-40B4-BE49-F238E27FC236}">
                <a16:creationId xmlns:a16="http://schemas.microsoft.com/office/drawing/2014/main" id="{9240C7AC-D248-48FB-BC4D-1D08CD224A85}"/>
              </a:ext>
            </a:extLst>
          </p:cNvPr>
          <p:cNvGraphicFramePr/>
          <p:nvPr/>
        </p:nvGraphicFramePr>
        <p:xfrm>
          <a:off xmlns:a="http://schemas.openxmlformats.org/drawingml/2006/main" x="533400" y="1628775"/>
          <a:ext xmlns:a="http://schemas.openxmlformats.org/drawingml/2006/main" cx="11125200" cy="3429000"/>
        </p:xfrm>
        <a:graphic xmlns:a="http://schemas.openxmlformats.org/drawingml/2006/main">
          <a:graphicData uri="http://schemas.openxmlformats.org/drawingml/2006/table">
            <a:tbl>
              <a:tblPr firstRow="1" bandRow="1"/>
              <a:tblGrid>
                <a:gridCol w="2457450"/>
                <a:gridCol w="4343400"/>
                <a:gridCol w="4324350"/>
              </a:tblGrid>
              <a:tr h="571500">
                <a:tc>
                  <a:txBody>
                    <a:bodyPr lIns="114300" tIns="95250" rIns="114300" bIns="95250"/>
                    <a:lstStyle/>
                    <a:p>
                      <a:r>
                        <a:rPr sz="1650" b="1">
                          <a:solidFill>
                            <a:srgbClr val="FFFFFF"/>
                          </a:solidFill>
                          <a:latin typeface="Arial"/>
                          <a:ea typeface="Arial"/>
                          <a:cs typeface="Arial"/>
                        </a:rPr>
                        <a:t>Aspek</a:t>
                      </a:r>
                    </a:p>
                  </a:txBody>
                  <a:tcPr marL="91440" marR="91440" marT="45720" marB="45720">
                    <a:lnL w="9525">
                      <a:solidFill>
                        <a:srgbClr val="D5E1EC"/>
                      </a:solidFill>
                      <a:prstDash val="solid"/>
                    </a:lnL>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Core, host 18005</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c>
                  <a:txBody>
                    <a:bodyPr lIns="114300" tIns="95250" rIns="114300" bIns="95250"/>
                    <a:lstStyle/>
                    <a:p>
                      <a:r>
                        <a:rPr sz="1650" b="1">
                          <a:solidFill>
                            <a:srgbClr val="FFFFFF"/>
                          </a:solidFill>
                          <a:latin typeface="Arial"/>
                          <a:ea typeface="Arial"/>
                          <a:cs typeface="Arial"/>
                        </a:rPr>
                        <a:t>Compose, host 18006</a:t>
                      </a:r>
                    </a:p>
                  </a:txBody>
                  <a:tcPr marL="91440" marR="91440" marT="45720" marB="45720">
                    <a:lnR w="9525">
                      <a:solidFill>
                        <a:srgbClr val="D5E1EC"/>
                      </a:solidFill>
                      <a:prstDash val="solid"/>
                    </a:lnR>
                    <a:lnT w="9525">
                      <a:solidFill>
                        <a:srgbClr val="D5E1EC"/>
                      </a:solidFill>
                      <a:prstDash val="solid"/>
                    </a:lnT>
                    <a:lnB w="9525">
                      <a:solidFill>
                        <a:srgbClr val="D5E1EC"/>
                      </a:solidFill>
                      <a:prstDash val="solid"/>
                    </a:lnB>
                    <a:solidFill>
                      <a:srgbClr val="08256E"/>
                    </a:solidFill>
                  </a:tcPr>
                </a:tc>
              </a:tr>
              <a:tr h="571500">
                <a:tc>
                  <a:txBody>
                    <a:bodyPr lIns="114300" tIns="95250" rIns="114300" bIns="95250"/>
                    <a:lstStyle/>
                    <a:p>
                      <a:r>
                        <a:rPr sz="1650" b="0">
                          <a:solidFill>
                            <a:srgbClr val="233344"/>
                          </a:solidFill>
                          <a:latin typeface="Arial"/>
                          <a:ea typeface="Arial"/>
                          <a:cs typeface="Arial"/>
                        </a:rPr>
                        <a:t>Proses API</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Satu container</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API dengan dependency DB/cache</a:t>
                      </a:r>
                    </a:p>
                  </a:txBody>
                  <a:tcPr marL="91440" marR="91440" marT="45720" marB="45720">
                    <a:lnR w="9525">
                      <a:solidFill>
                        <a:srgbClr val="D5E1EC"/>
                      </a:solidFill>
                      <a:prstDash val="solid"/>
                    </a:lnR>
                    <a:lnB w="9525">
                      <a:solidFill>
                        <a:srgbClr val="D5E1EC"/>
                      </a:solidFill>
                      <a:prstDash val="solid"/>
                    </a:lnB>
                    <a:solidFill>
                      <a:srgbClr val="F4F8FC"/>
                    </a:solidFill>
                  </a:tcPr>
                </a:tc>
              </a:tr>
              <a:tr h="571500">
                <a:tc>
                  <a:txBody>
                    <a:bodyPr lIns="114300" tIns="95250" rIns="114300" bIns="95250"/>
                    <a:lstStyle/>
                    <a:p>
                      <a:r>
                        <a:rPr sz="1650" b="0">
                          <a:solidFill>
                            <a:srgbClr val="233344"/>
                          </a:solidFill>
                          <a:latin typeface="Arial"/>
                          <a:ea typeface="Arial"/>
                          <a:cs typeface="Arial"/>
                        </a:rPr>
                        <a:t>State catatan</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Memori proses Python</a:t>
                      </a:r>
                    </a:p>
                  </a:txBody>
                  <a:tcPr marL="91440" marR="91440" marT="45720" marB="45720">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PostgreSQL pada named volume</a:t>
                      </a:r>
                    </a:p>
                  </a:txBody>
                  <a:tcPr marL="91440" marR="91440" marT="45720" marB="45720">
                    <a:lnR w="9525">
                      <a:solidFill>
                        <a:srgbClr val="D5E1EC"/>
                      </a:solidFill>
                      <a:prstDash val="solid"/>
                    </a:lnR>
                    <a:lnB w="9525">
                      <a:solidFill>
                        <a:srgbClr val="D5E1EC"/>
                      </a:solidFill>
                      <a:prstDash val="solid"/>
                    </a:lnB>
                    <a:solidFill>
                      <a:srgbClr val="FFFFFF"/>
                    </a:solidFill>
                  </a:tcPr>
                </a:tc>
              </a:tr>
              <a:tr h="571500">
                <a:tc>
                  <a:txBody>
                    <a:bodyPr lIns="114300" tIns="95250" rIns="114300" bIns="95250"/>
                    <a:lstStyle/>
                    <a:p>
                      <a:r>
                        <a:rPr sz="1650" b="0">
                          <a:solidFill>
                            <a:srgbClr val="233344"/>
                          </a:solidFill>
                          <a:latin typeface="Arial"/>
                          <a:ea typeface="Arial"/>
                          <a:cs typeface="Arial"/>
                        </a:rPr>
                        <a:t>Restart API</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Notes kembali kosong</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Notes tetap tersedia</a:t>
                      </a:r>
                    </a:p>
                  </a:txBody>
                  <a:tcPr marL="91440" marR="91440" marT="45720" marB="45720">
                    <a:lnR w="9525">
                      <a:solidFill>
                        <a:srgbClr val="D5E1EC"/>
                      </a:solidFill>
                      <a:prstDash val="solid"/>
                    </a:lnR>
                    <a:lnB w="9525">
                      <a:solidFill>
                        <a:srgbClr val="D5E1EC"/>
                      </a:solidFill>
                      <a:prstDash val="solid"/>
                    </a:lnB>
                    <a:solidFill>
                      <a:srgbClr val="F4F8FC"/>
                    </a:solidFill>
                  </a:tcPr>
                </a:tc>
              </a:tr>
              <a:tr h="571500">
                <a:tc>
                  <a:txBody>
                    <a:bodyPr lIns="114300" tIns="95250" rIns="114300" bIns="95250"/>
                    <a:lstStyle/>
                    <a:p>
                      <a:r>
                        <a:rPr sz="1650" b="0">
                          <a:solidFill>
                            <a:srgbClr val="233344"/>
                          </a:solidFill>
                          <a:latin typeface="Arial"/>
                          <a:ea typeface="Arial"/>
                          <a:cs typeface="Arial"/>
                        </a:rPr>
                        <a:t>Konfigurasi</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docker run -e APP_ENV</a:t>
                      </a:r>
                    </a:p>
                  </a:txBody>
                  <a:tcPr marL="91440" marR="91440" marT="45720" marB="45720">
                    <a:lnR w="9525">
                      <a:solidFill>
                        <a:srgbClr val="D5E1EC"/>
                      </a:solidFill>
                      <a:prstDash val="solid"/>
                    </a:lnR>
                    <a:lnB w="9525">
                      <a:solidFill>
                        <a:srgbClr val="D5E1EC"/>
                      </a:solidFill>
                      <a:prstDash val="solid"/>
                    </a:lnB>
                    <a:solidFill>
                      <a:srgbClr val="FFFFFF"/>
                    </a:solidFill>
                  </a:tcPr>
                </a:tc>
                <a:tc>
                  <a:txBody>
                    <a:bodyPr lIns="114300" tIns="95250" rIns="114300" bIns="95250"/>
                    <a:lstStyle/>
                    <a:p>
                      <a:r>
                        <a:rPr sz="1650" b="0">
                          <a:solidFill>
                            <a:srgbClr val="233344"/>
                          </a:solidFill>
                          <a:latin typeface="Arial"/>
                          <a:ea typeface="Arial"/>
                          <a:cs typeface="Arial"/>
                        </a:rPr>
                        <a:t>Nilai .env dibaca Compose</a:t>
                      </a:r>
                    </a:p>
                  </a:txBody>
                  <a:tcPr marL="91440" marR="91440" marT="45720" marB="45720">
                    <a:lnR w="9525">
                      <a:solidFill>
                        <a:srgbClr val="D5E1EC"/>
                      </a:solidFill>
                      <a:prstDash val="solid"/>
                    </a:lnR>
                    <a:lnB w="9525">
                      <a:solidFill>
                        <a:srgbClr val="D5E1EC"/>
                      </a:solidFill>
                      <a:prstDash val="solid"/>
                    </a:lnB>
                    <a:solidFill>
                      <a:srgbClr val="FFFFFF"/>
                    </a:solidFill>
                  </a:tcPr>
                </a:tc>
              </a:tr>
              <a:tr h="571500">
                <a:tc>
                  <a:txBody>
                    <a:bodyPr lIns="114300" tIns="95250" rIns="114300" bIns="95250"/>
                    <a:lstStyle/>
                    <a:p>
                      <a:r>
                        <a:rPr sz="1650" b="0">
                          <a:solidFill>
                            <a:srgbClr val="233344"/>
                          </a:solidFill>
                          <a:latin typeface="Arial"/>
                          <a:ea typeface="Arial"/>
                          <a:cs typeface="Arial"/>
                        </a:rPr>
                        <a:t>Operasional</a:t>
                      </a:r>
                    </a:p>
                  </a:txBody>
                  <a:tcPr marL="91440" marR="91440" marT="45720" marB="45720">
                    <a:lnL w="9525">
                      <a:solidFill>
                        <a:srgbClr val="D5E1EC"/>
                      </a:solidFill>
                      <a:prstDash val="solid"/>
                    </a:lnL>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docker logs container</a:t>
                      </a:r>
                    </a:p>
                  </a:txBody>
                  <a:tcPr marL="91440" marR="91440" marT="45720" marB="45720">
                    <a:lnR w="9525">
                      <a:solidFill>
                        <a:srgbClr val="D5E1EC"/>
                      </a:solidFill>
                      <a:prstDash val="solid"/>
                    </a:lnR>
                    <a:lnB w="9525">
                      <a:solidFill>
                        <a:srgbClr val="D5E1EC"/>
                      </a:solidFill>
                      <a:prstDash val="solid"/>
                    </a:lnB>
                    <a:solidFill>
                      <a:srgbClr val="F4F8FC"/>
                    </a:solidFill>
                  </a:tcPr>
                </a:tc>
                <a:tc>
                  <a:txBody>
                    <a:bodyPr lIns="114300" tIns="95250" rIns="114300" bIns="95250"/>
                    <a:lstStyle/>
                    <a:p>
                      <a:r>
                        <a:rPr sz="1650" b="0">
                          <a:solidFill>
                            <a:srgbClr val="233344"/>
                          </a:solidFill>
                          <a:latin typeface="Arial"/>
                          <a:ea typeface="Arial"/>
                          <a:cs typeface="Arial"/>
                        </a:rPr>
                        <a:t>Profile debug dan logs -f</a:t>
                      </a:r>
                    </a:p>
                  </a:txBody>
                  <a:tcPr marL="91440" marR="91440" marT="45720" marB="45720">
                    <a:lnR w="9525">
                      <a:solidFill>
                        <a:srgbClr val="D5E1EC"/>
                      </a:solidFill>
                      <a:prstDash val="solid"/>
                    </a:lnR>
                    <a:lnB w="9525">
                      <a:solidFill>
                        <a:srgbClr val="D5E1EC"/>
                      </a:solidFill>
                      <a:prstDash val="solid"/>
                    </a:lnB>
                    <a:solidFill>
                      <a:srgbClr val="F4F8FC"/>
                    </a:solidFill>
                  </a:tcPr>
                </a:tc>
              </a:tr>
            </a:tbl>
          </a:graphicData>
        </a:graphic>
      </p:graphicFrame>
      <p:sp>
        <p:nvSpPr>
          <p:cNvPr id="32" name="Tunjukkan satu hasil Anda dan alasan teknisnya. Gunakan">
            <a:extLst xmlns:a="http://schemas.openxmlformats.org/drawingml/2006/main">
              <a:ext uri="{FF2B5EF4-FFF2-40B4-BE49-F238E27FC236}">
                <a16:creationId xmlns:a16="http://schemas.microsoft.com/office/drawing/2014/main" id="{FE903596-6C5D-41A8-8F22-5B32768EBD6B}"/>
              </a:ext>
            </a:extLst>
          </p:cNvPr>
          <p:cNvSpPr>
            <a:spLocks xmlns:a="http://schemas.openxmlformats.org/drawingml/2006/main" noGrp="1"/>
          </p:cNvSpPr>
          <p:nvPr/>
        </p:nvSpPr>
        <p:spPr>
          <a:xfrm xmlns:a="http://schemas.openxmlformats.org/drawingml/2006/main">
            <a:off x="533400" y="5314950"/>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Tunjukkan satu hasil Anda dan alasan teknisnya. Gunakan latihan ini sebagai referensi proyek kelompok, tanpa penyerahan per lab baru.</a:t>
            </a:r>
          </a:p>
        </p:txBody>
      </p:sp>
    </p:spTree>
    <p:extLst>
      <p:ext uri="{BB962C8B-B14F-4D97-AF65-F5344CB8AC3E}">
        <p14:creationId xmlns:p14="http://schemas.microsoft.com/office/powerpoint/2010/main" val="381653648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29</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957ab7914bbc47b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18a79731856f475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Cleanup stack latihan</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Menit 96–100: hentikan Compose beserta profile debug</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E8607B18-A225-4F19-942B-20FF99A06793}"/>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59043C4D-5115-4776-9D64-D7E14BEFC51D}"/>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compose --profile debug down&#10;docker compose ps -">
            <a:extLst xmlns:a="http://schemas.openxmlformats.org/drawingml/2006/main">
              <a:ext uri="{FF2B5EF4-FFF2-40B4-BE49-F238E27FC236}">
                <a16:creationId xmlns:a16="http://schemas.microsoft.com/office/drawing/2014/main" id="{139922FB-2AB6-44B7-A821-4570655E1862}"/>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--profile debug down</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compose ps -a</a:t>
            </a:r>
          </a:p>
        </p:txBody>
      </p:sp>
      <p:sp>
        <p:nvSpPr>
          <p:cNvPr id="34" name="Fungsi, proses, dan hasil">
            <a:extLst xmlns:a="http://schemas.openxmlformats.org/drawingml/2006/main">
              <a:ext uri="{FF2B5EF4-FFF2-40B4-BE49-F238E27FC236}">
                <a16:creationId xmlns:a16="http://schemas.microsoft.com/office/drawing/2014/main" id="{47D3A470-1020-4C70-8BD6-E8B76D641C4A}"/>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Down menghentikan api/db/cache dan Adminer.&#10;&#10;Ps -a tida">
            <a:extLst xmlns:a="http://schemas.openxmlformats.org/drawingml/2006/main">
              <a:ext uri="{FF2B5EF4-FFF2-40B4-BE49-F238E27FC236}">
                <a16:creationId xmlns:a16="http://schemas.microsoft.com/office/drawing/2014/main" id="{34242ABE-10D3-439F-90AD-00EB2FC075B7}"/>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Down menghentikan api/db/cache dan Adminer.</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Ps -a tidak lagi menampilkan container project.</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Volume dan image tetap tersimpan.</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Core sudah dihentikan sebelumnya.</a:t>
            </a:r>
          </a:p>
        </p:txBody>
      </p:sp>
      <p:sp>
        <p:nvSpPr>
          <p:cNvPr id="36" name="Command lengkap ada di modul mahasiswa.">
            <a:extLst xmlns:a="http://schemas.openxmlformats.org/drawingml/2006/main">
              <a:ext uri="{FF2B5EF4-FFF2-40B4-BE49-F238E27FC236}">
                <a16:creationId xmlns:a16="http://schemas.microsoft.com/office/drawing/2014/main" id="{942B4599-CB88-4E1B-BBAB-5F485009D6CD}"/>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4a25d2d0e72d47f2"/>
              </a:rPr>
              <a:t>Command lengkap ada di modul mahasiswa.</a:t>
            </a:r>
          </a:p>
        </p:txBody>
      </p:sp>
    </p:spTree>
    <p:extLst>
      <p:ext uri="{BB962C8B-B14F-4D97-AF65-F5344CB8AC3E}">
        <p14:creationId xmlns:p14="http://schemas.microsoft.com/office/powerpoint/2010/main" val="381653648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8AA86-24D0-474C-B686-C38463A2573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Praktikum 22 Oktober</a:t>
            </a:r>
            <a:endParaRPr sz="900"/>
          </a:p>
        </p:txBody>
      </p:sp>
      <p:sp>
        <p:nvSpPr>
          <p:cNvPr id="3" name="Text 1">
            <a:extLst xmlns:a="http://schemas.openxmlformats.org/drawingml/2006/main">
              <a:ext uri="{FF2B5EF4-FFF2-40B4-BE49-F238E27FC236}">
                <a16:creationId xmlns:a16="http://schemas.microsoft.com/office/drawing/2014/main" id="{75EAEE28-40D5-420F-9E66-976E2713E2C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30</a:t>
            </a:r>
            <a:endParaRPr sz="900"/>
          </a:p>
        </p:txBody>
      </p:sp>
      <p:sp>
        <p:nvSpPr>
          <p:cNvPr id="4" name="Shape 2">
            <a:extLst xmlns:a="http://schemas.openxmlformats.org/drawingml/2006/main">
              <a:ext uri="{FF2B5EF4-FFF2-40B4-BE49-F238E27FC236}">
                <a16:creationId xmlns:a16="http://schemas.microsoft.com/office/drawing/2014/main" id="{9A8D2237-B65F-4CB4-B2AA-6C7497C3B6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Image 0">
            <a:extLst xmlns:a="http://schemas.openxmlformats.org/drawingml/2006/main">
              <a:ext uri="{FF2B5EF4-FFF2-40B4-BE49-F238E27FC236}">
                <a16:creationId xmlns:a16="http://schemas.microsoft.com/office/drawing/2014/main" id="{0385466A-3DC0-4160-A76B-92F88B3ED109}"/>
              </a:ext>
            </a:extLst>
          </p:cNvPr>
          <p:cNvPicPr>
            <a:picLocks xmlns:a="http://schemas.openxmlformats.org/drawingml/2006/main" noChangeAspect="1"/>
          </p:cNvPicPr>
          <p:nvPr/>
        </p:nvPicPr>
        <p:blipFill>
          <a:blip xmlns:r="http://schemas.openxmlformats.org/officeDocument/2006/relationships" xmlns:a="http://schemas.openxmlformats.org/drawingml/2006/main" r:embed="Rd7e0842ba31a40d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FAE7746-9ABE-45D4-A862-5EB870347DEC}"/>
              </a:ext>
            </a:extLst>
          </p:cNvPr>
          <p:cNvPicPr>
            <a:picLocks xmlns:a="http://schemas.openxmlformats.org/drawingml/2006/main" noChangeAspect="1"/>
          </p:cNvPicPr>
          <p:nvPr/>
        </p:nvPicPr>
        <p:blipFill>
          <a:blip xmlns:r="http://schemas.openxmlformats.org/officeDocument/2006/relationships" xmlns:a="http://schemas.openxmlformats.org/drawingml/2006/main" r:embed="R1e55fc0e2e55493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6AE5D18-3FF9-4F98-A0DA-CB0E017C70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4">
            <a:extLst xmlns:a="http://schemas.openxmlformats.org/drawingml/2006/main">
              <a:ext uri="{FF2B5EF4-FFF2-40B4-BE49-F238E27FC236}">
                <a16:creationId xmlns:a16="http://schemas.microsoft.com/office/drawing/2014/main" id="{5D4E438B-CC88-4480-8A67-D305978047B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Lampiran: tag dan push Docker Hub</a:t>
            </a:r>
            <a:endParaRPr sz="2200"/>
          </a:p>
        </p:txBody>
      </p:sp>
      <p:sp>
        <p:nvSpPr>
          <p:cNvPr id="9" name="Text 5">
            <a:extLst xmlns:a="http://schemas.openxmlformats.org/drawingml/2006/main">
              <a:ext uri="{FF2B5EF4-FFF2-40B4-BE49-F238E27FC236}">
                <a16:creationId xmlns:a16="http://schemas.microsoft.com/office/drawing/2014/main" id="{FA647D36-043E-4091-AF9A-857F6D2ADC7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CLI lokal, gunakan akun pribadi dan repository yang Anda miliki</a:t>
            </a:r>
            <a:endParaRPr sz="1200"/>
          </a:p>
        </p:txBody>
      </p:sp>
      <p:sp>
        <p:nvSpPr>
          <p:cNvPr id="31" name="Code text frame from supplied BINUS layout">
            <a:extLst xmlns:a="http://schemas.openxmlformats.org/drawingml/2006/main">
              <a:ext uri="{FF2B5EF4-FFF2-40B4-BE49-F238E27FC236}">
                <a16:creationId xmlns:a16="http://schemas.microsoft.com/office/drawing/2014/main" id="{63602997-FAE7-44CD-8A69-3EB775A5B28C}"/>
              </a:ext>
            </a:extLst>
          </p:cNvPr>
          <p:cNvSpPr>
            <a:spLocks xmlns:a="http://schemas.openxmlformats.org/drawingml/2006/main" noGrp="1"/>
          </p:cNvSpPr>
          <p:nvPr/>
        </p:nvSpPr>
        <p:spPr>
          <a:xfrm xmlns:a="http://schemas.openxmlformats.org/drawingml/2006/main">
            <a:off x="457200" y="1457325"/>
            <a:ext cx="5619750" cy="4705350"/>
          </a:xfrm>
          <a:prstGeom xmlns:a="http://schemas.openxmlformats.org/drawingml/2006/main" prst="rect">
            <a:avLst/>
          </a:prstGeom>
          <a:solidFill xmlns:a="http://schemas.openxmlformats.org/drawingml/2006/main">
            <a:srgbClr val="1D293B"/>
          </a:solidFill>
          <a:ln xmlns:a="http://schemas.openxmlformats.org/drawingml/2006/main" w="0">
            <a:solidFill>
              <a:srgbClr val="1D293B"/>
            </a:solidFill>
          </a:ln>
        </p:spPr>
      </p:sp>
      <p:sp>
        <p:nvSpPr>
          <p:cNvPr id="32" name="POWERSHELL, ROOT REPO">
            <a:extLst xmlns:a="http://schemas.openxmlformats.org/drawingml/2006/main">
              <a:ext uri="{FF2B5EF4-FFF2-40B4-BE49-F238E27FC236}">
                <a16:creationId xmlns:a16="http://schemas.microsoft.com/office/drawing/2014/main" id="{C4F2E6E4-1C78-4552-88DB-5B665F8A1545}"/>
              </a:ext>
            </a:extLst>
          </p:cNvPr>
          <p:cNvSpPr>
            <a:spLocks xmlns:a="http://schemas.openxmlformats.org/drawingml/2006/main" noGrp="1"/>
          </p:cNvSpPr>
          <p:nvPr/>
        </p:nvSpPr>
        <p:spPr>
          <a:xfrm xmlns:a="http://schemas.openxmlformats.org/drawingml/2006/main">
            <a:off x="628650" y="15811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75" b="1">
                <a:solidFill>
                  <a:srgbClr val="B5C7DD"/>
                </a:solidFill>
                <a:latin typeface="Consolas"/>
                <a:ea typeface="Consolas"/>
                <a:cs typeface="Consolas"/>
              </a:defRPr>
            </a:defPPr>
          </a:lstStyle>
          <a:p xmlns:a="http://schemas.openxmlformats.org/drawingml/2006/main">
            <a:pPr>
              <a:defRPr sz="975" b="1">
                <a:solidFill>
                  <a:srgbClr val="B5C7DD"/>
                </a:solidFill>
                <a:latin typeface="Consolas"/>
                <a:ea typeface="Consolas"/>
                <a:cs typeface="Consolas"/>
              </a:defRPr>
            </a:pPr>
            <a:r>
              <a:rPr sz="975" b="1">
                <a:solidFill>
                  <a:srgbClr val="B5C7DD"/>
                </a:solidFill>
                <a:latin typeface="Consolas"/>
                <a:ea typeface="Consolas"/>
                <a:cs typeface="Consolas"/>
              </a:rPr>
              <a:t>POWERSHELL, ROOT REPO</a:t>
            </a:r>
          </a:p>
        </p:txBody>
      </p:sp>
      <p:sp>
        <p:nvSpPr>
          <p:cNvPr id="33" name="docker login&#10;docker tag cloud-notes-api:core22 `&#10;  dock">
            <a:extLst xmlns:a="http://schemas.openxmlformats.org/drawingml/2006/main">
              <a:ext uri="{FF2B5EF4-FFF2-40B4-BE49-F238E27FC236}">
                <a16:creationId xmlns:a16="http://schemas.microsoft.com/office/drawing/2014/main" id="{E6C43FDA-BBA0-4431-A42B-D8CC9A477DAE}"/>
              </a:ext>
            </a:extLst>
          </p:cNvPr>
          <p:cNvSpPr>
            <a:spLocks xmlns:a="http://schemas.openxmlformats.org/drawingml/2006/main" noGrp="1"/>
          </p:cNvSpPr>
          <p:nvPr/>
        </p:nvSpPr>
        <p:spPr>
          <a:xfrm xmlns:a="http://schemas.openxmlformats.org/drawingml/2006/main">
            <a:off x="628650" y="1952625"/>
            <a:ext cx="5276850" cy="402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Consolas"/>
                <a:ea typeface="Consolas"/>
                <a:cs typeface="Consolas"/>
              </a:defRPr>
            </a:defPPr>
          </a:lstStyle>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login</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tag cloud-notes-api:core22 `</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  dockerid/cloud-notes-api:1.0</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push dockerid/cloud-notes-api:1.0</a:t>
            </a:r>
          </a:p>
          <a:p xmlns:a="http://schemas.openxmlformats.org/drawingml/2006/main">
            <a:pPr>
              <a:defRPr sz="1500" b="0">
                <a:solidFill>
                  <a:srgbClr val="FFFFFF"/>
                </a:solidFill>
                <a:latin typeface="Consolas"/>
                <a:ea typeface="Consolas"/>
                <a:cs typeface="Consolas"/>
              </a:defRPr>
            </a:pPr>
            <a:r>
              <a:rPr sz="1500" b="0">
                <a:solidFill>
                  <a:srgbClr val="FFFFFF"/>
                </a:solidFill>
                <a:latin typeface="Consolas"/>
                <a:ea typeface="Consolas"/>
                <a:cs typeface="Consolas"/>
              </a:rPr>
              <a:t>docker pull dockerid/cloud-notes-api:1.0</a:t>
            </a:r>
          </a:p>
        </p:txBody>
      </p:sp>
      <p:sp>
        <p:nvSpPr>
          <p:cNvPr id="34" name="Fungsi, proses, dan hasil">
            <a:extLst xmlns:a="http://schemas.openxmlformats.org/drawingml/2006/main">
              <a:ext uri="{FF2B5EF4-FFF2-40B4-BE49-F238E27FC236}">
                <a16:creationId xmlns:a16="http://schemas.microsoft.com/office/drawing/2014/main" id="{C4643BF0-4FF0-41C9-A20F-99F2D57EC5E7}"/>
              </a:ext>
            </a:extLst>
          </p:cNvPr>
          <p:cNvSpPr>
            <a:spLocks xmlns:a="http://schemas.openxmlformats.org/drawingml/2006/main" noGrp="1"/>
          </p:cNvSpPr>
          <p:nvPr/>
        </p:nvSpPr>
        <p:spPr>
          <a:xfrm xmlns:a="http://schemas.openxmlformats.org/drawingml/2006/main">
            <a:off x="6448425" y="1562100"/>
            <a:ext cx="51149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8256E"/>
                </a:solidFill>
                <a:latin typeface="Arial"/>
                <a:ea typeface="Arial"/>
                <a:cs typeface="Arial"/>
              </a:defRPr>
            </a:defPPr>
          </a:lstStyle>
          <a:p xmlns:a="http://schemas.openxmlformats.org/drawingml/2006/main">
            <a:pPr>
              <a:defRPr sz="1875" b="1">
                <a:solidFill>
                  <a:srgbClr val="08256E"/>
                </a:solidFill>
                <a:latin typeface="Arial"/>
                <a:ea typeface="Arial"/>
                <a:cs typeface="Arial"/>
              </a:defRPr>
            </a:pPr>
            <a:r>
              <a:rPr sz="1875" b="1">
                <a:solidFill>
                  <a:srgbClr val="08256E"/>
                </a:solidFill>
                <a:latin typeface="Arial"/>
                <a:ea typeface="Arial"/>
                <a:cs typeface="Arial"/>
              </a:rPr>
              <a:t>Fungsi, proses, dan hasil</a:t>
            </a:r>
          </a:p>
        </p:txBody>
      </p:sp>
      <p:sp>
        <p:nvSpPr>
          <p:cNvPr id="35" name="Ganti dockerid dengan akun Hub sendiri.&#10;&#10;Tag memberi na">
            <a:extLst xmlns:a="http://schemas.openxmlformats.org/drawingml/2006/main">
              <a:ext uri="{FF2B5EF4-FFF2-40B4-BE49-F238E27FC236}">
                <a16:creationId xmlns:a16="http://schemas.microsoft.com/office/drawing/2014/main" id="{AA8FF96A-8B32-41AD-8F6D-231A19F59A1B}"/>
              </a:ext>
            </a:extLst>
          </p:cNvPr>
          <p:cNvSpPr>
            <a:spLocks xmlns:a="http://schemas.openxmlformats.org/drawingml/2006/main" noGrp="1"/>
          </p:cNvSpPr>
          <p:nvPr/>
        </p:nvSpPr>
        <p:spPr>
          <a:xfrm xmlns:a="http://schemas.openxmlformats.org/drawingml/2006/main">
            <a:off x="6448425" y="2085975"/>
            <a:ext cx="505777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33344"/>
                </a:solidFill>
                <a:latin typeface="Arial"/>
                <a:ea typeface="Arial"/>
                <a:cs typeface="Arial"/>
              </a:defRPr>
            </a:defPPr>
          </a:lstStyle>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Ganti dockerid dengan akun Hub sendiri.</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Tag memberi nama tujuan registry.</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Push mengirim layer dan menghasilkan digest.</a:t>
            </a:r>
          </a:p>
          <a:p xmlns:a="http://schemas.openxmlformats.org/drawingml/2006/main">
            <a:r>
              <a:t/>
            </a:r>
          </a:p>
          <a:p xmlns:a="http://schemas.openxmlformats.org/drawingml/2006/main">
            <a:pPr>
              <a:defRPr sz="1725" b="0">
                <a:solidFill>
                  <a:srgbClr val="233344"/>
                </a:solidFill>
                <a:latin typeface="Arial"/>
                <a:ea typeface="Arial"/>
                <a:cs typeface="Arial"/>
              </a:defRPr>
            </a:pPr>
            <a:r>
              <a:rPr sz="1725" b="0">
                <a:solidFill>
                  <a:srgbClr val="233344"/>
                </a:solidFill>
                <a:latin typeface="Arial"/>
                <a:ea typeface="Arial"/>
                <a:cs typeface="Arial"/>
              </a:rPr>
              <a:t>Pull mengambil image. Periksa tag 1.0 pada repository sendiri.</a:t>
            </a:r>
          </a:p>
        </p:txBody>
      </p:sp>
      <p:sp>
        <p:nvSpPr>
          <p:cNvPr id="36" name="Command lengkap ada di modul mahasiswa.">
            <a:extLst xmlns:a="http://schemas.openxmlformats.org/drawingml/2006/main">
              <a:ext uri="{FF2B5EF4-FFF2-40B4-BE49-F238E27FC236}">
                <a16:creationId xmlns:a16="http://schemas.microsoft.com/office/drawing/2014/main" id="{D1DA89E2-E25E-42D0-9FCC-C82900C789B3}"/>
              </a:ext>
            </a:extLst>
          </p:cNvPr>
          <p:cNvSpPr>
            <a:spLocks xmlns:a="http://schemas.openxmlformats.org/drawingml/2006/main" noGrp="1"/>
          </p:cNvSpPr>
          <p:nvPr/>
        </p:nvSpPr>
        <p:spPr>
          <a:xfrm xmlns:a="http://schemas.openxmlformats.org/drawingml/2006/main">
            <a:off x="6448425" y="5762625"/>
            <a:ext cx="5067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1479DC"/>
                </a:solidFill>
                <a:latin typeface="Arial"/>
                <a:ea typeface="Arial"/>
                <a:cs typeface="Arial"/>
              </a:defRPr>
            </a:defPPr>
          </a:lstStyle>
          <a:p xmlns:a="http://schemas.openxmlformats.org/drawingml/2006/main">
            <a:pPr>
              <a:defRPr sz="1200" b="0">
                <a:solidFill>
                  <a:srgbClr val="1479DC"/>
                </a:solidFill>
                <a:latin typeface="Arial"/>
                <a:ea typeface="Arial"/>
                <a:cs typeface="Arial"/>
              </a:defRPr>
            </a:pPr>
            <a:r>
              <a:rPr sz="1200" b="0">
                <a:solidFill>
                  <a:srgbClr val="1479DC"/>
                </a:solidFill>
                <a:latin typeface="Arial"/>
                <a:ea typeface="Arial"/>
                <a:cs typeface="Arial"/>
                <a:hlinkClick xmlns:r="http://schemas.openxmlformats.org/officeDocument/2006/relationships" r:id="Rc39838e25b534c92"/>
              </a:rPr>
              <a:t>Command lengkap ada di modul mahasiswa.</a:t>
            </a:r>
          </a:p>
        </p:txBody>
      </p:sp>
    </p:spTree>
    <p:extLst>
      <p:ext uri="{BB962C8B-B14F-4D97-AF65-F5344CB8AC3E}">
        <p14:creationId xmlns:p14="http://schemas.microsoft.com/office/powerpoint/2010/main" val="381653648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2026-10-15T08:08:02.9520000Z</dcterms:created>
  <dcterms:modified xsi:type="dcterms:W3CDTF">2026-10-15T08:08:02.9520000Z</dcterms:modified>
</coreProperties>
</file>