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2fe10a4a504b77" /><Relationship Type="http://schemas.openxmlformats.org/officeDocument/2006/relationships/extended-properties" Target="/docProps/app.xml" Id="R714e75cf0f884e66" /><Relationship Type="http://schemas.openxmlformats.org/officeDocument/2006/relationships/officeDocument" Target="/ppt/presentation.xml" Id="Rd010b2a0ecae4cfc" /></Relationships>
</file>

<file path=ppt/presentation.xml><?xml version="1.0" encoding="utf-8"?>
<p:presentation xmlns:p="http://schemas.openxmlformats.org/presentationml/2006/main">
  <p:sldMasterIdLst>
    <p:sldMasterId xmlns:r="http://schemas.openxmlformats.org/officeDocument/2006/relationships" id="2147483648" r:id="R20fc9c679cbb49f2"/>
  </p:sldMasterIdLst>
  <p:notesMasterIdLst>
    <p:notesMasterId xmlns:r="http://schemas.openxmlformats.org/officeDocument/2006/relationships" r:id="R2632c3218b85419b"/>
  </p:notesMasterIdLst>
  <p:sldIdLst>
    <p:sldId xmlns:r="http://schemas.openxmlformats.org/officeDocument/2006/relationships" id="256" r:id="R250f0cef25fa4c20"/>
    <p:sldId xmlns:r="http://schemas.openxmlformats.org/officeDocument/2006/relationships" id="257" r:id="R501b9504af4d4bf2"/>
    <p:sldId xmlns:r="http://schemas.openxmlformats.org/officeDocument/2006/relationships" id="258" r:id="Rc1230a3ef7e14590"/>
    <p:sldId xmlns:r="http://schemas.openxmlformats.org/officeDocument/2006/relationships" id="259" r:id="Rd431f455524545ae"/>
    <p:sldId xmlns:r="http://schemas.openxmlformats.org/officeDocument/2006/relationships" id="260" r:id="R02fe229334494146"/>
    <p:sldId xmlns:r="http://schemas.openxmlformats.org/officeDocument/2006/relationships" id="261" r:id="Rf4355c8982184967"/>
    <p:sldId xmlns:r="http://schemas.openxmlformats.org/officeDocument/2006/relationships" id="262" r:id="R288b505050cf4133"/>
    <p:sldId xmlns:r="http://schemas.openxmlformats.org/officeDocument/2006/relationships" id="263" r:id="Rc9dc0962adfd4cfc"/>
    <p:sldId xmlns:r="http://schemas.openxmlformats.org/officeDocument/2006/relationships" id="264" r:id="Rac9297c1570344d4"/>
    <p:sldId xmlns:r="http://schemas.openxmlformats.org/officeDocument/2006/relationships" id="265" r:id="R51c4fbbccd8c4bf4"/>
    <p:sldId xmlns:r="http://schemas.openxmlformats.org/officeDocument/2006/relationships" id="266" r:id="Ra9815d189ad2496a"/>
    <p:sldId xmlns:r="http://schemas.openxmlformats.org/officeDocument/2006/relationships" id="267" r:id="R8d5d2971fc4c4526"/>
    <p:sldId xmlns:r="http://schemas.openxmlformats.org/officeDocument/2006/relationships" id="268" r:id="Rab0f87271c56412b"/>
    <p:sldId xmlns:r="http://schemas.openxmlformats.org/officeDocument/2006/relationships" id="269" r:id="R3b952aa15cf9482c"/>
    <p:sldId xmlns:r="http://schemas.openxmlformats.org/officeDocument/2006/relationships" id="270" r:id="R414545a3cd9c4bb5"/>
    <p:sldId xmlns:r="http://schemas.openxmlformats.org/officeDocument/2006/relationships" id="271" r:id="Rb91e97a6904943cd"/>
    <p:sldId xmlns:r="http://schemas.openxmlformats.org/officeDocument/2006/relationships" id="272" r:id="R9c0557aba2e54137"/>
    <p:sldId xmlns:r="http://schemas.openxmlformats.org/officeDocument/2006/relationships" id="273" r:id="R15b408a96f2045c9"/>
    <p:sldId xmlns:r="http://schemas.openxmlformats.org/officeDocument/2006/relationships" id="274" r:id="Rb766ae961cd848da"/>
    <p:sldId xmlns:r="http://schemas.openxmlformats.org/officeDocument/2006/relationships" id="275" r:id="R618dac7a1d5f48df"/>
    <p:sldId xmlns:r="http://schemas.openxmlformats.org/officeDocument/2006/relationships" id="276" r:id="R881bfdd9463a47bd"/>
    <p:sldId xmlns:r="http://schemas.openxmlformats.org/officeDocument/2006/relationships" id="277" r:id="R1e1796075efd40ef"/>
    <p:sldId xmlns:r="http://schemas.openxmlformats.org/officeDocument/2006/relationships" id="278" r:id="Rdf0f50e5553c4788"/>
    <p:sldId xmlns:r="http://schemas.openxmlformats.org/officeDocument/2006/relationships" id="279" r:id="R7063859089a44f78"/>
    <p:sldId xmlns:r="http://schemas.openxmlformats.org/officeDocument/2006/relationships" id="280" r:id="Rbc2b338dce6a43ae"/>
    <p:sldId xmlns:r="http://schemas.openxmlformats.org/officeDocument/2006/relationships" id="281" r:id="Rb40c8b246d244c46"/>
    <p:sldId xmlns:r="http://schemas.openxmlformats.org/officeDocument/2006/relationships" id="282" r:id="R3a92375f97c546ec"/>
    <p:sldId xmlns:r="http://schemas.openxmlformats.org/officeDocument/2006/relationships" id="283" r:id="R4594e7b28804472c"/>
    <p:sldId xmlns:r="http://schemas.openxmlformats.org/officeDocument/2006/relationships" id="284" r:id="R2c280b76e2c441e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fd97321ce084d5f" /><Relationship Type="http://schemas.openxmlformats.org/officeDocument/2006/relationships/slideMaster" Target="/ppt/slideMasters/slideMaster1.xml" Id="R20fc9c679cbb49f2" /><Relationship Type="http://schemas.openxmlformats.org/officeDocument/2006/relationships/notesMaster" Target="/ppt/notesMasters/notesMaster1.xml" Id="R2632c3218b85419b" /><Relationship Type="http://schemas.openxmlformats.org/officeDocument/2006/relationships/presProps" Target="/ppt/presProps.xml" Id="R0ca27bda86334382" /><Relationship Type="http://schemas.openxmlformats.org/officeDocument/2006/relationships/viewProps" Target="/ppt/viewProps.xml" Id="Rb6531705f81644b8" /><Relationship Type="http://schemas.openxmlformats.org/officeDocument/2006/relationships/tableStyles" Target="/ppt/tableStyles.xml" Id="Rfdf19012ef0f42ff" /><Relationship Type="http://schemas.openxmlformats.org/officeDocument/2006/relationships/slide" Target="/ppt/slides/slide1.xml" Id="R250f0cef25fa4c20" /><Relationship Type="http://schemas.openxmlformats.org/officeDocument/2006/relationships/slide" Target="/ppt/slides/slide2.xml" Id="R501b9504af4d4bf2" /><Relationship Type="http://schemas.openxmlformats.org/officeDocument/2006/relationships/slide" Target="/ppt/slides/slide3.xml" Id="Rc1230a3ef7e14590" /><Relationship Type="http://schemas.openxmlformats.org/officeDocument/2006/relationships/slide" Target="/ppt/slides/slide4.xml" Id="Rd431f455524545ae" /><Relationship Type="http://schemas.openxmlformats.org/officeDocument/2006/relationships/slide" Target="/ppt/slides/slide5.xml" Id="R02fe229334494146" /><Relationship Type="http://schemas.openxmlformats.org/officeDocument/2006/relationships/slide" Target="/ppt/slides/slide6.xml" Id="Rf4355c8982184967" /><Relationship Type="http://schemas.openxmlformats.org/officeDocument/2006/relationships/slide" Target="/ppt/slides/slide7.xml" Id="R288b505050cf4133" /><Relationship Type="http://schemas.openxmlformats.org/officeDocument/2006/relationships/slide" Target="/ppt/slides/slide8.xml" Id="Rc9dc0962adfd4cfc" /><Relationship Type="http://schemas.openxmlformats.org/officeDocument/2006/relationships/slide" Target="/ppt/slides/slide9.xml" Id="Rac9297c1570344d4" /><Relationship Type="http://schemas.openxmlformats.org/officeDocument/2006/relationships/slide" Target="/ppt/slides/slide10.xml" Id="R51c4fbbccd8c4bf4" /><Relationship Type="http://schemas.openxmlformats.org/officeDocument/2006/relationships/slide" Target="/ppt/slides/slide11.xml" Id="Ra9815d189ad2496a" /><Relationship Type="http://schemas.openxmlformats.org/officeDocument/2006/relationships/slide" Target="/ppt/slides/slide12.xml" Id="R8d5d2971fc4c4526" /><Relationship Type="http://schemas.openxmlformats.org/officeDocument/2006/relationships/slide" Target="/ppt/slides/slide13.xml" Id="Rab0f87271c56412b" /><Relationship Type="http://schemas.openxmlformats.org/officeDocument/2006/relationships/slide" Target="/ppt/slides/slide14.xml" Id="R3b952aa15cf9482c" /><Relationship Type="http://schemas.openxmlformats.org/officeDocument/2006/relationships/slide" Target="/ppt/slides/slide15.xml" Id="R414545a3cd9c4bb5" /><Relationship Type="http://schemas.openxmlformats.org/officeDocument/2006/relationships/slide" Target="/ppt/slides/slide16.xml" Id="Rb91e97a6904943cd" /><Relationship Type="http://schemas.openxmlformats.org/officeDocument/2006/relationships/slide" Target="/ppt/slides/slide17.xml" Id="R9c0557aba2e54137" /><Relationship Type="http://schemas.openxmlformats.org/officeDocument/2006/relationships/slide" Target="/ppt/slides/slide18.xml" Id="R15b408a96f2045c9" /><Relationship Type="http://schemas.openxmlformats.org/officeDocument/2006/relationships/slide" Target="/ppt/slides/slide19.xml" Id="Rb766ae961cd848da" /><Relationship Type="http://schemas.openxmlformats.org/officeDocument/2006/relationships/slide" Target="/ppt/slides/slide20.xml" Id="R618dac7a1d5f48df" /><Relationship Type="http://schemas.openxmlformats.org/officeDocument/2006/relationships/slide" Target="/ppt/slides/slide21.xml" Id="R881bfdd9463a47bd" /><Relationship Type="http://schemas.openxmlformats.org/officeDocument/2006/relationships/slide" Target="/ppt/slides/slide22.xml" Id="R1e1796075efd40ef" /><Relationship Type="http://schemas.openxmlformats.org/officeDocument/2006/relationships/slide" Target="/ppt/slides/slide23.xml" Id="Rdf0f50e5553c4788" /><Relationship Type="http://schemas.openxmlformats.org/officeDocument/2006/relationships/slide" Target="/ppt/slides/slide24.xml" Id="R7063859089a44f78" /><Relationship Type="http://schemas.openxmlformats.org/officeDocument/2006/relationships/slide" Target="/ppt/slides/slide25.xml" Id="Rbc2b338dce6a43ae" /><Relationship Type="http://schemas.openxmlformats.org/officeDocument/2006/relationships/slide" Target="/ppt/slides/slide26.xml" Id="Rb40c8b246d244c46" /><Relationship Type="http://schemas.openxmlformats.org/officeDocument/2006/relationships/slide" Target="/ppt/slides/slide27.xml" Id="R3a92375f97c546ec" /><Relationship Type="http://schemas.openxmlformats.org/officeDocument/2006/relationships/slide" Target="/ppt/slides/slide28.xml" Id="R4594e7b28804472c" /><Relationship Type="http://schemas.openxmlformats.org/officeDocument/2006/relationships/slide" Target="/ppt/slides/slide29.xml" Id="R2c280b76e2c441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5f4608fe064b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fb2a2f6ef24b2a" /><Relationship Type="http://schemas.openxmlformats.org/officeDocument/2006/relationships/notesMaster" Target="/ppt/notesMasters/notesMaster1.xml" Id="R720d8bdabda342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4fe39cbed246ca" /><Relationship Type="http://schemas.openxmlformats.org/officeDocument/2006/relationships/notesMaster" Target="/ppt/notesMasters/notesMaster1.xml" Id="Redda652503114b4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8b63463a34d4527" /><Relationship Type="http://schemas.openxmlformats.org/officeDocument/2006/relationships/notesMaster" Target="/ppt/notesMasters/notesMaster1.xml" Id="Rbcc9025b54ad41e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a94bd81f68453e" /><Relationship Type="http://schemas.openxmlformats.org/officeDocument/2006/relationships/notesMaster" Target="/ppt/notesMasters/notesMaster1.xml" Id="R71627b74fe1d48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34baf45aac4f60" /><Relationship Type="http://schemas.openxmlformats.org/officeDocument/2006/relationships/notesMaster" Target="/ppt/notesMasters/notesMaster1.xml" Id="Red081c4667be43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872688771540e8" /><Relationship Type="http://schemas.openxmlformats.org/officeDocument/2006/relationships/notesMaster" Target="/ppt/notesMasters/notesMaster1.xml" Id="R3f03eb101d24488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5835cff395485e" /><Relationship Type="http://schemas.openxmlformats.org/officeDocument/2006/relationships/notesMaster" Target="/ppt/notesMasters/notesMaster1.xml" Id="R355f036912044a93" /></Relationships>
</file>

<file path=ppt/notesSlides/_rels/notesSlide8.xml.rels>&#65279;<?xml version="1.0" encoding="utf-8"?><Relationships xmlns="http://schemas.openxmlformats.org/package/2006/relationships"><Relationship Type="http://schemas.openxmlformats.org/officeDocument/2006/relationships/slide" Target="/ppt/slides/slide8.xml" Id="R1175f7ff392344f9" /><Relationship Type="http://schemas.openxmlformats.org/officeDocument/2006/relationships/notesMaster" Target="/ppt/notesMasters/notesMaster1.xml" Id="R9572e59475a1487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3d6d0bb4f2c4636" /><Relationship Type="http://schemas.openxmlformats.org/officeDocument/2006/relationships/notesMaster" Target="/ppt/notesMasters/notesMaster1.xml" Id="R84a0b68c8a314c1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bc04b58e374fcd" /><Relationship Type="http://schemas.openxmlformats.org/officeDocument/2006/relationships/notesMaster" Target="/ppt/notesMasters/notesMaster1.xml" Id="R5eefbdfd526a4b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f2d49edf37844ed" /><Relationship Type="http://schemas.openxmlformats.org/officeDocument/2006/relationships/notesMaster" Target="/ppt/notesMasters/notesMaster1.xml" Id="R82bd49a16161467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27317b0a8bd4177" /><Relationship Type="http://schemas.openxmlformats.org/officeDocument/2006/relationships/notesMaster" Target="/ppt/notesMasters/notesMaster1.xml" Id="Ra04533e1240b4e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8235423aa9c42ac" /><Relationship Type="http://schemas.openxmlformats.org/officeDocument/2006/relationships/notesMaster" Target="/ppt/notesMasters/notesMaster1.xml" Id="R879c644ebd674db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5ae52cafe149bf" /><Relationship Type="http://schemas.openxmlformats.org/officeDocument/2006/relationships/notesMaster" Target="/ppt/notesMasters/notesMaster1.xml" Id="Rf03f305f41014a5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a317c6606064124" /><Relationship Type="http://schemas.openxmlformats.org/officeDocument/2006/relationships/notesMaster" Target="/ppt/notesMasters/notesMaster1.xml" Id="Rddf9510ed5884c9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217ce0288eb43de" /><Relationship Type="http://schemas.openxmlformats.org/officeDocument/2006/relationships/notesMaster" Target="/ppt/notesMasters/notesMaster1.xml" Id="R40f4d5135e9c489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c60e6ff10b041c6" /><Relationship Type="http://schemas.openxmlformats.org/officeDocument/2006/relationships/notesMaster" Target="/ppt/notesMasters/notesMaster1.xml" Id="R4b1680db11ed4b9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11cf186c9c54127" /><Relationship Type="http://schemas.openxmlformats.org/officeDocument/2006/relationships/notesMaster" Target="/ppt/notesMasters/notesMaster1.xml" Id="R97a51c76a50b49e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5f20e57bc12426e" /><Relationship Type="http://schemas.openxmlformats.org/officeDocument/2006/relationships/notesMaster" Target="/ppt/notesMasters/notesMaster1.xml" Id="R700a4827d1994e2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79b2e1904c5431c" /><Relationship Type="http://schemas.openxmlformats.org/officeDocument/2006/relationships/notesMaster" Target="/ppt/notesMasters/notesMaster1.xml" Id="Rd90431d54c544ff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6a0c626021147e9" /><Relationship Type="http://schemas.openxmlformats.org/officeDocument/2006/relationships/notesMaster" Target="/ppt/notesMasters/notesMaster1.xml" Id="R91cbf25ec21c4d7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bf4d98c74b84046" /><Relationship Type="http://schemas.openxmlformats.org/officeDocument/2006/relationships/notesMaster" Target="/ppt/notesMasters/notesMaster1.xml" Id="R8bf4785cee244a8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e8f096ea2974733" /><Relationship Type="http://schemas.openxmlformats.org/officeDocument/2006/relationships/notesMaster" Target="/ppt/notesMasters/notesMaster1.xml" Id="R1ad152989e98417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508da76721f48f4" /><Relationship Type="http://schemas.openxmlformats.org/officeDocument/2006/relationships/notesMaster" Target="/ppt/notesMasters/notesMaster1.xml" Id="R84ebc0360dc0456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cee1b06cd1f4bb8" /><Relationship Type="http://schemas.openxmlformats.org/officeDocument/2006/relationships/notesMaster" Target="/ppt/notesMasters/notesMaster1.xml" Id="R29b37440a1ec43a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b78bfb3b88e473b" /><Relationship Type="http://schemas.openxmlformats.org/officeDocument/2006/relationships/notesMaster" Target="/ppt/notesMasters/notesMaster1.xml" Id="Reaba64069c8b436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a17a18b90e74b11" /><Relationship Type="http://schemas.openxmlformats.org/officeDocument/2006/relationships/notesMaster" Target="/ppt/notesMasters/notesMaster1.xml" Id="R9c87070aa16a47b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d4766aa6ebe4f0b" /><Relationship Type="http://schemas.openxmlformats.org/officeDocument/2006/relationships/notesMaster" Target="/ppt/notesMasters/notesMaster1.xml" Id="Ra826473839224f4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4e4d6a03ec64ea8" /><Relationship Type="http://schemas.openxmlformats.org/officeDocument/2006/relationships/notesMaster" Target="/ppt/notesMasters/notesMaster1.xml" Id="R94dd59f78b7b49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 gabungan Docker Core dan Compose tanggal 22 Oktober 2026. Mahasiswa memakai satu clone meet6CloudService, menjalankan API memori dari gabungan22/core, lalu API PostgreSQL/Redis dari compose.yaml root. Tujuannya membuktikan hubungan image, proses, dependency, dan penyimpanan melalui hasil sendiri.</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Jelaskan batas waktu 100 menit: Core 0–25, Compose utama 25–75, buffer troubleshooting 75–85, dan refleksi/cleanup 85–100. Buffer merupakan bagian dari alokasi Compose 60 menit. Profile debug dan simulasi insiden adalah tambahan. Pilih satu bila waktu tersedia atau pelajari melalui modul setelah kelas. Latihan mendukung proyek kelompok dan tidak menambah tugas atau nilai terpisah.</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Prasyarat diselesaikan sebelum kelas. PowerShell menyambung dua string repoUrl dengan operator + lalu git clone $repoUrl. URL akhirnya https://github.com/SeedFlora/meet6CloudService.git. Versi Bash menggunakan git clone URL tersebut, lalu cd meet6CloudService. Jika folder sudah ada, gunakan nama baru. docker version harus memperlihatkan Client dan Server. Build Core dan docker build ./api menyiapkan cache tanpa memerlukan secret Compose. Pull PostgreSQL16 dan Redis7 sebelum jam praktikum. Port 18005 dan 8000 harus tersedia.</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0–4. Minta mahasiswa menunjuk Dockerfile, image, dan container. Dockerfile adalah resep teks. Build menghasilkan image dengan tag core22. Run membuat container cloudlab-core22. Notes Core berada pada dictionary Python sehingga mengikuti proses API. Source Core adalah API0.5, sedangkan source Compose adalah API0.6. Docker concepts: https://docs.docker.com/get-started/docker-concepts/the-basics/what-is-a-container/.</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4–6. Buka gabungan22/core/Dockerfile yang sudah tersedia. Builder membuat venv dan memasang requirements. COPY requirements lebih dahulu membantu cache dependency. Slide memperlihatkan RUN yang disambung dengan backslash Dockerfile. File sumber menggunakan RUN ekuivalen dalam satu baris. Jangan mengeksekusi kutipan Dockerfile sebagai command PowerShell. Sumber multi-stage: https://docs.docker.com/build/building/multi-stage/.</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6–8. Runtime menyalin venv dan source, membuat user UID10001, mengatur PATH, lalu menjalankan Uvicorn. ENV di image berbeda dengan APP_ENV yang diberikan saat docker run. USER menentukan akun proses. EXPOSE mencatat port container, sedangkan -p membuat akses host. .dockerignore menyaring context gabungan22/core agar .git, virtualenv, dan secret lokal tidak masuk build. Kutipan multibaris memakai backslash Dockerfile.</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8–11. Semua command dijalankan dari root clone. Backtick PowerShell harus menjadi karakter terakhir baris, tanpa spasi sesudahnya. Bash dapat memakai satu baris: docker build -t cloud-notes-api:core22 ./gabungan22/core. Inspect .Config.User menunjukkan appuser. Ukuran image bergantung tag, arsitektur, dan dependency, sehingga angka screenshot bukan target wajib.</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historis Lab05 menunjukkan tag image, UID10001, dan mapping host8000. Pada sesi22 gunakan tag core22, container cloudlab-core22, dan host18005. Fungsi screenshot adalah cara membaca hasil inspect/id/ps, bukan membuktikan sesi22 sudah dijalankan. Gambar menata output aktual dari uji sebelumnya. Viewport dapat memangkas ruang kosong, tetapi file gambar asli tetap tertanam.</a:t>
            </a:r>
            <a:endParaRPr/>
          </a:p>
          <a:p xmlns:a="http://schemas.openxmlformats.org/drawingml/2006/main">
            <a:r>
              <a:t>Bukti: D:/cloud services/Cloud_Services_All_Labs_Siap_Push/labs/05/screenshots/lab05_build.png. SHA256 006c58e3811e83a29a5db383144da0db0e432603096dc3fd70f994b2bb6c8c96. Bottom crop 0.4, original bytes preserved</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11–15. Periksa nama cloudlab-core22 belum dipakai container lain sebelum run. -d menjalankan proses di belakang layar. -p 127.0.0.1:18005:8000 memberi akses lokal. -e APP_ENV=classroom mengubah environment runtime. Periksa id untuk UID10001, health HTTP200, dan runtime storage=memory. Endpoint runtime hanya tersedia pada Core. Pada Bash ganti curl.exe dengan curl.</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Buka http://127.0.0.1:18005/docs. Pilih GET health, Try it out, lalu Execute. Baca status dan response body. CoreAPI0.5 mempunyai runtime dan GET notes/{id}. Screenshot adalah daftar endpoint dari browser yang pernah menjalankan baseline Lab05. Viewport menampilkan daftar endpoint, sedangkan bagian schema yang tidak diperlukan berada di file asli.</a:t>
            </a:r>
            <a:endParaRPr/>
          </a:p>
          <a:p xmlns:a="http://schemas.openxmlformats.org/drawingml/2006/main">
            <a:r>
              <a:t>Bukti: D:/cloud services/Cloud_Services_All_Labs_Siap_Push/labs/05/screenshots/lab05_openapi.png. SHA256 cd252853642db9642083dd1239061ea037500ce716bed2218c701deb77332658. Bottom crop 0.4, original bytes preserved</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15–18. Pada Swagger pilih POST notes, klik Try it out, masukkan body JSON dummy, lalu Execute. POST valid mengembalikan 201 dan ID. GET notes membaca array catatan. Ulangi POST dengan title kosong atau berisi spasi untuk mengamati 422. JSON di slide adalah body Swagger, bukan perintah terminal. Catat ID dan judul sendiri sebelum lifecycle.</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18–23. Jalankan docker restart cloudlab-core22, periksa docker ps dan logs, lalu ulangi GET health sampai HTTP200. GET notes menjadi array kosong karena dictionary proses diinisialisasi ulang. Gambar lama menggunakan rm/run. Penggantian container dan restart proses sama-sama mereset state memori Core, tetapi gambar tidak diklaim sebagai uji restart sesi22. Image tetap tersedia.</a:t>
            </a:r>
            <a:endParaRPr/>
          </a:p>
          <a:p xmlns:a="http://schemas.openxmlformats.org/drawingml/2006/main">
            <a:r>
              <a:t>Bukti: D:/cloud services/Cloud_Services_All_Labs_Siap_Push/labs/05/screenshots/lab05_validation_reset.png. SHA256 79dee1b559a779d0d83a9884236c252a6a0263febb3eab7f7fe8660be0a106b4. Bottom crop 0.4, original bytes preserved</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23–25. Periksa nama container dan .Config.Image. Lanjutkan stop/rm hanya pada cloudlab-core22 yang Anda buat dengan image cloud-notes-api:core22. Jika nama berbeda, gunakan nama latihan sendiri secara konsisten. Jangan menghapus container aplikasi lain, jangan memakai system prune atau volume prune. Tetap berada di root repo untuk Compose.</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25–30. Buka compose.yaml root. API0.6 mengakses DB_HOST=db dan REDIS_URL=redis://cache:6379/0. PostgreSQL16 dan Redis7 memakai port internal, tanpa mapping host. API memakai host8000. Adminer hanya berjalan pada profile debug. Named volume db_data dan redis_data menyimpan data terpisah dari container.</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30–35. Guard Test-Path menjaga file lokal yang sudah ada. Pada Bash gunakan if [ ! -e secrets/db_password.txt ]; then cp secrets/db_password.txt.example secrets/db_password.txt; fi, lalu guard serupa untuk .env. docker compose config --quiet memvalidasi tanpa mencetak password. git check-ignore menunjukkan aturan pengecualian. Jika volume lama diinisialisasi dengan password lain, mengganti file saja tidak mengganti password DB. Periksa password awal atau minta bantuan, bukan menghapus data.</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historis memeriksa keberadaan file lokal, validitas YAML, dan aturan Git ignore. Test-Path tidak membaca isi password. config --quiet memberi exit code tanpa keluaran secret. check-ignore menunjukkan file lokal diabaikan Git. Gambar adalah render transkrip output aktual uji sebelumnya. Nilai password tidak ditampilkan.</a:t>
            </a:r>
            <a:endParaRPr/>
          </a:p>
          <a:p xmlns:a="http://schemas.openxmlformats.org/drawingml/2006/main">
            <a:r>
              <a:t>Bukti: D:/cloud services/Cloud_Services_All_Labs_Siap_Push/labs/06/screenshots/lab06_persiapan_config.png. SHA256 2d03e8b71ae441fbdcc9df743a48ad1c6ff6464b973b9bcc6845c9f6a5e6adc5. Gambar penuh tanpa crop.</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35–42. Jalankan docker compose up --build -d --wait, lalu ps dan logs --tail=30 api db cache. Compose membangun API dan membuat container, network, volume, serta mount secret. Health DB menggunakan pg_isready, Redis menggunakan ping, dan API menggunakan health. service_healthy menunggu dependency sebelum startup API. Bila starting atau gagal, gunakan buffer troubleshooting. Jangan reset volume yang berisi data.</a:t>
            </a:r>
            <a:endParaRPr/>
          </a:p>
          <a:p xmlns:a="http://schemas.openxmlformats.org/drawingml/2006/main">
            <a:r>
              <a:t>Bukti: D:/cloud services/Cloud_Services_All_Labs_Siap_Push/labs/06/screenshots/lab06_compose.png. SHA256 ca1d8fa89a72751d4c849f40da24e8a46e283337433f22832720fdcc28535be1. Bottom crop 0.5, original bytes preserved</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42–45. getent hosts db cache dari container API membuktikan DNS pada network Docker. Alamat dapat berubah saat container dibuat ulang. Browser host menggunakan 127.0.0.1:8000, bukan hostname db/cache. compose port api8000 menunjukkan mapping. Health200 memeriksa koneksi DB dan Redis. Pada Bash ganti curl.exe dengan curl.</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45–48. Buka Swagger port8000. API Compose mempunyai GET/POST notes dan DELETE notes/{id} dengan hasil204. API ini tidak mempunyai runtime atau GET notes/{id}. Pilih GET health dan POST notes. Jangan menghapus catatan yang akan dipakai untuk checkpoint persistensi. Screenshot browser berasal dari API0.6 pada uji sebelumnya.</a:t>
            </a:r>
            <a:endParaRPr/>
          </a:p>
          <a:p xmlns:a="http://schemas.openxmlformats.org/drawingml/2006/main">
            <a:r>
              <a:t>Bukti: D:/cloud services/Cloud_Services_All_Labs_Siap_Push/labs/06/screenshots/lab06_api_docs.png. SHA256 d5cec4a9f1ae013bd2b7b626f71faa5c120dd0fae3e4bac6e56f8bbb21122dc2. Bottom crop 0.2, original bytes preserved</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48–55. Buat catatan dummy melalui Swagger dan catat ID/judulnya. POST201 menulis PostgreSQL dan menghapus cache daftar. Dua GET dalam waktu kurang dari TTL30detik memperlihatkan MISS lalu HIT. Jika TTL sudah habis, ulangi dua GET cepat. Isi data sama walaupun sumber respons berbeda. Source api/app/main.py menjelaskan invalidasi dan fallback cache.</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Baca header X-Cache dan cocokkan isi catatan. MISS/HIT memperlihatkan jalur baca, tetapi belum membuktikan persistensi. Lanjutkan SQL dan lifecycle. Gambar adalah hasil HTTP aktual uji Lab06 sebelumnya. ID, waktu, dan jumlah catatan pada hasil mahasiswa tidak harus sama dengan gambar.</a:t>
            </a:r>
            <a:endParaRPr/>
          </a:p>
          <a:p xmlns:a="http://schemas.openxmlformats.org/drawingml/2006/main">
            <a:r>
              <a:t>Bukti: D:/cloud services/Cloud_Services_All_Labs_Siap_Push/labs/06/screenshots/lab06_cache.png. SHA256 46e3fd2ceebcca26b4b728ccd3d2ec905dc5e952e5aca63b24b4f32ffdae52db. Bottom crop 0.1, original bytes preserved</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55–65. Jalankan SELECT untuk mencatat ID/judul, restart API, tunggu sehat, lalu baca kembali. Lanjutkan down tanpa -v dan up -d --wait. Ulangi SELECT dan GET notes. Named volume mempertahankan data PostgreSQL saat container diganti. Periksa catatan yang baru Anda buat, tanpa asumsi DB awal kosong. Jangan menjalankan down -v pada data yang masih diperlukan.</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65–75. Cocokkan bukti hasil sendiri dengan pola contoh: data sumber tetap ada sesudah restart API dan down/up. SELECT langsung pada PostgreSQL membedakan data sumber dari cache Redis. Named volume memberikan persistensi, tetapi bukan backup. Screenshot merupakan render hasil uji lama. Konfirmasi checkpoint sebelum buffer troubleshooting75–85.</a:t>
            </a:r>
            <a:endParaRPr/>
          </a:p>
          <a:p xmlns:a="http://schemas.openxmlformats.org/drawingml/2006/main">
            <a:r>
              <a:t>Bukti: D:/cloud services/Cloud_Services_All_Labs_Siap_Push/labs/06/screenshots/lab06_persistence.png. SHA256 8cd4eda1e30b83c508e2af6ca29622d2ed16464ef9e40e954dabb56c9268c049. Gambar penuh tanpa crop.</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Tambahan bila waktu tersedia. Jalankan docker compose --profile debug up -d adminer dan buka localhost8081. Pilih PostgreSQL, serverdb, userclouduser, databasecloudnotes, serta passwordfilelokal. Setelah login pilih notes &gt;Select data. Hindari Drop/Truncate. Screenshot mengambil area UI yang memperlihatkan database dan row tanpa password, dengan gambar asli tertanam. Query psql sudah cukup untuk checkpoint wajib.</a:t>
            </a:r>
            <a:endParaRPr/>
          </a:p>
          <a:p xmlns:a="http://schemas.openxmlformats.org/drawingml/2006/main">
            <a:r>
              <a:t>Bukti: D:/cloud services/Cloud_Services_All_Labs_Siap_Push/labs/06/screenshots/lab06_adminer_notes.png. SHA256 53a55f34a04261dc5fad2c07678a706f463e23eebea41d0f9fb91156fd40d4c9. Bottom crop 0.65, original bytes preserved</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Tambahan bila waktu tersedia. Hentikan hanya cache pada stack latihan sendiri. curl.exe -i health memperlihatkan503, sedangkan GET notes tetap200/MISS karena kode membaca PostgreSQL ketika Redis gagal. Request dapat melambat. Baca logs API/cache. Pada Bash ganti curl.exe dengan curl. Jangan menghentikan database atau layanan lain. Kegagalan cache tidak berarti data hilang.</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Bukti historis memperlihatkan perbedaan health503 dan GET notes200, serta data DB yang tetap ada. Latensi pada gambar adalah hasil kondisi uji sebelumnya. Jangan mengaku telah mensimulasikan insiden sendiri jika bagian tambahan ini dilewati. Langkah pemulihan ada pada slide berikutnya.</a:t>
            </a:r>
            <a:endParaRPr/>
          </a:p>
          <a:p xmlns:a="http://schemas.openxmlformats.org/drawingml/2006/main">
            <a:r>
              <a:t>Bukti: D:/cloud services/Cloud_Services_All_Labs_Siap_Push/labs/06/screenshots/lab06_incident_persistensi_terkini.png. SHA256 ba8d452b5f328c18213e6d7b2339b7970079d632581268f9bb33077d06a953c8. Gambar penuh tanpa crop.</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Tambahan, lanjutan insiden. Jalankan start cache, up -d --wait, lalu ps. Ulangi health hingga200 dan dua GET notes untuk melihat pola MISS/HIT kembali. Healthcheck mempunyai interval sehingga status dapat membutuhkan waktu untuk pulih. Catatan PostgreSQL tetap tersedia. Kesiapan startup berbeda dengan kesehatan sepanjang runtime.</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85–95. Mahasiswa menjelaskan hasil melalui Dockerfile, compose.yaml, dan source API. Bandingkan storage memori Core dengan DB pada volume Compose, health proses dengan health dependency, dan pengaruh restart. Gunakan ID/judul serta respons sendiri. Jika insiden tambahan dilewati, jelaskan baris cachefailure berdasarkan kode dan bukti historis, tanpa klaim uji sendiri. Ini refleksi formatif, bukan pengumpulan tugas baru.</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Menit 95–100. docker compose --profile debug down menghentikan stack latihan dan Adminer jika aktif, sambil mempertahankan volume. Periksa ps, git status, dan check-ignore. Jangan stage password nyata, .env, atau backup. Core sudah dibersihkan pada tahap sebelumnya. Simpan bukti bila membantu proyek kelompok. Modul gabungan mempunyai command lengkap PowerShell/Bash dan sumber gambar. Tidak ada push otomatis dalam langkah kelas ini.</a:t>
            </a:r>
            <a:endParaRPr/>
          </a:p>
          <a:p xmlns:a="http://schemas.openxmlformats.org/drawingml/2006/main">
            <a:r>
              <a:t/>
            </a:r>
            <a:endParaRPr/>
          </a:p>
          <a:p xmlns:a="http://schemas.openxmlformats.org/drawingml/2006/main">
            <a:r>
              <a:t>Jalankan dari root satu clone meet6CloudService. Core memakai build context gabungan22/core, image cloud-notes-api:core22, container cloudlab-core22, host port 18005. Compose memakai compose.yaml root, API host 8000, DB16 dan Redis7 internal. Prasyarat dan unduhan dependency/build awal diselesaikan sebelum kelas. Alokasi kelas Core 0–25, Compose 25–85 termasuk buffer troubleshooting 10 menit, refleksi/pembersihan 85–100. Baca modul: https://github.com/SeedFlora/meet6CloudService/blob/main/PRAKTIKUM_GABUNGAN_22_OKTOBER.md. Semua bukti visual berasal dari file Lab05/06 yang sudah tersedia. Bukti lama menunjukkan hasil uji sebelumnya, bukan screenshot baru sesi 22 Oktober. Catatan, IP, tag, nama container, waktu, dan port pada screenshot lama dapat berbeda. Tidak ada tugas/nilai terpisah.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a457322d5546f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86849c6966344ac" /><Relationship Type="http://schemas.openxmlformats.org/officeDocument/2006/relationships/slideLayout" Target="/ppt/slideLayouts/slideLayout1.xml" Id="Rc2339ee9d5ee457e"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339ee9d5ee457e"/>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90d4a8d15c4c40" /><Relationship Type="http://schemas.openxmlformats.org/officeDocument/2006/relationships/image" Target="/ppt/media/image.jpeg" Id="R86b015e6a0634447" /><Relationship Type="http://schemas.openxmlformats.org/officeDocument/2006/relationships/image" Target="/ppt/media/image.png" Id="R8ae4e5d9428f4351" /><Relationship Type="http://schemas.openxmlformats.org/officeDocument/2006/relationships/image" Target="/ppt/media/image2.png" Id="R28f559c1e9414d53" /><Relationship Type="http://schemas.openxmlformats.org/officeDocument/2006/relationships/notesSlide" Target="/ppt/notesSlides/notesSlide1.xml" Id="R0c63ab8740b946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9e851f1e2a484a" /><Relationship Type="http://schemas.openxmlformats.org/officeDocument/2006/relationships/image" Target="/ppt/media/image.png" Id="Ra9e25295d9e94ead" /><Relationship Type="http://schemas.openxmlformats.org/officeDocument/2006/relationships/image" Target="/ppt/media/image2.png" Id="R682f1acf6e404e7d" /><Relationship Type="http://schemas.openxmlformats.org/officeDocument/2006/relationships/notesSlide" Target="/ppt/notesSlides/notesSlide2.xml" Id="Rdb98f80c8fa74c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2784342f0d4f3d" /><Relationship Type="http://schemas.openxmlformats.org/officeDocument/2006/relationships/image" Target="/ppt/media/image.png" Id="R311d26c217cd404d" /><Relationship Type="http://schemas.openxmlformats.org/officeDocument/2006/relationships/image" Target="/ppt/media/image2.png" Id="R37c82271398849f8" /><Relationship Type="http://schemas.openxmlformats.org/officeDocument/2006/relationships/hyperlink" Target="https://github.com/SeedFlora/meet6CloudService/blob/main/PRAKTIKUM_GABUNGAN_22_OKTOBER.md" TargetMode="External" Id="R42aaaddfdb6d4d09" /><Relationship Type="http://schemas.openxmlformats.org/officeDocument/2006/relationships/notesSlide" Target="/ppt/notesSlides/notesSlide3.xml" Id="R599e4481813942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96e8dcb44d94a79" /><Relationship Type="http://schemas.openxmlformats.org/officeDocument/2006/relationships/image" Target="/ppt/media/image.png" Id="Rc0c830660788469c" /><Relationship Type="http://schemas.openxmlformats.org/officeDocument/2006/relationships/image" Target="/ppt/media/image2.png" Id="Rf3a7e53f60324b66" /><Relationship Type="http://schemas.openxmlformats.org/officeDocument/2006/relationships/notesSlide" Target="/ppt/notesSlides/notesSlide4.xml" Id="R72c8a773f14d442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57bb31396fe4f9b" /><Relationship Type="http://schemas.openxmlformats.org/officeDocument/2006/relationships/image" Target="/ppt/media/image.png" Id="Rf7f3fa50d7f8407d" /><Relationship Type="http://schemas.openxmlformats.org/officeDocument/2006/relationships/image" Target="/ppt/media/image2.png" Id="Rc327b016ecd44b1b" /><Relationship Type="http://schemas.openxmlformats.org/officeDocument/2006/relationships/hyperlink" Target="https://github.com/SeedFlora/meet6CloudService/blob/main/PRAKTIKUM_GABUNGAN_22_OKTOBER.md" TargetMode="External" Id="R1dc51026c1884668" /><Relationship Type="http://schemas.openxmlformats.org/officeDocument/2006/relationships/notesSlide" Target="/ppt/notesSlides/notesSlide5.xml" Id="Rd066b2bd0e264d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0fdd07fdf67489d" /><Relationship Type="http://schemas.openxmlformats.org/officeDocument/2006/relationships/image" Target="/ppt/media/image.png" Id="R971262f48799423d" /><Relationship Type="http://schemas.openxmlformats.org/officeDocument/2006/relationships/image" Target="/ppt/media/image2.png" Id="R1bb0db80c67243be" /><Relationship Type="http://schemas.openxmlformats.org/officeDocument/2006/relationships/hyperlink" Target="https://github.com/SeedFlora/meet6CloudService/blob/main/PRAKTIKUM_GABUNGAN_22_OKTOBER.md" TargetMode="External" Id="R7b37b09db8de4337" /><Relationship Type="http://schemas.openxmlformats.org/officeDocument/2006/relationships/notesSlide" Target="/ppt/notesSlides/notesSlide6.xml" Id="Re27a6376de1a41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451f635035468b" /><Relationship Type="http://schemas.openxmlformats.org/officeDocument/2006/relationships/image" Target="/ppt/media/image.png" Id="R0cd41337da3d4016" /><Relationship Type="http://schemas.openxmlformats.org/officeDocument/2006/relationships/image" Target="/ppt/media/image2.png" Id="Ra6e187e5e364478f" /><Relationship Type="http://schemas.openxmlformats.org/officeDocument/2006/relationships/hyperlink" Target="https://github.com/SeedFlora/meet6CloudService/blob/main/PRAKTIKUM_GABUNGAN_22_OKTOBER.md" TargetMode="External" Id="Rf09dfad4c50d420d" /><Relationship Type="http://schemas.openxmlformats.org/officeDocument/2006/relationships/notesSlide" Target="/ppt/notesSlides/notesSlide7.xml" Id="R26a38fc249e241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61b3d4aa5f4406" /><Relationship Type="http://schemas.openxmlformats.org/officeDocument/2006/relationships/image" Target="/ppt/media/image.png" Id="R59baa7091eba499c" /><Relationship Type="http://schemas.openxmlformats.org/officeDocument/2006/relationships/image" Target="/ppt/media/image2.png" Id="Re0d460cad8c04126" /><Relationship Type="http://schemas.openxmlformats.org/officeDocument/2006/relationships/image" Target="/ppt/media/image3.png" Id="R2ea1107b769d44f7" /><Relationship Type="http://schemas.openxmlformats.org/officeDocument/2006/relationships/notesSlide" Target="/ppt/notesSlides/notesSlide8.xml" Id="R0af8f6bdc6b94a3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065b42da14f4d59" /><Relationship Type="http://schemas.openxmlformats.org/officeDocument/2006/relationships/image" Target="/ppt/media/image.png" Id="R23c533bb54744043" /><Relationship Type="http://schemas.openxmlformats.org/officeDocument/2006/relationships/image" Target="/ppt/media/image2.png" Id="R6245f6ce26814bd7" /><Relationship Type="http://schemas.openxmlformats.org/officeDocument/2006/relationships/hyperlink" Target="https://github.com/SeedFlora/meet6CloudService/blob/main/PRAKTIKUM_GABUNGAN_22_OKTOBER.md" TargetMode="External" Id="R74e2a3defa9148d2" /><Relationship Type="http://schemas.openxmlformats.org/officeDocument/2006/relationships/notesSlide" Target="/ppt/notesSlides/notesSlide9.xml" Id="R803cc59d2bba438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fd3d7adaaeb4231" /><Relationship Type="http://schemas.openxmlformats.org/officeDocument/2006/relationships/image" Target="/ppt/media/image.png" Id="Rad47f873ba2a4323" /><Relationship Type="http://schemas.openxmlformats.org/officeDocument/2006/relationships/image" Target="/ppt/media/image2.png" Id="R0adcec7948754d4c" /><Relationship Type="http://schemas.openxmlformats.org/officeDocument/2006/relationships/image" Target="/ppt/media/image4.png" Id="Re6b1536e3b2247bb" /><Relationship Type="http://schemas.openxmlformats.org/officeDocument/2006/relationships/notesSlide" Target="/ppt/notesSlides/notesSlide10.xml" Id="Rc921c1edc2f34c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f4864707ce948d2" /><Relationship Type="http://schemas.openxmlformats.org/officeDocument/2006/relationships/image" Target="/ppt/media/image.png" Id="Rc83025a400a4403a" /><Relationship Type="http://schemas.openxmlformats.org/officeDocument/2006/relationships/image" Target="/ppt/media/image2.png" Id="Rf9c567f2eabd40d1" /><Relationship Type="http://schemas.openxmlformats.org/officeDocument/2006/relationships/hyperlink" Target="https://github.com/SeedFlora/meet6CloudService/blob/main/PRAKTIKUM_GABUNGAN_22_OKTOBER.md" TargetMode="External" Id="R4906f6bce6d54ded" /><Relationship Type="http://schemas.openxmlformats.org/officeDocument/2006/relationships/notesSlide" Target="/ppt/notesSlides/notesSlide11.xml" Id="R744b49fb834741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5b7dbcdcc634270" /><Relationship Type="http://schemas.openxmlformats.org/officeDocument/2006/relationships/image" Target="/ppt/media/image.png" Id="Rca356931b29643be" /><Relationship Type="http://schemas.openxmlformats.org/officeDocument/2006/relationships/image" Target="/ppt/media/image2.png" Id="R0ef6f846bfa448c5" /><Relationship Type="http://schemas.openxmlformats.org/officeDocument/2006/relationships/image" Target="/ppt/media/image5.png" Id="Rb647a926c748445c" /><Relationship Type="http://schemas.openxmlformats.org/officeDocument/2006/relationships/notesSlide" Target="/ppt/notesSlides/notesSlide12.xml" Id="R69b5cf30db664b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11dac885f1c4a82" /><Relationship Type="http://schemas.openxmlformats.org/officeDocument/2006/relationships/image" Target="/ppt/media/image.png" Id="Rada7f5ff58fc4a07" /><Relationship Type="http://schemas.openxmlformats.org/officeDocument/2006/relationships/image" Target="/ppt/media/image2.png" Id="Re4898a6516c14559" /><Relationship Type="http://schemas.openxmlformats.org/officeDocument/2006/relationships/hyperlink" Target="https://github.com/SeedFlora/meet6CloudService/blob/main/PRAKTIKUM_GABUNGAN_22_OKTOBER.md" TargetMode="External" Id="R2bf5d33b32ef4f29" /><Relationship Type="http://schemas.openxmlformats.org/officeDocument/2006/relationships/notesSlide" Target="/ppt/notesSlides/notesSlide13.xml" Id="Rca1b847caf2a42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61f65b3d1d6429d" /><Relationship Type="http://schemas.openxmlformats.org/officeDocument/2006/relationships/image" Target="/ppt/media/image.png" Id="R360270dba96d4af3" /><Relationship Type="http://schemas.openxmlformats.org/officeDocument/2006/relationships/image" Target="/ppt/media/image2.png" Id="Ra5df8837085c4128" /><Relationship Type="http://schemas.openxmlformats.org/officeDocument/2006/relationships/notesSlide" Target="/ppt/notesSlides/notesSlide14.xml" Id="R0f2af4b1643b4f7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3ee0ab85f074ed5" /><Relationship Type="http://schemas.openxmlformats.org/officeDocument/2006/relationships/image" Target="/ppt/media/image.png" Id="R9c8120abd33446dc" /><Relationship Type="http://schemas.openxmlformats.org/officeDocument/2006/relationships/image" Target="/ppt/media/image2.png" Id="Ra6c3e8c52ca34ce3" /><Relationship Type="http://schemas.openxmlformats.org/officeDocument/2006/relationships/hyperlink" Target="https://github.com/SeedFlora/meet6CloudService/blob/main/PRAKTIKUM_GABUNGAN_22_OKTOBER.md" TargetMode="External" Id="Rb74dce87ff0241fd" /><Relationship Type="http://schemas.openxmlformats.org/officeDocument/2006/relationships/notesSlide" Target="/ppt/notesSlides/notesSlide15.xml" Id="Rcbde3e05deb14db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8701b701ad44fda" /><Relationship Type="http://schemas.openxmlformats.org/officeDocument/2006/relationships/image" Target="/ppt/media/image.png" Id="Rcabb766a1de74c49" /><Relationship Type="http://schemas.openxmlformats.org/officeDocument/2006/relationships/image" Target="/ppt/media/image2.png" Id="R965ed59e53da4e1e" /><Relationship Type="http://schemas.openxmlformats.org/officeDocument/2006/relationships/image" Target="/ppt/media/image6.png" Id="R144a40f160514e84" /><Relationship Type="http://schemas.openxmlformats.org/officeDocument/2006/relationships/notesSlide" Target="/ppt/notesSlides/notesSlide16.xml" Id="R7785673631b6461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02b063e36b54c0d" /><Relationship Type="http://schemas.openxmlformats.org/officeDocument/2006/relationships/image" Target="/ppt/media/image.png" Id="R616a267f6644460f" /><Relationship Type="http://schemas.openxmlformats.org/officeDocument/2006/relationships/image" Target="/ppt/media/image2.png" Id="Re62711cc1b274a4d" /><Relationship Type="http://schemas.openxmlformats.org/officeDocument/2006/relationships/image" Target="/ppt/media/image7.png" Id="R5587e26af3534b85" /><Relationship Type="http://schemas.openxmlformats.org/officeDocument/2006/relationships/notesSlide" Target="/ppt/notesSlides/notesSlide17.xml" Id="Rb9a63847d9a749e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614e01696884062" /><Relationship Type="http://schemas.openxmlformats.org/officeDocument/2006/relationships/image" Target="/ppt/media/image.png" Id="Rd6f48f6a7f364b53" /><Relationship Type="http://schemas.openxmlformats.org/officeDocument/2006/relationships/image" Target="/ppt/media/image2.png" Id="R38cf260633da48ca" /><Relationship Type="http://schemas.openxmlformats.org/officeDocument/2006/relationships/hyperlink" Target="https://github.com/SeedFlora/meet6CloudService/blob/main/PRAKTIKUM_GABUNGAN_22_OKTOBER.md" TargetMode="External" Id="R5dc35fc94ec64b38" /><Relationship Type="http://schemas.openxmlformats.org/officeDocument/2006/relationships/notesSlide" Target="/ppt/notesSlides/notesSlide18.xml" Id="Ra2e89a0148114f3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73bb5c51dad4c73" /><Relationship Type="http://schemas.openxmlformats.org/officeDocument/2006/relationships/image" Target="/ppt/media/image.png" Id="R69ab92c127924015" /><Relationship Type="http://schemas.openxmlformats.org/officeDocument/2006/relationships/image" Target="/ppt/media/image2.png" Id="Ra4afbb24bc3b4a54" /><Relationship Type="http://schemas.openxmlformats.org/officeDocument/2006/relationships/image" Target="/ppt/media/image8.png" Id="Rb6598c99a75d4f69" /><Relationship Type="http://schemas.openxmlformats.org/officeDocument/2006/relationships/notesSlide" Target="/ppt/notesSlides/notesSlide19.xml" Id="Rdc13a42c189c421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525d83037e24d7f" /><Relationship Type="http://schemas.openxmlformats.org/officeDocument/2006/relationships/image" Target="/ppt/media/image.png" Id="Re4cc7c775c024162" /><Relationship Type="http://schemas.openxmlformats.org/officeDocument/2006/relationships/image" Target="/ppt/media/image2.png" Id="R4931a1916f4344ee" /><Relationship Type="http://schemas.openxmlformats.org/officeDocument/2006/relationships/hyperlink" Target="https://github.com/SeedFlora/meet6CloudService/blob/main/PRAKTIKUM_GABUNGAN_22_OKTOBER.md" TargetMode="External" Id="Rfd43b1f72a654766" /><Relationship Type="http://schemas.openxmlformats.org/officeDocument/2006/relationships/notesSlide" Target="/ppt/notesSlides/notesSlide20.xml" Id="Rdadf014c3e1e488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a95d8c8299b4bd1" /><Relationship Type="http://schemas.openxmlformats.org/officeDocument/2006/relationships/image" Target="/ppt/media/image.png" Id="Rc87727472d5e48de" /><Relationship Type="http://schemas.openxmlformats.org/officeDocument/2006/relationships/image" Target="/ppt/media/image2.png" Id="R5178741d049a4787" /><Relationship Type="http://schemas.openxmlformats.org/officeDocument/2006/relationships/image" Target="/ppt/media/image9.png" Id="R03b3980c352f4ca8" /><Relationship Type="http://schemas.openxmlformats.org/officeDocument/2006/relationships/notesSlide" Target="/ppt/notesSlides/notesSlide21.xml" Id="Rd511b9a9f9b8411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ef0972b0606464b" /><Relationship Type="http://schemas.openxmlformats.org/officeDocument/2006/relationships/image" Target="/ppt/media/image.png" Id="Rf3a71edd69c74f39" /><Relationship Type="http://schemas.openxmlformats.org/officeDocument/2006/relationships/image" Target="/ppt/media/image2.png" Id="Rb879c8ea932d48ac" /><Relationship Type="http://schemas.openxmlformats.org/officeDocument/2006/relationships/hyperlink" Target="https://github.com/SeedFlora/meet6CloudService/blob/main/PRAKTIKUM_GABUNGAN_22_OKTOBER.md" TargetMode="External" Id="Rcb698844fd454c55" /><Relationship Type="http://schemas.openxmlformats.org/officeDocument/2006/relationships/notesSlide" Target="/ppt/notesSlides/notesSlide22.xml" Id="R29cab12bb5ad4f5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260ab0d0c5643a1" /><Relationship Type="http://schemas.openxmlformats.org/officeDocument/2006/relationships/image" Target="/ppt/media/image.png" Id="R3cf3bb44c17140e6" /><Relationship Type="http://schemas.openxmlformats.org/officeDocument/2006/relationships/image" Target="/ppt/media/image2.png" Id="Rbd925e558e1b44a1" /><Relationship Type="http://schemas.openxmlformats.org/officeDocument/2006/relationships/image" Target="/ppt/media/image10.png" Id="R8881c0c629994005" /><Relationship Type="http://schemas.openxmlformats.org/officeDocument/2006/relationships/notesSlide" Target="/ppt/notesSlides/notesSlide23.xml" Id="Ra2d7100f3f2b4c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80d0f9407a0a4a78" /><Relationship Type="http://schemas.openxmlformats.org/officeDocument/2006/relationships/image" Target="/ppt/media/image.png" Id="R71e82d860073473e" /><Relationship Type="http://schemas.openxmlformats.org/officeDocument/2006/relationships/image" Target="/ppt/media/image2.png" Id="R8cce87799df84bd0" /><Relationship Type="http://schemas.openxmlformats.org/officeDocument/2006/relationships/image" Target="/ppt/media/image11.png" Id="R84a3e6f9a0254fbb" /><Relationship Type="http://schemas.openxmlformats.org/officeDocument/2006/relationships/notesSlide" Target="/ppt/notesSlides/notesSlide24.xml" Id="Rcbd5bb5146544fa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cf8066a326824988" /><Relationship Type="http://schemas.openxmlformats.org/officeDocument/2006/relationships/image" Target="/ppt/media/image.png" Id="Rfd2c45934796447c" /><Relationship Type="http://schemas.openxmlformats.org/officeDocument/2006/relationships/image" Target="/ppt/media/image2.png" Id="R4bb40be86f9f4f16" /><Relationship Type="http://schemas.openxmlformats.org/officeDocument/2006/relationships/hyperlink" Target="https://github.com/SeedFlora/meet6CloudService/blob/main/PRAKTIKUM_GABUNGAN_22_OKTOBER.md" TargetMode="External" Id="R7b0a88b0824c4f74" /><Relationship Type="http://schemas.openxmlformats.org/officeDocument/2006/relationships/notesSlide" Target="/ppt/notesSlides/notesSlide25.xml" Id="R395095dd468e4b8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e1cb7890ef3416d" /><Relationship Type="http://schemas.openxmlformats.org/officeDocument/2006/relationships/image" Target="/ppt/media/image.png" Id="R70c1c6f8a4694660" /><Relationship Type="http://schemas.openxmlformats.org/officeDocument/2006/relationships/image" Target="/ppt/media/image2.png" Id="Ra3e9bb95ee7948a1" /><Relationship Type="http://schemas.openxmlformats.org/officeDocument/2006/relationships/image" Target="/ppt/media/image12.png" Id="Ra644354e3954472a" /><Relationship Type="http://schemas.openxmlformats.org/officeDocument/2006/relationships/notesSlide" Target="/ppt/notesSlides/notesSlide26.xml" Id="Rf0bfc42a79c2465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671f78b507f4600" /><Relationship Type="http://schemas.openxmlformats.org/officeDocument/2006/relationships/image" Target="/ppt/media/image.png" Id="R01d791986fe841e3" /><Relationship Type="http://schemas.openxmlformats.org/officeDocument/2006/relationships/image" Target="/ppt/media/image2.png" Id="R8d9fe267deb6472f" /><Relationship Type="http://schemas.openxmlformats.org/officeDocument/2006/relationships/hyperlink" Target="https://github.com/SeedFlora/meet6CloudService/blob/main/PRAKTIKUM_GABUNGAN_22_OKTOBER.md" TargetMode="External" Id="R6b22e448a6474418" /><Relationship Type="http://schemas.openxmlformats.org/officeDocument/2006/relationships/notesSlide" Target="/ppt/notesSlides/notesSlide27.xml" Id="R4483e9a944ba410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8e2e9429b924be4" /><Relationship Type="http://schemas.openxmlformats.org/officeDocument/2006/relationships/image" Target="/ppt/media/image.png" Id="Rab5e912c96d84c92" /><Relationship Type="http://schemas.openxmlformats.org/officeDocument/2006/relationships/image" Target="/ppt/media/image2.png" Id="R78ff9d7f86284026" /><Relationship Type="http://schemas.openxmlformats.org/officeDocument/2006/relationships/notesSlide" Target="/ppt/notesSlides/notesSlide28.xml" Id="Rdb83c7c2c88c448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671eb4df1f534562" /><Relationship Type="http://schemas.openxmlformats.org/officeDocument/2006/relationships/image" Target="/ppt/media/image.png" Id="Rd6751ee4b3754c81" /><Relationship Type="http://schemas.openxmlformats.org/officeDocument/2006/relationships/image" Target="/ppt/media/image2.png" Id="Ra16a184660f44226" /><Relationship Type="http://schemas.openxmlformats.org/officeDocument/2006/relationships/hyperlink" Target="https://github.com/SeedFlora/meet6CloudService/blob/main/PRAKTIKUM_GABUNGAN_22_OKTOBER.md" TargetMode="External" Id="R9d5d903b22de4959" /><Relationship Type="http://schemas.openxmlformats.org/officeDocument/2006/relationships/notesSlide" Target="/ppt/notesSlides/notesSlide29.xml" Id="R787855c7d83f424e"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86b015e6a0634447">
            <a:lum/>
          </a:blip>
          <a:srcRect l="0" t="0" r="0" b="0"/>
          <a:stretch>
            <a:fillRect l="0" t="0" r="0" b="0"/>
          </a:stretch>
        </a:blipFill>
      </p:bgPr>
    </p:bg>
    <p:spTree>
      <p:nvGrpSpPr>
        <p:cNvPr id="1" name=""/>
        <p:cNvGrpSpPr/>
        <p:nvPr/>
      </p:nvGrpSpPr>
      <p:grpSpPr>
        <a:xfrm xmlns:a="http://schemas.openxmlformats.org/drawingml/2006/main"/>
      </p:grpSpPr>
      <p:pic>
        <p:nvPicPr>
          <p:cNvPr id="14" name="Image 0">
            <a:extLst xmlns:a="http://schemas.openxmlformats.org/drawingml/2006/main">
              <a:ext uri="{FF2B5EF4-FFF2-40B4-BE49-F238E27FC236}">
                <a16:creationId xmlns:a16="http://schemas.microsoft.com/office/drawing/2014/main" id="{47DF045F-9695-44AA-BC23-7BAC48F270BB}"/>
              </a:ext>
            </a:extLst>
          </p:cNvPr>
          <p:cNvPicPr>
            <a:picLocks xmlns:a="http://schemas.openxmlformats.org/drawingml/2006/main" noChangeAspect="1"/>
          </p:cNvPicPr>
          <p:nvPr/>
        </p:nvPicPr>
        <p:blipFill>
          <a:blip xmlns:r="http://schemas.openxmlformats.org/officeDocument/2006/relationships" xmlns:a="http://schemas.openxmlformats.org/drawingml/2006/main" r:embed="R8ae4e5d9428f4351"/>
          <a:stretch xmlns:a="http://schemas.openxmlformats.org/drawingml/2006/main">
            <a:fillRect l="0" t="0" r="0" b="0"/>
          </a:stretch>
        </p:blipFill>
        <p:spPr>
          <a:xfrm xmlns:a="http://schemas.openxmlformats.org/drawingml/2006/main">
            <a:off x="274320" y="228600"/>
            <a:ext cx="914400" cy="603504"/>
          </a:xfrm>
          <a:prstGeom xmlns:a="http://schemas.openxmlformats.org/drawingml/2006/main" prst="rect">
            <a:avLst/>
          </a:prstGeom>
        </p:spPr>
      </p:pic>
      <p:pic>
        <p:nvPicPr>
          <p:cNvPr id="15" name="Image 1">
            <a:extLst xmlns:a="http://schemas.openxmlformats.org/drawingml/2006/main">
              <a:ext uri="{FF2B5EF4-FFF2-40B4-BE49-F238E27FC236}">
                <a16:creationId xmlns:a16="http://schemas.microsoft.com/office/drawing/2014/main" id="{1E725551-5FD1-4920-A40E-A2EA94CAED30}"/>
              </a:ext>
            </a:extLst>
          </p:cNvPr>
          <p:cNvPicPr>
            <a:picLocks xmlns:a="http://schemas.openxmlformats.org/drawingml/2006/main" noChangeAspect="1"/>
          </p:cNvPicPr>
          <p:nvPr/>
        </p:nvPicPr>
        <p:blipFill>
          <a:blip xmlns:r="http://schemas.openxmlformats.org/officeDocument/2006/relationships" xmlns:a="http://schemas.openxmlformats.org/drawingml/2006/main" r:embed="R28f559c1e9414d53"/>
          <a:stretch xmlns:a="http://schemas.openxmlformats.org/drawingml/2006/main">
            <a:fillRect l="0" t="0" r="0" b="0"/>
          </a:stretch>
        </p:blipFill>
        <p:spPr>
          <a:xfrm xmlns:a="http://schemas.openxmlformats.org/drawingml/2006/main">
            <a:off x="10881360" y="246888"/>
            <a:ext cx="1005840" cy="512064"/>
          </a:xfrm>
          <a:prstGeom xmlns:a="http://schemas.openxmlformats.org/drawingml/2006/main" prst="rect">
            <a:avLst/>
          </a:prstGeom>
        </p:spPr>
      </p:pic>
      <p:sp>
        <p:nvSpPr>
          <p:cNvPr id="4" name="Text 0">
            <a:extLst xmlns:a="http://schemas.openxmlformats.org/drawingml/2006/main">
              <a:ext uri="{FF2B5EF4-FFF2-40B4-BE49-F238E27FC236}">
                <a16:creationId xmlns:a16="http://schemas.microsoft.com/office/drawing/2014/main" id="{15BF6018-CFBB-49E0-BDFB-9510CB99C540}"/>
              </a:ext>
            </a:extLst>
          </p:cNvPr>
          <p:cNvSpPr>
            <a:spLocks xmlns:a="http://schemas.openxmlformats.org/drawingml/2006/main" noGrp="1"/>
          </p:cNvSpPr>
          <p:nvPr/>
        </p:nvSpPr>
        <p:spPr>
          <a:xfrm xmlns:a="http://schemas.openxmlformats.org/drawingml/2006/main">
            <a:off x="457200" y="2468880"/>
            <a:ext cx="11247120" cy="3657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400" b="1" spc="400">
                <a:solidFill>
                  <a:srgbClr val="FFE0B2"/>
                </a:solidFill>
                <a:latin typeface="Calibri"/>
                <a:ea typeface="Calibri"/>
                <a:cs typeface="Calibri"/>
              </a:rPr>
              <a:t>COMP6991031   |   22 OKTOBER   |   100 MENIT</a:t>
            </a:r>
            <a:endParaRPr sz="1400"/>
          </a:p>
        </p:txBody>
      </p:sp>
      <p:sp>
        <p:nvSpPr>
          <p:cNvPr id="5" name="Text 1">
            <a:extLst xmlns:a="http://schemas.openxmlformats.org/drawingml/2006/main">
              <a:ext uri="{FF2B5EF4-FFF2-40B4-BE49-F238E27FC236}">
                <a16:creationId xmlns:a16="http://schemas.microsoft.com/office/drawing/2014/main" id="{72E98578-42EB-4C67-9752-E0FCD1A660CA}"/>
              </a:ext>
            </a:extLst>
          </p:cNvPr>
          <p:cNvSpPr>
            <a:spLocks xmlns:a="http://schemas.openxmlformats.org/drawingml/2006/main" noGrp="1"/>
          </p:cNvSpPr>
          <p:nvPr/>
        </p:nvSpPr>
        <p:spPr>
          <a:xfrm xmlns:a="http://schemas.openxmlformats.org/drawingml/2006/main">
            <a:off x="457200" y="2788920"/>
            <a:ext cx="11247120" cy="7772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600" b="1">
                <a:solidFill>
                  <a:srgbClr val="FFFFFF"/>
                </a:solidFill>
                <a:latin typeface="Calibri"/>
                <a:ea typeface="Calibri"/>
                <a:cs typeface="Calibri"/>
              </a:rPr>
              <a:t>DOCKER CORE + COMPOSE</a:t>
            </a:r>
            <a:endParaRPr sz="4600"/>
          </a:p>
        </p:txBody>
      </p:sp>
      <p:sp>
        <p:nvSpPr>
          <p:cNvPr id="6" name="Text 2">
            <a:extLst xmlns:a="http://schemas.openxmlformats.org/drawingml/2006/main">
              <a:ext uri="{FF2B5EF4-FFF2-40B4-BE49-F238E27FC236}">
                <a16:creationId xmlns:a16="http://schemas.microsoft.com/office/drawing/2014/main" id="{36A20F08-B940-47DE-8CEB-5A5856787C64}"/>
              </a:ext>
            </a:extLst>
          </p:cNvPr>
          <p:cNvSpPr>
            <a:spLocks xmlns:a="http://schemas.openxmlformats.org/drawingml/2006/main" noGrp="1"/>
          </p:cNvSpPr>
          <p:nvPr/>
        </p:nvSpPr>
        <p:spPr>
          <a:xfrm xmlns:a="http://schemas.openxmlformats.org/drawingml/2006/main">
            <a:off x="457200" y="3611880"/>
            <a:ext cx="1124712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400" b="1">
                <a:solidFill>
                  <a:srgbClr val="FFE0B2"/>
                </a:solidFill>
                <a:latin typeface="Calibri"/>
                <a:ea typeface="Calibri"/>
                <a:cs typeface="Calibri"/>
              </a:rPr>
              <a:t>SATU REPO, DUA CARA MENJALANKAN API</a:t>
            </a:r>
            <a:endParaRPr sz="2400"/>
          </a:p>
        </p:txBody>
      </p:sp>
      <p:sp>
        <p:nvSpPr>
          <p:cNvPr id="7" name="Text 3">
            <a:extLst xmlns:a="http://schemas.openxmlformats.org/drawingml/2006/main">
              <a:ext uri="{FF2B5EF4-FFF2-40B4-BE49-F238E27FC236}">
                <a16:creationId xmlns:a16="http://schemas.microsoft.com/office/drawing/2014/main" id="{BC9E88A1-B589-4E5C-A850-E8A6D9EDAC6B}"/>
              </a:ext>
            </a:extLst>
          </p:cNvPr>
          <p:cNvSpPr>
            <a:spLocks xmlns:a="http://schemas.openxmlformats.org/drawingml/2006/main" noGrp="1"/>
          </p:cNvSpPr>
          <p:nvPr/>
        </p:nvSpPr>
        <p:spPr>
          <a:xfrm xmlns:a="http://schemas.openxmlformats.org/drawingml/2006/main">
            <a:off x="457200" y="4251960"/>
            <a:ext cx="1124712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a:solidFill>
                  <a:srgbClr val="FFFFFF"/>
                </a:solidFill>
                <a:latin typeface="Calibri"/>
                <a:ea typeface="Calibri"/>
                <a:cs typeface="Calibri"/>
              </a:rPr>
              <a:t>Build image sendiri, amati state memori, lalu uji data persisten</a:t>
            </a:r>
            <a:endParaRPr sz="1600"/>
          </a:p>
        </p:txBody>
      </p:sp>
      <p:sp>
        <p:nvSpPr>
          <p:cNvPr id="8" name="Shape 4">
            <a:extLst xmlns:a="http://schemas.openxmlformats.org/drawingml/2006/main">
              <a:ext uri="{FF2B5EF4-FFF2-40B4-BE49-F238E27FC236}">
                <a16:creationId xmlns:a16="http://schemas.microsoft.com/office/drawing/2014/main" id="{A9E5E0E7-83D7-4CF3-A99D-234F2DDD3D41}"/>
              </a:ext>
            </a:extLst>
          </p:cNvPr>
          <p:cNvSpPr>
            <a:spLocks xmlns:a="http://schemas.openxmlformats.org/drawingml/2006/main" noGrp="1"/>
          </p:cNvSpPr>
          <p:nvPr/>
        </p:nvSpPr>
        <p:spPr>
          <a:xfrm xmlns:a="http://schemas.openxmlformats.org/drawingml/2006/main">
            <a:off x="5715000" y="4800600"/>
            <a:ext cx="731520" cy="54864"/>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Text 5">
            <a:extLst xmlns:a="http://schemas.openxmlformats.org/drawingml/2006/main">
              <a:ext uri="{FF2B5EF4-FFF2-40B4-BE49-F238E27FC236}">
                <a16:creationId xmlns:a16="http://schemas.microsoft.com/office/drawing/2014/main" id="{838BEABB-80DB-43B3-B851-E8D746009D89}"/>
              </a:ext>
            </a:extLst>
          </p:cNvPr>
          <p:cNvSpPr>
            <a:spLocks xmlns:a="http://schemas.openxmlformats.org/drawingml/2006/main" noGrp="1"/>
          </p:cNvSpPr>
          <p:nvPr/>
        </p:nvSpPr>
        <p:spPr>
          <a:xfrm xmlns:a="http://schemas.openxmlformats.org/drawingml/2006/main">
            <a:off x="457200" y="4937760"/>
            <a:ext cx="1124712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00" i="1" spc="300">
                <a:solidFill>
                  <a:srgbClr val="FFE0B2"/>
                </a:solidFill>
                <a:latin typeface="Calibri"/>
                <a:ea typeface="Calibri"/>
                <a:cs typeface="Calibri"/>
              </a:rPr>
              <a:t>PRAKTIKUM GABUNGAN  |  22 OKTOBER 2026</a:t>
            </a:r>
            <a:endParaRPr sz="1200"/>
          </a:p>
        </p:txBody>
      </p:sp>
      <p:sp>
        <p:nvSpPr>
          <p:cNvPr id="10" name="Text 6">
            <a:extLst xmlns:a="http://schemas.openxmlformats.org/drawingml/2006/main">
              <a:ext uri="{FF2B5EF4-FFF2-40B4-BE49-F238E27FC236}">
                <a16:creationId xmlns:a16="http://schemas.microsoft.com/office/drawing/2014/main" id="{AAD3A022-852C-4863-A493-633203541D91}"/>
              </a:ext>
            </a:extLst>
          </p:cNvPr>
          <p:cNvSpPr>
            <a:spLocks xmlns:a="http://schemas.openxmlformats.org/drawingml/2006/main" noGrp="1"/>
          </p:cNvSpPr>
          <p:nvPr/>
        </p:nvSpPr>
        <p:spPr>
          <a:xfrm xmlns:a="http://schemas.openxmlformats.org/drawingml/2006/main">
            <a:off x="457200" y="594360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300" b="1">
                <a:solidFill>
                  <a:srgbClr val="FFFFFF"/>
                </a:solidFill>
                <a:latin typeface="Calibri"/>
                <a:ea typeface="Calibri"/>
                <a:cs typeface="Calibri"/>
              </a:rPr>
              <a:t>Budi Juarto, S.T., M.Kom.</a:t>
            </a:r>
            <a:endParaRPr sz="1300"/>
          </a:p>
        </p:txBody>
      </p:sp>
      <p:sp>
        <p:nvSpPr>
          <p:cNvPr id="11" name="Text 7">
            <a:extLst xmlns:a="http://schemas.openxmlformats.org/drawingml/2006/main">
              <a:ext uri="{FF2B5EF4-FFF2-40B4-BE49-F238E27FC236}">
                <a16:creationId xmlns:a16="http://schemas.microsoft.com/office/drawing/2014/main" id="{B06CA6A1-2835-4D36-86BB-52DE03821A06}"/>
              </a:ext>
            </a:extLst>
          </p:cNvPr>
          <p:cNvSpPr>
            <a:spLocks xmlns:a="http://schemas.openxmlformats.org/drawingml/2006/main" noGrp="1"/>
          </p:cNvSpPr>
          <p:nvPr/>
        </p:nvSpPr>
        <p:spPr>
          <a:xfrm xmlns:a="http://schemas.openxmlformats.org/drawingml/2006/main">
            <a:off x="457200" y="6217920"/>
            <a:ext cx="112471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100" i="1">
                <a:solidFill>
                  <a:srgbClr val="FFE0B2"/>
                </a:solidFill>
                <a:latin typeface="Calibri"/>
                <a:ea typeface="Calibri"/>
                <a:cs typeface="Calibri"/>
              </a:rPr>
              <a:t>Departemen Informatika  -  BINUS @Bandung</a:t>
            </a:r>
            <a:endParaRPr sz="1100"/>
          </a:p>
        </p:txBody>
      </p:sp>
    </p:spTree>
    <p:extLst>
      <p:ext uri="{BB962C8B-B14F-4D97-AF65-F5344CB8AC3E}">
        <p14:creationId xmlns:p14="http://schemas.microsoft.com/office/powerpoint/2010/main" val="170648867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a9e25295d9e94ead"/>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682f1acf6e404e7d"/>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Alur kelas 100 menit</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Prasyarat dan build pertama selesai sebelum jam praktikum</a:t>
            </a:r>
            <a:endParaRPr sz="1200"/>
          </a:p>
        </p:txBody>
      </p:sp>
      <p:graphicFrame>
        <p:nvGraphicFramePr>
          <p:cNvPr id="31" name="">
            <a:extLst xmlns:a="http://schemas.openxmlformats.org/drawingml/2006/main">
              <a:ext uri="{FF2B5EF4-FFF2-40B4-BE49-F238E27FC236}">
                <a16:creationId xmlns:a16="http://schemas.microsoft.com/office/drawing/2014/main" id="{F9B3F82C-A532-497D-8A8A-4717A73177AA}"/>
              </a:ext>
            </a:extLst>
          </p:cNvPr>
          <p:cNvGraphicFramePr/>
          <p:nvPr/>
        </p:nvGraphicFramePr>
        <p:xfrm>
          <a:off xmlns:a="http://schemas.openxmlformats.org/drawingml/2006/main" x="533400" y="1628775"/>
          <a:ext xmlns:a="http://schemas.openxmlformats.org/drawingml/2006/main" cx="11125200" cy="3429000"/>
        </p:xfrm>
        <a:graphic xmlns:a="http://schemas.openxmlformats.org/drawingml/2006/main">
          <a:graphicData uri="http://schemas.openxmlformats.org/drawingml/2006/table">
            <a:tbl>
              <a:tblPr firstRow="1" bandRow="1"/>
              <a:tblGrid>
                <a:gridCol w="2457450"/>
                <a:gridCol w="4343400"/>
                <a:gridCol w="4324350"/>
              </a:tblGrid>
              <a:tr h="685800">
                <a:tc>
                  <a:txBody>
                    <a:bodyPr lIns="114300" tIns="95250" rIns="114300" bIns="95250"/>
                    <a:lstStyle/>
                    <a:p>
                      <a:r>
                        <a:rPr sz="1650" b="1">
                          <a:solidFill>
                            <a:srgbClr val="FFFFFF"/>
                          </a:solidFill>
                          <a:latin typeface="Arial"/>
                          <a:ea typeface="Arial"/>
                          <a:cs typeface="Arial"/>
                        </a:rPr>
                        <a:t>Waktu</a:t>
                      </a:r>
                    </a:p>
                  </a:txBody>
                  <a:tcPr marL="91440" marR="91440" marT="45720" marB="45720">
                    <a:lnL w="9525">
                      <a:solidFill>
                        <a:srgbClr val="D5E1EC"/>
                      </a:solidFill>
                      <a:prstDash val="solid"/>
                    </a:lnL>
                    <a:lnR w="9525">
                      <a:solidFill>
                        <a:srgbClr val="D5E1EC"/>
                      </a:solidFill>
                      <a:prstDash val="solid"/>
                    </a:lnR>
                    <a:lnT w="9525">
                      <a:solidFill>
                        <a:srgbClr val="D5E1EC"/>
                      </a:solidFill>
                      <a:prstDash val="solid"/>
                    </a:lnT>
                    <a:lnB w="9525">
                      <a:solidFill>
                        <a:srgbClr val="D5E1EC"/>
                      </a:solidFill>
                      <a:prstDash val="solid"/>
                    </a:lnB>
                    <a:solidFill>
                      <a:srgbClr val="08256E"/>
                    </a:solidFill>
                  </a:tcPr>
                </a:tc>
                <a:tc>
                  <a:txBody>
                    <a:bodyPr lIns="114300" tIns="95250" rIns="114300" bIns="95250"/>
                    <a:lstStyle/>
                    <a:p>
                      <a:r>
                        <a:rPr sz="1650" b="1">
                          <a:solidFill>
                            <a:srgbClr val="FFFFFF"/>
                          </a:solidFill>
                          <a:latin typeface="Arial"/>
                          <a:ea typeface="Arial"/>
                          <a:cs typeface="Arial"/>
                        </a:rPr>
                        <a:t>Fokus</a:t>
                      </a:r>
                    </a:p>
                  </a:txBody>
                  <a:tcPr marL="91440" marR="91440" marT="45720" marB="45720">
                    <a:lnR w="9525">
                      <a:solidFill>
                        <a:srgbClr val="D5E1EC"/>
                      </a:solidFill>
                      <a:prstDash val="solid"/>
                    </a:lnR>
                    <a:lnT w="9525">
                      <a:solidFill>
                        <a:srgbClr val="D5E1EC"/>
                      </a:solidFill>
                      <a:prstDash val="solid"/>
                    </a:lnT>
                    <a:lnB w="9525">
                      <a:solidFill>
                        <a:srgbClr val="D5E1EC"/>
                      </a:solidFill>
                      <a:prstDash val="solid"/>
                    </a:lnB>
                    <a:solidFill>
                      <a:srgbClr val="08256E"/>
                    </a:solidFill>
                  </a:tcPr>
                </a:tc>
                <a:tc>
                  <a:txBody>
                    <a:bodyPr lIns="114300" tIns="95250" rIns="114300" bIns="95250"/>
                    <a:lstStyle/>
                    <a:p>
                      <a:r>
                        <a:rPr sz="1650" b="1">
                          <a:solidFill>
                            <a:srgbClr val="FFFFFF"/>
                          </a:solidFill>
                          <a:latin typeface="Arial"/>
                          <a:ea typeface="Arial"/>
                          <a:cs typeface="Arial"/>
                        </a:rPr>
                        <a:t>Checkpoint</a:t>
                      </a:r>
                    </a:p>
                  </a:txBody>
                  <a:tcPr marL="91440" marR="91440" marT="45720" marB="45720">
                    <a:lnR w="9525">
                      <a:solidFill>
                        <a:srgbClr val="D5E1EC"/>
                      </a:solidFill>
                      <a:prstDash val="solid"/>
                    </a:lnR>
                    <a:lnT w="9525">
                      <a:solidFill>
                        <a:srgbClr val="D5E1EC"/>
                      </a:solidFill>
                      <a:prstDash val="solid"/>
                    </a:lnT>
                    <a:lnB w="9525">
                      <a:solidFill>
                        <a:srgbClr val="D5E1EC"/>
                      </a:solidFill>
                      <a:prstDash val="solid"/>
                    </a:lnB>
                    <a:solidFill>
                      <a:srgbClr val="08256E"/>
                    </a:solidFill>
                  </a:tcPr>
                </a:tc>
              </a:tr>
              <a:tr h="685800">
                <a:tc>
                  <a:txBody>
                    <a:bodyPr lIns="114300" tIns="95250" rIns="114300" bIns="95250"/>
                    <a:lstStyle/>
                    <a:p>
                      <a:r>
                        <a:rPr sz="1650" b="0">
                          <a:solidFill>
                            <a:srgbClr val="233344"/>
                          </a:solidFill>
                          <a:latin typeface="Arial"/>
                          <a:ea typeface="Arial"/>
                          <a:cs typeface="Arial"/>
                        </a:rPr>
                        <a:t>0–25 menit</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Docker Core</a:t>
                      </a:r>
                    </a:p>
                  </a:txBody>
                  <a:tcPr marL="91440" marR="91440" marT="45720" marB="45720">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Image, user, HTTP, dan reset memori</a:t>
                      </a:r>
                    </a:p>
                  </a:txBody>
                  <a:tcPr marL="91440" marR="91440" marT="45720" marB="45720">
                    <a:lnR w="9525">
                      <a:solidFill>
                        <a:srgbClr val="D5E1EC"/>
                      </a:solidFill>
                      <a:prstDash val="solid"/>
                    </a:lnR>
                    <a:lnB w="9525">
                      <a:solidFill>
                        <a:srgbClr val="D5E1EC"/>
                      </a:solidFill>
                      <a:prstDash val="solid"/>
                    </a:lnB>
                    <a:solidFill>
                      <a:srgbClr val="F4F8FC"/>
                    </a:solidFill>
                  </a:tcPr>
                </a:tc>
              </a:tr>
              <a:tr h="685800">
                <a:tc>
                  <a:txBody>
                    <a:bodyPr lIns="114300" tIns="95250" rIns="114300" bIns="95250"/>
                    <a:lstStyle/>
                    <a:p>
                      <a:r>
                        <a:rPr sz="1650" b="0">
                          <a:solidFill>
                            <a:srgbClr val="233344"/>
                          </a:solidFill>
                          <a:latin typeface="Arial"/>
                          <a:ea typeface="Arial"/>
                          <a:cs typeface="Arial"/>
                        </a:rPr>
                        <a:t>25–75 menit</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Compose: checkpoint utama</a:t>
                      </a:r>
                    </a:p>
                  </a:txBody>
                  <a:tcPr marL="91440" marR="91440" marT="45720" marB="45720">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Healthy, DNS, cache, dan persistensi</a:t>
                      </a:r>
                    </a:p>
                  </a:txBody>
                  <a:tcPr marL="91440" marR="91440" marT="45720" marB="45720">
                    <a:lnR w="9525">
                      <a:solidFill>
                        <a:srgbClr val="D5E1EC"/>
                      </a:solidFill>
                      <a:prstDash val="solid"/>
                    </a:lnR>
                    <a:lnB w="9525">
                      <a:solidFill>
                        <a:srgbClr val="D5E1EC"/>
                      </a:solidFill>
                      <a:prstDash val="solid"/>
                    </a:lnB>
                    <a:solidFill>
                      <a:srgbClr val="FFFFFF"/>
                    </a:solidFill>
                  </a:tcPr>
                </a:tc>
              </a:tr>
              <a:tr h="685800">
                <a:tc>
                  <a:txBody>
                    <a:bodyPr lIns="114300" tIns="95250" rIns="114300" bIns="95250"/>
                    <a:lstStyle/>
                    <a:p>
                      <a:r>
                        <a:rPr sz="1650" b="0">
                          <a:solidFill>
                            <a:srgbClr val="233344"/>
                          </a:solidFill>
                          <a:latin typeface="Arial"/>
                          <a:ea typeface="Arial"/>
                          <a:cs typeface="Arial"/>
                        </a:rPr>
                        <a:t>75–85 menit</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Buffer troubleshooting</a:t>
                      </a:r>
                    </a:p>
                  </a:txBody>
                  <a:tcPr marL="91440" marR="91440" marT="45720" marB="45720">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Diagnosis port, healthcheck, atau password</a:t>
                      </a:r>
                    </a:p>
                  </a:txBody>
                  <a:tcPr marL="91440" marR="91440" marT="45720" marB="45720">
                    <a:lnR w="9525">
                      <a:solidFill>
                        <a:srgbClr val="D5E1EC"/>
                      </a:solidFill>
                      <a:prstDash val="solid"/>
                    </a:lnR>
                    <a:lnB w="9525">
                      <a:solidFill>
                        <a:srgbClr val="D5E1EC"/>
                      </a:solidFill>
                      <a:prstDash val="solid"/>
                    </a:lnB>
                    <a:solidFill>
                      <a:srgbClr val="F4F8FC"/>
                    </a:solidFill>
                  </a:tcPr>
                </a:tc>
              </a:tr>
              <a:tr h="685800">
                <a:tc>
                  <a:txBody>
                    <a:bodyPr lIns="114300" tIns="95250" rIns="114300" bIns="95250"/>
                    <a:lstStyle/>
                    <a:p>
                      <a:r>
                        <a:rPr sz="1650" b="0">
                          <a:solidFill>
                            <a:srgbClr val="233344"/>
                          </a:solidFill>
                          <a:latin typeface="Arial"/>
                          <a:ea typeface="Arial"/>
                          <a:cs typeface="Arial"/>
                        </a:rPr>
                        <a:t>85–100 menit</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Refleksi dan cleanup</a:t>
                      </a:r>
                    </a:p>
                  </a:txBody>
                  <a:tcPr marL="91440" marR="91440" marT="45720" marB="45720">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Bandingkan bukti, hentikan stack latihan</a:t>
                      </a:r>
                    </a:p>
                  </a:txBody>
                  <a:tcPr marL="91440" marR="91440" marT="45720" marB="45720">
                    <a:lnR w="9525">
                      <a:solidFill>
                        <a:srgbClr val="D5E1EC"/>
                      </a:solidFill>
                      <a:prstDash val="solid"/>
                    </a:lnR>
                    <a:lnB w="9525">
                      <a:solidFill>
                        <a:srgbClr val="D5E1EC"/>
                      </a:solidFill>
                      <a:prstDash val="solid"/>
                    </a:lnB>
                    <a:solidFill>
                      <a:srgbClr val="FFFFFF"/>
                    </a:solidFill>
                  </a:tcPr>
                </a:tc>
              </a:tr>
            </a:tbl>
          </a:graphicData>
        </a:graphic>
      </p:graphicFrame>
      <p:sp>
        <p:nvSpPr>
          <p:cNvPr id="32" name="Profile debug dan insiden cache merupakan materi tambah">
            <a:extLst xmlns:a="http://schemas.openxmlformats.org/drawingml/2006/main">
              <a:ext uri="{FF2B5EF4-FFF2-40B4-BE49-F238E27FC236}">
                <a16:creationId xmlns:a16="http://schemas.microsoft.com/office/drawing/2014/main" id="{44A8ED30-486F-4C23-A432-039FD84F3FD6}"/>
              </a:ext>
            </a:extLst>
          </p:cNvPr>
          <p:cNvSpPr>
            <a:spLocks xmlns:a="http://schemas.openxmlformats.org/drawingml/2006/main" noGrp="1"/>
          </p:cNvSpPr>
          <p:nvPr/>
        </p:nvSpPr>
        <p:spPr>
          <a:xfrm xmlns:a="http://schemas.openxmlformats.org/drawingml/2006/main">
            <a:off x="533400" y="533400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Profile debug dan insiden cache merupakan materi tambahan bila waktu tersedia. Latihan ini mendukung proyek kelompok tanpa penyerahan baru.</a:t>
            </a:r>
          </a:p>
        </p:txBody>
      </p:sp>
    </p:spTree>
    <p:extLst>
      <p:ext uri="{BB962C8B-B14F-4D97-AF65-F5344CB8AC3E}">
        <p14:creationId xmlns:p14="http://schemas.microsoft.com/office/powerpoint/2010/main" val="38165364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3</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311d26c217cd404d"/>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37c82271398849f8"/>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Prasyarat sebelum kelas</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Satu clone meet6CloudService, Docker Engine siap, port latihan tersedia</a:t>
            </a:r>
            <a:endParaRPr sz="1200"/>
          </a:p>
        </p:txBody>
      </p:sp>
      <p:sp>
        <p:nvSpPr>
          <p:cNvPr id="31" name="Reference code panel">
            <a:extLst xmlns:a="http://schemas.openxmlformats.org/drawingml/2006/main">
              <a:ext uri="{FF2B5EF4-FFF2-40B4-BE49-F238E27FC236}">
                <a16:creationId xmlns:a16="http://schemas.microsoft.com/office/drawing/2014/main" id="{A30FA1A1-D6FE-4910-8B8A-1285E74EC2F8}"/>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EBE4BBDB-4E09-4C8C-9BF0-11D442C6680C}"/>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repoUrl = &quot;https://github.com/SeedFlora/&quot; +&#10;  &quot;meet6Cl">
            <a:extLst xmlns:a="http://schemas.openxmlformats.org/drawingml/2006/main">
              <a:ext uri="{FF2B5EF4-FFF2-40B4-BE49-F238E27FC236}">
                <a16:creationId xmlns:a16="http://schemas.microsoft.com/office/drawing/2014/main" id="{99E2291B-F677-4F46-B884-26C42967602F}"/>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FFFFFF"/>
                </a:solidFill>
                <a:latin typeface="Consolas"/>
                <a:ea typeface="Consolas"/>
                <a:cs typeface="Consolas"/>
              </a:defRPr>
            </a:defPPr>
          </a:lstStyle>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$repoUrl = "https://github.com/SeedFlora/" +</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  "meet6CloudService.git"</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git clone $repoUrl</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Set-Location meet6CloudService</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docker version</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docker compose version</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docker build -t cloud-notes-api:core22 `</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  ./gabungan22/core</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docker build ./api</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docker pull postgres:16-alpine</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docker pull redis:7-alpine</a:t>
            </a:r>
          </a:p>
        </p:txBody>
      </p:sp>
      <p:sp>
        <p:nvSpPr>
          <p:cNvPr id="34" name="Fungsi dan cara membaca hasil">
            <a:extLst xmlns:a="http://schemas.openxmlformats.org/drawingml/2006/main">
              <a:ext uri="{FF2B5EF4-FFF2-40B4-BE49-F238E27FC236}">
                <a16:creationId xmlns:a16="http://schemas.microsoft.com/office/drawing/2014/main" id="{14F46DA0-68C2-4366-AF2E-77D3D3BED12B}"/>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Clone menyediakan Core dan Compose.&#10;&#10;Docker version har">
            <a:extLst xmlns:a="http://schemas.openxmlformats.org/drawingml/2006/main">
              <a:ext uri="{FF2B5EF4-FFF2-40B4-BE49-F238E27FC236}">
                <a16:creationId xmlns:a16="http://schemas.microsoft.com/office/drawing/2014/main" id="{D40A2CE3-C06C-4525-8C4F-B8B46C3EF2F3}"/>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Clone menyediakan Core dan Compose.</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Docker version harus menampilkan Client dan Server.</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Build/pull pertama membutuhkan jaringan. Selesaikan sebelum 100 menit dimulai.</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Port 18005</a:t>
            </a:r>
            <a:r>
              <a:rPr sz="1725" b="0">
                <a:solidFill>
                  <a:srgbClr val="233344"/>
                </a:solidFill>
                <a:latin typeface="Arial"/>
                <a:ea typeface="Arial"/>
                <a:cs typeface="Arial"/>
              </a:rPr>
              <a:t> untuk Core, 8000 untuk Compose.</a:t>
            </a:r>
          </a:p>
        </p:txBody>
      </p:sp>
      <p:sp>
        <p:nvSpPr>
          <p:cNvPr id="36" name="Buka modul gabungan untuk command lengkap dan Bash.">
            <a:extLst xmlns:a="http://schemas.openxmlformats.org/drawingml/2006/main">
              <a:ext uri="{FF2B5EF4-FFF2-40B4-BE49-F238E27FC236}">
                <a16:creationId xmlns:a16="http://schemas.microsoft.com/office/drawing/2014/main" id="{0F6CD0E9-9FA0-479A-B219-7136AE41CD4B}"/>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42aaaddfdb6d4d09"/>
              </a:rPr>
              <a:t>Buka modul gabungan untuk command lengkap dan Bash.</a:t>
            </a:r>
          </a:p>
        </p:txBody>
      </p:sp>
    </p:spTree>
    <p:extLst>
      <p:ext uri="{BB962C8B-B14F-4D97-AF65-F5344CB8AC3E}">
        <p14:creationId xmlns:p14="http://schemas.microsoft.com/office/powerpoint/2010/main" val="381653648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4</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c0c830660788469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f3a7e53f60324b6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Dockerfile, image, dan container</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Tiga benda yang berbeda pada workflow yang sama</a:t>
            </a:r>
            <a:endParaRPr sz="1200"/>
          </a:p>
        </p:txBody>
      </p:sp>
      <p:sp>
        <p:nvSpPr>
          <p:cNvPr id="31" name="Dockerfile">
            <a:extLst xmlns:a="http://schemas.openxmlformats.org/drawingml/2006/main">
              <a:ext uri="{FF2B5EF4-FFF2-40B4-BE49-F238E27FC236}">
                <a16:creationId xmlns:a16="http://schemas.microsoft.com/office/drawing/2014/main" id="{83A3D2F0-995A-4634-B7E3-A9F182C93F30}"/>
              </a:ext>
            </a:extLst>
          </p:cNvPr>
          <p:cNvSpPr>
            <a:spLocks xmlns:a="http://schemas.openxmlformats.org/drawingml/2006/main" noGrp="1"/>
          </p:cNvSpPr>
          <p:nvPr/>
        </p:nvSpPr>
        <p:spPr>
          <a:xfrm xmlns:a="http://schemas.openxmlformats.org/drawingml/2006/main">
            <a:off x="552450" y="161925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8256E"/>
                </a:solidFill>
                <a:latin typeface="Arial"/>
                <a:ea typeface="Arial"/>
                <a:cs typeface="Arial"/>
              </a:defRPr>
            </a:defPPr>
          </a:lstStyle>
          <a:p xmlns:a="http://schemas.openxmlformats.org/drawingml/2006/main">
            <a:pPr>
              <a:defRPr sz="2250" b="1">
                <a:solidFill>
                  <a:srgbClr val="08256E"/>
                </a:solidFill>
                <a:latin typeface="Arial"/>
                <a:ea typeface="Arial"/>
                <a:cs typeface="Arial"/>
              </a:defRPr>
            </a:pPr>
            <a:r>
              <a:rPr sz="2250" b="1">
                <a:solidFill>
                  <a:srgbClr val="08256E"/>
                </a:solidFill>
                <a:latin typeface="Arial"/>
                <a:ea typeface="Arial"/>
                <a:cs typeface="Arial"/>
              </a:rPr>
              <a:t>Dockerfile</a:t>
            </a:r>
          </a:p>
        </p:txBody>
      </p:sp>
      <p:sp>
        <p:nvSpPr>
          <p:cNvPr id="32" name="Resep teks untuk build.&#10;&#10;Contoh kelas berada pada&#10;gabun">
            <a:extLst xmlns:a="http://schemas.openxmlformats.org/drawingml/2006/main">
              <a:ext uri="{FF2B5EF4-FFF2-40B4-BE49-F238E27FC236}">
                <a16:creationId xmlns:a16="http://schemas.microsoft.com/office/drawing/2014/main" id="{7013F46A-F39A-4FDF-B4F0-C576752369D3}"/>
              </a:ext>
            </a:extLst>
          </p:cNvPr>
          <p:cNvSpPr>
            <a:spLocks xmlns:a="http://schemas.openxmlformats.org/drawingml/2006/main" noGrp="1"/>
          </p:cNvSpPr>
          <p:nvPr/>
        </p:nvSpPr>
        <p:spPr>
          <a:xfrm xmlns:a="http://schemas.openxmlformats.org/drawingml/2006/main">
            <a:off x="552450" y="2324100"/>
            <a:ext cx="3438525"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33344"/>
                </a:solidFill>
                <a:latin typeface="Arial"/>
                <a:ea typeface="Arial"/>
                <a:cs typeface="Arial"/>
              </a:defRPr>
            </a:defPPr>
          </a:lstStyle>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Resep teks untuk build.</a:t>
            </a:r>
          </a:p>
          <a:p xmlns:a="http://schemas.openxmlformats.org/drawingml/2006/main">
            <a:r>
              <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Contoh kelas berada pada</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gabungan22/core/Dockerfile.</a:t>
            </a:r>
          </a:p>
          <a:p xmlns:a="http://schemas.openxmlformats.org/drawingml/2006/main">
            <a:r>
              <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.dockerignore membatasi</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file build context.</a:t>
            </a:r>
          </a:p>
        </p:txBody>
      </p:sp>
      <p:sp>
        <p:nvSpPr>
          <p:cNvPr id="33" name="Image">
            <a:extLst xmlns:a="http://schemas.openxmlformats.org/drawingml/2006/main">
              <a:ext uri="{FF2B5EF4-FFF2-40B4-BE49-F238E27FC236}">
                <a16:creationId xmlns:a16="http://schemas.microsoft.com/office/drawing/2014/main" id="{69C4C7CD-8921-425B-B6FD-BDA7F48817B3}"/>
              </a:ext>
            </a:extLst>
          </p:cNvPr>
          <p:cNvSpPr>
            <a:spLocks xmlns:a="http://schemas.openxmlformats.org/drawingml/2006/main" noGrp="1"/>
          </p:cNvSpPr>
          <p:nvPr/>
        </p:nvSpPr>
        <p:spPr>
          <a:xfrm xmlns:a="http://schemas.openxmlformats.org/drawingml/2006/main">
            <a:off x="4400550" y="1619250"/>
            <a:ext cx="3524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8256E"/>
                </a:solidFill>
                <a:latin typeface="Arial"/>
                <a:ea typeface="Arial"/>
                <a:cs typeface="Arial"/>
              </a:defRPr>
            </a:defPPr>
          </a:lstStyle>
          <a:p xmlns:a="http://schemas.openxmlformats.org/drawingml/2006/main">
            <a:pPr>
              <a:defRPr sz="2250" b="1">
                <a:solidFill>
                  <a:srgbClr val="08256E"/>
                </a:solidFill>
                <a:latin typeface="Arial"/>
                <a:ea typeface="Arial"/>
                <a:cs typeface="Arial"/>
              </a:defRPr>
            </a:pPr>
            <a:r>
              <a:rPr sz="2250" b="1">
                <a:solidFill>
                  <a:srgbClr val="08256E"/>
                </a:solidFill>
                <a:latin typeface="Arial"/>
                <a:ea typeface="Arial"/>
                <a:cs typeface="Arial"/>
              </a:rPr>
              <a:t>Image</a:t>
            </a:r>
          </a:p>
        </p:txBody>
      </p:sp>
      <p:sp>
        <p:nvSpPr>
          <p:cNvPr id="34" name="Paket aplikasi dan dependency.&#10;&#10;Tag sesi ini:&#10;cloud-not">
            <a:extLst xmlns:a="http://schemas.openxmlformats.org/drawingml/2006/main">
              <a:ext uri="{FF2B5EF4-FFF2-40B4-BE49-F238E27FC236}">
                <a16:creationId xmlns:a16="http://schemas.microsoft.com/office/drawing/2014/main" id="{7483B9F4-70B3-4A16-BBA1-4038A8A4C566}"/>
              </a:ext>
            </a:extLst>
          </p:cNvPr>
          <p:cNvSpPr>
            <a:spLocks xmlns:a="http://schemas.openxmlformats.org/drawingml/2006/main" noGrp="1"/>
          </p:cNvSpPr>
          <p:nvPr/>
        </p:nvSpPr>
        <p:spPr>
          <a:xfrm xmlns:a="http://schemas.openxmlformats.org/drawingml/2006/main">
            <a:off x="4400550" y="2324100"/>
            <a:ext cx="3438525"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33344"/>
                </a:solidFill>
                <a:latin typeface="Arial"/>
                <a:ea typeface="Arial"/>
                <a:cs typeface="Arial"/>
              </a:defRPr>
            </a:defPPr>
          </a:lstStyle>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Paket aplikasi dan dependency.</a:t>
            </a:r>
          </a:p>
          <a:p xmlns:a="http://schemas.openxmlformats.org/drawingml/2006/main">
            <a:r>
              <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Tag sesi ini:</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cloud-notes-api:core22.</a:t>
            </a:r>
          </a:p>
          <a:p xmlns:a="http://schemas.openxmlformats.org/drawingml/2006/main">
            <a:r>
              <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Build ulang saat source atau</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resep berubah.</a:t>
            </a:r>
          </a:p>
        </p:txBody>
      </p:sp>
      <p:sp>
        <p:nvSpPr>
          <p:cNvPr id="35" name="Container">
            <a:extLst xmlns:a="http://schemas.openxmlformats.org/drawingml/2006/main">
              <a:ext uri="{FF2B5EF4-FFF2-40B4-BE49-F238E27FC236}">
                <a16:creationId xmlns:a16="http://schemas.microsoft.com/office/drawing/2014/main" id="{DC46D774-5D42-45A1-95DB-D2FD36211E36}"/>
              </a:ext>
            </a:extLst>
          </p:cNvPr>
          <p:cNvSpPr>
            <a:spLocks xmlns:a="http://schemas.openxmlformats.org/drawingml/2006/main" noGrp="1"/>
          </p:cNvSpPr>
          <p:nvPr/>
        </p:nvSpPr>
        <p:spPr>
          <a:xfrm xmlns:a="http://schemas.openxmlformats.org/drawingml/2006/main">
            <a:off x="8210550" y="1619250"/>
            <a:ext cx="333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08256E"/>
                </a:solidFill>
                <a:latin typeface="Arial"/>
                <a:ea typeface="Arial"/>
                <a:cs typeface="Arial"/>
              </a:defRPr>
            </a:defPPr>
          </a:lstStyle>
          <a:p xmlns:a="http://schemas.openxmlformats.org/drawingml/2006/main">
            <a:pPr>
              <a:defRPr sz="2250" b="1">
                <a:solidFill>
                  <a:srgbClr val="08256E"/>
                </a:solidFill>
                <a:latin typeface="Arial"/>
                <a:ea typeface="Arial"/>
                <a:cs typeface="Arial"/>
              </a:defRPr>
            </a:pPr>
            <a:r>
              <a:rPr sz="2250" b="1">
                <a:solidFill>
                  <a:srgbClr val="08256E"/>
                </a:solidFill>
                <a:latin typeface="Arial"/>
                <a:ea typeface="Arial"/>
                <a:cs typeface="Arial"/>
              </a:rPr>
              <a:t>Container</a:t>
            </a:r>
          </a:p>
        </p:txBody>
      </p:sp>
      <p:sp>
        <p:nvSpPr>
          <p:cNvPr id="36" name="Proses yang menjalankan image.&#10;&#10;Nama sesi ini:&#10;cloudlab">
            <a:extLst xmlns:a="http://schemas.openxmlformats.org/drawingml/2006/main">
              <a:ext uri="{FF2B5EF4-FFF2-40B4-BE49-F238E27FC236}">
                <a16:creationId xmlns:a16="http://schemas.microsoft.com/office/drawing/2014/main" id="{F8A083E4-FEF7-47A0-8C08-65848E66B9CD}"/>
              </a:ext>
            </a:extLst>
          </p:cNvPr>
          <p:cNvSpPr>
            <a:spLocks xmlns:a="http://schemas.openxmlformats.org/drawingml/2006/main" noGrp="1"/>
          </p:cNvSpPr>
          <p:nvPr/>
        </p:nvSpPr>
        <p:spPr>
          <a:xfrm xmlns:a="http://schemas.openxmlformats.org/drawingml/2006/main">
            <a:off x="8210550" y="2324100"/>
            <a:ext cx="3333750" cy="3152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33344"/>
                </a:solidFill>
                <a:latin typeface="Arial"/>
                <a:ea typeface="Arial"/>
                <a:cs typeface="Arial"/>
              </a:defRPr>
            </a:defPPr>
          </a:lstStyle>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Proses yang menjalankan image.</a:t>
            </a:r>
          </a:p>
          <a:p xmlns:a="http://schemas.openxmlformats.org/drawingml/2006/main">
            <a:r>
              <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Nama sesi ini:</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cloudlab-core22.</a:t>
            </a:r>
          </a:p>
          <a:p xmlns:a="http://schemas.openxmlformats.org/drawingml/2006/main">
            <a:r>
              <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State memori bergantung pada</a:t>
            </a:r>
          </a:p>
          <a:p xmlns:a="http://schemas.openxmlformats.org/drawingml/2006/main">
            <a:pPr>
              <a:defRPr sz="1875" b="0">
                <a:solidFill>
                  <a:srgbClr val="233344"/>
                </a:solidFill>
                <a:latin typeface="Arial"/>
                <a:ea typeface="Arial"/>
                <a:cs typeface="Arial"/>
              </a:defRPr>
            </a:pPr>
            <a:r>
              <a:rPr sz="1875" b="0">
                <a:solidFill>
                  <a:srgbClr val="233344"/>
                </a:solidFill>
                <a:latin typeface="Arial"/>
                <a:ea typeface="Arial"/>
                <a:cs typeface="Arial"/>
              </a:rPr>
              <a:t>proses API yang hidup.</a:t>
            </a:r>
          </a:p>
        </p:txBody>
      </p:sp>
      <p:sp>
        <p:nvSpPr>
          <p:cNvPr id="37" name="Core dan Compose memakai API berbeda. Host port membant">
            <a:extLst xmlns:a="http://schemas.openxmlformats.org/drawingml/2006/main">
              <a:ext uri="{FF2B5EF4-FFF2-40B4-BE49-F238E27FC236}">
                <a16:creationId xmlns:a16="http://schemas.microsoft.com/office/drawing/2014/main" id="{53193FD0-5CA8-4AA6-94B2-A5693E7A9A82}"/>
              </a:ext>
            </a:extLst>
          </p:cNvPr>
          <p:cNvSpPr>
            <a:spLocks xmlns:a="http://schemas.openxmlformats.org/drawingml/2006/main" noGrp="1"/>
          </p:cNvSpPr>
          <p:nvPr/>
        </p:nvSpPr>
        <p:spPr>
          <a:xfrm xmlns:a="http://schemas.openxmlformats.org/drawingml/2006/main">
            <a:off x="552450" y="5619750"/>
            <a:ext cx="10915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650" b="0">
                <a:solidFill>
                  <a:srgbClr val="596C87"/>
                </a:solidFill>
                <a:latin typeface="Arial"/>
                <a:ea typeface="Arial"/>
                <a:cs typeface="Arial"/>
              </a:defRPr>
            </a:defPPr>
          </a:lstStyle>
          <a:p xmlns:a="http://schemas.openxmlformats.org/drawingml/2006/main">
            <a:pPr>
              <a:defRPr sz="1650" b="0">
                <a:solidFill>
                  <a:srgbClr val="596C87"/>
                </a:solidFill>
                <a:latin typeface="Arial"/>
                <a:ea typeface="Arial"/>
                <a:cs typeface="Arial"/>
              </a:defRPr>
            </a:pPr>
            <a:r>
              <a:rPr sz="1650" b="0">
                <a:solidFill>
                  <a:srgbClr val="596C87"/>
                </a:solidFill>
                <a:latin typeface="Arial"/>
                <a:ea typeface="Arial"/>
                <a:cs typeface="Arial"/>
              </a:rPr>
              <a:t>Core dan Compose memakai API berbeda. Host port membantu Anda memeriksa API yang tepat.</a:t>
            </a:r>
          </a:p>
        </p:txBody>
      </p:sp>
    </p:spTree>
    <p:extLst>
      <p:ext uri="{BB962C8B-B14F-4D97-AF65-F5344CB8AC3E}">
        <p14:creationId xmlns:p14="http://schemas.microsoft.com/office/powerpoint/2010/main" val="38165364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5</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f7f3fa50d7f8407d"/>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c327b016ecd44b1b"/>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Dockerfile multi-stage: builder</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Baca gabungan22/core/Dockerfile, jangan ketik ulang resep panjang</a:t>
            </a:r>
            <a:endParaRPr sz="1200"/>
          </a:p>
        </p:txBody>
      </p:sp>
      <p:sp>
        <p:nvSpPr>
          <p:cNvPr id="31" name="Reference code panel">
            <a:extLst xmlns:a="http://schemas.openxmlformats.org/drawingml/2006/main">
              <a:ext uri="{FF2B5EF4-FFF2-40B4-BE49-F238E27FC236}">
                <a16:creationId xmlns:a16="http://schemas.microsoft.com/office/drawing/2014/main" id="{044EFB70-487F-4E7C-AB89-8544CBF8AC2A}"/>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KUTIPAN DOCKERFILE, BUKA FILE SUMBER">
            <a:extLst xmlns:a="http://schemas.openxmlformats.org/drawingml/2006/main">
              <a:ext uri="{FF2B5EF4-FFF2-40B4-BE49-F238E27FC236}">
                <a16:creationId xmlns:a16="http://schemas.microsoft.com/office/drawing/2014/main" id="{3155D9A7-822C-4AE0-87DD-2A6CDD639F7E}"/>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KUTIPAN DOCKERFILE, BUKA FILE SUMBER</a:t>
            </a:r>
          </a:p>
        </p:txBody>
      </p:sp>
      <p:sp>
        <p:nvSpPr>
          <p:cNvPr id="33" name="FROM python:3.12-slim AS builder&#10;WORKDIR /build&#10;COPY re">
            <a:extLst xmlns:a="http://schemas.openxmlformats.org/drawingml/2006/main">
              <a:ext uri="{FF2B5EF4-FFF2-40B4-BE49-F238E27FC236}">
                <a16:creationId xmlns:a16="http://schemas.microsoft.com/office/drawing/2014/main" id="{09597DDF-8885-4136-A1CB-08207D49F498}"/>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FROM python:3.12-slim AS builder</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WORKDIR /build</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COPY requirements.txt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RUN python -m venv /opt/venv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&amp;&amp; /opt/venv/bin/pip install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--no-cache-dir -r requirements.txt</a:t>
            </a:r>
          </a:p>
          <a:p xmlns:a="http://schemas.openxmlformats.org/drawingml/2006/main">
            <a: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Dockerfile memakai backslash</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untuk menyambung baris.</a:t>
            </a:r>
          </a:p>
        </p:txBody>
      </p:sp>
      <p:sp>
        <p:nvSpPr>
          <p:cNvPr id="34" name="Fungsi dan cara membaca hasil">
            <a:extLst xmlns:a="http://schemas.openxmlformats.org/drawingml/2006/main">
              <a:ext uri="{FF2B5EF4-FFF2-40B4-BE49-F238E27FC236}">
                <a16:creationId xmlns:a16="http://schemas.microsoft.com/office/drawing/2014/main" id="{77F887ED-C49E-431F-BB4C-04A850E0C200}"/>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Builder memasang dependency ke /opt/venv.&#10;&#10;COPY require">
            <a:extLst xmlns:a="http://schemas.openxmlformats.org/drawingml/2006/main">
              <a:ext uri="{FF2B5EF4-FFF2-40B4-BE49-F238E27FC236}">
                <a16:creationId xmlns:a16="http://schemas.microsoft.com/office/drawing/2014/main" id="{87A4BA14-3C77-4033-B634-1AE836393CE0}"/>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Builder memasang dependency ke /opt/venv.</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COPY requirements lebih dahulu membantu memakai cache saat dependency tetap.</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Runtime berikutnya menyalin hasil yang diperlukan. Ukuran image harus diukur.</a:t>
            </a:r>
          </a:p>
        </p:txBody>
      </p:sp>
      <p:sp>
        <p:nvSpPr>
          <p:cNvPr id="36" name="Baca Dockerfile lengkap yang sudah tersedia dalam repo.">
            <a:extLst xmlns:a="http://schemas.openxmlformats.org/drawingml/2006/main">
              <a:ext uri="{FF2B5EF4-FFF2-40B4-BE49-F238E27FC236}">
                <a16:creationId xmlns:a16="http://schemas.microsoft.com/office/drawing/2014/main" id="{32017066-E4BC-4EAA-A16C-4D1153FF17A5}"/>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1dc51026c1884668"/>
              </a:rPr>
              <a:t>Baca Dockerfile lengkap yang sudah tersedia dalam repo.</a:t>
            </a:r>
          </a:p>
        </p:txBody>
      </p:sp>
    </p:spTree>
    <p:extLst>
      <p:ext uri="{BB962C8B-B14F-4D97-AF65-F5344CB8AC3E}">
        <p14:creationId xmlns:p14="http://schemas.microsoft.com/office/powerpoint/2010/main" val="38165364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6</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971262f48799423d"/>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1bb0db80c67243b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Runtime, USER, ENV, dan build context</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Stage runtime menyimpan hasil builder dan menjalankan API sebagai </a:t>
            </a:r>
            <a:r>
              <a:rPr sz="1200" i="1">
                <a:solidFill>
                  <a:srgbClr val="64748B"/>
                </a:solidFill>
                <a:latin typeface="Calibri"/>
                <a:ea typeface="Calibri"/>
                <a:cs typeface="Calibri"/>
              </a:rPr>
              <a:t>UID 10001</a:t>
            </a:r>
            <a:endParaRPr sz="1200"/>
          </a:p>
        </p:txBody>
      </p:sp>
      <p:sp>
        <p:nvSpPr>
          <p:cNvPr id="31" name="Reference code panel">
            <a:extLst xmlns:a="http://schemas.openxmlformats.org/drawingml/2006/main">
              <a:ext uri="{FF2B5EF4-FFF2-40B4-BE49-F238E27FC236}">
                <a16:creationId xmlns:a16="http://schemas.microsoft.com/office/drawing/2014/main" id="{75F8338D-8F15-4CC6-8AA4-2B8ECB686773}"/>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KUTIPAN DOCKERFILE, BUKA FILE SUMBER">
            <a:extLst xmlns:a="http://schemas.openxmlformats.org/drawingml/2006/main">
              <a:ext uri="{FF2B5EF4-FFF2-40B4-BE49-F238E27FC236}">
                <a16:creationId xmlns:a16="http://schemas.microsoft.com/office/drawing/2014/main" id="{E88EA8EB-22D2-4257-B45D-E92BEC0FA6D2}"/>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KUTIPAN DOCKERFILE, BUKA FILE SUMBER</a:t>
            </a:r>
          </a:p>
        </p:txBody>
      </p:sp>
      <p:sp>
        <p:nvSpPr>
          <p:cNvPr id="33" name="FROM python:3.12-slim AS runtime&#10;ENV PATH=&quot;/opt/venv/bi">
            <a:extLst xmlns:a="http://schemas.openxmlformats.org/drawingml/2006/main">
              <a:ext uri="{FF2B5EF4-FFF2-40B4-BE49-F238E27FC236}">
                <a16:creationId xmlns:a16="http://schemas.microsoft.com/office/drawing/2014/main" id="{FB416910-1342-4FAC-91F9-7984E96E2CE4}"/>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FROM python:3.12-slim AS runtime</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ENV PATH="/opt/venv/bin:$PATH"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PYTHONDONTWRITEBYTECODE=1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PYTHONUNBUFFERED=1</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RUN useradd --create-home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--uid 10001 appuser</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WORKDIR /app</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COPY --from=builder /opt/venv /opt/venv</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COPY app ./app</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USER appuser</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EXPOSE 8000</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CMD ["uvicorn", "app.main:app",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"--host", "0.0.0.0", "--port", "8000"]</a:t>
            </a:r>
          </a:p>
        </p:txBody>
      </p:sp>
      <p:sp>
        <p:nvSpPr>
          <p:cNvPr id="34" name="Fungsi dan cara membaca hasil">
            <a:extLst xmlns:a="http://schemas.openxmlformats.org/drawingml/2006/main">
              <a:ext uri="{FF2B5EF4-FFF2-40B4-BE49-F238E27FC236}">
                <a16:creationId xmlns:a16="http://schemas.microsoft.com/office/drawing/2014/main" id="{E4EB7E07-5859-4695-9A10-F349DB7624F3}"/>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ENV mengaktifkan venv pada PATH.&#10;USER memakai UID10001.">
            <a:extLst xmlns:a="http://schemas.openxmlformats.org/drawingml/2006/main">
              <a:ext uri="{FF2B5EF4-FFF2-40B4-BE49-F238E27FC236}">
                <a16:creationId xmlns:a16="http://schemas.microsoft.com/office/drawing/2014/main" id="{825A4225-D430-4179-93AD-178AA19E77F3}"/>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ENV mengaktifkan venv pada PATH.</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USER memakai </a:t>
            </a:r>
            <a:r>
              <a:rPr sz="1725" b="0">
                <a:solidFill>
                  <a:srgbClr val="233344"/>
                </a:solidFill>
                <a:latin typeface="Arial"/>
                <a:ea typeface="Arial"/>
                <a:cs typeface="Arial"/>
              </a:rPr>
              <a:t>UID 10001</a:t>
            </a:r>
            <a:r>
              <a:rPr sz="1725" b="0">
                <a:solidFill>
                  <a:srgbClr val="233344"/>
                </a:solidFill>
                <a:latin typeface="Arial"/>
                <a:ea typeface="Arial"/>
                <a:cs typeface="Arial"/>
              </a:rPr>
              <a:t>.</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CMD menjalankan Uvicorn.</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.dockerignore mengeluarkan .git,</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.venv, .env, dan *.pyc dari context.</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EXPOSE mendokumentasikan port.</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Mapping host dibuat saat run.</a:t>
            </a:r>
          </a:p>
        </p:txBody>
      </p:sp>
      <p:sp>
        <p:nvSpPr>
          <p:cNvPr id="36" name="Baca Dockerfile lengkap yang sudah tersedia dalam repo.">
            <a:extLst xmlns:a="http://schemas.openxmlformats.org/drawingml/2006/main">
              <a:ext uri="{FF2B5EF4-FFF2-40B4-BE49-F238E27FC236}">
                <a16:creationId xmlns:a16="http://schemas.microsoft.com/office/drawing/2014/main" id="{D059CDA3-D30E-47AE-A4CC-40AF713569E2}"/>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7b37b09db8de4337"/>
              </a:rPr>
              <a:t>Baca Dockerfile lengkap yang sudah tersedia dalam repo.</a:t>
            </a:r>
          </a:p>
        </p:txBody>
      </p:sp>
    </p:spTree>
    <p:extLst>
      <p:ext uri="{BB962C8B-B14F-4D97-AF65-F5344CB8AC3E}">
        <p14:creationId xmlns:p14="http://schemas.microsoft.com/office/powerpoint/2010/main" val="38165364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7</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0cd41337da3d4016"/>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a6e187e5e364478f"/>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Build dan pemeriksaan image</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Command menggunakan build context gabungan22/core dari root clone</a:t>
            </a:r>
            <a:endParaRPr sz="1200"/>
          </a:p>
        </p:txBody>
      </p:sp>
      <p:sp>
        <p:nvSpPr>
          <p:cNvPr id="31" name="Reference code panel">
            <a:extLst xmlns:a="http://schemas.openxmlformats.org/drawingml/2006/main">
              <a:ext uri="{FF2B5EF4-FFF2-40B4-BE49-F238E27FC236}">
                <a16:creationId xmlns:a16="http://schemas.microsoft.com/office/drawing/2014/main" id="{E877A3E2-72E1-4C35-AE88-9028E121A055}"/>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7507AC7F-D963-4AEF-80E1-989C451EBE03}"/>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docker build -t cloud-notes-api:core22 `&#10;  ./gabungan22">
            <a:extLst xmlns:a="http://schemas.openxmlformats.org/drawingml/2006/main">
              <a:ext uri="{FF2B5EF4-FFF2-40B4-BE49-F238E27FC236}">
                <a16:creationId xmlns:a16="http://schemas.microsoft.com/office/drawing/2014/main" id="{C304EBF2-5E99-45B6-9077-AB25AB709988}"/>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build -t cloud-notes-api:core22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./gabungan22/core</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images cloud-notes-api</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image inspect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cloud-notes-api:core22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--format "{{.Config.User}}"</a:t>
            </a:r>
          </a:p>
        </p:txBody>
      </p:sp>
      <p:sp>
        <p:nvSpPr>
          <p:cNvPr id="34" name="Fungsi dan cara membaca hasil">
            <a:extLst xmlns:a="http://schemas.openxmlformats.org/drawingml/2006/main">
              <a:ext uri="{FF2B5EF4-FFF2-40B4-BE49-F238E27FC236}">
                <a16:creationId xmlns:a16="http://schemas.microsoft.com/office/drawing/2014/main" id="{0AFBBA9E-D6DB-4FC4-9A6A-42A55079F382}"/>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Build membaca resep dan context.&#10;&#10;Image diberi tag core">
            <a:extLst xmlns:a="http://schemas.openxmlformats.org/drawingml/2006/main">
              <a:ext uri="{FF2B5EF4-FFF2-40B4-BE49-F238E27FC236}">
                <a16:creationId xmlns:a16="http://schemas.microsoft.com/office/drawing/2014/main" id="{302BE5F0-3824-4CF4-BF3D-B6E0F0DFC8A7}"/>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Build membaca resep dan context.</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Image diberi tag core22.</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Hasil inspect menunjukkan appuser.</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Image tersedia walaupun container belum berjalan.</a:t>
            </a:r>
          </a:p>
        </p:txBody>
      </p:sp>
      <p:sp>
        <p:nvSpPr>
          <p:cNvPr id="36" name="Buka modul gabungan untuk command lengkap dan Bash.">
            <a:extLst xmlns:a="http://schemas.openxmlformats.org/drawingml/2006/main">
              <a:ext uri="{FF2B5EF4-FFF2-40B4-BE49-F238E27FC236}">
                <a16:creationId xmlns:a16="http://schemas.microsoft.com/office/drawing/2014/main" id="{68A81C30-1186-4D6A-98D9-8AC1DB16041B}"/>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f09dfad4c50d420d"/>
              </a:rPr>
              <a:t>Buka modul gabungan untuk command lengkap dan Bash.</a:t>
            </a:r>
          </a:p>
        </p:txBody>
      </p:sp>
    </p:spTree>
    <p:extLst>
      <p:ext uri="{BB962C8B-B14F-4D97-AF65-F5344CB8AC3E}">
        <p14:creationId xmlns:p14="http://schemas.microsoft.com/office/powerpoint/2010/main" val="38165364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8</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59baa7091eba499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e0d460cad8c0412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Bukti historis image dan user</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Contoh Lab05 untuk membaca build, UID, dan mapping port</a:t>
            </a:r>
            <a:endParaRPr sz="1200"/>
          </a:p>
        </p:txBody>
      </p:sp>
      <p:sp>
        <p:nvSpPr>
          <p:cNvPr id="31" name="RENDER TRANSKRIP OUTPUT AKTUAL LAB05, BUKTI SEBELUMNYA">
            <a:extLst xmlns:a="http://schemas.openxmlformats.org/drawingml/2006/main">
              <a:ext uri="{FF2B5EF4-FFF2-40B4-BE49-F238E27FC236}">
                <a16:creationId xmlns:a16="http://schemas.microsoft.com/office/drawing/2014/main" id="{518F370D-0EF9-4F69-863A-44ED2BA5C91B}"/>
              </a:ext>
            </a:extLst>
          </p:cNvPr>
          <p:cNvSpPr>
            <a:spLocks xmlns:a="http://schemas.openxmlformats.org/drawingml/2006/main" noGrp="1"/>
          </p:cNvSpPr>
          <p:nvPr/>
        </p:nvSpPr>
        <p:spPr>
          <a:xfrm xmlns:a="http://schemas.openxmlformats.org/drawingml/2006/main">
            <a:off x="495300" y="1409700"/>
            <a:ext cx="1117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1">
                <a:solidFill>
                  <a:srgbClr val="FF731B"/>
                </a:solidFill>
                <a:latin typeface="Arial"/>
                <a:ea typeface="Arial"/>
                <a:cs typeface="Arial"/>
              </a:defRPr>
            </a:defPPr>
          </a:lstStyle>
          <a:p xmlns:a="http://schemas.openxmlformats.org/drawingml/2006/main">
            <a:pPr>
              <a:defRPr sz="1125" b="1">
                <a:solidFill>
                  <a:srgbClr val="FF731B"/>
                </a:solidFill>
                <a:latin typeface="Arial"/>
                <a:ea typeface="Arial"/>
                <a:cs typeface="Arial"/>
              </a:defRPr>
            </a:pPr>
            <a:r>
              <a:rPr sz="1125" b="1">
                <a:solidFill>
                  <a:srgbClr val="FF731B"/>
                </a:solidFill>
                <a:latin typeface="Arial"/>
                <a:ea typeface="Arial"/>
                <a:cs typeface="Arial"/>
              </a:rPr>
              <a:t>RENDER TRANSKRIP OUTPUT AKTUAL LAB05, BUKTI SEBELUMNYA</a:t>
            </a:r>
          </a:p>
        </p:txBody>
      </p:sp>
      <p:pic>
        <p:nvPicPr>
          <p:cNvPr id="32" name="">
            <a:extLst xmlns:a="http://schemas.openxmlformats.org/drawingml/2006/main">
              <a:ext uri="{FF2B5EF4-FFF2-40B4-BE49-F238E27FC236}">
                <a16:creationId xmlns:a16="http://schemas.microsoft.com/office/drawing/2014/main" id="{6C79AA63-E12C-48E1-92EB-2BD0C513D8EC}"/>
              </a:ext>
            </a:extLst>
          </p:cNvPr>
          <p:cNvPicPr>
            <a:picLocks xmlns:a="http://schemas.openxmlformats.org/drawingml/2006/main" noChangeAspect="1"/>
          </p:cNvPicPr>
          <p:nvPr/>
        </p:nvPicPr>
        <p:blipFill>
          <a:blip xmlns:r="http://schemas.openxmlformats.org/officeDocument/2006/relationships" xmlns:a="http://schemas.openxmlformats.org/drawingml/2006/main" r:embed="R2ea1107b769d44f7"/>
          <a:srcRect xmlns:a="http://schemas.openxmlformats.org/drawingml/2006/main" l="0" t="0" r="0" b="40000"/>
          <a:stretch xmlns:a="http://schemas.openxmlformats.org/drawingml/2006/main"/>
        </p:blipFill>
        <p:spPr>
          <a:xfrm xmlns:a="http://schemas.openxmlformats.org/drawingml/2006/main">
            <a:off x="917222" y="1743075"/>
            <a:ext cx="10357556" cy="3495675"/>
          </a:xfrm>
          <a:prstGeom xmlns:a="http://schemas.openxmlformats.org/drawingml/2006/main" prst="rect">
            <a:avLst/>
          </a:prstGeom>
        </p:spPr>
      </p:pic>
      <p:sp>
        <p:nvSpPr>
          <p:cNvPr id="33" name="Baca tag image dan UID10001. Pada sesi22 gunakan core22">
            <a:extLst xmlns:a="http://schemas.openxmlformats.org/drawingml/2006/main">
              <a:ext uri="{FF2B5EF4-FFF2-40B4-BE49-F238E27FC236}">
                <a16:creationId xmlns:a16="http://schemas.microsoft.com/office/drawing/2014/main" id="{5B91176B-221C-43C7-8ED7-61DCCD6B51F4}"/>
              </a:ext>
            </a:extLst>
          </p:cNvPr>
          <p:cNvSpPr>
            <a:spLocks xmlns:a="http://schemas.openxmlformats.org/drawingml/2006/main" noGrp="1"/>
          </p:cNvSpPr>
          <p:nvPr/>
        </p:nvSpPr>
        <p:spPr>
          <a:xfrm xmlns:a="http://schemas.openxmlformats.org/drawingml/2006/main">
            <a:off x="495300" y="5448300"/>
            <a:ext cx="1117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233344"/>
                </a:solidFill>
                <a:latin typeface="Arial"/>
                <a:ea typeface="Arial"/>
                <a:cs typeface="Arial"/>
              </a:defRPr>
            </a:defPPr>
          </a:lstStyle>
          <a:p xmlns:a="http://schemas.openxmlformats.org/drawingml/2006/main">
            <a:pPr>
              <a:defRPr sz="1575" b="0">
                <a:solidFill>
                  <a:srgbClr val="233344"/>
                </a:solidFill>
                <a:latin typeface="Arial"/>
                <a:ea typeface="Arial"/>
                <a:cs typeface="Arial"/>
              </a:defRPr>
            </a:pPr>
            <a:r>
              <a:rPr sz="1575" b="0">
                <a:solidFill>
                  <a:srgbClr val="233344"/>
                </a:solidFill>
                <a:latin typeface="Arial"/>
                <a:ea typeface="Arial"/>
                <a:cs typeface="Arial"/>
              </a:rPr>
              <a:t>Baca tag image dan </a:t>
            </a:r>
            <a:r>
              <a:rPr sz="1575" b="0">
                <a:solidFill>
                  <a:srgbClr val="233344"/>
                </a:solidFill>
                <a:latin typeface="Arial"/>
                <a:ea typeface="Arial"/>
                <a:cs typeface="Arial"/>
              </a:rPr>
              <a:t>UID 10001</a:t>
            </a:r>
            <a:r>
              <a:rPr sz="1575" b="0">
                <a:solidFill>
                  <a:srgbClr val="233344"/>
                </a:solidFill>
                <a:latin typeface="Arial"/>
                <a:ea typeface="Arial"/>
                <a:cs typeface="Arial"/>
              </a:rPr>
              <a:t>. Pada </a:t>
            </a:r>
            <a:r>
              <a:rPr sz="1575" b="0">
                <a:solidFill>
                  <a:srgbClr val="233344"/>
                </a:solidFill>
                <a:latin typeface="Arial"/>
                <a:ea typeface="Arial"/>
                <a:cs typeface="Arial"/>
              </a:rPr>
              <a:t>sesi 22</a:t>
            </a:r>
            <a:r>
              <a:rPr sz="1575" b="0">
                <a:solidFill>
                  <a:srgbClr val="233344"/>
                </a:solidFill>
                <a:latin typeface="Arial"/>
                <a:ea typeface="Arial"/>
                <a:cs typeface="Arial"/>
              </a:rPr>
              <a:t> gunakan core22, cloudlab-core22, dan </a:t>
            </a:r>
            <a:r>
              <a:rPr sz="1575" b="0">
                <a:solidFill>
                  <a:srgbClr val="233344"/>
                </a:solidFill>
                <a:latin typeface="Arial"/>
                <a:ea typeface="Arial"/>
                <a:cs typeface="Arial"/>
              </a:rPr>
              <a:t>host 18005</a:t>
            </a:r>
            <a:r>
              <a:rPr sz="1575" b="0">
                <a:solidFill>
                  <a:srgbClr val="233344"/>
                </a:solidFill>
                <a:latin typeface="Arial"/>
                <a:ea typeface="Arial"/>
                <a:cs typeface="Arial"/>
              </a:rPr>
              <a:t>. Angka ukuran dan </a:t>
            </a:r>
            <a:r>
              <a:rPr sz="1575" b="0">
                <a:solidFill>
                  <a:srgbClr val="233344"/>
                </a:solidFill>
                <a:latin typeface="Arial"/>
                <a:ea typeface="Arial"/>
                <a:cs typeface="Arial"/>
              </a:rPr>
              <a:t>port 8000</a:t>
            </a:r>
            <a:r>
              <a:rPr sz="1575" b="0">
                <a:solidFill>
                  <a:srgbClr val="233344"/>
                </a:solidFill>
                <a:latin typeface="Arial"/>
                <a:ea typeface="Arial"/>
                <a:cs typeface="Arial"/>
              </a:rPr>
              <a:t> pada gambar adalah snapshot lama.</a:t>
            </a:r>
          </a:p>
        </p:txBody>
      </p:sp>
    </p:spTree>
    <p:extLst>
      <p:ext uri="{BB962C8B-B14F-4D97-AF65-F5344CB8AC3E}">
        <p14:creationId xmlns:p14="http://schemas.microsoft.com/office/powerpoint/2010/main" val="381653648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9</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23c533bb5474404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6245f6ce26814bd7"/>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Run Core pada host </a:t>
            </a:r>
            <a:r>
              <a:rPr sz="2200" b="1">
                <a:solidFill>
                  <a:srgbClr val="1976D2"/>
                </a:solidFill>
                <a:latin typeface="Calibri"/>
                <a:ea typeface="Calibri"/>
                <a:cs typeface="Calibri"/>
              </a:rPr>
              <a:t>port 18005</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Port 18005</a:t>
            </a:r>
            <a:r>
              <a:rPr sz="1200" i="1">
                <a:solidFill>
                  <a:srgbClr val="64748B"/>
                </a:solidFill>
                <a:latin typeface="Calibri"/>
                <a:ea typeface="Calibri"/>
                <a:cs typeface="Calibri"/>
              </a:rPr>
              <a:t> pada laptop diteruskan ke </a:t>
            </a:r>
            <a:r>
              <a:rPr sz="1200" i="1">
                <a:solidFill>
                  <a:srgbClr val="64748B"/>
                </a:solidFill>
                <a:latin typeface="Calibri"/>
                <a:ea typeface="Calibri"/>
                <a:cs typeface="Calibri"/>
              </a:rPr>
              <a:t>port 8000</a:t>
            </a:r>
            <a:r>
              <a:rPr sz="1200" i="1">
                <a:solidFill>
                  <a:srgbClr val="64748B"/>
                </a:solidFill>
                <a:latin typeface="Calibri"/>
                <a:ea typeface="Calibri"/>
                <a:cs typeface="Calibri"/>
              </a:rPr>
              <a:t> di container</a:t>
            </a:r>
            <a:endParaRPr sz="1200"/>
          </a:p>
        </p:txBody>
      </p:sp>
      <p:sp>
        <p:nvSpPr>
          <p:cNvPr id="31" name="Reference code panel">
            <a:extLst xmlns:a="http://schemas.openxmlformats.org/drawingml/2006/main">
              <a:ext uri="{FF2B5EF4-FFF2-40B4-BE49-F238E27FC236}">
                <a16:creationId xmlns:a16="http://schemas.microsoft.com/office/drawing/2014/main" id="{4F3331A7-96DA-42B4-9010-ABFC67B297AF}"/>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7DCFB598-1317-4C7F-8F6E-93BF9483EED4}"/>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docker run --name cloudlab-core22 -d `&#10;  -p 127.0.0.1:1">
            <a:extLst xmlns:a="http://schemas.openxmlformats.org/drawingml/2006/main">
              <a:ext uri="{FF2B5EF4-FFF2-40B4-BE49-F238E27FC236}">
                <a16:creationId xmlns:a16="http://schemas.microsoft.com/office/drawing/2014/main" id="{659CB631-D3E8-4FAB-8FCD-1A04AE6901C3}"/>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run --name cloudlab-core22 -d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-p 127.0.0.1:18005:8000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-e APP_ENV=classroom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cloud-notes-api:core22</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exec cloudlab-core22 id</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curl.exe -i http://127.0.0.1:18005/health</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curl.exe -i http://127.0.0.1:18005/runtime</a:t>
            </a:r>
          </a:p>
        </p:txBody>
      </p:sp>
      <p:sp>
        <p:nvSpPr>
          <p:cNvPr id="34" name="Fungsi dan cara membaca hasil">
            <a:extLst xmlns:a="http://schemas.openxmlformats.org/drawingml/2006/main">
              <a:ext uri="{FF2B5EF4-FFF2-40B4-BE49-F238E27FC236}">
                <a16:creationId xmlns:a16="http://schemas.microsoft.com/office/drawing/2014/main" id="{A1C017B0-0CC7-4520-95F8-8B64BCA3F285}"/>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Run membuat container dari image.&#10;&#10;-p membuat mapping a">
            <a:extLst xmlns:a="http://schemas.openxmlformats.org/drawingml/2006/main">
              <a:ext uri="{FF2B5EF4-FFF2-40B4-BE49-F238E27FC236}">
                <a16:creationId xmlns:a16="http://schemas.microsoft.com/office/drawing/2014/main" id="{9713E0E9-D65E-4AA9-BD5D-D3C44869BC2B}"/>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Run membuat container dari image.</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-p membuat mapping akses host.</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-e memberi APP_ENV saat runtime.</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Health 200</a:t>
            </a:r>
            <a:r>
              <a:rPr sz="1725" b="0">
                <a:solidFill>
                  <a:srgbClr val="233344"/>
                </a:solidFill>
                <a:latin typeface="Arial"/>
                <a:ea typeface="Arial"/>
                <a:cs typeface="Arial"/>
              </a:rPr>
              <a:t>, runtime storage=memory, </a:t>
            </a:r>
            <a:r>
              <a:rPr sz="1725" b="0">
                <a:solidFill>
                  <a:srgbClr val="233344"/>
                </a:solidFill>
                <a:latin typeface="Arial"/>
                <a:ea typeface="Arial"/>
                <a:cs typeface="Arial"/>
              </a:rPr>
              <a:t>UID 10001</a:t>
            </a:r>
            <a:r>
              <a:rPr sz="1725" b="0">
                <a:solidFill>
                  <a:srgbClr val="233344"/>
                </a:solidFill>
                <a:latin typeface="Arial"/>
                <a:ea typeface="Arial"/>
                <a:cs typeface="Arial"/>
              </a:rPr>
              <a:t> menjadi checkpoint.</a:t>
            </a:r>
          </a:p>
        </p:txBody>
      </p:sp>
      <p:sp>
        <p:nvSpPr>
          <p:cNvPr id="36" name="Buka modul gabungan untuk command lengkap dan Bash.">
            <a:extLst xmlns:a="http://schemas.openxmlformats.org/drawingml/2006/main">
              <a:ext uri="{FF2B5EF4-FFF2-40B4-BE49-F238E27FC236}">
                <a16:creationId xmlns:a16="http://schemas.microsoft.com/office/drawing/2014/main" id="{9F0869A2-3864-493E-9027-9C9770CA2C95}"/>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74e2a3defa9148d2"/>
              </a:rPr>
              <a:t>Buka modul gabungan untuk command lengkap dan Bash.</a:t>
            </a:r>
          </a:p>
        </p:txBody>
      </p:sp>
    </p:spTree>
    <p:extLst>
      <p:ext uri="{BB962C8B-B14F-4D97-AF65-F5344CB8AC3E}">
        <p14:creationId xmlns:p14="http://schemas.microsoft.com/office/powerpoint/2010/main" val="38165364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10</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ad47f873ba2a432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0adcec7948754d4c"/>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Swagger Core: kontrak API0.5</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Buka http://127.0.0.1:18005/docs pada sesi gabungan</a:t>
            </a:r>
            <a:endParaRPr sz="1200"/>
          </a:p>
        </p:txBody>
      </p:sp>
      <p:sp>
        <p:nvSpPr>
          <p:cNvPr id="31" name="TANGKAPAN BROWSER API CORE LAB05, BUKTI SEBELUMNYA">
            <a:extLst xmlns:a="http://schemas.openxmlformats.org/drawingml/2006/main">
              <a:ext uri="{FF2B5EF4-FFF2-40B4-BE49-F238E27FC236}">
                <a16:creationId xmlns:a16="http://schemas.microsoft.com/office/drawing/2014/main" id="{B3BACA87-8EB2-4F57-AD88-A8776BB60750}"/>
              </a:ext>
            </a:extLst>
          </p:cNvPr>
          <p:cNvSpPr>
            <a:spLocks xmlns:a="http://schemas.openxmlformats.org/drawingml/2006/main" noGrp="1"/>
          </p:cNvSpPr>
          <p:nvPr/>
        </p:nvSpPr>
        <p:spPr>
          <a:xfrm xmlns:a="http://schemas.openxmlformats.org/drawingml/2006/main">
            <a:off x="495300" y="1409700"/>
            <a:ext cx="1117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1">
                <a:solidFill>
                  <a:srgbClr val="FF731B"/>
                </a:solidFill>
                <a:latin typeface="Arial"/>
                <a:ea typeface="Arial"/>
                <a:cs typeface="Arial"/>
              </a:defRPr>
            </a:defPPr>
          </a:lstStyle>
          <a:p xmlns:a="http://schemas.openxmlformats.org/drawingml/2006/main">
            <a:pPr>
              <a:defRPr sz="1125" b="1">
                <a:solidFill>
                  <a:srgbClr val="FF731B"/>
                </a:solidFill>
                <a:latin typeface="Arial"/>
                <a:ea typeface="Arial"/>
                <a:cs typeface="Arial"/>
              </a:defRPr>
            </a:pPr>
            <a:r>
              <a:rPr sz="1125" b="1">
                <a:solidFill>
                  <a:srgbClr val="FF731B"/>
                </a:solidFill>
                <a:latin typeface="Arial"/>
                <a:ea typeface="Arial"/>
                <a:cs typeface="Arial"/>
              </a:rPr>
              <a:t>TANGKAPAN BROWSER API CORE LAB05, BUKTI SEBELUMNYA</a:t>
            </a:r>
          </a:p>
        </p:txBody>
      </p:sp>
      <p:pic>
        <p:nvPicPr>
          <p:cNvPr id="32" name="">
            <a:extLst xmlns:a="http://schemas.openxmlformats.org/drawingml/2006/main">
              <a:ext uri="{FF2B5EF4-FFF2-40B4-BE49-F238E27FC236}">
                <a16:creationId xmlns:a16="http://schemas.microsoft.com/office/drawing/2014/main" id="{7162FC83-4B0F-4CBB-BF48-3733CB70A87F}"/>
              </a:ext>
            </a:extLst>
          </p:cNvPr>
          <p:cNvPicPr>
            <a:picLocks xmlns:a="http://schemas.openxmlformats.org/drawingml/2006/main" noChangeAspect="1"/>
          </p:cNvPicPr>
          <p:nvPr/>
        </p:nvPicPr>
        <p:blipFill>
          <a:blip xmlns:r="http://schemas.openxmlformats.org/officeDocument/2006/relationships" xmlns:a="http://schemas.openxmlformats.org/drawingml/2006/main" r:embed="Re6b1536e3b2247bb"/>
          <a:srcRect xmlns:a="http://schemas.openxmlformats.org/drawingml/2006/main" l="0" t="0" r="0" b="40000"/>
          <a:stretch xmlns:a="http://schemas.openxmlformats.org/drawingml/2006/main"/>
        </p:blipFill>
        <p:spPr>
          <a:xfrm xmlns:a="http://schemas.openxmlformats.org/drawingml/2006/main">
            <a:off x="2020896" y="1743075"/>
            <a:ext cx="8150208" cy="3495675"/>
          </a:xfrm>
          <a:prstGeom xmlns:a="http://schemas.openxmlformats.org/drawingml/2006/main" prst="rect">
            <a:avLst/>
          </a:prstGeom>
        </p:spPr>
      </p:pic>
      <p:sp>
        <p:nvSpPr>
          <p:cNvPr id="33" name="Cari GET health/runtime, GET/POST notes, dan GET notes/">
            <a:extLst xmlns:a="http://schemas.openxmlformats.org/drawingml/2006/main">
              <a:ext uri="{FF2B5EF4-FFF2-40B4-BE49-F238E27FC236}">
                <a16:creationId xmlns:a16="http://schemas.microsoft.com/office/drawing/2014/main" id="{F9576D84-2537-4C87-B108-0C806A27C04F}"/>
              </a:ext>
            </a:extLst>
          </p:cNvPr>
          <p:cNvSpPr>
            <a:spLocks xmlns:a="http://schemas.openxmlformats.org/drawingml/2006/main" noGrp="1"/>
          </p:cNvSpPr>
          <p:nvPr/>
        </p:nvSpPr>
        <p:spPr>
          <a:xfrm xmlns:a="http://schemas.openxmlformats.org/drawingml/2006/main">
            <a:off x="495300" y="5448300"/>
            <a:ext cx="1117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233344"/>
                </a:solidFill>
                <a:latin typeface="Arial"/>
                <a:ea typeface="Arial"/>
                <a:cs typeface="Arial"/>
              </a:defRPr>
            </a:defPPr>
          </a:lstStyle>
          <a:p xmlns:a="http://schemas.openxmlformats.org/drawingml/2006/main">
            <a:pPr>
              <a:defRPr sz="1575" b="0">
                <a:solidFill>
                  <a:srgbClr val="233344"/>
                </a:solidFill>
                <a:latin typeface="Arial"/>
                <a:ea typeface="Arial"/>
                <a:cs typeface="Arial"/>
              </a:defRPr>
            </a:pPr>
            <a:r>
              <a:rPr sz="1575" b="0">
                <a:solidFill>
                  <a:srgbClr val="233344"/>
                </a:solidFill>
                <a:latin typeface="Arial"/>
                <a:ea typeface="Arial"/>
                <a:cs typeface="Arial"/>
              </a:rPr>
              <a:t>Cari GET health/runtime, GET/POST notes, dan GET notes/{id}. Klik Try it out lalu Execute. API Core belum memakai PostgreSQL atau Redis.</a:t>
            </a:r>
          </a:p>
        </p:txBody>
      </p:sp>
    </p:spTree>
    <p:extLst>
      <p:ext uri="{BB962C8B-B14F-4D97-AF65-F5344CB8AC3E}">
        <p14:creationId xmlns:p14="http://schemas.microsoft.com/office/powerpoint/2010/main" val="381653648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11</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c83025a400a4403a"/>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f9c567f2eabd40d1"/>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POST catatan dan baca respons Core</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Gunakan Swagger agar JSON request dan status HTTP mudah diamati</a:t>
            </a:r>
            <a:endParaRPr sz="1200"/>
          </a:p>
        </p:txBody>
      </p:sp>
      <p:sp>
        <p:nvSpPr>
          <p:cNvPr id="31" name="Reference code panel">
            <a:extLst xmlns:a="http://schemas.openxmlformats.org/drawingml/2006/main">
              <a:ext uri="{FF2B5EF4-FFF2-40B4-BE49-F238E27FC236}">
                <a16:creationId xmlns:a16="http://schemas.microsoft.com/office/drawing/2014/main" id="{7D5637DC-991A-40E1-A9A2-87ACFC082DC2}"/>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48D8A4AC-E403-4DDF-A12C-624010A9D083}"/>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 Swagger POST /notes, isi body:&#10;{&#10;  &quot;title&quot;: &quot;Core22&quot;,">
            <a:extLst xmlns:a="http://schemas.openxmlformats.org/drawingml/2006/main">
              <a:ext uri="{FF2B5EF4-FFF2-40B4-BE49-F238E27FC236}">
                <a16:creationId xmlns:a16="http://schemas.microsoft.com/office/drawing/2014/main" id="{1F217DEB-7BBF-4814-8322-C093C4DFD696}"/>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Swagger POST /notes, isi body:</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"title": "Core22",</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"content": "Catatan memori"</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a:t>
            </a:r>
          </a:p>
          <a:p xmlns:a="http://schemas.openxmlformats.org/drawingml/2006/main">
            <a: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GET /notes sesudah POST</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curl.exe -i http://127.0.0.1:18005/notes</a:t>
            </a:r>
          </a:p>
          <a:p xmlns:a="http://schemas.openxmlformats.org/drawingml/2006/main">
            <a: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Coba title kosong pada Swagger.</a:t>
            </a:r>
          </a:p>
        </p:txBody>
      </p:sp>
      <p:sp>
        <p:nvSpPr>
          <p:cNvPr id="34" name="Fungsi dan cara membaca hasil">
            <a:extLst xmlns:a="http://schemas.openxmlformats.org/drawingml/2006/main">
              <a:ext uri="{FF2B5EF4-FFF2-40B4-BE49-F238E27FC236}">
                <a16:creationId xmlns:a16="http://schemas.microsoft.com/office/drawing/2014/main" id="{E5412A99-3AE1-41DA-BA3F-0A89A4B9FAE4}"/>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POST valid memberi201 dan ID baru.&#10;&#10;GET notes menampilk">
            <a:extLst xmlns:a="http://schemas.openxmlformats.org/drawingml/2006/main">
              <a:ext uri="{FF2B5EF4-FFF2-40B4-BE49-F238E27FC236}">
                <a16:creationId xmlns:a16="http://schemas.microsoft.com/office/drawing/2014/main" id="{34B4C4DB-AFF0-4284-9C57-38F06279A804}"/>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POST valid </a:t>
            </a:r>
            <a:r>
              <a:rPr sz="1725" b="0">
                <a:solidFill>
                  <a:srgbClr val="233344"/>
                </a:solidFill>
                <a:latin typeface="Arial"/>
                <a:ea typeface="Arial"/>
                <a:cs typeface="Arial"/>
              </a:rPr>
              <a:t>memberi 201</a:t>
            </a:r>
            <a:r>
              <a:rPr sz="1725" b="0">
                <a:solidFill>
                  <a:srgbClr val="233344"/>
                </a:solidFill>
                <a:latin typeface="Arial"/>
                <a:ea typeface="Arial"/>
                <a:cs typeface="Arial"/>
              </a:rPr>
              <a:t> dan ID baru.</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GET notes menampilkan catatan.</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Title kosong atau spasi </a:t>
            </a:r>
            <a:r>
              <a:rPr sz="1725" b="0">
                <a:solidFill>
                  <a:srgbClr val="233344"/>
                </a:solidFill>
                <a:latin typeface="Arial"/>
                <a:ea typeface="Arial"/>
                <a:cs typeface="Arial"/>
              </a:rPr>
              <a:t>memberi 422</a:t>
            </a:r>
            <a:r>
              <a:rPr sz="1725" b="0">
                <a:solidFill>
                  <a:srgbClr val="233344"/>
                </a:solidFill>
                <a:latin typeface="Arial"/>
                <a:ea typeface="Arial"/>
                <a:cs typeface="Arial"/>
              </a:rPr>
              <a:t>.</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Catat ID/judul sendiri sebelum menguji lifecycle.</a:t>
            </a:r>
          </a:p>
        </p:txBody>
      </p:sp>
      <p:sp>
        <p:nvSpPr>
          <p:cNvPr id="36" name="Buka modul gabungan untuk command lengkap dan Bash.">
            <a:extLst xmlns:a="http://schemas.openxmlformats.org/drawingml/2006/main">
              <a:ext uri="{FF2B5EF4-FFF2-40B4-BE49-F238E27FC236}">
                <a16:creationId xmlns:a16="http://schemas.microsoft.com/office/drawing/2014/main" id="{BB775177-378D-4D7D-8EC1-6EA2E58D0C1B}"/>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4906f6bce6d54ded"/>
              </a:rPr>
              <a:t>Buka modul gabungan untuk command lengkap dan Bash.</a:t>
            </a:r>
          </a:p>
        </p:txBody>
      </p:sp>
    </p:spTree>
    <p:extLst>
      <p:ext uri="{BB962C8B-B14F-4D97-AF65-F5344CB8AC3E}">
        <p14:creationId xmlns:p14="http://schemas.microsoft.com/office/powerpoint/2010/main" val="38165364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12</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ca356931b29643be"/>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0ef6f846bfa448c5"/>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Validasi dan state memori</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Pada sesi ini restart Core, tunggu health, lalu baca notes lagi</a:t>
            </a:r>
            <a:endParaRPr sz="1200"/>
          </a:p>
        </p:txBody>
      </p:sp>
      <p:sp>
        <p:nvSpPr>
          <p:cNvPr id="31" name="RENDER TRANSKRIP OUTPUT AKTUAL LAB05, BUKTI SEBELUMNYA">
            <a:extLst xmlns:a="http://schemas.openxmlformats.org/drawingml/2006/main">
              <a:ext uri="{FF2B5EF4-FFF2-40B4-BE49-F238E27FC236}">
                <a16:creationId xmlns:a16="http://schemas.microsoft.com/office/drawing/2014/main" id="{2BEF2A07-C81C-4375-81B2-487A677580FB}"/>
              </a:ext>
            </a:extLst>
          </p:cNvPr>
          <p:cNvSpPr>
            <a:spLocks xmlns:a="http://schemas.openxmlformats.org/drawingml/2006/main" noGrp="1"/>
          </p:cNvSpPr>
          <p:nvPr/>
        </p:nvSpPr>
        <p:spPr>
          <a:xfrm xmlns:a="http://schemas.openxmlformats.org/drawingml/2006/main">
            <a:off x="495300" y="1409700"/>
            <a:ext cx="1117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1">
                <a:solidFill>
                  <a:srgbClr val="FF731B"/>
                </a:solidFill>
                <a:latin typeface="Arial"/>
                <a:ea typeface="Arial"/>
                <a:cs typeface="Arial"/>
              </a:defRPr>
            </a:defPPr>
          </a:lstStyle>
          <a:p xmlns:a="http://schemas.openxmlformats.org/drawingml/2006/main">
            <a:pPr>
              <a:defRPr sz="1125" b="1">
                <a:solidFill>
                  <a:srgbClr val="FF731B"/>
                </a:solidFill>
                <a:latin typeface="Arial"/>
                <a:ea typeface="Arial"/>
                <a:cs typeface="Arial"/>
              </a:defRPr>
            </a:pPr>
            <a:r>
              <a:rPr sz="1125" b="1">
                <a:solidFill>
                  <a:srgbClr val="FF731B"/>
                </a:solidFill>
                <a:latin typeface="Arial"/>
                <a:ea typeface="Arial"/>
                <a:cs typeface="Arial"/>
              </a:rPr>
              <a:t>RENDER TRANSKRIP OUTPUT AKTUAL LAB05, BUKTI SEBELUMNYA</a:t>
            </a:r>
          </a:p>
        </p:txBody>
      </p:sp>
      <p:pic>
        <p:nvPicPr>
          <p:cNvPr id="32" name="">
            <a:extLst xmlns:a="http://schemas.openxmlformats.org/drawingml/2006/main">
              <a:ext uri="{FF2B5EF4-FFF2-40B4-BE49-F238E27FC236}">
                <a16:creationId xmlns:a16="http://schemas.microsoft.com/office/drawing/2014/main" id="{374D5199-37F1-4FEE-9E24-998B029360F1}"/>
              </a:ext>
            </a:extLst>
          </p:cNvPr>
          <p:cNvPicPr>
            <a:picLocks xmlns:a="http://schemas.openxmlformats.org/drawingml/2006/main" noChangeAspect="1"/>
          </p:cNvPicPr>
          <p:nvPr/>
        </p:nvPicPr>
        <p:blipFill>
          <a:blip xmlns:r="http://schemas.openxmlformats.org/officeDocument/2006/relationships" xmlns:a="http://schemas.openxmlformats.org/drawingml/2006/main" r:embed="Rb647a926c748445c"/>
          <a:srcRect xmlns:a="http://schemas.openxmlformats.org/drawingml/2006/main" l="0" t="0" r="0" b="40000"/>
          <a:stretch xmlns:a="http://schemas.openxmlformats.org/drawingml/2006/main"/>
        </p:blipFill>
        <p:spPr>
          <a:xfrm xmlns:a="http://schemas.openxmlformats.org/drawingml/2006/main">
            <a:off x="917222" y="1743075"/>
            <a:ext cx="10357556" cy="3495675"/>
          </a:xfrm>
          <a:prstGeom xmlns:a="http://schemas.openxmlformats.org/drawingml/2006/main" prst="rect">
            <a:avLst/>
          </a:prstGeom>
        </p:spPr>
      </p:pic>
      <p:sp>
        <p:nvSpPr>
          <p:cNvPr id="33" name="Jalankan docker restart cloudlab-core22. Proses baru me">
            <a:extLst xmlns:a="http://schemas.openxmlformats.org/drawingml/2006/main">
              <a:ext uri="{FF2B5EF4-FFF2-40B4-BE49-F238E27FC236}">
                <a16:creationId xmlns:a16="http://schemas.microsoft.com/office/drawing/2014/main" id="{7EDBA979-6626-4EA6-AA4B-86DD8E9C1756}"/>
              </a:ext>
            </a:extLst>
          </p:cNvPr>
          <p:cNvSpPr>
            <a:spLocks xmlns:a="http://schemas.openxmlformats.org/drawingml/2006/main" noGrp="1"/>
          </p:cNvSpPr>
          <p:nvPr/>
        </p:nvSpPr>
        <p:spPr>
          <a:xfrm xmlns:a="http://schemas.openxmlformats.org/drawingml/2006/main">
            <a:off x="495300" y="5448300"/>
            <a:ext cx="1117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233344"/>
                </a:solidFill>
                <a:latin typeface="Arial"/>
                <a:ea typeface="Arial"/>
                <a:cs typeface="Arial"/>
              </a:defRPr>
            </a:defPPr>
          </a:lstStyle>
          <a:p xmlns:a="http://schemas.openxmlformats.org/drawingml/2006/main">
            <a:pPr>
              <a:defRPr sz="1575" b="0">
                <a:solidFill>
                  <a:srgbClr val="233344"/>
                </a:solidFill>
                <a:latin typeface="Arial"/>
                <a:ea typeface="Arial"/>
                <a:cs typeface="Arial"/>
              </a:defRPr>
            </a:pPr>
            <a:r>
              <a:rPr sz="1575" b="0">
                <a:solidFill>
                  <a:srgbClr val="233344"/>
                </a:solidFill>
                <a:latin typeface="Arial"/>
                <a:ea typeface="Arial"/>
                <a:cs typeface="Arial"/>
              </a:rPr>
              <a:t>Jalankan docker restart cloudlab-core22. Proses baru mengosongkan dict notes. Gambar lama memakai rm/run dan memperlihatkan mekanisme state memori yang sama.</a:t>
            </a:r>
          </a:p>
        </p:txBody>
      </p:sp>
    </p:spTree>
    <p:extLst>
      <p:ext uri="{BB962C8B-B14F-4D97-AF65-F5344CB8AC3E}">
        <p14:creationId xmlns:p14="http://schemas.microsoft.com/office/powerpoint/2010/main" val="38165364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13</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ada7f5ff58fc4a07"/>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e4898a6516c14559"/>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Cleanup Core dan transisi Compose</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Hentikan hanya container latihan yang baru Anda buat</a:t>
            </a:r>
            <a:endParaRPr sz="1200"/>
          </a:p>
        </p:txBody>
      </p:sp>
      <p:sp>
        <p:nvSpPr>
          <p:cNvPr id="31" name="Reference code panel">
            <a:extLst xmlns:a="http://schemas.openxmlformats.org/drawingml/2006/main">
              <a:ext uri="{FF2B5EF4-FFF2-40B4-BE49-F238E27FC236}">
                <a16:creationId xmlns:a16="http://schemas.microsoft.com/office/drawing/2014/main" id="{406EDDEF-E85E-48E6-9E80-D2D676D855A8}"/>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E3826680-8E48-4461-85D6-A3584C33E85B}"/>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docker ps -a --filter `&#10;  &quot;name=^/cloudlab-core22$&quot;&#10;doc">
            <a:extLst xmlns:a="http://schemas.openxmlformats.org/drawingml/2006/main">
              <a:ext uri="{FF2B5EF4-FFF2-40B4-BE49-F238E27FC236}">
                <a16:creationId xmlns:a16="http://schemas.microsoft.com/office/drawing/2014/main" id="{E6FC079E-89ED-4F28-AF95-A74CC5DE2E44}"/>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ps -a --filter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"name=^/cloudlab-core22$"</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inspect cloudlab-core22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--format "{{.Config.Image}}"</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stop cloudlab-core22</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rm cloudlab-core22</a:t>
            </a:r>
          </a:p>
          <a:p xmlns:a="http://schemas.openxmlformats.org/drawingml/2006/main">
            <a: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Tetap berada di root repo.</a:t>
            </a:r>
          </a:p>
        </p:txBody>
      </p:sp>
      <p:sp>
        <p:nvSpPr>
          <p:cNvPr id="34" name="Fungsi dan cara membaca hasil">
            <a:extLst xmlns:a="http://schemas.openxmlformats.org/drawingml/2006/main">
              <a:ext uri="{FF2B5EF4-FFF2-40B4-BE49-F238E27FC236}">
                <a16:creationId xmlns:a16="http://schemas.microsoft.com/office/drawing/2014/main" id="{1AD96113-D426-4BF6-BBAE-1AFFCC382559}"/>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Cocokkan nama dan image core22.&#10;&#10;Stop mengakhiri proses">
            <a:extLst xmlns:a="http://schemas.openxmlformats.org/drawingml/2006/main">
              <a:ext uri="{FF2B5EF4-FFF2-40B4-BE49-F238E27FC236}">
                <a16:creationId xmlns:a16="http://schemas.microsoft.com/office/drawing/2014/main" id="{F7AFE365-13A9-4280-993B-ED6B683258D4}"/>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Cocokkan nama dan image core22.</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Stop mengakhiri proses latihan.</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Rm menghapus container latihan.</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Image tetap tersedia. API Compose berikutnya memakai </a:t>
            </a:r>
            <a:r>
              <a:rPr sz="1725" b="0">
                <a:solidFill>
                  <a:srgbClr val="233344"/>
                </a:solidFill>
                <a:latin typeface="Arial"/>
                <a:ea typeface="Arial"/>
                <a:cs typeface="Arial"/>
              </a:rPr>
              <a:t>host 8000</a:t>
            </a:r>
            <a:r>
              <a:rPr sz="1725" b="0">
                <a:solidFill>
                  <a:srgbClr val="233344"/>
                </a:solidFill>
                <a:latin typeface="Arial"/>
                <a:ea typeface="Arial"/>
                <a:cs typeface="Arial"/>
              </a:rPr>
              <a:t>.</a:t>
            </a:r>
          </a:p>
        </p:txBody>
      </p:sp>
      <p:sp>
        <p:nvSpPr>
          <p:cNvPr id="36" name="Buka modul gabungan untuk command lengkap dan Bash.">
            <a:extLst xmlns:a="http://schemas.openxmlformats.org/drawingml/2006/main">
              <a:ext uri="{FF2B5EF4-FFF2-40B4-BE49-F238E27FC236}">
                <a16:creationId xmlns:a16="http://schemas.microsoft.com/office/drawing/2014/main" id="{D811B815-2DDF-4653-AC9F-DEF6B8C5331E}"/>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2bf5d33b32ef4f29"/>
              </a:rPr>
              <a:t>Buka modul gabungan untuk command lengkap dan Bash.</a:t>
            </a:r>
          </a:p>
        </p:txBody>
      </p:sp>
    </p:spTree>
    <p:extLst>
      <p:ext uri="{BB962C8B-B14F-4D97-AF65-F5344CB8AC3E}">
        <p14:creationId xmlns:p14="http://schemas.microsoft.com/office/powerpoint/2010/main" val="38165364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14</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360270dba96d4af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a5df8837085c4128"/>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Compose untuk API, database, dan cache</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Konfigurasi utama sudah tersedia pada compose.yaml root</a:t>
            </a:r>
            <a:endParaRPr sz="1200"/>
          </a:p>
        </p:txBody>
      </p:sp>
      <p:graphicFrame>
        <p:nvGraphicFramePr>
          <p:cNvPr id="31" name="">
            <a:extLst xmlns:a="http://schemas.openxmlformats.org/drawingml/2006/main">
              <a:ext uri="{FF2B5EF4-FFF2-40B4-BE49-F238E27FC236}">
                <a16:creationId xmlns:a16="http://schemas.microsoft.com/office/drawing/2014/main" id="{FE482C29-9C7A-453B-AFDD-27A5939215DC}"/>
              </a:ext>
            </a:extLst>
          </p:cNvPr>
          <p:cNvGraphicFramePr/>
          <p:nvPr/>
        </p:nvGraphicFramePr>
        <p:xfrm>
          <a:off xmlns:a="http://schemas.openxmlformats.org/drawingml/2006/main" x="533400" y="1628775"/>
          <a:ext xmlns:a="http://schemas.openxmlformats.org/drawingml/2006/main" cx="11125200" cy="3429000"/>
        </p:xfrm>
        <a:graphic xmlns:a="http://schemas.openxmlformats.org/drawingml/2006/main">
          <a:graphicData uri="http://schemas.openxmlformats.org/drawingml/2006/table">
            <a:tbl>
              <a:tblPr firstRow="1" bandRow="1"/>
              <a:tblGrid>
                <a:gridCol w="2457450"/>
                <a:gridCol w="4343400"/>
                <a:gridCol w="4324350"/>
              </a:tblGrid>
              <a:tr h="685800">
                <a:tc>
                  <a:txBody>
                    <a:bodyPr lIns="114300" tIns="95250" rIns="114300" bIns="95250"/>
                    <a:lstStyle/>
                    <a:p>
                      <a:r>
                        <a:rPr sz="1650" b="1">
                          <a:solidFill>
                            <a:srgbClr val="FFFFFF"/>
                          </a:solidFill>
                          <a:latin typeface="Arial"/>
                          <a:ea typeface="Arial"/>
                          <a:cs typeface="Arial"/>
                        </a:rPr>
                        <a:t>Service</a:t>
                      </a:r>
                    </a:p>
                  </a:txBody>
                  <a:tcPr marL="91440" marR="91440" marT="45720" marB="45720">
                    <a:lnL w="9525">
                      <a:solidFill>
                        <a:srgbClr val="D5E1EC"/>
                      </a:solidFill>
                      <a:prstDash val="solid"/>
                    </a:lnL>
                    <a:lnR w="9525">
                      <a:solidFill>
                        <a:srgbClr val="D5E1EC"/>
                      </a:solidFill>
                      <a:prstDash val="solid"/>
                    </a:lnR>
                    <a:lnT w="9525">
                      <a:solidFill>
                        <a:srgbClr val="D5E1EC"/>
                      </a:solidFill>
                      <a:prstDash val="solid"/>
                    </a:lnT>
                    <a:lnB w="9525">
                      <a:solidFill>
                        <a:srgbClr val="D5E1EC"/>
                      </a:solidFill>
                      <a:prstDash val="solid"/>
                    </a:lnB>
                    <a:solidFill>
                      <a:srgbClr val="08256E"/>
                    </a:solidFill>
                  </a:tcPr>
                </a:tc>
                <a:tc>
                  <a:txBody>
                    <a:bodyPr lIns="114300" tIns="95250" rIns="114300" bIns="95250"/>
                    <a:lstStyle/>
                    <a:p>
                      <a:r>
                        <a:rPr sz="1650" b="1">
                          <a:solidFill>
                            <a:srgbClr val="FFFFFF"/>
                          </a:solidFill>
                          <a:latin typeface="Arial"/>
                          <a:ea typeface="Arial"/>
                          <a:cs typeface="Arial"/>
                        </a:rPr>
                        <a:t>Tugas</a:t>
                      </a:r>
                    </a:p>
                  </a:txBody>
                  <a:tcPr marL="91440" marR="91440" marT="45720" marB="45720">
                    <a:lnR w="9525">
                      <a:solidFill>
                        <a:srgbClr val="D5E1EC"/>
                      </a:solidFill>
                      <a:prstDash val="solid"/>
                    </a:lnR>
                    <a:lnT w="9525">
                      <a:solidFill>
                        <a:srgbClr val="D5E1EC"/>
                      </a:solidFill>
                      <a:prstDash val="solid"/>
                    </a:lnT>
                    <a:lnB w="9525">
                      <a:solidFill>
                        <a:srgbClr val="D5E1EC"/>
                      </a:solidFill>
                      <a:prstDash val="solid"/>
                    </a:lnB>
                    <a:solidFill>
                      <a:srgbClr val="08256E"/>
                    </a:solidFill>
                  </a:tcPr>
                </a:tc>
                <a:tc>
                  <a:txBody>
                    <a:bodyPr lIns="114300" tIns="95250" rIns="114300" bIns="95250"/>
                    <a:lstStyle/>
                    <a:p>
                      <a:r>
                        <a:rPr sz="1650" b="1">
                          <a:solidFill>
                            <a:srgbClr val="FFFFFF"/>
                          </a:solidFill>
                          <a:latin typeface="Arial"/>
                          <a:ea typeface="Arial"/>
                          <a:cs typeface="Arial"/>
                        </a:rPr>
                        <a:t>Akses</a:t>
                      </a:r>
                    </a:p>
                  </a:txBody>
                  <a:tcPr marL="91440" marR="91440" marT="45720" marB="45720">
                    <a:lnR w="9525">
                      <a:solidFill>
                        <a:srgbClr val="D5E1EC"/>
                      </a:solidFill>
                      <a:prstDash val="solid"/>
                    </a:lnR>
                    <a:lnT w="9525">
                      <a:solidFill>
                        <a:srgbClr val="D5E1EC"/>
                      </a:solidFill>
                      <a:prstDash val="solid"/>
                    </a:lnT>
                    <a:lnB w="9525">
                      <a:solidFill>
                        <a:srgbClr val="D5E1EC"/>
                      </a:solidFill>
                      <a:prstDash val="solid"/>
                    </a:lnB>
                    <a:solidFill>
                      <a:srgbClr val="08256E"/>
                    </a:solidFill>
                  </a:tcPr>
                </a:tc>
              </a:tr>
              <a:tr h="685800">
                <a:tc>
                  <a:txBody>
                    <a:bodyPr lIns="114300" tIns="95250" rIns="114300" bIns="95250"/>
                    <a:lstStyle/>
                    <a:p>
                      <a:r>
                        <a:rPr sz="1650" b="0">
                          <a:solidFill>
                            <a:srgbClr val="233344"/>
                          </a:solidFill>
                          <a:latin typeface="Arial"/>
                          <a:ea typeface="Arial"/>
                          <a:cs typeface="Arial"/>
                        </a:rPr>
                        <a:t>api</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API Cloud Notes 0.6</a:t>
                      </a:r>
                    </a:p>
                  </a:txBody>
                  <a:tcPr marL="91440" marR="91440" marT="45720" marB="45720">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127.0.0.1:8000 (host)</a:t>
                      </a:r>
                    </a:p>
                  </a:txBody>
                  <a:tcPr marL="91440" marR="91440" marT="45720" marB="45720">
                    <a:lnR w="9525">
                      <a:solidFill>
                        <a:srgbClr val="D5E1EC"/>
                      </a:solidFill>
                      <a:prstDash val="solid"/>
                    </a:lnR>
                    <a:lnB w="9525">
                      <a:solidFill>
                        <a:srgbClr val="D5E1EC"/>
                      </a:solidFill>
                      <a:prstDash val="solid"/>
                    </a:lnB>
                    <a:solidFill>
                      <a:srgbClr val="F4F8FC"/>
                    </a:solidFill>
                  </a:tcPr>
                </a:tc>
              </a:tr>
              <a:tr h="685800">
                <a:tc>
                  <a:txBody>
                    <a:bodyPr lIns="114300" tIns="95250" rIns="114300" bIns="95250"/>
                    <a:lstStyle/>
                    <a:p>
                      <a:r>
                        <a:rPr sz="1650" b="0">
                          <a:solidFill>
                            <a:srgbClr val="233344"/>
                          </a:solidFill>
                          <a:latin typeface="Arial"/>
                          <a:ea typeface="Arial"/>
                          <a:cs typeface="Arial"/>
                        </a:rPr>
                        <a:t>db</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PostgreSQL 16, sumber data</a:t>
                      </a:r>
                    </a:p>
                  </a:txBody>
                  <a:tcPr marL="91440" marR="91440" marT="45720" marB="45720">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db:5432 (internal)</a:t>
                      </a:r>
                    </a:p>
                  </a:txBody>
                  <a:tcPr marL="91440" marR="91440" marT="45720" marB="45720">
                    <a:lnR w="9525">
                      <a:solidFill>
                        <a:srgbClr val="D5E1EC"/>
                      </a:solidFill>
                      <a:prstDash val="solid"/>
                    </a:lnR>
                    <a:lnB w="9525">
                      <a:solidFill>
                        <a:srgbClr val="D5E1EC"/>
                      </a:solidFill>
                      <a:prstDash val="solid"/>
                    </a:lnB>
                    <a:solidFill>
                      <a:srgbClr val="FFFFFF"/>
                    </a:solidFill>
                  </a:tcPr>
                </a:tc>
              </a:tr>
              <a:tr h="685800">
                <a:tc>
                  <a:txBody>
                    <a:bodyPr lIns="114300" tIns="95250" rIns="114300" bIns="95250"/>
                    <a:lstStyle/>
                    <a:p>
                      <a:r>
                        <a:rPr sz="1650" b="0">
                          <a:solidFill>
                            <a:srgbClr val="233344"/>
                          </a:solidFill>
                          <a:latin typeface="Arial"/>
                          <a:ea typeface="Arial"/>
                          <a:cs typeface="Arial"/>
                        </a:rPr>
                        <a:t>cache</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Redis 7, cache daftar notes</a:t>
                      </a:r>
                    </a:p>
                  </a:txBody>
                  <a:tcPr marL="91440" marR="91440" marT="45720" marB="45720">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cache:6379 (internal)</a:t>
                      </a:r>
                    </a:p>
                  </a:txBody>
                  <a:tcPr marL="91440" marR="91440" marT="45720" marB="45720">
                    <a:lnR w="9525">
                      <a:solidFill>
                        <a:srgbClr val="D5E1EC"/>
                      </a:solidFill>
                      <a:prstDash val="solid"/>
                    </a:lnR>
                    <a:lnB w="9525">
                      <a:solidFill>
                        <a:srgbClr val="D5E1EC"/>
                      </a:solidFill>
                      <a:prstDash val="solid"/>
                    </a:lnB>
                    <a:solidFill>
                      <a:srgbClr val="F4F8FC"/>
                    </a:solidFill>
                  </a:tcPr>
                </a:tc>
              </a:tr>
              <a:tr h="685800">
                <a:tc>
                  <a:txBody>
                    <a:bodyPr lIns="114300" tIns="95250" rIns="114300" bIns="95250"/>
                    <a:lstStyle/>
                    <a:p>
                      <a:r>
                        <a:rPr sz="1650" b="0">
                          <a:solidFill>
                            <a:srgbClr val="233344"/>
                          </a:solidFill>
                          <a:latin typeface="Arial"/>
                          <a:ea typeface="Arial"/>
                          <a:cs typeface="Arial"/>
                        </a:rPr>
                        <a:t>adminer</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UI SQL opsional</a:t>
                      </a:r>
                    </a:p>
                  </a:txBody>
                  <a:tcPr marL="91440" marR="91440" marT="45720" marB="45720">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127.0.0.1:8081 (profile debug)</a:t>
                      </a:r>
                    </a:p>
                  </a:txBody>
                  <a:tcPr marL="91440" marR="91440" marT="45720" marB="45720">
                    <a:lnR w="9525">
                      <a:solidFill>
                        <a:srgbClr val="D5E1EC"/>
                      </a:solidFill>
                      <a:prstDash val="solid"/>
                    </a:lnR>
                    <a:lnB w="9525">
                      <a:solidFill>
                        <a:srgbClr val="D5E1EC"/>
                      </a:solidFill>
                      <a:prstDash val="solid"/>
                    </a:lnB>
                    <a:solidFill>
                      <a:srgbClr val="FFFFFF"/>
                    </a:solidFill>
                  </a:tcPr>
                </a:tc>
              </a:tr>
            </a:tbl>
          </a:graphicData>
        </a:graphic>
      </p:graphicFrame>
      <p:sp>
        <p:nvSpPr>
          <p:cNvPr id="32" name="API berbicara ke db/cache melalui DNS internal. Browser">
            <a:extLst xmlns:a="http://schemas.openxmlformats.org/drawingml/2006/main">
              <a:ext uri="{FF2B5EF4-FFF2-40B4-BE49-F238E27FC236}">
                <a16:creationId xmlns:a16="http://schemas.microsoft.com/office/drawing/2014/main" id="{21205353-F673-4C20-BCAB-17EC89762F54}"/>
              </a:ext>
            </a:extLst>
          </p:cNvPr>
          <p:cNvSpPr>
            <a:spLocks xmlns:a="http://schemas.openxmlformats.org/drawingml/2006/main" noGrp="1"/>
          </p:cNvSpPr>
          <p:nvPr/>
        </p:nvSpPr>
        <p:spPr>
          <a:xfrm xmlns:a="http://schemas.openxmlformats.org/drawingml/2006/main">
            <a:off x="533400" y="533400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API berbicara ke db/cache melalui DNS internal. Browser menggunakan port host. Notes sekarang tersimpan di PostgreSQL.</a:t>
            </a:r>
          </a:p>
        </p:txBody>
      </p:sp>
    </p:spTree>
    <p:extLst>
      <p:ext uri="{BB962C8B-B14F-4D97-AF65-F5344CB8AC3E}">
        <p14:creationId xmlns:p14="http://schemas.microsoft.com/office/powerpoint/2010/main" val="381653648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15</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9c8120abd33446d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a6c3e8c52ca34ce3"/>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Persiapan secret tanpa menimpa file</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Password nyata dan .env tetap lokal, konfigurasi contoh ada di repo</a:t>
            </a:r>
            <a:endParaRPr sz="1200"/>
          </a:p>
        </p:txBody>
      </p:sp>
      <p:sp>
        <p:nvSpPr>
          <p:cNvPr id="31" name="Reference code panel">
            <a:extLst xmlns:a="http://schemas.openxmlformats.org/drawingml/2006/main">
              <a:ext uri="{FF2B5EF4-FFF2-40B4-BE49-F238E27FC236}">
                <a16:creationId xmlns:a16="http://schemas.microsoft.com/office/drawing/2014/main" id="{0670ED97-6919-4DF6-961B-3CDD678A5A11}"/>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99CFB350-01D1-4424-80BA-024B75B96A7D}"/>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if (-not (Test-Path secrets/db_password.txt)) {&#10;  Copy-">
            <a:extLst xmlns:a="http://schemas.openxmlformats.org/drawingml/2006/main">
              <a:ext uri="{FF2B5EF4-FFF2-40B4-BE49-F238E27FC236}">
                <a16:creationId xmlns:a16="http://schemas.microsoft.com/office/drawing/2014/main" id="{59A37A1A-0C35-421C-AC21-803ABD88197D}"/>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0">
                <a:solidFill>
                  <a:srgbClr val="FFFFFF"/>
                </a:solidFill>
                <a:latin typeface="Consolas"/>
                <a:ea typeface="Consolas"/>
                <a:cs typeface="Consolas"/>
              </a:defRPr>
            </a:defPPr>
          </a:lstStyle>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if (-not (Test-Path secrets/db_password.txt)) {</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  Copy-Item secrets/db_password.txt.example `</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    secrets/db_password.txt</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if (-not (Test-Path .env)) {</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  Copy-Item .env.example .env</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docker compose config --quiet</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git check-ignore -v .env `</a:t>
            </a:r>
          </a:p>
          <a:p xmlns:a="http://schemas.openxmlformats.org/drawingml/2006/main">
            <a:pPr>
              <a:defRPr sz="1350" b="0">
                <a:solidFill>
                  <a:srgbClr val="FFFFFF"/>
                </a:solidFill>
                <a:latin typeface="Consolas"/>
                <a:ea typeface="Consolas"/>
                <a:cs typeface="Consolas"/>
              </a:defRPr>
            </a:pPr>
            <a:r>
              <a:rPr sz="1350" b="0">
                <a:solidFill>
                  <a:srgbClr val="FFFFFF"/>
                </a:solidFill>
                <a:latin typeface="Consolas"/>
                <a:ea typeface="Consolas"/>
                <a:cs typeface="Consolas"/>
              </a:rPr>
              <a:t>  secrets/db_password.txt</a:t>
            </a:r>
          </a:p>
        </p:txBody>
      </p:sp>
      <p:sp>
        <p:nvSpPr>
          <p:cNvPr id="34" name="Fungsi dan cara membaca hasil">
            <a:extLst xmlns:a="http://schemas.openxmlformats.org/drawingml/2006/main">
              <a:ext uri="{FF2B5EF4-FFF2-40B4-BE49-F238E27FC236}">
                <a16:creationId xmlns:a16="http://schemas.microsoft.com/office/drawing/2014/main" id="{89EC1131-F1F5-4886-9474-AE3B1335D4AD}"/>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Guard menjaga file yang sudah ada.&#10;&#10;Config memvalidasi ">
            <a:extLst xmlns:a="http://schemas.openxmlformats.org/drawingml/2006/main">
              <a:ext uri="{FF2B5EF4-FFF2-40B4-BE49-F238E27FC236}">
                <a16:creationId xmlns:a16="http://schemas.microsoft.com/office/drawing/2014/main" id="{54F3AB51-F347-46C1-A173-86A779727A68}"/>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Guard menjaga file yang sudah ada.</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Config memvalidasi YAML.</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Secret dipasang sebagai file pada DB/API.</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Password file yang berubah tidak mengganti password DB pada volume lama.</a:t>
            </a:r>
          </a:p>
        </p:txBody>
      </p:sp>
      <p:sp>
        <p:nvSpPr>
          <p:cNvPr id="36" name="Buka modul gabungan untuk command lengkap dan Bash.">
            <a:extLst xmlns:a="http://schemas.openxmlformats.org/drawingml/2006/main">
              <a:ext uri="{FF2B5EF4-FFF2-40B4-BE49-F238E27FC236}">
                <a16:creationId xmlns:a16="http://schemas.microsoft.com/office/drawing/2014/main" id="{46ACAAF2-4E61-4476-8D82-45F1F78624BA}"/>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b74dce87ff0241fd"/>
              </a:rPr>
              <a:t>Buka modul gabungan untuk command lengkap dan Bash.</a:t>
            </a:r>
          </a:p>
        </p:txBody>
      </p:sp>
    </p:spTree>
    <p:extLst>
      <p:ext uri="{BB962C8B-B14F-4D97-AF65-F5344CB8AC3E}">
        <p14:creationId xmlns:p14="http://schemas.microsoft.com/office/powerpoint/2010/main" val="381653648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16</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cabb766a1de74c4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965ed59e53da4e1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Bukti historis validasi dan Git ignore</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Pemeriksaan sebelum startup tanpa mencetak nilai password</a:t>
            </a:r>
            <a:endParaRPr sz="1200"/>
          </a:p>
        </p:txBody>
      </p:sp>
      <p:sp>
        <p:nvSpPr>
          <p:cNvPr id="31" name="RENDER TRANSKRIP OUTPUT AKTUAL LAB06, BUKTI SEBELUMNYA">
            <a:extLst xmlns:a="http://schemas.openxmlformats.org/drawingml/2006/main">
              <a:ext uri="{FF2B5EF4-FFF2-40B4-BE49-F238E27FC236}">
                <a16:creationId xmlns:a16="http://schemas.microsoft.com/office/drawing/2014/main" id="{3F29D608-1422-4FA2-97F0-E0D9740CE87C}"/>
              </a:ext>
            </a:extLst>
          </p:cNvPr>
          <p:cNvSpPr>
            <a:spLocks xmlns:a="http://schemas.openxmlformats.org/drawingml/2006/main" noGrp="1"/>
          </p:cNvSpPr>
          <p:nvPr/>
        </p:nvSpPr>
        <p:spPr>
          <a:xfrm xmlns:a="http://schemas.openxmlformats.org/drawingml/2006/main">
            <a:off x="495300" y="1409700"/>
            <a:ext cx="1117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1">
                <a:solidFill>
                  <a:srgbClr val="FF731B"/>
                </a:solidFill>
                <a:latin typeface="Arial"/>
                <a:ea typeface="Arial"/>
                <a:cs typeface="Arial"/>
              </a:defRPr>
            </a:defPPr>
          </a:lstStyle>
          <a:p xmlns:a="http://schemas.openxmlformats.org/drawingml/2006/main">
            <a:pPr>
              <a:defRPr sz="1125" b="1">
                <a:solidFill>
                  <a:srgbClr val="FF731B"/>
                </a:solidFill>
                <a:latin typeface="Arial"/>
                <a:ea typeface="Arial"/>
                <a:cs typeface="Arial"/>
              </a:defRPr>
            </a:pPr>
            <a:r>
              <a:rPr sz="1125" b="1">
                <a:solidFill>
                  <a:srgbClr val="FF731B"/>
                </a:solidFill>
                <a:latin typeface="Arial"/>
                <a:ea typeface="Arial"/>
                <a:cs typeface="Arial"/>
              </a:rPr>
              <a:t>RENDER TRANSKRIP OUTPUT AKTUAL LAB06, BUKTI SEBELUMNYA</a:t>
            </a:r>
          </a:p>
        </p:txBody>
      </p:sp>
      <p:pic>
        <p:nvPicPr>
          <p:cNvPr id="32" name="">
            <a:extLst xmlns:a="http://schemas.openxmlformats.org/drawingml/2006/main">
              <a:ext uri="{FF2B5EF4-FFF2-40B4-BE49-F238E27FC236}">
                <a16:creationId xmlns:a16="http://schemas.microsoft.com/office/drawing/2014/main" id="{E0F36391-4027-47A0-A8B4-4BFAB225EFAA}"/>
              </a:ext>
            </a:extLst>
          </p:cNvPr>
          <p:cNvPicPr>
            <a:picLocks xmlns:a="http://schemas.openxmlformats.org/drawingml/2006/main" noChangeAspect="1"/>
          </p:cNvPicPr>
          <p:nvPr/>
        </p:nvPicPr>
        <p:blipFill>
          <a:blip xmlns:r="http://schemas.openxmlformats.org/officeDocument/2006/relationships" xmlns:a="http://schemas.openxmlformats.org/drawingml/2006/main" r:embed="R144a40f160514e84"/>
          <a:stretch xmlns:a="http://schemas.openxmlformats.org/drawingml/2006/main"/>
        </p:blipFill>
        <p:spPr>
          <a:xfrm xmlns:a="http://schemas.openxmlformats.org/drawingml/2006/main">
            <a:off x="685800" y="1879446"/>
            <a:ext cx="10820400" cy="3222933"/>
          </a:xfrm>
          <a:prstGeom xmlns:a="http://schemas.openxmlformats.org/drawingml/2006/main" prst="rect">
            <a:avLst/>
          </a:prstGeom>
        </p:spPr>
      </p:pic>
      <p:sp>
        <p:nvSpPr>
          <p:cNvPr id="33" name="Cari file tersedia, config exit0, dan aturan .gitignore">
            <a:extLst xmlns:a="http://schemas.openxmlformats.org/drawingml/2006/main">
              <a:ext uri="{FF2B5EF4-FFF2-40B4-BE49-F238E27FC236}">
                <a16:creationId xmlns:a16="http://schemas.microsoft.com/office/drawing/2014/main" id="{28DAC08E-F1D7-4A62-9F80-81DD14137B33}"/>
              </a:ext>
            </a:extLst>
          </p:cNvPr>
          <p:cNvSpPr>
            <a:spLocks xmlns:a="http://schemas.openxmlformats.org/drawingml/2006/main" noGrp="1"/>
          </p:cNvSpPr>
          <p:nvPr/>
        </p:nvSpPr>
        <p:spPr>
          <a:xfrm xmlns:a="http://schemas.openxmlformats.org/drawingml/2006/main">
            <a:off x="495300" y="5448300"/>
            <a:ext cx="1117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233344"/>
                </a:solidFill>
                <a:latin typeface="Arial"/>
                <a:ea typeface="Arial"/>
                <a:cs typeface="Arial"/>
              </a:defRPr>
            </a:defPPr>
          </a:lstStyle>
          <a:p xmlns:a="http://schemas.openxmlformats.org/drawingml/2006/main">
            <a:pPr>
              <a:defRPr sz="1575" b="0">
                <a:solidFill>
                  <a:srgbClr val="233344"/>
                </a:solidFill>
                <a:latin typeface="Arial"/>
                <a:ea typeface="Arial"/>
                <a:cs typeface="Arial"/>
              </a:defRPr>
            </a:pPr>
            <a:r>
              <a:rPr sz="1575" b="0">
                <a:solidFill>
                  <a:srgbClr val="233344"/>
                </a:solidFill>
                <a:latin typeface="Arial"/>
                <a:ea typeface="Arial"/>
                <a:cs typeface="Arial"/>
              </a:rPr>
              <a:t>Cari file tersedia, config exit0, dan aturan .gitignore untuk .env serta db_password.txt. Screenshot menjaga nilai password tetap tersembunyi.</a:t>
            </a:r>
          </a:p>
        </p:txBody>
      </p:sp>
    </p:spTree>
    <p:extLst>
      <p:ext uri="{BB962C8B-B14F-4D97-AF65-F5344CB8AC3E}">
        <p14:creationId xmlns:p14="http://schemas.microsoft.com/office/powerpoint/2010/main" val="381653648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17</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616a267f6644460f"/>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e62711cc1b274a4d"/>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Startup dan tiga service healthy</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Jalankan up --build -d --wait, ps, dan logs dari root repo</a:t>
            </a:r>
            <a:endParaRPr sz="1200"/>
          </a:p>
        </p:txBody>
      </p:sp>
      <p:sp>
        <p:nvSpPr>
          <p:cNvPr id="31" name="RENDER TRANSKRIP OUTPUT AKTUAL LAB06, BUKTI SEBELUMNYA">
            <a:extLst xmlns:a="http://schemas.openxmlformats.org/drawingml/2006/main">
              <a:ext uri="{FF2B5EF4-FFF2-40B4-BE49-F238E27FC236}">
                <a16:creationId xmlns:a16="http://schemas.microsoft.com/office/drawing/2014/main" id="{B14CAC29-37A3-483F-B602-F2771448DB65}"/>
              </a:ext>
            </a:extLst>
          </p:cNvPr>
          <p:cNvSpPr>
            <a:spLocks xmlns:a="http://schemas.openxmlformats.org/drawingml/2006/main" noGrp="1"/>
          </p:cNvSpPr>
          <p:nvPr/>
        </p:nvSpPr>
        <p:spPr>
          <a:xfrm xmlns:a="http://schemas.openxmlformats.org/drawingml/2006/main">
            <a:off x="495300" y="1409700"/>
            <a:ext cx="1117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1">
                <a:solidFill>
                  <a:srgbClr val="FF731B"/>
                </a:solidFill>
                <a:latin typeface="Arial"/>
                <a:ea typeface="Arial"/>
                <a:cs typeface="Arial"/>
              </a:defRPr>
            </a:defPPr>
          </a:lstStyle>
          <a:p xmlns:a="http://schemas.openxmlformats.org/drawingml/2006/main">
            <a:pPr>
              <a:defRPr sz="1125" b="1">
                <a:solidFill>
                  <a:srgbClr val="FF731B"/>
                </a:solidFill>
                <a:latin typeface="Arial"/>
                <a:ea typeface="Arial"/>
                <a:cs typeface="Arial"/>
              </a:defRPr>
            </a:pPr>
            <a:r>
              <a:rPr sz="1125" b="1">
                <a:solidFill>
                  <a:srgbClr val="FF731B"/>
                </a:solidFill>
                <a:latin typeface="Arial"/>
                <a:ea typeface="Arial"/>
                <a:cs typeface="Arial"/>
              </a:rPr>
              <a:t>RENDER TRANSKRIP OUTPUT AKTUAL LAB06, BUKTI SEBELUMNYA</a:t>
            </a:r>
          </a:p>
        </p:txBody>
      </p:sp>
      <p:pic>
        <p:nvPicPr>
          <p:cNvPr id="32" name="">
            <a:extLst xmlns:a="http://schemas.openxmlformats.org/drawingml/2006/main">
              <a:ext uri="{FF2B5EF4-FFF2-40B4-BE49-F238E27FC236}">
                <a16:creationId xmlns:a16="http://schemas.microsoft.com/office/drawing/2014/main" id="{232012B6-758E-49F9-A17F-2169E925C940}"/>
              </a:ext>
            </a:extLst>
          </p:cNvPr>
          <p:cNvPicPr>
            <a:picLocks xmlns:a="http://schemas.openxmlformats.org/drawingml/2006/main" noChangeAspect="1"/>
          </p:cNvPicPr>
          <p:nvPr/>
        </p:nvPicPr>
        <p:blipFill>
          <a:blip xmlns:r="http://schemas.openxmlformats.org/officeDocument/2006/relationships" xmlns:a="http://schemas.openxmlformats.org/drawingml/2006/main" r:embed="R5587e26af3534b85"/>
          <a:srcRect xmlns:a="http://schemas.openxmlformats.org/drawingml/2006/main" l="0" t="0" r="0" b="50000"/>
          <a:stretch xmlns:a="http://schemas.openxmlformats.org/drawingml/2006/main"/>
        </p:blipFill>
        <p:spPr>
          <a:xfrm xmlns:a="http://schemas.openxmlformats.org/drawingml/2006/main">
            <a:off x="685800" y="1969294"/>
            <a:ext cx="10820400" cy="3043238"/>
          </a:xfrm>
          <a:prstGeom xmlns:a="http://schemas.openxmlformats.org/drawingml/2006/main" prst="rect">
            <a:avLst/>
          </a:prstGeom>
        </p:spPr>
      </p:pic>
      <p:sp>
        <p:nvSpPr>
          <p:cNvPr id="33" name="Command: docker compose up --build -d --wait, lalu dock">
            <a:extLst xmlns:a="http://schemas.openxmlformats.org/drawingml/2006/main">
              <a:ext uri="{FF2B5EF4-FFF2-40B4-BE49-F238E27FC236}">
                <a16:creationId xmlns:a16="http://schemas.microsoft.com/office/drawing/2014/main" id="{5CCA6246-6441-4E38-A907-EE6C4F4BED1D}"/>
              </a:ext>
            </a:extLst>
          </p:cNvPr>
          <p:cNvSpPr>
            <a:spLocks xmlns:a="http://schemas.openxmlformats.org/drawingml/2006/main" noGrp="1"/>
          </p:cNvSpPr>
          <p:nvPr/>
        </p:nvSpPr>
        <p:spPr>
          <a:xfrm xmlns:a="http://schemas.openxmlformats.org/drawingml/2006/main">
            <a:off x="495300" y="5448300"/>
            <a:ext cx="1117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233344"/>
                </a:solidFill>
                <a:latin typeface="Arial"/>
                <a:ea typeface="Arial"/>
                <a:cs typeface="Arial"/>
              </a:defRPr>
            </a:defPPr>
          </a:lstStyle>
          <a:p xmlns:a="http://schemas.openxmlformats.org/drawingml/2006/main">
            <a:pPr>
              <a:defRPr sz="1575" b="0">
                <a:solidFill>
                  <a:srgbClr val="233344"/>
                </a:solidFill>
                <a:latin typeface="Arial"/>
                <a:ea typeface="Arial"/>
                <a:cs typeface="Arial"/>
              </a:defRPr>
            </a:pPr>
            <a:r>
              <a:rPr sz="1575" b="0">
                <a:solidFill>
                  <a:srgbClr val="233344"/>
                </a:solidFill>
                <a:latin typeface="Arial"/>
                <a:ea typeface="Arial"/>
                <a:cs typeface="Arial"/>
              </a:rPr>
              <a:t>Command: docker compose up --build -d --wait, lalu docker compose ps. DB/cache siap lebih dahulu. --wait menunggu running/healthy. Jika starting, periksa log.</a:t>
            </a:r>
          </a:p>
        </p:txBody>
      </p:sp>
    </p:spTree>
    <p:extLst>
      <p:ext uri="{BB962C8B-B14F-4D97-AF65-F5344CB8AC3E}">
        <p14:creationId xmlns:p14="http://schemas.microsoft.com/office/powerpoint/2010/main" val="381653648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18</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d6f48f6a7f364b5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38cf260633da48ca"/>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DNS internal dan port host</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Nama db/cache berlaku pada network Docker, browser memakai localhost</a:t>
            </a:r>
            <a:endParaRPr sz="1200"/>
          </a:p>
        </p:txBody>
      </p:sp>
      <p:sp>
        <p:nvSpPr>
          <p:cNvPr id="31" name="Reference code panel">
            <a:extLst xmlns:a="http://schemas.openxmlformats.org/drawingml/2006/main">
              <a:ext uri="{FF2B5EF4-FFF2-40B4-BE49-F238E27FC236}">
                <a16:creationId xmlns:a16="http://schemas.microsoft.com/office/drawing/2014/main" id="{0D474FA9-F463-4D1C-8420-C1F9126C0ABE}"/>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F10B6468-799C-4479-B950-47F69721E09E}"/>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docker compose exec -T api `&#10;  getent hosts db cache&#10;do">
            <a:extLst xmlns:a="http://schemas.openxmlformats.org/drawingml/2006/main">
              <a:ext uri="{FF2B5EF4-FFF2-40B4-BE49-F238E27FC236}">
                <a16:creationId xmlns:a16="http://schemas.microsoft.com/office/drawing/2014/main" id="{62972651-D3E5-4EDD-ABBD-88592DB53CE2}"/>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exec -T api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getent hosts db cache</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port api 8000</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logs --tail=30 api db cache</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curl.exe -i http://127.0.0.1:8000/health</a:t>
            </a:r>
          </a:p>
          <a:p xmlns:a="http://schemas.openxmlformats.org/drawingml/2006/main">
            <a: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Browser: http://127.0.0.1:8000/docs</a:t>
            </a:r>
          </a:p>
        </p:txBody>
      </p:sp>
      <p:sp>
        <p:nvSpPr>
          <p:cNvPr id="34" name="Fungsi dan cara membaca hasil">
            <a:extLst xmlns:a="http://schemas.openxmlformats.org/drawingml/2006/main">
              <a:ext uri="{FF2B5EF4-FFF2-40B4-BE49-F238E27FC236}">
                <a16:creationId xmlns:a16="http://schemas.microsoft.com/office/drawing/2014/main" id="{6D59FF1B-E634-4826-9604-AAAE5882916B}"/>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Getent menemukan alamat DB/cache.&#10;&#10;Port menunjukkan map">
            <a:extLst xmlns:a="http://schemas.openxmlformats.org/drawingml/2006/main">
              <a:ext uri="{FF2B5EF4-FFF2-40B4-BE49-F238E27FC236}">
                <a16:creationId xmlns:a16="http://schemas.microsoft.com/office/drawing/2014/main" id="{C7F95885-5539-42E5-92C3-C3D0001567DC}"/>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Getent menemukan alamat DB/cache.</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Port menunjukkan mapping API.</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Health 200</a:t>
            </a:r>
            <a:r>
              <a:rPr sz="1725" b="0">
                <a:solidFill>
                  <a:srgbClr val="233344"/>
                </a:solidFill>
                <a:latin typeface="Arial"/>
                <a:ea typeface="Arial"/>
                <a:cs typeface="Arial"/>
              </a:rPr>
              <a:t> memeriksa DB dan Redis.</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Tidak perlu mem-publish port database untuk menguji API.</a:t>
            </a:r>
          </a:p>
        </p:txBody>
      </p:sp>
      <p:sp>
        <p:nvSpPr>
          <p:cNvPr id="36" name="Buka modul gabungan untuk command lengkap dan Bash.">
            <a:extLst xmlns:a="http://schemas.openxmlformats.org/drawingml/2006/main">
              <a:ext uri="{FF2B5EF4-FFF2-40B4-BE49-F238E27FC236}">
                <a16:creationId xmlns:a16="http://schemas.microsoft.com/office/drawing/2014/main" id="{C0839446-B73A-4F9D-87EB-163926D079DB}"/>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5dc35fc94ec64b38"/>
              </a:rPr>
              <a:t>Buka modul gabungan untuk command lengkap dan Bash.</a:t>
            </a:r>
          </a:p>
        </p:txBody>
      </p:sp>
    </p:spTree>
    <p:extLst>
      <p:ext uri="{BB962C8B-B14F-4D97-AF65-F5344CB8AC3E}">
        <p14:creationId xmlns:p14="http://schemas.microsoft.com/office/powerpoint/2010/main" val="381653648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19</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69ab92c127924015"/>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a4afbb24bc3b4a54"/>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Swagger Compose: API0.6</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Buka http://127.0.0.1:8000/docs, lalu GET health</a:t>
            </a:r>
            <a:endParaRPr sz="1200"/>
          </a:p>
        </p:txBody>
      </p:sp>
      <p:sp>
        <p:nvSpPr>
          <p:cNvPr id="31" name="TANGKAPAN BROWSER API COMPOSE LAB06, BUKTI SEBELUMNYA">
            <a:extLst xmlns:a="http://schemas.openxmlformats.org/drawingml/2006/main">
              <a:ext uri="{FF2B5EF4-FFF2-40B4-BE49-F238E27FC236}">
                <a16:creationId xmlns:a16="http://schemas.microsoft.com/office/drawing/2014/main" id="{BD7E9BFB-6603-4D01-A263-3C69B6CCEECB}"/>
              </a:ext>
            </a:extLst>
          </p:cNvPr>
          <p:cNvSpPr>
            <a:spLocks xmlns:a="http://schemas.openxmlformats.org/drawingml/2006/main" noGrp="1"/>
          </p:cNvSpPr>
          <p:nvPr/>
        </p:nvSpPr>
        <p:spPr>
          <a:xfrm xmlns:a="http://schemas.openxmlformats.org/drawingml/2006/main">
            <a:off x="495300" y="1409700"/>
            <a:ext cx="1117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1">
                <a:solidFill>
                  <a:srgbClr val="FF731B"/>
                </a:solidFill>
                <a:latin typeface="Arial"/>
                <a:ea typeface="Arial"/>
                <a:cs typeface="Arial"/>
              </a:defRPr>
            </a:defPPr>
          </a:lstStyle>
          <a:p xmlns:a="http://schemas.openxmlformats.org/drawingml/2006/main">
            <a:pPr>
              <a:defRPr sz="1125" b="1">
                <a:solidFill>
                  <a:srgbClr val="FF731B"/>
                </a:solidFill>
                <a:latin typeface="Arial"/>
                <a:ea typeface="Arial"/>
                <a:cs typeface="Arial"/>
              </a:defRPr>
            </a:pPr>
            <a:r>
              <a:rPr sz="1125" b="1">
                <a:solidFill>
                  <a:srgbClr val="FF731B"/>
                </a:solidFill>
                <a:latin typeface="Arial"/>
                <a:ea typeface="Arial"/>
                <a:cs typeface="Arial"/>
              </a:rPr>
              <a:t>TANGKAPAN BROWSER API COMPOSE LAB06, BUKTI SEBELUMNYA</a:t>
            </a:r>
          </a:p>
        </p:txBody>
      </p:sp>
      <p:pic>
        <p:nvPicPr>
          <p:cNvPr id="32" name="">
            <a:extLst xmlns:a="http://schemas.openxmlformats.org/drawingml/2006/main">
              <a:ext uri="{FF2B5EF4-FFF2-40B4-BE49-F238E27FC236}">
                <a16:creationId xmlns:a16="http://schemas.microsoft.com/office/drawing/2014/main" id="{973D6BDA-1409-49C9-B0B8-5C3D02FFE365}"/>
              </a:ext>
            </a:extLst>
          </p:cNvPr>
          <p:cNvPicPr>
            <a:picLocks xmlns:a="http://schemas.openxmlformats.org/drawingml/2006/main" noChangeAspect="1"/>
          </p:cNvPicPr>
          <p:nvPr/>
        </p:nvPicPr>
        <p:blipFill>
          <a:blip xmlns:r="http://schemas.openxmlformats.org/officeDocument/2006/relationships" xmlns:a="http://schemas.openxmlformats.org/drawingml/2006/main" r:embed="Rb6598c99a75d4f69"/>
          <a:srcRect xmlns:a="http://schemas.openxmlformats.org/drawingml/2006/main" l="0" t="0" r="0" b="20000"/>
          <a:stretch xmlns:a="http://schemas.openxmlformats.org/drawingml/2006/main"/>
        </p:blipFill>
        <p:spPr>
          <a:xfrm xmlns:a="http://schemas.openxmlformats.org/drawingml/2006/main">
            <a:off x="2821363" y="1743075"/>
            <a:ext cx="6549274" cy="3495675"/>
          </a:xfrm>
          <a:prstGeom xmlns:a="http://schemas.openxmlformats.org/drawingml/2006/main" prst="rect">
            <a:avLst/>
          </a:prstGeom>
        </p:spPr>
      </p:pic>
      <p:sp>
        <p:nvSpPr>
          <p:cNvPr id="33" name="Compose menyediakan GET/POST notes dan DELETE notes/{id">
            <a:extLst xmlns:a="http://schemas.openxmlformats.org/drawingml/2006/main">
              <a:ext uri="{FF2B5EF4-FFF2-40B4-BE49-F238E27FC236}">
                <a16:creationId xmlns:a16="http://schemas.microsoft.com/office/drawing/2014/main" id="{458754AF-8FE4-4ADA-BFCB-793768C74E84}"/>
              </a:ext>
            </a:extLst>
          </p:cNvPr>
          <p:cNvSpPr>
            <a:spLocks xmlns:a="http://schemas.openxmlformats.org/drawingml/2006/main" noGrp="1"/>
          </p:cNvSpPr>
          <p:nvPr/>
        </p:nvSpPr>
        <p:spPr>
          <a:xfrm xmlns:a="http://schemas.openxmlformats.org/drawingml/2006/main">
            <a:off x="495300" y="5448300"/>
            <a:ext cx="1117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233344"/>
                </a:solidFill>
                <a:latin typeface="Arial"/>
                <a:ea typeface="Arial"/>
                <a:cs typeface="Arial"/>
              </a:defRPr>
            </a:defPPr>
          </a:lstStyle>
          <a:p xmlns:a="http://schemas.openxmlformats.org/drawingml/2006/main">
            <a:pPr>
              <a:defRPr sz="1575" b="0">
                <a:solidFill>
                  <a:srgbClr val="233344"/>
                </a:solidFill>
                <a:latin typeface="Arial"/>
                <a:ea typeface="Arial"/>
                <a:cs typeface="Arial"/>
              </a:defRPr>
            </a:pPr>
            <a:r>
              <a:rPr sz="1575" b="0">
                <a:solidFill>
                  <a:srgbClr val="233344"/>
                </a:solidFill>
                <a:latin typeface="Arial"/>
                <a:ea typeface="Arial"/>
                <a:cs typeface="Arial"/>
              </a:rPr>
              <a:t>Compose menyediakan GET/POST notes dan DELETE notes/{id}. Endpoint runtime dan GET notes/{id} berasal dari Core. Pilih POST untuk membuat catatan baru.</a:t>
            </a:r>
          </a:p>
        </p:txBody>
      </p:sp>
    </p:spTree>
    <p:extLst>
      <p:ext uri="{BB962C8B-B14F-4D97-AF65-F5344CB8AC3E}">
        <p14:creationId xmlns:p14="http://schemas.microsoft.com/office/powerpoint/2010/main" val="381653648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20</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e4cc7c775c024162"/>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4931a1916f4344ee"/>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Catatan persisten dan cache MISS/HIT</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POST melalui Swagger, lalu dua GET cepat dari terminal</a:t>
            </a:r>
            <a:endParaRPr sz="1200"/>
          </a:p>
        </p:txBody>
      </p:sp>
      <p:sp>
        <p:nvSpPr>
          <p:cNvPr id="31" name="Reference code panel">
            <a:extLst xmlns:a="http://schemas.openxmlformats.org/drawingml/2006/main">
              <a:ext uri="{FF2B5EF4-FFF2-40B4-BE49-F238E27FC236}">
                <a16:creationId xmlns:a16="http://schemas.microsoft.com/office/drawing/2014/main" id="{F7817465-45DD-4345-8EF1-69943EF964B6}"/>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3D4FA699-3D29-404A-8A25-8057A68184D5}"/>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 Swagger POST /notes:&#10;{&#10;  &quot;title&quot;: &quot;Compose22&quot;,&#10;  &quot;con">
            <a:extLst xmlns:a="http://schemas.openxmlformats.org/drawingml/2006/main">
              <a:ext uri="{FF2B5EF4-FFF2-40B4-BE49-F238E27FC236}">
                <a16:creationId xmlns:a16="http://schemas.microsoft.com/office/drawing/2014/main" id="{303D3671-CD34-42BD-9EC4-0D20ADA5FF8E}"/>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Swagger POST /notes:</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"title": "Compose22",</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"content": "Catatan PostgreSQL"</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a:t>
            </a:r>
          </a:p>
          <a:p xmlns:a="http://schemas.openxmlformats.org/drawingml/2006/main">
            <a: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curl.exe -i http://127.0.0.1:8000/notes</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curl.exe -i http://127.0.0.1:8000/notes</a:t>
            </a:r>
          </a:p>
          <a:p xmlns:a="http://schemas.openxmlformats.org/drawingml/2006/main">
            <a: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Bandingkan header X-Cache.</a:t>
            </a:r>
          </a:p>
        </p:txBody>
      </p:sp>
      <p:sp>
        <p:nvSpPr>
          <p:cNvPr id="34" name="Fungsi dan cara membaca hasil">
            <a:extLst xmlns:a="http://schemas.openxmlformats.org/drawingml/2006/main">
              <a:ext uri="{FF2B5EF4-FFF2-40B4-BE49-F238E27FC236}">
                <a16:creationId xmlns:a16="http://schemas.microsoft.com/office/drawing/2014/main" id="{D8E5079D-A86D-4ED5-87CF-8AD9DE861192}"/>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POST valid memberi201.&#10;&#10;POST menghapus cache daftar.&#10;&#10;G">
            <a:extLst xmlns:a="http://schemas.openxmlformats.org/drawingml/2006/main">
              <a:ext uri="{FF2B5EF4-FFF2-40B4-BE49-F238E27FC236}">
                <a16:creationId xmlns:a16="http://schemas.microsoft.com/office/drawing/2014/main" id="{7189A8E2-8288-48D2-93D1-FFD44B0B18C4}"/>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POST valid </a:t>
            </a:r>
            <a:r>
              <a:rPr sz="1725" b="0">
                <a:solidFill>
                  <a:srgbClr val="233344"/>
                </a:solidFill>
                <a:latin typeface="Arial"/>
                <a:ea typeface="Arial"/>
                <a:cs typeface="Arial"/>
              </a:rPr>
              <a:t>memberi 201</a:t>
            </a:r>
            <a:r>
              <a:rPr sz="1725" b="0">
                <a:solidFill>
                  <a:srgbClr val="233344"/>
                </a:solidFill>
                <a:latin typeface="Arial"/>
                <a:ea typeface="Arial"/>
                <a:cs typeface="Arial"/>
              </a:rPr>
              <a:t>.</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POST menghapus cache daftar.</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GET pertama membaca DB:MISS.</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GET kedua membaca Redis:HIT, jika masih dalam </a:t>
            </a:r>
            <a:r>
              <a:rPr sz="1725" b="0">
                <a:solidFill>
                  <a:srgbClr val="233344"/>
                </a:solidFill>
                <a:latin typeface="Arial"/>
                <a:ea typeface="Arial"/>
                <a:cs typeface="Arial"/>
              </a:rPr>
              <a:t>TTL 30 detik</a:t>
            </a:r>
            <a:r>
              <a:rPr sz="1725" b="0">
                <a:solidFill>
                  <a:srgbClr val="233344"/>
                </a:solidFill>
                <a:latin typeface="Arial"/>
                <a:ea typeface="Arial"/>
                <a:cs typeface="Arial"/>
              </a:rPr>
              <a:t>.</a:t>
            </a:r>
          </a:p>
        </p:txBody>
      </p:sp>
      <p:sp>
        <p:nvSpPr>
          <p:cNvPr id="36" name="Buka modul gabungan untuk command lengkap dan Bash.">
            <a:extLst xmlns:a="http://schemas.openxmlformats.org/drawingml/2006/main">
              <a:ext uri="{FF2B5EF4-FFF2-40B4-BE49-F238E27FC236}">
                <a16:creationId xmlns:a16="http://schemas.microsoft.com/office/drawing/2014/main" id="{EDAAC970-9641-4D61-9554-C634BDB98EAF}"/>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fd43b1f72a654766"/>
              </a:rPr>
              <a:t>Buka modul gabungan untuk command lengkap dan Bash.</a:t>
            </a:r>
          </a:p>
        </p:txBody>
      </p:sp>
    </p:spTree>
    <p:extLst>
      <p:ext uri="{BB962C8B-B14F-4D97-AF65-F5344CB8AC3E}">
        <p14:creationId xmlns:p14="http://schemas.microsoft.com/office/powerpoint/2010/main" val="381653648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21</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c87727472d5e48de"/>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5178741d049a4787"/>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Bukti historis cache Redis</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Konten yang sama dengan header MISS lalu HIT</a:t>
            </a:r>
            <a:endParaRPr sz="1200"/>
          </a:p>
        </p:txBody>
      </p:sp>
      <p:sp>
        <p:nvSpPr>
          <p:cNvPr id="31" name="RENDER TRANSKRIP HTTP AKTUAL LAB06, BUKTI SEBELUMNYA">
            <a:extLst xmlns:a="http://schemas.openxmlformats.org/drawingml/2006/main">
              <a:ext uri="{FF2B5EF4-FFF2-40B4-BE49-F238E27FC236}">
                <a16:creationId xmlns:a16="http://schemas.microsoft.com/office/drawing/2014/main" id="{6C42963E-84DB-4B39-9C6F-7F8AC44FCD05}"/>
              </a:ext>
            </a:extLst>
          </p:cNvPr>
          <p:cNvSpPr>
            <a:spLocks xmlns:a="http://schemas.openxmlformats.org/drawingml/2006/main" noGrp="1"/>
          </p:cNvSpPr>
          <p:nvPr/>
        </p:nvSpPr>
        <p:spPr>
          <a:xfrm xmlns:a="http://schemas.openxmlformats.org/drawingml/2006/main">
            <a:off x="495300" y="1409700"/>
            <a:ext cx="1117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1">
                <a:solidFill>
                  <a:srgbClr val="FF731B"/>
                </a:solidFill>
                <a:latin typeface="Arial"/>
                <a:ea typeface="Arial"/>
                <a:cs typeface="Arial"/>
              </a:defRPr>
            </a:defPPr>
          </a:lstStyle>
          <a:p xmlns:a="http://schemas.openxmlformats.org/drawingml/2006/main">
            <a:pPr>
              <a:defRPr sz="1125" b="1">
                <a:solidFill>
                  <a:srgbClr val="FF731B"/>
                </a:solidFill>
                <a:latin typeface="Arial"/>
                <a:ea typeface="Arial"/>
                <a:cs typeface="Arial"/>
              </a:defRPr>
            </a:pPr>
            <a:r>
              <a:rPr sz="1125" b="1">
                <a:solidFill>
                  <a:srgbClr val="FF731B"/>
                </a:solidFill>
                <a:latin typeface="Arial"/>
                <a:ea typeface="Arial"/>
                <a:cs typeface="Arial"/>
              </a:rPr>
              <a:t>RENDER TRANSKRIP HTTP AKTUAL LAB06, BUKTI SEBELUMNYA</a:t>
            </a:r>
          </a:p>
        </p:txBody>
      </p:sp>
      <p:pic>
        <p:nvPicPr>
          <p:cNvPr id="32" name="">
            <a:extLst xmlns:a="http://schemas.openxmlformats.org/drawingml/2006/main">
              <a:ext uri="{FF2B5EF4-FFF2-40B4-BE49-F238E27FC236}">
                <a16:creationId xmlns:a16="http://schemas.microsoft.com/office/drawing/2014/main" id="{36B6F4D0-5D7F-4FD6-B676-4A40BE22CADD}"/>
              </a:ext>
            </a:extLst>
          </p:cNvPr>
          <p:cNvPicPr>
            <a:picLocks xmlns:a="http://schemas.openxmlformats.org/drawingml/2006/main" noChangeAspect="1"/>
          </p:cNvPicPr>
          <p:nvPr/>
        </p:nvPicPr>
        <p:blipFill>
          <a:blip xmlns:r="http://schemas.openxmlformats.org/officeDocument/2006/relationships" xmlns:a="http://schemas.openxmlformats.org/drawingml/2006/main" r:embed="R03b3980c352f4ca8"/>
          <a:srcRect xmlns:a="http://schemas.openxmlformats.org/drawingml/2006/main" l="0" t="0" r="0" b="10000"/>
          <a:stretch xmlns:a="http://schemas.openxmlformats.org/drawingml/2006/main"/>
        </p:blipFill>
        <p:spPr>
          <a:xfrm xmlns:a="http://schemas.openxmlformats.org/drawingml/2006/main">
            <a:off x="2643481" y="1743075"/>
            <a:ext cx="6905037" cy="3495675"/>
          </a:xfrm>
          <a:prstGeom xmlns:a="http://schemas.openxmlformats.org/drawingml/2006/main" prst="rect">
            <a:avLst/>
          </a:prstGeom>
        </p:spPr>
      </p:pic>
      <p:sp>
        <p:nvSpPr>
          <p:cNvPr id="33" name="Baca X-Cache, lalu cocokkan isi catatan. Bila jeda mele">
            <a:extLst xmlns:a="http://schemas.openxmlformats.org/drawingml/2006/main">
              <a:ext uri="{FF2B5EF4-FFF2-40B4-BE49-F238E27FC236}">
                <a16:creationId xmlns:a16="http://schemas.microsoft.com/office/drawing/2014/main" id="{6719FD4E-CBA4-41F6-A6BC-F0AAEBD41136}"/>
              </a:ext>
            </a:extLst>
          </p:cNvPr>
          <p:cNvSpPr>
            <a:spLocks xmlns:a="http://schemas.openxmlformats.org/drawingml/2006/main" noGrp="1"/>
          </p:cNvSpPr>
          <p:nvPr/>
        </p:nvSpPr>
        <p:spPr>
          <a:xfrm xmlns:a="http://schemas.openxmlformats.org/drawingml/2006/main">
            <a:off x="495300" y="5448300"/>
            <a:ext cx="1117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233344"/>
                </a:solidFill>
                <a:latin typeface="Arial"/>
                <a:ea typeface="Arial"/>
                <a:cs typeface="Arial"/>
              </a:defRPr>
            </a:defPPr>
          </a:lstStyle>
          <a:p xmlns:a="http://schemas.openxmlformats.org/drawingml/2006/main">
            <a:pPr>
              <a:defRPr sz="1575" b="0">
                <a:solidFill>
                  <a:srgbClr val="233344"/>
                </a:solidFill>
                <a:latin typeface="Arial"/>
                <a:ea typeface="Arial"/>
                <a:cs typeface="Arial"/>
              </a:defRPr>
            </a:pPr>
            <a:r>
              <a:rPr sz="1575" b="0">
                <a:solidFill>
                  <a:srgbClr val="233344"/>
                </a:solidFill>
                <a:latin typeface="Arial"/>
                <a:ea typeface="Arial"/>
                <a:cs typeface="Arial"/>
              </a:rPr>
              <a:t>Baca X-Cache, lalu cocokkan isi catatan. Bila jeda </a:t>
            </a:r>
            <a:r>
              <a:rPr sz="1575" b="0">
                <a:solidFill>
                  <a:srgbClr val="233344"/>
                </a:solidFill>
                <a:latin typeface="Arial"/>
                <a:ea typeface="Arial"/>
                <a:cs typeface="Arial"/>
              </a:rPr>
              <a:t>melewati 30 detik</a:t>
            </a:r>
            <a:r>
              <a:rPr sz="1575" b="0">
                <a:solidFill>
                  <a:srgbClr val="233344"/>
                </a:solidFill>
                <a:latin typeface="Arial"/>
                <a:ea typeface="Arial"/>
                <a:cs typeface="Arial"/>
              </a:rPr>
              <a:t>, MISS kembali normal. Angka ID dan waktu pada hasil Anda boleh berbeda.</a:t>
            </a:r>
          </a:p>
        </p:txBody>
      </p:sp>
    </p:spTree>
    <p:extLst>
      <p:ext uri="{BB962C8B-B14F-4D97-AF65-F5344CB8AC3E}">
        <p14:creationId xmlns:p14="http://schemas.microsoft.com/office/powerpoint/2010/main" val="381653648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22</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f3a71edd69c74f39"/>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b879c8ea932d48ac"/>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Persistensi saat proses dan container berganti</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Bandingkan ID/judul Anda sebelum dan sesudah lifecycle</a:t>
            </a:r>
            <a:endParaRPr sz="1200"/>
          </a:p>
        </p:txBody>
      </p:sp>
      <p:sp>
        <p:nvSpPr>
          <p:cNvPr id="31" name="Reference code panel">
            <a:extLst xmlns:a="http://schemas.openxmlformats.org/drawingml/2006/main">
              <a:ext uri="{FF2B5EF4-FFF2-40B4-BE49-F238E27FC236}">
                <a16:creationId xmlns:a16="http://schemas.microsoft.com/office/drawing/2014/main" id="{977F0C48-6534-4ED9-80EF-F2CD1169636E}"/>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493190AB-A6E4-417E-A455-CF2544EC8E52}"/>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docker compose exec -T db psql -U clouduser `&#10;  -d clou">
            <a:extLst xmlns:a="http://schemas.openxmlformats.org/drawingml/2006/main">
              <a:ext uri="{FF2B5EF4-FFF2-40B4-BE49-F238E27FC236}">
                <a16:creationId xmlns:a16="http://schemas.microsoft.com/office/drawing/2014/main" id="{BB2CBAB1-ED86-4EF7-B6DB-027DF04CBF86}"/>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exec -T db psql -U clouduser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-d cloudnotes -c "SELECT id,title FROM notes;"</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restart api</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up -d --wait</a:t>
            </a:r>
          </a:p>
          <a:p xmlns:a="http://schemas.openxmlformats.org/drawingml/2006/main">
            <a: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Lalu uji pergantian container:</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--profile debug down</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up -d --wait</a:t>
            </a:r>
          </a:p>
          <a:p xmlns:a="http://schemas.openxmlformats.org/drawingml/2006/main">
            <a: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Ulangi SELECT dan GET /notes.</a:t>
            </a:r>
          </a:p>
        </p:txBody>
      </p:sp>
      <p:sp>
        <p:nvSpPr>
          <p:cNvPr id="34" name="Fungsi dan cara membaca hasil">
            <a:extLst xmlns:a="http://schemas.openxmlformats.org/drawingml/2006/main">
              <a:ext uri="{FF2B5EF4-FFF2-40B4-BE49-F238E27FC236}">
                <a16:creationId xmlns:a16="http://schemas.microsoft.com/office/drawing/2014/main" id="{9E4CB249-4F4C-4206-82D7-9AA9A04B3896}"/>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SQL menunjukkan data sumber.&#10;&#10;Restart API mengganti pro">
            <a:extLst xmlns:a="http://schemas.openxmlformats.org/drawingml/2006/main">
              <a:ext uri="{FF2B5EF4-FFF2-40B4-BE49-F238E27FC236}">
                <a16:creationId xmlns:a16="http://schemas.microsoft.com/office/drawing/2014/main" id="{FB53D79D-4AF4-4CDF-8904-FE8E560559DA}"/>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SQL menunjukkan data sumber.</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Restart API mengganti proses.</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Down/up mengganti container.</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Named volume menjaga data DB.</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Gunakan down tanpa -v.</a:t>
            </a:r>
          </a:p>
        </p:txBody>
      </p:sp>
      <p:sp>
        <p:nvSpPr>
          <p:cNvPr id="36" name="Buka modul gabungan untuk command lengkap dan Bash.">
            <a:extLst xmlns:a="http://schemas.openxmlformats.org/drawingml/2006/main">
              <a:ext uri="{FF2B5EF4-FFF2-40B4-BE49-F238E27FC236}">
                <a16:creationId xmlns:a16="http://schemas.microsoft.com/office/drawing/2014/main" id="{460D7072-327B-4DDD-959D-F31150AAE7CB}"/>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cb698844fd454c55"/>
              </a:rPr>
              <a:t>Buka modul gabungan untuk command lengkap dan Bash.</a:t>
            </a:r>
          </a:p>
        </p:txBody>
      </p:sp>
    </p:spTree>
    <p:extLst>
      <p:ext uri="{BB962C8B-B14F-4D97-AF65-F5344CB8AC3E}">
        <p14:creationId xmlns:p14="http://schemas.microsoft.com/office/powerpoint/2010/main" val="381653648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23</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3cf3bb44c17140e6"/>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bd925e558e1b44a1"/>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Bukti historis persistensi PostgreSQL</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Named volume menjaga catatan sesudah restart dan down/up</a:t>
            </a:r>
            <a:endParaRPr sz="1200"/>
          </a:p>
        </p:txBody>
      </p:sp>
      <p:sp>
        <p:nvSpPr>
          <p:cNvPr id="31" name="RENDER TRANSKRIP OUTPUT AKTUAL LAB06, BUKTI SEBELUMNYA">
            <a:extLst xmlns:a="http://schemas.openxmlformats.org/drawingml/2006/main">
              <a:ext uri="{FF2B5EF4-FFF2-40B4-BE49-F238E27FC236}">
                <a16:creationId xmlns:a16="http://schemas.microsoft.com/office/drawing/2014/main" id="{0537E4D6-AA7C-4DE7-899B-23C0F8D3AC42}"/>
              </a:ext>
            </a:extLst>
          </p:cNvPr>
          <p:cNvSpPr>
            <a:spLocks xmlns:a="http://schemas.openxmlformats.org/drawingml/2006/main" noGrp="1"/>
          </p:cNvSpPr>
          <p:nvPr/>
        </p:nvSpPr>
        <p:spPr>
          <a:xfrm xmlns:a="http://schemas.openxmlformats.org/drawingml/2006/main">
            <a:off x="495300" y="1409700"/>
            <a:ext cx="1117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1">
                <a:solidFill>
                  <a:srgbClr val="FF731B"/>
                </a:solidFill>
                <a:latin typeface="Arial"/>
                <a:ea typeface="Arial"/>
                <a:cs typeface="Arial"/>
              </a:defRPr>
            </a:defPPr>
          </a:lstStyle>
          <a:p xmlns:a="http://schemas.openxmlformats.org/drawingml/2006/main">
            <a:pPr>
              <a:defRPr sz="1125" b="1">
                <a:solidFill>
                  <a:srgbClr val="FF731B"/>
                </a:solidFill>
                <a:latin typeface="Arial"/>
                <a:ea typeface="Arial"/>
                <a:cs typeface="Arial"/>
              </a:defRPr>
            </a:pPr>
            <a:r>
              <a:rPr sz="1125" b="1">
                <a:solidFill>
                  <a:srgbClr val="FF731B"/>
                </a:solidFill>
                <a:latin typeface="Arial"/>
                <a:ea typeface="Arial"/>
                <a:cs typeface="Arial"/>
              </a:rPr>
              <a:t>RENDER TRANSKRIP OUTPUT AKTUAL LAB06, BUKTI SEBELUMNYA</a:t>
            </a:r>
          </a:p>
        </p:txBody>
      </p:sp>
      <p:pic>
        <p:nvPicPr>
          <p:cNvPr id="32" name="">
            <a:extLst xmlns:a="http://schemas.openxmlformats.org/drawingml/2006/main">
              <a:ext uri="{FF2B5EF4-FFF2-40B4-BE49-F238E27FC236}">
                <a16:creationId xmlns:a16="http://schemas.microsoft.com/office/drawing/2014/main" id="{5BA911B1-824E-4E14-910B-F8B4594808B9}"/>
              </a:ext>
            </a:extLst>
          </p:cNvPr>
          <p:cNvPicPr>
            <a:picLocks xmlns:a="http://schemas.openxmlformats.org/drawingml/2006/main" noChangeAspect="1"/>
          </p:cNvPicPr>
          <p:nvPr/>
        </p:nvPicPr>
        <p:blipFill>
          <a:blip xmlns:r="http://schemas.openxmlformats.org/officeDocument/2006/relationships" xmlns:a="http://schemas.openxmlformats.org/drawingml/2006/main" r:embed="R8881c0c629994005"/>
          <a:stretch xmlns:a="http://schemas.openxmlformats.org/drawingml/2006/main"/>
        </p:blipFill>
        <p:spPr>
          <a:xfrm xmlns:a="http://schemas.openxmlformats.org/drawingml/2006/main">
            <a:off x="3132779" y="1743075"/>
            <a:ext cx="5926442" cy="3495675"/>
          </a:xfrm>
          <a:prstGeom xmlns:a="http://schemas.openxmlformats.org/drawingml/2006/main" prst="rect">
            <a:avLst/>
          </a:prstGeom>
        </p:spPr>
      </p:pic>
      <p:sp>
        <p:nvSpPr>
          <p:cNvPr id="33" name="Cocokkan ID dan judul sebelum/sesudah. Core menyimpan s">
            <a:extLst xmlns:a="http://schemas.openxmlformats.org/drawingml/2006/main">
              <a:ext uri="{FF2B5EF4-FFF2-40B4-BE49-F238E27FC236}">
                <a16:creationId xmlns:a16="http://schemas.microsoft.com/office/drawing/2014/main" id="{6B9E3CA4-41F5-415D-950C-39847089723D}"/>
              </a:ext>
            </a:extLst>
          </p:cNvPr>
          <p:cNvSpPr>
            <a:spLocks xmlns:a="http://schemas.openxmlformats.org/drawingml/2006/main" noGrp="1"/>
          </p:cNvSpPr>
          <p:nvPr/>
        </p:nvSpPr>
        <p:spPr>
          <a:xfrm xmlns:a="http://schemas.openxmlformats.org/drawingml/2006/main">
            <a:off x="495300" y="5448300"/>
            <a:ext cx="1117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233344"/>
                </a:solidFill>
                <a:latin typeface="Arial"/>
                <a:ea typeface="Arial"/>
                <a:cs typeface="Arial"/>
              </a:defRPr>
            </a:defPPr>
          </a:lstStyle>
          <a:p xmlns:a="http://schemas.openxmlformats.org/drawingml/2006/main">
            <a:pPr>
              <a:defRPr sz="1575" b="0">
                <a:solidFill>
                  <a:srgbClr val="233344"/>
                </a:solidFill>
                <a:latin typeface="Arial"/>
                <a:ea typeface="Arial"/>
                <a:cs typeface="Arial"/>
              </a:defRPr>
            </a:pPr>
            <a:r>
              <a:rPr sz="1575" b="0">
                <a:solidFill>
                  <a:srgbClr val="233344"/>
                </a:solidFill>
                <a:latin typeface="Arial"/>
                <a:ea typeface="Arial"/>
                <a:cs typeface="Arial"/>
              </a:rPr>
              <a:t>Cocokkan ID dan judul sebelum/sesudah. Core menyimpan state pada memori proses, sedangkan Compose memakai data pada volume PostgreSQL.</a:t>
            </a:r>
          </a:p>
        </p:txBody>
      </p:sp>
    </p:spTree>
    <p:extLst>
      <p:ext uri="{BB962C8B-B14F-4D97-AF65-F5344CB8AC3E}">
        <p14:creationId xmlns:p14="http://schemas.microsoft.com/office/powerpoint/2010/main" val="381653648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24</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71e82d860073473e"/>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8cce87799df84bd0"/>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Tambahan: profile debug dan Adminer</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Bila waktu tersedia, jalankan docker compose --profile debug up -d adminer</a:t>
            </a:r>
            <a:endParaRPr sz="1200"/>
          </a:p>
        </p:txBody>
      </p:sp>
      <p:sp>
        <p:nvSpPr>
          <p:cNvPr id="31" name="TANGKAPAN BROWSER ADMINER LAB06, BUKTI SEBELUMNYA">
            <a:extLst xmlns:a="http://schemas.openxmlformats.org/drawingml/2006/main">
              <a:ext uri="{FF2B5EF4-FFF2-40B4-BE49-F238E27FC236}">
                <a16:creationId xmlns:a16="http://schemas.microsoft.com/office/drawing/2014/main" id="{6D6F9466-1A69-45E5-8B48-763AB943E422}"/>
              </a:ext>
            </a:extLst>
          </p:cNvPr>
          <p:cNvSpPr>
            <a:spLocks xmlns:a="http://schemas.openxmlformats.org/drawingml/2006/main" noGrp="1"/>
          </p:cNvSpPr>
          <p:nvPr/>
        </p:nvSpPr>
        <p:spPr>
          <a:xfrm xmlns:a="http://schemas.openxmlformats.org/drawingml/2006/main">
            <a:off x="495300" y="1409700"/>
            <a:ext cx="1117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1">
                <a:solidFill>
                  <a:srgbClr val="FF731B"/>
                </a:solidFill>
                <a:latin typeface="Arial"/>
                <a:ea typeface="Arial"/>
                <a:cs typeface="Arial"/>
              </a:defRPr>
            </a:defPPr>
          </a:lstStyle>
          <a:p xmlns:a="http://schemas.openxmlformats.org/drawingml/2006/main">
            <a:pPr>
              <a:defRPr sz="1125" b="1">
                <a:solidFill>
                  <a:srgbClr val="FF731B"/>
                </a:solidFill>
                <a:latin typeface="Arial"/>
                <a:ea typeface="Arial"/>
                <a:cs typeface="Arial"/>
              </a:defRPr>
            </a:pPr>
            <a:r>
              <a:rPr sz="1125" b="1">
                <a:solidFill>
                  <a:srgbClr val="FF731B"/>
                </a:solidFill>
                <a:latin typeface="Arial"/>
                <a:ea typeface="Arial"/>
                <a:cs typeface="Arial"/>
              </a:rPr>
              <a:t>TANGKAPAN BROWSER ADMINER LAB06, BUKTI SEBELUMNYA</a:t>
            </a:r>
          </a:p>
        </p:txBody>
      </p:sp>
      <p:pic>
        <p:nvPicPr>
          <p:cNvPr id="32" name="">
            <a:extLst xmlns:a="http://schemas.openxmlformats.org/drawingml/2006/main">
              <a:ext uri="{FF2B5EF4-FFF2-40B4-BE49-F238E27FC236}">
                <a16:creationId xmlns:a16="http://schemas.microsoft.com/office/drawing/2014/main" id="{22DF4EDA-06BF-4786-B77D-49C7C35CEEA7}"/>
              </a:ext>
            </a:extLst>
          </p:cNvPr>
          <p:cNvPicPr>
            <a:picLocks xmlns:a="http://schemas.openxmlformats.org/drawingml/2006/main" noChangeAspect="1"/>
          </p:cNvPicPr>
          <p:nvPr/>
        </p:nvPicPr>
        <p:blipFill>
          <a:blip xmlns:r="http://schemas.openxmlformats.org/officeDocument/2006/relationships" xmlns:a="http://schemas.openxmlformats.org/drawingml/2006/main" r:embed="R84a3e6f9a0254fbb"/>
          <a:srcRect xmlns:a="http://schemas.openxmlformats.org/drawingml/2006/main" l="0" t="0" r="0" b="65000"/>
          <a:stretch xmlns:a="http://schemas.openxmlformats.org/drawingml/2006/main"/>
        </p:blipFill>
        <p:spPr>
          <a:xfrm xmlns:a="http://schemas.openxmlformats.org/drawingml/2006/main">
            <a:off x="685800" y="2159496"/>
            <a:ext cx="10820400" cy="2662833"/>
          </a:xfrm>
          <a:prstGeom xmlns:a="http://schemas.openxmlformats.org/drawingml/2006/main" prst="rect">
            <a:avLst/>
          </a:prstGeom>
        </p:spPr>
      </p:pic>
      <p:sp>
        <p:nvSpPr>
          <p:cNvPr id="33" name="Buka localhost:8081. Sistem PostgreSQL, server db, user">
            <a:extLst xmlns:a="http://schemas.openxmlformats.org/drawingml/2006/main">
              <a:ext uri="{FF2B5EF4-FFF2-40B4-BE49-F238E27FC236}">
                <a16:creationId xmlns:a16="http://schemas.microsoft.com/office/drawing/2014/main" id="{29BDAFC4-5A26-4BCF-A020-CF1594141DC8}"/>
              </a:ext>
            </a:extLst>
          </p:cNvPr>
          <p:cNvSpPr>
            <a:spLocks xmlns:a="http://schemas.openxmlformats.org/drawingml/2006/main" noGrp="1"/>
          </p:cNvSpPr>
          <p:nvPr/>
        </p:nvSpPr>
        <p:spPr>
          <a:xfrm xmlns:a="http://schemas.openxmlformats.org/drawingml/2006/main">
            <a:off x="495300" y="5448300"/>
            <a:ext cx="1117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233344"/>
                </a:solidFill>
                <a:latin typeface="Arial"/>
                <a:ea typeface="Arial"/>
                <a:cs typeface="Arial"/>
              </a:defRPr>
            </a:defPPr>
          </a:lstStyle>
          <a:p xmlns:a="http://schemas.openxmlformats.org/drawingml/2006/main">
            <a:pPr>
              <a:defRPr sz="1575" b="0">
                <a:solidFill>
                  <a:srgbClr val="233344"/>
                </a:solidFill>
                <a:latin typeface="Arial"/>
                <a:ea typeface="Arial"/>
                <a:cs typeface="Arial"/>
              </a:defRPr>
            </a:pPr>
            <a:r>
              <a:rPr sz="1575" b="0">
                <a:solidFill>
                  <a:srgbClr val="233344"/>
                </a:solidFill>
                <a:latin typeface="Arial"/>
                <a:ea typeface="Arial"/>
                <a:cs typeface="Arial"/>
              </a:rPr>
              <a:t>Buka </a:t>
            </a:r>
            <a:r>
              <a:rPr sz="1575" b="0">
                <a:solidFill>
                  <a:srgbClr val="233344"/>
                </a:solidFill>
                <a:latin typeface="Arial"/>
                <a:ea typeface="Arial"/>
                <a:cs typeface="Arial"/>
              </a:rPr>
              <a:t>127.0.0.1:8081</a:t>
            </a:r>
            <a:r>
              <a:rPr sz="1575" b="0">
                <a:solidFill>
                  <a:srgbClr val="233344"/>
                </a:solidFill>
                <a:latin typeface="Arial"/>
                <a:ea typeface="Arial"/>
                <a:cs typeface="Arial"/>
              </a:rPr>
              <a:t>. Sistem PostgreSQL, server db, user clouduser, DB cloudnotes. Select data untuk mencocokkan catatan. Simpan password di file lokal.</a:t>
            </a:r>
          </a:p>
        </p:txBody>
      </p:sp>
    </p:spTree>
    <p:extLst>
      <p:ext uri="{BB962C8B-B14F-4D97-AF65-F5344CB8AC3E}">
        <p14:creationId xmlns:p14="http://schemas.microsoft.com/office/powerpoint/2010/main" val="38165364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25</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fd2c45934796447c"/>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4bb40be86f9f4f1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Tambahan: cache berhenti saat API dipakai</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Bila waktu tersedia, gunakan stack latihan Anda yang sudah sehat</a:t>
            </a:r>
            <a:endParaRPr sz="1200"/>
          </a:p>
        </p:txBody>
      </p:sp>
      <p:sp>
        <p:nvSpPr>
          <p:cNvPr id="31" name="Reference code panel">
            <a:extLst xmlns:a="http://schemas.openxmlformats.org/drawingml/2006/main">
              <a:ext uri="{FF2B5EF4-FFF2-40B4-BE49-F238E27FC236}">
                <a16:creationId xmlns:a16="http://schemas.microsoft.com/office/drawing/2014/main" id="{E1389E95-1D66-4598-B414-13171BD7AD14}"/>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4118D51E-C1FB-4B71-A170-43BD51DF00E9}"/>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docker compose stop cache&#10;curl.exe -i http://127.0.0.1:">
            <a:extLst xmlns:a="http://schemas.openxmlformats.org/drawingml/2006/main">
              <a:ext uri="{FF2B5EF4-FFF2-40B4-BE49-F238E27FC236}">
                <a16:creationId xmlns:a16="http://schemas.microsoft.com/office/drawing/2014/main" id="{CC1C69E9-888E-4074-B731-F195143435BF}"/>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stop cache</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curl.exe -i http://127.0.0.1:8000/health</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curl.exe -i http://127.0.0.1:8000/notes</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logs --tail=20 api cache</a:t>
            </a:r>
          </a:p>
        </p:txBody>
      </p:sp>
      <p:sp>
        <p:nvSpPr>
          <p:cNvPr id="34" name="Fungsi dan cara membaca hasil">
            <a:extLst xmlns:a="http://schemas.openxmlformats.org/drawingml/2006/main">
              <a:ext uri="{FF2B5EF4-FFF2-40B4-BE49-F238E27FC236}">
                <a16:creationId xmlns:a16="http://schemas.microsoft.com/office/drawing/2014/main" id="{D2B265A7-521E-48DE-943D-8CD7B5F4B474}"/>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Health menjadi503 karena Redis gagal.&#10;&#10;GET notes tetap2">
            <a:extLst xmlns:a="http://schemas.openxmlformats.org/drawingml/2006/main">
              <a:ext uri="{FF2B5EF4-FFF2-40B4-BE49-F238E27FC236}">
                <a16:creationId xmlns:a16="http://schemas.microsoft.com/office/drawing/2014/main" id="{A13D7263-D4C8-41C6-BCA2-FD8D659D5FCF}"/>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Health </a:t>
            </a:r>
            <a:r>
              <a:rPr sz="1725" b="0">
                <a:solidFill>
                  <a:srgbClr val="233344"/>
                </a:solidFill>
                <a:latin typeface="Arial"/>
                <a:ea typeface="Arial"/>
                <a:cs typeface="Arial"/>
              </a:rPr>
              <a:t>menjadi 503</a:t>
            </a:r>
            <a:r>
              <a:rPr sz="1725" b="0">
                <a:solidFill>
                  <a:srgbClr val="233344"/>
                </a:solidFill>
                <a:latin typeface="Arial"/>
                <a:ea typeface="Arial"/>
                <a:cs typeface="Arial"/>
              </a:rPr>
              <a:t> karena Redis gagal.</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GET notes tetap200/MISS dan membaca PostgreSQL.</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Request dapat melambat.</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Gangguan cache berbeda dengan kehilangan data.</a:t>
            </a:r>
          </a:p>
        </p:txBody>
      </p:sp>
      <p:sp>
        <p:nvSpPr>
          <p:cNvPr id="36" name="Buka modul gabungan untuk command lengkap dan Bash.">
            <a:extLst xmlns:a="http://schemas.openxmlformats.org/drawingml/2006/main">
              <a:ext uri="{FF2B5EF4-FFF2-40B4-BE49-F238E27FC236}">
                <a16:creationId xmlns:a16="http://schemas.microsoft.com/office/drawing/2014/main" id="{BAC12B0D-934D-4B62-95CD-9B6806634140}"/>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7b0a88b0824c4f74"/>
              </a:rPr>
              <a:t>Buka modul gabungan untuk command lengkap dan Bash.</a:t>
            </a:r>
          </a:p>
        </p:txBody>
      </p:sp>
    </p:spTree>
    <p:extLst>
      <p:ext uri="{BB962C8B-B14F-4D97-AF65-F5344CB8AC3E}">
        <p14:creationId xmlns:p14="http://schemas.microsoft.com/office/powerpoint/2010/main" val="381653648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26</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70c1c6f8a4694660"/>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a3e9bb95ee7948a1"/>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Bukti historis insiden dan pemulihan</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Respons layanan membedakan kegagalan cache dari kehilangan catatan</a:t>
            </a:r>
            <a:endParaRPr sz="1200"/>
          </a:p>
        </p:txBody>
      </p:sp>
      <p:sp>
        <p:nvSpPr>
          <p:cNvPr id="31" name="RENDER TRANSKRIP OUTPUT AKTUAL LAB06, BUKTI SEBELUMNYA">
            <a:extLst xmlns:a="http://schemas.openxmlformats.org/drawingml/2006/main">
              <a:ext uri="{FF2B5EF4-FFF2-40B4-BE49-F238E27FC236}">
                <a16:creationId xmlns:a16="http://schemas.microsoft.com/office/drawing/2014/main" id="{E7BA9A45-F49A-4DC1-83BD-C49103ABE666}"/>
              </a:ext>
            </a:extLst>
          </p:cNvPr>
          <p:cNvSpPr>
            <a:spLocks xmlns:a="http://schemas.openxmlformats.org/drawingml/2006/main" noGrp="1"/>
          </p:cNvSpPr>
          <p:nvPr/>
        </p:nvSpPr>
        <p:spPr>
          <a:xfrm xmlns:a="http://schemas.openxmlformats.org/drawingml/2006/main">
            <a:off x="495300" y="1409700"/>
            <a:ext cx="11172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125" b="1">
                <a:solidFill>
                  <a:srgbClr val="FF731B"/>
                </a:solidFill>
                <a:latin typeface="Arial"/>
                <a:ea typeface="Arial"/>
                <a:cs typeface="Arial"/>
              </a:defRPr>
            </a:defPPr>
          </a:lstStyle>
          <a:p xmlns:a="http://schemas.openxmlformats.org/drawingml/2006/main">
            <a:pPr>
              <a:defRPr sz="1125" b="1">
                <a:solidFill>
                  <a:srgbClr val="FF731B"/>
                </a:solidFill>
                <a:latin typeface="Arial"/>
                <a:ea typeface="Arial"/>
                <a:cs typeface="Arial"/>
              </a:defRPr>
            </a:pPr>
            <a:r>
              <a:rPr sz="1125" b="1">
                <a:solidFill>
                  <a:srgbClr val="FF731B"/>
                </a:solidFill>
                <a:latin typeface="Arial"/>
                <a:ea typeface="Arial"/>
                <a:cs typeface="Arial"/>
              </a:rPr>
              <a:t>RENDER TRANSKRIP OUTPUT AKTUAL LAB06, BUKTI SEBELUMNYA</a:t>
            </a:r>
          </a:p>
        </p:txBody>
      </p:sp>
      <p:pic>
        <p:nvPicPr>
          <p:cNvPr id="32" name="">
            <a:extLst xmlns:a="http://schemas.openxmlformats.org/drawingml/2006/main">
              <a:ext uri="{FF2B5EF4-FFF2-40B4-BE49-F238E27FC236}">
                <a16:creationId xmlns:a16="http://schemas.microsoft.com/office/drawing/2014/main" id="{67A42CB0-9AF5-4149-83E9-3DAA70F61CCC}"/>
              </a:ext>
            </a:extLst>
          </p:cNvPr>
          <p:cNvPicPr>
            <a:picLocks xmlns:a="http://schemas.openxmlformats.org/drawingml/2006/main" noChangeAspect="1"/>
          </p:cNvPicPr>
          <p:nvPr/>
        </p:nvPicPr>
        <p:blipFill>
          <a:blip xmlns:r="http://schemas.openxmlformats.org/officeDocument/2006/relationships" xmlns:a="http://schemas.openxmlformats.org/drawingml/2006/main" r:embed="Ra644354e3954472a"/>
          <a:stretch xmlns:a="http://schemas.openxmlformats.org/drawingml/2006/main"/>
        </p:blipFill>
        <p:spPr>
          <a:xfrm xmlns:a="http://schemas.openxmlformats.org/drawingml/2006/main">
            <a:off x="1189789" y="1743075"/>
            <a:ext cx="9812421" cy="3495675"/>
          </a:xfrm>
          <a:prstGeom xmlns:a="http://schemas.openxmlformats.org/drawingml/2006/main" prst="rect">
            <a:avLst/>
          </a:prstGeom>
        </p:spPr>
      </p:pic>
      <p:sp>
        <p:nvSpPr>
          <p:cNvPr id="33" name="Bukti sebelumnya menunjukkan health503, GET notes200/MI">
            <a:extLst xmlns:a="http://schemas.openxmlformats.org/drawingml/2006/main">
              <a:ext uri="{FF2B5EF4-FFF2-40B4-BE49-F238E27FC236}">
                <a16:creationId xmlns:a16="http://schemas.microsoft.com/office/drawing/2014/main" id="{1BC33DD0-9A4F-4156-8EFD-A122F153D574}"/>
              </a:ext>
            </a:extLst>
          </p:cNvPr>
          <p:cNvSpPr>
            <a:spLocks xmlns:a="http://schemas.openxmlformats.org/drawingml/2006/main" noGrp="1"/>
          </p:cNvSpPr>
          <p:nvPr/>
        </p:nvSpPr>
        <p:spPr>
          <a:xfrm xmlns:a="http://schemas.openxmlformats.org/drawingml/2006/main">
            <a:off x="495300" y="5448300"/>
            <a:ext cx="11172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75" b="0">
                <a:solidFill>
                  <a:srgbClr val="233344"/>
                </a:solidFill>
                <a:latin typeface="Arial"/>
                <a:ea typeface="Arial"/>
                <a:cs typeface="Arial"/>
              </a:defRPr>
            </a:defPPr>
          </a:lstStyle>
          <a:p xmlns:a="http://schemas.openxmlformats.org/drawingml/2006/main">
            <a:pPr>
              <a:defRPr sz="1575" b="0">
                <a:solidFill>
                  <a:srgbClr val="233344"/>
                </a:solidFill>
                <a:latin typeface="Arial"/>
                <a:ea typeface="Arial"/>
                <a:cs typeface="Arial"/>
              </a:defRPr>
            </a:pPr>
            <a:r>
              <a:rPr sz="1575" b="0">
                <a:solidFill>
                  <a:srgbClr val="233344"/>
                </a:solidFill>
                <a:latin typeface="Arial"/>
                <a:ea typeface="Arial"/>
                <a:cs typeface="Arial"/>
              </a:rPr>
              <a:t>Bukti sebelumnya menunjukkan </a:t>
            </a:r>
            <a:r>
              <a:rPr sz="1575" b="0">
                <a:solidFill>
                  <a:srgbClr val="233344"/>
                </a:solidFill>
                <a:latin typeface="Arial"/>
                <a:ea typeface="Arial"/>
                <a:cs typeface="Arial"/>
              </a:rPr>
              <a:t>health 503</a:t>
            </a:r>
            <a:r>
              <a:rPr sz="1575" b="0">
                <a:solidFill>
                  <a:srgbClr val="233344"/>
                </a:solidFill>
                <a:latin typeface="Arial"/>
                <a:ea typeface="Arial"/>
                <a:cs typeface="Arial"/>
              </a:rPr>
              <a:t>, GET notes200/MISS, dan catatan tetap ada. Latensi pada gambar mengikuti kondisi uji lama.</a:t>
            </a:r>
          </a:p>
        </p:txBody>
      </p:sp>
    </p:spTree>
    <p:extLst>
      <p:ext uri="{BB962C8B-B14F-4D97-AF65-F5344CB8AC3E}">
        <p14:creationId xmlns:p14="http://schemas.microsoft.com/office/powerpoint/2010/main" val="381653648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27</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01d791986fe841e3"/>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8d9fe267deb6472f"/>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Tambahan: pemulihan dependency</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Start Redis kembali, tunggu sehat, lalu ulangi request</a:t>
            </a:r>
            <a:endParaRPr sz="1200"/>
          </a:p>
        </p:txBody>
      </p:sp>
      <p:sp>
        <p:nvSpPr>
          <p:cNvPr id="31" name="Reference code panel">
            <a:extLst xmlns:a="http://schemas.openxmlformats.org/drawingml/2006/main">
              <a:ext uri="{FF2B5EF4-FFF2-40B4-BE49-F238E27FC236}">
                <a16:creationId xmlns:a16="http://schemas.microsoft.com/office/drawing/2014/main" id="{B5FD99BB-9EDD-4A97-B641-39CD136B3AC0}"/>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5D9EF098-C3BD-4E4F-9F1B-E8A83CAD1547}"/>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docker compose start cache&#10;docker compose up -d --wait&#10;">
            <a:extLst xmlns:a="http://schemas.openxmlformats.org/drawingml/2006/main">
              <a:ext uri="{FF2B5EF4-FFF2-40B4-BE49-F238E27FC236}">
                <a16:creationId xmlns:a16="http://schemas.microsoft.com/office/drawing/2014/main" id="{FC95AE7D-9C67-4AC5-8C50-724ADB4BD1EB}"/>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start cache</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up -d --wait</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ps</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curl.exe -i http://127.0.0.1:8000/health</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curl.exe -i http://127.0.0.1:8000/notes</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curl.exe -i http://127.0.0.1:8000/notes</a:t>
            </a:r>
          </a:p>
        </p:txBody>
      </p:sp>
      <p:sp>
        <p:nvSpPr>
          <p:cNvPr id="34" name="Fungsi dan cara membaca hasil">
            <a:extLst xmlns:a="http://schemas.openxmlformats.org/drawingml/2006/main">
              <a:ext uri="{FF2B5EF4-FFF2-40B4-BE49-F238E27FC236}">
                <a16:creationId xmlns:a16="http://schemas.microsoft.com/office/drawing/2014/main" id="{35DE1933-D822-4FC3-A84E-F1F19136D2D7}"/>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Start menyalakan cache latihan.&#10;&#10;--wait memeriksa kesia">
            <a:extLst xmlns:a="http://schemas.openxmlformats.org/drawingml/2006/main">
              <a:ext uri="{FF2B5EF4-FFF2-40B4-BE49-F238E27FC236}">
                <a16:creationId xmlns:a16="http://schemas.microsoft.com/office/drawing/2014/main" id="{F6FE0C78-1399-4B88-8D91-2C72A14D33B7}"/>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Start menyalakan cache latihan.</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--wait memeriksa kesiapan stack.</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Health </a:t>
            </a:r>
            <a:r>
              <a:rPr sz="1725" b="0">
                <a:solidFill>
                  <a:srgbClr val="233344"/>
                </a:solidFill>
                <a:latin typeface="Arial"/>
                <a:ea typeface="Arial"/>
                <a:cs typeface="Arial"/>
              </a:rPr>
              <a:t>kembali 200</a:t>
            </a:r>
            <a:r>
              <a:rPr sz="1725" b="0">
                <a:solidFill>
                  <a:srgbClr val="233344"/>
                </a:solidFill>
                <a:latin typeface="Arial"/>
                <a:ea typeface="Arial"/>
                <a:cs typeface="Arial"/>
              </a:rPr>
              <a:t>.</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MISS/HIT kembali terlihat.</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Catatan DB tetap tersedia.</a:t>
            </a:r>
          </a:p>
        </p:txBody>
      </p:sp>
      <p:sp>
        <p:nvSpPr>
          <p:cNvPr id="36" name="Buka modul gabungan untuk command lengkap dan Bash.">
            <a:extLst xmlns:a="http://schemas.openxmlformats.org/drawingml/2006/main">
              <a:ext uri="{FF2B5EF4-FFF2-40B4-BE49-F238E27FC236}">
                <a16:creationId xmlns:a16="http://schemas.microsoft.com/office/drawing/2014/main" id="{952C4970-2AD4-4F69-9C2A-00240E5DAB64}"/>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6b22e448a6474418"/>
              </a:rPr>
              <a:t>Buka modul gabungan untuk command lengkap dan Bash.</a:t>
            </a:r>
          </a:p>
        </p:txBody>
      </p:sp>
    </p:spTree>
    <p:extLst>
      <p:ext uri="{BB962C8B-B14F-4D97-AF65-F5344CB8AC3E}">
        <p14:creationId xmlns:p14="http://schemas.microsoft.com/office/powerpoint/2010/main" val="381653648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28</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ab5e912c96d84c92"/>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78ff9d7f8628402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Refleksi berdasarkan hasil Anda</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Menit 85–95</a:t>
            </a:r>
            <a:r>
              <a:rPr sz="1200" i="1">
                <a:solidFill>
                  <a:srgbClr val="64748B"/>
                </a:solidFill>
                <a:latin typeface="Calibri"/>
                <a:ea typeface="Calibri"/>
                <a:cs typeface="Calibri"/>
              </a:rPr>
              <a:t>: jelaskan hubungan proses, state, dan dependency</a:t>
            </a:r>
            <a:endParaRPr sz="1200"/>
          </a:p>
        </p:txBody>
      </p:sp>
      <p:graphicFrame>
        <p:nvGraphicFramePr>
          <p:cNvPr id="31" name="">
            <a:extLst xmlns:a="http://schemas.openxmlformats.org/drawingml/2006/main">
              <a:ext uri="{FF2B5EF4-FFF2-40B4-BE49-F238E27FC236}">
                <a16:creationId xmlns:a16="http://schemas.microsoft.com/office/drawing/2014/main" id="{0C432C82-26CF-4B64-985A-1B66F895E836}"/>
              </a:ext>
            </a:extLst>
          </p:cNvPr>
          <p:cNvGraphicFramePr/>
          <p:nvPr/>
        </p:nvGraphicFramePr>
        <p:xfrm>
          <a:off xmlns:a="http://schemas.openxmlformats.org/drawingml/2006/main" x="533400" y="1628775"/>
          <a:ext xmlns:a="http://schemas.openxmlformats.org/drawingml/2006/main" cx="11125200" cy="3429000"/>
        </p:xfrm>
        <a:graphic xmlns:a="http://schemas.openxmlformats.org/drawingml/2006/main">
          <a:graphicData uri="http://schemas.openxmlformats.org/drawingml/2006/table">
            <a:tbl>
              <a:tblPr firstRow="1" bandRow="1"/>
              <a:tblGrid>
                <a:gridCol w="2457450"/>
                <a:gridCol w="4343400"/>
                <a:gridCol w="4324350"/>
              </a:tblGrid>
              <a:tr h="571500">
                <a:tc>
                  <a:txBody>
                    <a:bodyPr lIns="114300" tIns="95250" rIns="114300" bIns="95250"/>
                    <a:lstStyle/>
                    <a:p>
                      <a:r>
                        <a:rPr sz="1650" b="1">
                          <a:solidFill>
                            <a:srgbClr val="FFFFFF"/>
                          </a:solidFill>
                          <a:latin typeface="Arial"/>
                          <a:ea typeface="Arial"/>
                          <a:cs typeface="Arial"/>
                        </a:rPr>
                        <a:t>Pemeriksaan</a:t>
                      </a:r>
                    </a:p>
                  </a:txBody>
                  <a:tcPr marL="91440" marR="91440" marT="45720" marB="45720">
                    <a:lnL w="9525">
                      <a:solidFill>
                        <a:srgbClr val="D5E1EC"/>
                      </a:solidFill>
                      <a:prstDash val="solid"/>
                    </a:lnL>
                    <a:lnR w="9525">
                      <a:solidFill>
                        <a:srgbClr val="D5E1EC"/>
                      </a:solidFill>
                      <a:prstDash val="solid"/>
                    </a:lnR>
                    <a:lnT w="9525">
                      <a:solidFill>
                        <a:srgbClr val="D5E1EC"/>
                      </a:solidFill>
                      <a:prstDash val="solid"/>
                    </a:lnT>
                    <a:lnB w="9525">
                      <a:solidFill>
                        <a:srgbClr val="D5E1EC"/>
                      </a:solidFill>
                      <a:prstDash val="solid"/>
                    </a:lnB>
                    <a:solidFill>
                      <a:srgbClr val="08256E"/>
                    </a:solidFill>
                  </a:tcPr>
                </a:tc>
                <a:tc>
                  <a:txBody>
                    <a:bodyPr lIns="114300" tIns="95250" rIns="114300" bIns="95250"/>
                    <a:lstStyle/>
                    <a:p>
                      <a:r>
                        <a:rPr sz="1650" b="1">
                          <a:solidFill>
                            <a:srgbClr val="FFFFFF"/>
                          </a:solidFill>
                          <a:latin typeface="Arial"/>
                          <a:ea typeface="Arial"/>
                          <a:cs typeface="Arial"/>
                        </a:rPr>
                        <a:t>Core, host 18005</a:t>
                      </a:r>
                    </a:p>
                  </a:txBody>
                  <a:tcPr marL="91440" marR="91440" marT="45720" marB="45720">
                    <a:lnR w="9525">
                      <a:solidFill>
                        <a:srgbClr val="D5E1EC"/>
                      </a:solidFill>
                      <a:prstDash val="solid"/>
                    </a:lnR>
                    <a:lnT w="9525">
                      <a:solidFill>
                        <a:srgbClr val="D5E1EC"/>
                      </a:solidFill>
                      <a:prstDash val="solid"/>
                    </a:lnT>
                    <a:lnB w="9525">
                      <a:solidFill>
                        <a:srgbClr val="D5E1EC"/>
                      </a:solidFill>
                      <a:prstDash val="solid"/>
                    </a:lnB>
                    <a:solidFill>
                      <a:srgbClr val="08256E"/>
                    </a:solidFill>
                  </a:tcPr>
                </a:tc>
                <a:tc>
                  <a:txBody>
                    <a:bodyPr lIns="114300" tIns="95250" rIns="114300" bIns="95250"/>
                    <a:lstStyle/>
                    <a:p>
                      <a:r>
                        <a:rPr sz="1650" b="1">
                          <a:solidFill>
                            <a:srgbClr val="FFFFFF"/>
                          </a:solidFill>
                          <a:latin typeface="Arial"/>
                          <a:ea typeface="Arial"/>
                          <a:cs typeface="Arial"/>
                        </a:rPr>
                        <a:t>Compose, host 8000</a:t>
                      </a:r>
                    </a:p>
                  </a:txBody>
                  <a:tcPr marL="91440" marR="91440" marT="45720" marB="45720">
                    <a:lnR w="9525">
                      <a:solidFill>
                        <a:srgbClr val="D5E1EC"/>
                      </a:solidFill>
                      <a:prstDash val="solid"/>
                    </a:lnR>
                    <a:lnT w="9525">
                      <a:solidFill>
                        <a:srgbClr val="D5E1EC"/>
                      </a:solidFill>
                      <a:prstDash val="solid"/>
                    </a:lnT>
                    <a:lnB w="9525">
                      <a:solidFill>
                        <a:srgbClr val="D5E1EC"/>
                      </a:solidFill>
                      <a:prstDash val="solid"/>
                    </a:lnB>
                    <a:solidFill>
                      <a:srgbClr val="08256E"/>
                    </a:solidFill>
                  </a:tcPr>
                </a:tc>
              </a:tr>
              <a:tr h="571500">
                <a:tc>
                  <a:txBody>
                    <a:bodyPr lIns="114300" tIns="95250" rIns="114300" bIns="95250"/>
                    <a:lstStyle/>
                    <a:p>
                      <a:r>
                        <a:rPr sz="1650" b="0">
                          <a:solidFill>
                            <a:srgbClr val="233344"/>
                          </a:solidFill>
                          <a:latin typeface="Arial"/>
                          <a:ea typeface="Arial"/>
                          <a:cs typeface="Arial"/>
                        </a:rPr>
                        <a:t>Storage</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Memori proses API</a:t>
                      </a:r>
                    </a:p>
                  </a:txBody>
                  <a:tcPr marL="91440" marR="91440" marT="45720" marB="45720">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PostgreSQL pada named volume</a:t>
                      </a:r>
                    </a:p>
                  </a:txBody>
                  <a:tcPr marL="91440" marR="91440" marT="45720" marB="45720">
                    <a:lnR w="9525">
                      <a:solidFill>
                        <a:srgbClr val="D5E1EC"/>
                      </a:solidFill>
                      <a:prstDash val="solid"/>
                    </a:lnR>
                    <a:lnB w="9525">
                      <a:solidFill>
                        <a:srgbClr val="D5E1EC"/>
                      </a:solidFill>
                      <a:prstDash val="solid"/>
                    </a:lnB>
                    <a:solidFill>
                      <a:srgbClr val="F4F8FC"/>
                    </a:solidFill>
                  </a:tcPr>
                </a:tc>
              </a:tr>
              <a:tr h="571500">
                <a:tc>
                  <a:txBody>
                    <a:bodyPr lIns="114300" tIns="95250" rIns="114300" bIns="95250"/>
                    <a:lstStyle/>
                    <a:p>
                      <a:r>
                        <a:rPr sz="1650" b="0">
                          <a:solidFill>
                            <a:srgbClr val="233344"/>
                          </a:solidFill>
                          <a:latin typeface="Arial"/>
                          <a:ea typeface="Arial"/>
                          <a:cs typeface="Arial"/>
                        </a:rPr>
                        <a:t>Health</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Proses API hidup</a:t>
                      </a:r>
                    </a:p>
                  </a:txBody>
                  <a:tcPr marL="91440" marR="91440" marT="45720" marB="45720">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API memeriksa DB/cache</a:t>
                      </a:r>
                    </a:p>
                  </a:txBody>
                  <a:tcPr marL="91440" marR="91440" marT="45720" marB="45720">
                    <a:lnR w="9525">
                      <a:solidFill>
                        <a:srgbClr val="D5E1EC"/>
                      </a:solidFill>
                      <a:prstDash val="solid"/>
                    </a:lnR>
                    <a:lnB w="9525">
                      <a:solidFill>
                        <a:srgbClr val="D5E1EC"/>
                      </a:solidFill>
                      <a:prstDash val="solid"/>
                    </a:lnB>
                    <a:solidFill>
                      <a:srgbClr val="FFFFFF"/>
                    </a:solidFill>
                  </a:tcPr>
                </a:tc>
              </a:tr>
              <a:tr h="571500">
                <a:tc>
                  <a:txBody>
                    <a:bodyPr lIns="114300" tIns="95250" rIns="114300" bIns="95250"/>
                    <a:lstStyle/>
                    <a:p>
                      <a:r>
                        <a:rPr sz="1650" b="0">
                          <a:solidFill>
                            <a:srgbClr val="233344"/>
                          </a:solidFill>
                          <a:latin typeface="Arial"/>
                          <a:ea typeface="Arial"/>
                          <a:cs typeface="Arial"/>
                        </a:rPr>
                        <a:t>Restart API</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Notes memori kosong</a:t>
                      </a:r>
                    </a:p>
                  </a:txBody>
                  <a:tcPr marL="91440" marR="91440" marT="45720" marB="45720">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Notes DB tetap ada</a:t>
                      </a:r>
                    </a:p>
                  </a:txBody>
                  <a:tcPr marL="91440" marR="91440" marT="45720" marB="45720">
                    <a:lnR w="9525">
                      <a:solidFill>
                        <a:srgbClr val="D5E1EC"/>
                      </a:solidFill>
                      <a:prstDash val="solid"/>
                    </a:lnR>
                    <a:lnB w="9525">
                      <a:solidFill>
                        <a:srgbClr val="D5E1EC"/>
                      </a:solidFill>
                      <a:prstDash val="solid"/>
                    </a:lnB>
                    <a:solidFill>
                      <a:srgbClr val="F4F8FC"/>
                    </a:solidFill>
                  </a:tcPr>
                </a:tc>
              </a:tr>
              <a:tr h="571500">
                <a:tc>
                  <a:txBody>
                    <a:bodyPr lIns="114300" tIns="95250" rIns="114300" bIns="95250"/>
                    <a:lstStyle/>
                    <a:p>
                      <a:r>
                        <a:rPr sz="1650" b="0">
                          <a:solidFill>
                            <a:srgbClr val="233344"/>
                          </a:solidFill>
                          <a:latin typeface="Arial"/>
                          <a:ea typeface="Arial"/>
                          <a:cs typeface="Arial"/>
                        </a:rPr>
                        <a:t>Cache</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Tidak memakai Redis</a:t>
                      </a:r>
                    </a:p>
                  </a:txBody>
                  <a:tcPr marL="91440" marR="91440" marT="45720" marB="45720">
                    <a:lnR w="9525">
                      <a:solidFill>
                        <a:srgbClr val="D5E1EC"/>
                      </a:solidFill>
                      <a:prstDash val="solid"/>
                    </a:lnR>
                    <a:lnB w="9525">
                      <a:solidFill>
                        <a:srgbClr val="D5E1EC"/>
                      </a:solidFill>
                      <a:prstDash val="solid"/>
                    </a:lnB>
                    <a:solidFill>
                      <a:srgbClr val="FFFFFF"/>
                    </a:solidFill>
                  </a:tcPr>
                </a:tc>
                <a:tc>
                  <a:txBody>
                    <a:bodyPr lIns="114300" tIns="95250" rIns="114300" bIns="95250"/>
                    <a:lstStyle/>
                    <a:p>
                      <a:r>
                        <a:rPr sz="1650" b="0">
                          <a:solidFill>
                            <a:srgbClr val="233344"/>
                          </a:solidFill>
                          <a:latin typeface="Arial"/>
                          <a:ea typeface="Arial"/>
                          <a:cs typeface="Arial"/>
                        </a:rPr>
                        <a:t>GET memakai MISS/HIT TTL 30 detik</a:t>
                      </a:r>
                    </a:p>
                  </a:txBody>
                  <a:tcPr marL="91440" marR="91440" marT="45720" marB="45720">
                    <a:lnR w="9525">
                      <a:solidFill>
                        <a:srgbClr val="D5E1EC"/>
                      </a:solidFill>
                      <a:prstDash val="solid"/>
                    </a:lnR>
                    <a:lnB w="9525">
                      <a:solidFill>
                        <a:srgbClr val="D5E1EC"/>
                      </a:solidFill>
                      <a:prstDash val="solid"/>
                    </a:lnB>
                    <a:solidFill>
                      <a:srgbClr val="FFFFFF"/>
                    </a:solidFill>
                  </a:tcPr>
                </a:tc>
              </a:tr>
              <a:tr h="571500">
                <a:tc>
                  <a:txBody>
                    <a:bodyPr lIns="114300" tIns="95250" rIns="114300" bIns="95250"/>
                    <a:lstStyle/>
                    <a:p>
                      <a:r>
                        <a:rPr sz="1650" b="0">
                          <a:solidFill>
                            <a:srgbClr val="233344"/>
                          </a:solidFill>
                          <a:latin typeface="Arial"/>
                          <a:ea typeface="Arial"/>
                          <a:cs typeface="Arial"/>
                        </a:rPr>
                        <a:t>Saat cache gagal</a:t>
                      </a:r>
                    </a:p>
                  </a:txBody>
                  <a:tcPr marL="91440" marR="91440" marT="45720" marB="45720">
                    <a:lnL w="9525">
                      <a:solidFill>
                        <a:srgbClr val="D5E1EC"/>
                      </a:solidFill>
                      <a:prstDash val="solid"/>
                    </a:lnL>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Tidak relevan</a:t>
                      </a:r>
                    </a:p>
                  </a:txBody>
                  <a:tcPr marL="91440" marR="91440" marT="45720" marB="45720">
                    <a:lnR w="9525">
                      <a:solidFill>
                        <a:srgbClr val="D5E1EC"/>
                      </a:solidFill>
                      <a:prstDash val="solid"/>
                    </a:lnR>
                    <a:lnB w="9525">
                      <a:solidFill>
                        <a:srgbClr val="D5E1EC"/>
                      </a:solidFill>
                      <a:prstDash val="solid"/>
                    </a:lnB>
                    <a:solidFill>
                      <a:srgbClr val="F4F8FC"/>
                    </a:solidFill>
                  </a:tcPr>
                </a:tc>
                <a:tc>
                  <a:txBody>
                    <a:bodyPr lIns="114300" tIns="95250" rIns="114300" bIns="95250"/>
                    <a:lstStyle/>
                    <a:p>
                      <a:r>
                        <a:rPr sz="1650" b="0">
                          <a:solidFill>
                            <a:srgbClr val="233344"/>
                          </a:solidFill>
                          <a:latin typeface="Arial"/>
                          <a:ea typeface="Arial"/>
                          <a:cs typeface="Arial"/>
                        </a:rPr>
                        <a:t>Health 503, GET notes 200 dari DB</a:t>
                      </a:r>
                    </a:p>
                  </a:txBody>
                  <a:tcPr marL="91440" marR="91440" marT="45720" marB="45720">
                    <a:lnR w="9525">
                      <a:solidFill>
                        <a:srgbClr val="D5E1EC"/>
                      </a:solidFill>
                      <a:prstDash val="solid"/>
                    </a:lnR>
                    <a:lnB w="9525">
                      <a:solidFill>
                        <a:srgbClr val="D5E1EC"/>
                      </a:solidFill>
                      <a:prstDash val="solid"/>
                    </a:lnB>
                    <a:solidFill>
                      <a:srgbClr val="F4F8FC"/>
                    </a:solidFill>
                  </a:tcPr>
                </a:tc>
              </a:tr>
            </a:tbl>
          </a:graphicData>
        </a:graphic>
      </p:graphicFrame>
      <p:sp>
        <p:nvSpPr>
          <p:cNvPr id="32" name="Tunjukkan ID/judul dan respons Anda. Uraikan alasan tek">
            <a:extLst xmlns:a="http://schemas.openxmlformats.org/drawingml/2006/main">
              <a:ext uri="{FF2B5EF4-FFF2-40B4-BE49-F238E27FC236}">
                <a16:creationId xmlns:a16="http://schemas.microsoft.com/office/drawing/2014/main" id="{A9EADA2E-A7F3-475C-A750-404BCE3F6C60}"/>
              </a:ext>
            </a:extLst>
          </p:cNvPr>
          <p:cNvSpPr>
            <a:spLocks xmlns:a="http://schemas.openxmlformats.org/drawingml/2006/main" noGrp="1"/>
          </p:cNvSpPr>
          <p:nvPr/>
        </p:nvSpPr>
        <p:spPr>
          <a:xfrm xmlns:a="http://schemas.openxmlformats.org/drawingml/2006/main">
            <a:off x="533400" y="5334000"/>
            <a:ext cx="11125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Tunjukkan ID/judul dan respons Anda. Uraikan alasan teknisnya dengan Dockerfile, compose.yaml, dan source API.</a:t>
            </a:r>
          </a:p>
        </p:txBody>
      </p:sp>
    </p:spTree>
    <p:extLst>
      <p:ext uri="{BB962C8B-B14F-4D97-AF65-F5344CB8AC3E}">
        <p14:creationId xmlns:p14="http://schemas.microsoft.com/office/powerpoint/2010/main" val="381653648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548AA86-24D0-474C-B686-C38463A25739}"/>
              </a:ext>
            </a:extLst>
          </p:cNvPr>
          <p:cNvSpPr>
            <a:spLocks xmlns:a="http://schemas.openxmlformats.org/drawingml/2006/main" noGrp="1"/>
          </p:cNvSpPr>
          <p:nvPr/>
        </p:nvSpPr>
        <p:spPr>
          <a:xfrm xmlns:a="http://schemas.openxmlformats.org/drawingml/2006/main">
            <a:off x="457200" y="649224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900">
                <a:solidFill>
                  <a:srgbClr val="64748B"/>
                </a:solidFill>
                <a:latin typeface="Calibri"/>
                <a:ea typeface="Calibri"/>
                <a:cs typeface="Calibri"/>
              </a:rPr>
              <a:t>BINUS UNIVERSITY  |  Cloud Services  |  Praktikum Gabungan 22 Oktober</a:t>
            </a:r>
            <a:endParaRPr sz="900"/>
          </a:p>
        </p:txBody>
      </p:sp>
      <p:sp>
        <p:nvSpPr>
          <p:cNvPr id="3" name="Text 1">
            <a:extLst xmlns:a="http://schemas.openxmlformats.org/drawingml/2006/main">
              <a:ext uri="{FF2B5EF4-FFF2-40B4-BE49-F238E27FC236}">
                <a16:creationId xmlns:a16="http://schemas.microsoft.com/office/drawing/2014/main" id="{75EAEE28-40D5-420F-9E66-976E2713E2C2}"/>
              </a:ext>
            </a:extLst>
          </p:cNvPr>
          <p:cNvSpPr>
            <a:spLocks xmlns:a="http://schemas.openxmlformats.org/drawingml/2006/main" noGrp="1"/>
          </p:cNvSpPr>
          <p:nvPr/>
        </p:nvSpPr>
        <p:spPr>
          <a:xfrm xmlns:a="http://schemas.openxmlformats.org/drawingml/2006/main">
            <a:off x="11247120" y="649224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b="1">
                <a:solidFill>
                  <a:srgbClr val="64748B"/>
                </a:solidFill>
                <a:latin typeface="Calibri"/>
                <a:ea typeface="Calibri"/>
                <a:cs typeface="Calibri"/>
              </a:rPr>
              <a:t>29</a:t>
            </a:r>
            <a:endParaRPr sz="900"/>
          </a:p>
        </p:txBody>
      </p:sp>
      <p:sp>
        <p:nvSpPr>
          <p:cNvPr id="4" name="Shape 2">
            <a:extLst xmlns:a="http://schemas.openxmlformats.org/drawingml/2006/main">
              <a:ext uri="{FF2B5EF4-FFF2-40B4-BE49-F238E27FC236}">
                <a16:creationId xmlns:a16="http://schemas.microsoft.com/office/drawing/2014/main" id="{9A8D2237-B65F-4CB4-B2AA-6C7497C3B6B5}"/>
              </a:ext>
            </a:extLst>
          </p:cNvPr>
          <p:cNvSpPr>
            <a:spLocks xmlns:a="http://schemas.openxmlformats.org/drawingml/2006/main" noGrp="1"/>
          </p:cNvSpPr>
          <p:nvPr/>
        </p:nvSpPr>
        <p:spPr>
          <a:xfrm xmlns:a="http://schemas.openxmlformats.org/drawingml/2006/main">
            <a:off x="457200" y="6446520"/>
            <a:ext cx="228600" cy="36576"/>
          </a:xfrm>
          <a:prstGeom xmlns:a="http://schemas.openxmlformats.org/drawingml/2006/main" prst="rect">
            <a:avLst/>
          </a:prstGeom>
          <a:solidFill xmlns:a="http://schemas.openxmlformats.org/drawingml/2006/main">
            <a:srgbClr val="F37021"/>
          </a:solidFill>
          <a:ln xmlns:a="http://schemas.openxmlformats.org/drawingml/2006/main" w="12700">
            <a:solidFill>
              <a:srgbClr val="F37021"/>
            </a:solidFill>
            <a:prstDash val="solid"/>
          </a:ln>
        </p:spPr>
        <p:txBody>
          <a:bodyPr xmlns:a="http://schemas.openxmlformats.org/drawingml/2006/main"/>
          <a:lstStyle xmlns:a="http://schemas.openxmlformats.org/drawingml/2006/main"/>
          <a:p xmlns:a="http://schemas.openxmlformats.org/drawingml/2006/main">
            <a:endParaRPr/>
          </a:p>
        </p:txBody>
      </p:sp>
      <p:pic>
        <p:nvPicPr>
          <p:cNvPr id="29" name="Image 0">
            <a:extLst xmlns:a="http://schemas.openxmlformats.org/drawingml/2006/main">
              <a:ext uri="{FF2B5EF4-FFF2-40B4-BE49-F238E27FC236}">
                <a16:creationId xmlns:a16="http://schemas.microsoft.com/office/drawing/2014/main" id="{500DE39D-87EB-4ADF-8B4D-1AEB9DEE6125}"/>
              </a:ext>
            </a:extLst>
          </p:cNvPr>
          <p:cNvPicPr>
            <a:picLocks xmlns:a="http://schemas.openxmlformats.org/drawingml/2006/main" noChangeAspect="1"/>
          </p:cNvPicPr>
          <p:nvPr/>
        </p:nvPicPr>
        <p:blipFill>
          <a:blip xmlns:r="http://schemas.openxmlformats.org/officeDocument/2006/relationships" xmlns:a="http://schemas.openxmlformats.org/drawingml/2006/main" r:embed="Rd6751ee4b3754c81"/>
          <a:stretch xmlns:a="http://schemas.openxmlformats.org/drawingml/2006/main">
            <a:fillRect l="0" t="0" r="0" b="0"/>
          </a:stretch>
        </p:blipFill>
        <p:spPr>
          <a:xfrm xmlns:a="http://schemas.openxmlformats.org/drawingml/2006/main">
            <a:off x="274320" y="164592"/>
            <a:ext cx="914400" cy="603504"/>
          </a:xfrm>
          <a:prstGeom xmlns:a="http://schemas.openxmlformats.org/drawingml/2006/main" prst="rect">
            <a:avLst/>
          </a:prstGeom>
        </p:spPr>
      </p:pic>
      <p:pic>
        <p:nvPicPr>
          <p:cNvPr id="30" name="Image 1">
            <a:extLst xmlns:a="http://schemas.openxmlformats.org/drawingml/2006/main">
              <a:ext uri="{FF2B5EF4-FFF2-40B4-BE49-F238E27FC236}">
                <a16:creationId xmlns:a16="http://schemas.microsoft.com/office/drawing/2014/main" id="{C0249299-3B89-461E-974E-07CA4FA26746}"/>
              </a:ext>
            </a:extLst>
          </p:cNvPr>
          <p:cNvPicPr>
            <a:picLocks xmlns:a="http://schemas.openxmlformats.org/drawingml/2006/main" noChangeAspect="1"/>
          </p:cNvPicPr>
          <p:nvPr/>
        </p:nvPicPr>
        <p:blipFill>
          <a:blip xmlns:r="http://schemas.openxmlformats.org/officeDocument/2006/relationships" xmlns:a="http://schemas.openxmlformats.org/drawingml/2006/main" r:embed="Ra16a184660f44226"/>
          <a:stretch xmlns:a="http://schemas.openxmlformats.org/drawingml/2006/main">
            <a:fillRect l="0" t="0" r="0" b="0"/>
          </a:stretch>
        </p:blipFill>
        <p:spPr>
          <a:xfrm xmlns:a="http://schemas.openxmlformats.org/drawingml/2006/main">
            <a:off x="10881360" y="182880"/>
            <a:ext cx="1005840" cy="512064"/>
          </a:xfrm>
          <a:prstGeom xmlns:a="http://schemas.openxmlformats.org/drawingml/2006/main" prst="rect">
            <a:avLst/>
          </a:prstGeom>
        </p:spPr>
      </p:pic>
      <p:sp>
        <p:nvSpPr>
          <p:cNvPr id="7" name="Shape 3">
            <a:extLst xmlns:a="http://schemas.openxmlformats.org/drawingml/2006/main">
              <a:ext uri="{FF2B5EF4-FFF2-40B4-BE49-F238E27FC236}">
                <a16:creationId xmlns:a16="http://schemas.microsoft.com/office/drawing/2014/main" id="{36AE5D18-3FF9-4F98-A0DA-CB0E017C70FE}"/>
              </a:ext>
            </a:extLst>
          </p:cNvPr>
          <p:cNvSpPr>
            <a:spLocks xmlns:a="http://schemas.openxmlformats.org/drawingml/2006/main" noGrp="1"/>
          </p:cNvSpPr>
          <p:nvPr/>
        </p:nvSpPr>
        <p:spPr>
          <a:xfrm xmlns:a="http://schemas.openxmlformats.org/drawingml/2006/main">
            <a:off x="457200" y="868680"/>
            <a:ext cx="11247120" cy="0"/>
          </a:xfrm>
          <a:prstGeom xmlns:a="http://schemas.openxmlformats.org/drawingml/2006/main" prst="line">
            <a:avLst/>
          </a:prstGeom>
          <a:noFill xmlns:a="http://schemas.openxmlformats.org/drawingml/2006/main"/>
          <a:ln xmlns:a="http://schemas.openxmlformats.org/drawingml/2006/main" w="12700">
            <a:solidFill>
              <a:srgbClr val="E2E8F0"/>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Text 4">
            <a:extLst xmlns:a="http://schemas.openxmlformats.org/drawingml/2006/main">
              <a:ext uri="{FF2B5EF4-FFF2-40B4-BE49-F238E27FC236}">
                <a16:creationId xmlns:a16="http://schemas.microsoft.com/office/drawing/2014/main" id="{5D4E438B-CC88-4480-8A67-D305978047BC}"/>
              </a:ext>
            </a:extLst>
          </p:cNvPr>
          <p:cNvSpPr>
            <a:spLocks xmlns:a="http://schemas.openxmlformats.org/drawingml/2006/main" noGrp="1"/>
          </p:cNvSpPr>
          <p:nvPr/>
        </p:nvSpPr>
        <p:spPr>
          <a:xfrm xmlns:a="http://schemas.openxmlformats.org/drawingml/2006/main">
            <a:off x="2011680" y="182880"/>
            <a:ext cx="8138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1976D2"/>
                </a:solidFill>
                <a:latin typeface="Calibri"/>
                <a:ea typeface="Calibri"/>
                <a:cs typeface="Calibri"/>
              </a:rPr>
              <a:t>Cleanup dan bahan untuk proyek kelompok</a:t>
            </a:r>
            <a:endParaRPr sz="2200"/>
          </a:p>
        </p:txBody>
      </p:sp>
      <p:sp>
        <p:nvSpPr>
          <p:cNvPr id="9" name="Text 5">
            <a:extLst xmlns:a="http://schemas.openxmlformats.org/drawingml/2006/main">
              <a:ext uri="{FF2B5EF4-FFF2-40B4-BE49-F238E27FC236}">
                <a16:creationId xmlns:a16="http://schemas.microsoft.com/office/drawing/2014/main" id="{FA647D36-043E-4091-AF9A-857F6D2ADC7C}"/>
              </a:ext>
            </a:extLst>
          </p:cNvPr>
          <p:cNvSpPr>
            <a:spLocks xmlns:a="http://schemas.openxmlformats.org/drawingml/2006/main" noGrp="1"/>
          </p:cNvSpPr>
          <p:nvPr/>
        </p:nvSpPr>
        <p:spPr>
          <a:xfrm xmlns:a="http://schemas.openxmlformats.org/drawingml/2006/main">
            <a:off x="457200" y="960120"/>
            <a:ext cx="112471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i="1">
                <a:solidFill>
                  <a:srgbClr val="64748B"/>
                </a:solidFill>
                <a:latin typeface="Calibri"/>
                <a:ea typeface="Calibri"/>
                <a:cs typeface="Calibri"/>
              </a:rPr>
              <a:t>Menit 95–100</a:t>
            </a:r>
            <a:r>
              <a:rPr sz="1200" i="1">
                <a:solidFill>
                  <a:srgbClr val="64748B"/>
                </a:solidFill>
                <a:latin typeface="Calibri"/>
                <a:ea typeface="Calibri"/>
                <a:cs typeface="Calibri"/>
              </a:rPr>
              <a:t>: hentikan stack latihan, jaga data dan secret lokal</a:t>
            </a:r>
            <a:endParaRPr sz="1200"/>
          </a:p>
        </p:txBody>
      </p:sp>
      <p:sp>
        <p:nvSpPr>
          <p:cNvPr id="31" name="Reference code panel">
            <a:extLst xmlns:a="http://schemas.openxmlformats.org/drawingml/2006/main">
              <a:ext uri="{FF2B5EF4-FFF2-40B4-BE49-F238E27FC236}">
                <a16:creationId xmlns:a16="http://schemas.microsoft.com/office/drawing/2014/main" id="{86D336A9-78A4-4BEE-9B8B-5A922C91FBAE}"/>
              </a:ext>
            </a:extLst>
          </p:cNvPr>
          <p:cNvSpPr>
            <a:spLocks xmlns:a="http://schemas.openxmlformats.org/drawingml/2006/main" noGrp="1"/>
          </p:cNvSpPr>
          <p:nvPr/>
        </p:nvSpPr>
        <p:spPr>
          <a:xfrm xmlns:a="http://schemas.openxmlformats.org/drawingml/2006/main">
            <a:off x="457200" y="1457325"/>
            <a:ext cx="5619750" cy="4705350"/>
          </a:xfrm>
          <a:prstGeom xmlns:a="http://schemas.openxmlformats.org/drawingml/2006/main" prst="rect">
            <a:avLst/>
          </a:prstGeom>
          <a:solidFill xmlns:a="http://schemas.openxmlformats.org/drawingml/2006/main">
            <a:srgbClr val="1D293B"/>
          </a:solidFill>
          <a:ln xmlns:a="http://schemas.openxmlformats.org/drawingml/2006/main" w="0">
            <a:solidFill>
              <a:srgbClr val="1D293B"/>
            </a:solidFill>
          </a:ln>
        </p:spPr>
      </p:sp>
      <p:sp>
        <p:nvSpPr>
          <p:cNvPr id="32" name="POWERSHELL, DARI ROOT REPO">
            <a:extLst xmlns:a="http://schemas.openxmlformats.org/drawingml/2006/main">
              <a:ext uri="{FF2B5EF4-FFF2-40B4-BE49-F238E27FC236}">
                <a16:creationId xmlns:a16="http://schemas.microsoft.com/office/drawing/2014/main" id="{1A217D69-21CF-4F12-A309-FE1D5608D2D4}"/>
              </a:ext>
            </a:extLst>
          </p:cNvPr>
          <p:cNvSpPr>
            <a:spLocks xmlns:a="http://schemas.openxmlformats.org/drawingml/2006/main" noGrp="1"/>
          </p:cNvSpPr>
          <p:nvPr/>
        </p:nvSpPr>
        <p:spPr>
          <a:xfrm xmlns:a="http://schemas.openxmlformats.org/drawingml/2006/main">
            <a:off x="628650" y="1571625"/>
            <a:ext cx="5276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975" b="1">
                <a:solidFill>
                  <a:srgbClr val="A8BAD1"/>
                </a:solidFill>
                <a:latin typeface="Consolas"/>
                <a:ea typeface="Consolas"/>
                <a:cs typeface="Consolas"/>
              </a:defRPr>
            </a:defPPr>
          </a:lstStyle>
          <a:p xmlns:a="http://schemas.openxmlformats.org/drawingml/2006/main">
            <a:pPr>
              <a:defRPr sz="975" b="1">
                <a:solidFill>
                  <a:srgbClr val="A8BAD1"/>
                </a:solidFill>
                <a:latin typeface="Consolas"/>
                <a:ea typeface="Consolas"/>
                <a:cs typeface="Consolas"/>
              </a:defRPr>
            </a:pPr>
            <a:r>
              <a:rPr sz="975" b="1">
                <a:solidFill>
                  <a:srgbClr val="A8BAD1"/>
                </a:solidFill>
                <a:latin typeface="Consolas"/>
                <a:ea typeface="Consolas"/>
                <a:cs typeface="Consolas"/>
              </a:rPr>
              <a:t>POWERSHELL, DARI ROOT REPO</a:t>
            </a:r>
          </a:p>
        </p:txBody>
      </p:sp>
      <p:sp>
        <p:nvSpPr>
          <p:cNvPr id="33" name="docker compose --profile debug down&#10;docker compose ps&#10;g">
            <a:extLst xmlns:a="http://schemas.openxmlformats.org/drawingml/2006/main">
              <a:ext uri="{FF2B5EF4-FFF2-40B4-BE49-F238E27FC236}">
                <a16:creationId xmlns:a16="http://schemas.microsoft.com/office/drawing/2014/main" id="{FE4750A3-3027-404C-831C-53D0A203EF63}"/>
              </a:ext>
            </a:extLst>
          </p:cNvPr>
          <p:cNvSpPr>
            <a:spLocks xmlns:a="http://schemas.openxmlformats.org/drawingml/2006/main" noGrp="1"/>
          </p:cNvSpPr>
          <p:nvPr/>
        </p:nvSpPr>
        <p:spPr>
          <a:xfrm xmlns:a="http://schemas.openxmlformats.org/drawingml/2006/main">
            <a:off x="628650" y="1943100"/>
            <a:ext cx="5276850" cy="402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FFFFFF"/>
                </a:solidFill>
                <a:latin typeface="Consolas"/>
                <a:ea typeface="Consolas"/>
                <a:cs typeface="Consolas"/>
              </a:defRPr>
            </a:defPPr>
          </a:lstStyle>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--profile debug down</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docker compose ps</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git status --short</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git check-ignore -v .env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secrets/db_password.txt</a:t>
            </a:r>
          </a:p>
          <a:p xmlns:a="http://schemas.openxmlformats.org/drawingml/2006/main">
            <a:r>
              <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Core sudah dibersihkan pada tahap13.</a:t>
            </a:r>
          </a:p>
          <a:p xmlns:a="http://schemas.openxmlformats.org/drawingml/2006/main">
            <a:pPr>
              <a:defRPr sz="1500" b="0">
                <a:solidFill>
                  <a:srgbClr val="FFFFFF"/>
                </a:solidFill>
                <a:latin typeface="Consolas"/>
                <a:ea typeface="Consolas"/>
                <a:cs typeface="Consolas"/>
              </a:defRPr>
            </a:pPr>
            <a:r>
              <a:rPr sz="1500" b="0">
                <a:solidFill>
                  <a:srgbClr val="FFFFFF"/>
                </a:solidFill>
                <a:latin typeface="Consolas"/>
                <a:ea typeface="Consolas"/>
                <a:cs typeface="Consolas"/>
              </a:rPr>
              <a:t># Named volume tetap dipertahankan.</a:t>
            </a:r>
          </a:p>
        </p:txBody>
      </p:sp>
      <p:sp>
        <p:nvSpPr>
          <p:cNvPr id="34" name="Fungsi dan cara membaca hasil">
            <a:extLst xmlns:a="http://schemas.openxmlformats.org/drawingml/2006/main">
              <a:ext uri="{FF2B5EF4-FFF2-40B4-BE49-F238E27FC236}">
                <a16:creationId xmlns:a16="http://schemas.microsoft.com/office/drawing/2014/main" id="{C5B051F2-DF97-4E89-B25A-58DBE1346422}"/>
              </a:ext>
            </a:extLst>
          </p:cNvPr>
          <p:cNvSpPr>
            <a:spLocks xmlns:a="http://schemas.openxmlformats.org/drawingml/2006/main" noGrp="1"/>
          </p:cNvSpPr>
          <p:nvPr/>
        </p:nvSpPr>
        <p:spPr>
          <a:xfrm xmlns:a="http://schemas.openxmlformats.org/drawingml/2006/main">
            <a:off x="6448425" y="1562100"/>
            <a:ext cx="51149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1">
                <a:solidFill>
                  <a:srgbClr val="08256E"/>
                </a:solidFill>
                <a:latin typeface="Arial"/>
                <a:ea typeface="Arial"/>
                <a:cs typeface="Arial"/>
              </a:defRPr>
            </a:defPPr>
          </a:lstStyle>
          <a:p xmlns:a="http://schemas.openxmlformats.org/drawingml/2006/main">
            <a:pPr>
              <a:defRPr sz="1875" b="1">
                <a:solidFill>
                  <a:srgbClr val="08256E"/>
                </a:solidFill>
                <a:latin typeface="Arial"/>
                <a:ea typeface="Arial"/>
                <a:cs typeface="Arial"/>
              </a:defRPr>
            </a:pPr>
            <a:r>
              <a:rPr sz="1875" b="1">
                <a:solidFill>
                  <a:srgbClr val="08256E"/>
                </a:solidFill>
                <a:latin typeface="Arial"/>
                <a:ea typeface="Arial"/>
                <a:cs typeface="Arial"/>
              </a:rPr>
              <a:t>Fungsi dan cara membaca hasil</a:t>
            </a:r>
          </a:p>
        </p:txBody>
      </p:sp>
      <p:sp>
        <p:nvSpPr>
          <p:cNvPr id="35" name="Down menghentikan stack project.&#10;&#10;Profile debug ikut me">
            <a:extLst xmlns:a="http://schemas.openxmlformats.org/drawingml/2006/main">
              <a:ext uri="{FF2B5EF4-FFF2-40B4-BE49-F238E27FC236}">
                <a16:creationId xmlns:a16="http://schemas.microsoft.com/office/drawing/2014/main" id="{1E0EA265-CF7F-48D6-AAE2-DA7863B5801E}"/>
              </a:ext>
            </a:extLst>
          </p:cNvPr>
          <p:cNvSpPr>
            <a:spLocks xmlns:a="http://schemas.openxmlformats.org/drawingml/2006/main" noGrp="1"/>
          </p:cNvSpPr>
          <p:nvPr/>
        </p:nvSpPr>
        <p:spPr>
          <a:xfrm xmlns:a="http://schemas.openxmlformats.org/drawingml/2006/main">
            <a:off x="6448425" y="2085975"/>
            <a:ext cx="50577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33344"/>
                </a:solidFill>
                <a:latin typeface="Arial"/>
                <a:ea typeface="Arial"/>
                <a:cs typeface="Arial"/>
              </a:defRPr>
            </a:defPPr>
          </a:lstStyle>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Down menghentikan stack project.</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Profile debug ikut menghentikan Adminer jika aktif.</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Secret tetap lokal.</a:t>
            </a:r>
          </a:p>
          <a:p xmlns:a="http://schemas.openxmlformats.org/drawingml/2006/main">
            <a:r>
              <a:t/>
            </a:r>
          </a:p>
          <a:p xmlns:a="http://schemas.openxmlformats.org/drawingml/2006/main">
            <a:pPr>
              <a:defRPr sz="1725" b="0">
                <a:solidFill>
                  <a:srgbClr val="233344"/>
                </a:solidFill>
                <a:latin typeface="Arial"/>
                <a:ea typeface="Arial"/>
                <a:cs typeface="Arial"/>
              </a:defRPr>
            </a:pPr>
            <a:r>
              <a:rPr sz="1725" b="0">
                <a:solidFill>
                  <a:srgbClr val="233344"/>
                </a:solidFill>
                <a:latin typeface="Arial"/>
                <a:ea typeface="Arial"/>
                <a:cs typeface="Arial"/>
              </a:rPr>
              <a:t>Simpan bukti bila membantu proyek kelompok, tanpa tugas terpisah.</a:t>
            </a:r>
          </a:p>
        </p:txBody>
      </p:sp>
      <p:sp>
        <p:nvSpPr>
          <p:cNvPr id="36" name="Buka modul gabungan untuk command lengkap dan Bash.">
            <a:extLst xmlns:a="http://schemas.openxmlformats.org/drawingml/2006/main">
              <a:ext uri="{FF2B5EF4-FFF2-40B4-BE49-F238E27FC236}">
                <a16:creationId xmlns:a16="http://schemas.microsoft.com/office/drawing/2014/main" id="{CCBA6309-FA35-477A-B1EA-26E9AA986F90}"/>
              </a:ext>
            </a:extLst>
          </p:cNvPr>
          <p:cNvSpPr>
            <a:spLocks xmlns:a="http://schemas.openxmlformats.org/drawingml/2006/main" noGrp="1"/>
          </p:cNvSpPr>
          <p:nvPr/>
        </p:nvSpPr>
        <p:spPr>
          <a:xfrm xmlns:a="http://schemas.openxmlformats.org/drawingml/2006/main">
            <a:off x="6448425" y="5695950"/>
            <a:ext cx="50673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1479DC"/>
                </a:solidFill>
                <a:latin typeface="Arial"/>
                <a:ea typeface="Arial"/>
                <a:cs typeface="Arial"/>
              </a:defRPr>
            </a:defPPr>
          </a:lstStyle>
          <a:p xmlns:a="http://schemas.openxmlformats.org/drawingml/2006/main">
            <a:pPr>
              <a:defRPr sz="1200" b="0">
                <a:solidFill>
                  <a:srgbClr val="1479DC"/>
                </a:solidFill>
                <a:latin typeface="Arial"/>
                <a:ea typeface="Arial"/>
                <a:cs typeface="Arial"/>
              </a:defRPr>
            </a:pPr>
            <a:r>
              <a:rPr sz="1200" b="0">
                <a:solidFill>
                  <a:srgbClr val="1479DC"/>
                </a:solidFill>
                <a:latin typeface="Arial"/>
                <a:ea typeface="Arial"/>
                <a:cs typeface="Arial"/>
                <a:hlinkClick xmlns:r="http://schemas.openxmlformats.org/officeDocument/2006/relationships" r:id="R9d5d903b22de4959"/>
              </a:rPr>
              <a:t>Buka modul gabungan untuk command lengkap dan Bash.</a:t>
            </a:r>
          </a:p>
        </p:txBody>
      </p:sp>
    </p:spTree>
    <p:extLst>
      <p:ext uri="{BB962C8B-B14F-4D97-AF65-F5344CB8AC3E}">
        <p14:creationId xmlns:p14="http://schemas.microsoft.com/office/powerpoint/2010/main" val="3816536484"/>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2026-10-14T23:21:46.9550000Z</dcterms:created>
  <dcterms:modified xsi:type="dcterms:W3CDTF">2026-10-14T23:21:46.9550000Z</dcterms:modified>
</coreProperties>
</file>